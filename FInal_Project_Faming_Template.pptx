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p:scale>
          <a:sx n="99" d="100"/>
          <a:sy n="99" d="100"/>
        </p:scale>
        <p:origin x="6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AAF349-FBD4-484A-B50D-83749CC3708F}"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E848D9F1-4D38-4B7D-8441-7241DCEC42FC}">
      <dgm:prSet phldrT="[Text]"/>
      <dgm:spPr/>
      <dgm:t>
        <a:bodyPr/>
        <a:lstStyle/>
        <a:p>
          <a:r>
            <a:rPr lang="en-US" dirty="0"/>
            <a:t>Presentation Layer (Client)</a:t>
          </a:r>
        </a:p>
      </dgm:t>
    </dgm:pt>
    <dgm:pt modelId="{19A58BF4-AB56-4E6F-9C6A-03DA08632D06}" type="parTrans" cxnId="{A9927215-4BE8-4046-97CF-42AF258004B7}">
      <dgm:prSet/>
      <dgm:spPr/>
      <dgm:t>
        <a:bodyPr/>
        <a:lstStyle/>
        <a:p>
          <a:endParaRPr lang="en-US"/>
        </a:p>
      </dgm:t>
    </dgm:pt>
    <dgm:pt modelId="{B4BEC87F-EA0B-4BA8-9594-215DF98D093B}" type="sibTrans" cxnId="{A9927215-4BE8-4046-97CF-42AF258004B7}">
      <dgm:prSet/>
      <dgm:spPr/>
      <dgm:t>
        <a:bodyPr/>
        <a:lstStyle/>
        <a:p>
          <a:endParaRPr lang="en-US"/>
        </a:p>
      </dgm:t>
    </dgm:pt>
    <dgm:pt modelId="{61D8084C-E5DC-4AA3-84B7-754871F2C9C8}">
      <dgm:prSet phldrT="[Text]"/>
      <dgm:spPr/>
      <dgm:t>
        <a:bodyPr/>
        <a:lstStyle/>
        <a:p>
          <a:r>
            <a:rPr lang="en-US" dirty="0"/>
            <a:t>Application Layer (Server)</a:t>
          </a:r>
        </a:p>
      </dgm:t>
    </dgm:pt>
    <dgm:pt modelId="{C5225A66-CB21-45F1-BB0A-187656DDF2C3}" type="parTrans" cxnId="{6CAD69D9-2428-4764-B3D7-3F9E6478C12D}">
      <dgm:prSet/>
      <dgm:spPr/>
      <dgm:t>
        <a:bodyPr/>
        <a:lstStyle/>
        <a:p>
          <a:endParaRPr lang="en-US"/>
        </a:p>
      </dgm:t>
    </dgm:pt>
    <dgm:pt modelId="{A63EBBC6-97BD-43DA-A4E5-7EA799DD09EC}" type="sibTrans" cxnId="{6CAD69D9-2428-4764-B3D7-3F9E6478C12D}">
      <dgm:prSet/>
      <dgm:spPr/>
      <dgm:t>
        <a:bodyPr/>
        <a:lstStyle/>
        <a:p>
          <a:endParaRPr lang="en-US"/>
        </a:p>
      </dgm:t>
    </dgm:pt>
    <dgm:pt modelId="{A0403A86-F7B0-414E-B413-3F011E2E14B0}">
      <dgm:prSet phldrT="[Text]"/>
      <dgm:spPr/>
      <dgm:t>
        <a:bodyPr/>
        <a:lstStyle/>
        <a:p>
          <a:r>
            <a:rPr lang="en-US" dirty="0"/>
            <a:t>Data Layer (Database)</a:t>
          </a:r>
        </a:p>
      </dgm:t>
    </dgm:pt>
    <dgm:pt modelId="{F8D4E144-B687-4767-9C5E-9D4BB7263889}" type="parTrans" cxnId="{DDD1E151-F24C-41F6-B867-14DE3A4607E9}">
      <dgm:prSet/>
      <dgm:spPr/>
      <dgm:t>
        <a:bodyPr/>
        <a:lstStyle/>
        <a:p>
          <a:endParaRPr lang="en-US"/>
        </a:p>
      </dgm:t>
    </dgm:pt>
    <dgm:pt modelId="{31A157E3-179F-4BB0-8ECE-28934CEDB912}" type="sibTrans" cxnId="{DDD1E151-F24C-41F6-B867-14DE3A4607E9}">
      <dgm:prSet/>
      <dgm:spPr/>
      <dgm:t>
        <a:bodyPr/>
        <a:lstStyle/>
        <a:p>
          <a:endParaRPr lang="en-US"/>
        </a:p>
      </dgm:t>
    </dgm:pt>
    <dgm:pt modelId="{52B89A66-303B-4792-97AB-8538DC727019}">
      <dgm:prSet phldrT="[Text]"/>
      <dgm:spPr/>
      <dgm:t>
        <a:bodyPr/>
        <a:lstStyle/>
        <a:p>
          <a:r>
            <a:rPr lang="en-US" dirty="0"/>
            <a:t>HTML, CSS (Bootstrap 5), JavaScript</a:t>
          </a:r>
        </a:p>
      </dgm:t>
    </dgm:pt>
    <dgm:pt modelId="{8B5BCCEC-C32E-4B46-A896-E409B150FFD0}" type="parTrans" cxnId="{8FD4C7F2-8A03-47E9-8693-155685CB48EC}">
      <dgm:prSet/>
      <dgm:spPr/>
      <dgm:t>
        <a:bodyPr/>
        <a:lstStyle/>
        <a:p>
          <a:endParaRPr lang="en-US"/>
        </a:p>
      </dgm:t>
    </dgm:pt>
    <dgm:pt modelId="{A744E3D1-AE60-48EB-9EA6-B93B2F713183}" type="sibTrans" cxnId="{8FD4C7F2-8A03-47E9-8693-155685CB48EC}">
      <dgm:prSet/>
      <dgm:spPr/>
      <dgm:t>
        <a:bodyPr/>
        <a:lstStyle/>
        <a:p>
          <a:endParaRPr lang="en-US"/>
        </a:p>
      </dgm:t>
    </dgm:pt>
    <dgm:pt modelId="{08D7CD0F-33F3-4A2C-AEB3-42285C575CBD}">
      <dgm:prSet phldrT="[Text]"/>
      <dgm:spPr/>
      <dgm:t>
        <a:bodyPr/>
        <a:lstStyle/>
        <a:p>
          <a:r>
            <a:rPr lang="en-US"/>
            <a:t>MySQL</a:t>
          </a:r>
          <a:endParaRPr lang="en-US" dirty="0"/>
        </a:p>
      </dgm:t>
    </dgm:pt>
    <dgm:pt modelId="{3D555693-656B-4A9B-8EAE-61486FBCAF53}" type="parTrans" cxnId="{5C9CC1DF-4B0F-47D0-9FC3-79C7A157EC63}">
      <dgm:prSet/>
      <dgm:spPr/>
      <dgm:t>
        <a:bodyPr/>
        <a:lstStyle/>
        <a:p>
          <a:endParaRPr lang="en-US"/>
        </a:p>
      </dgm:t>
    </dgm:pt>
    <dgm:pt modelId="{D4758ACF-4729-494D-BFC9-F16C9F2170B5}" type="sibTrans" cxnId="{5C9CC1DF-4B0F-47D0-9FC3-79C7A157EC63}">
      <dgm:prSet/>
      <dgm:spPr/>
      <dgm:t>
        <a:bodyPr/>
        <a:lstStyle/>
        <a:p>
          <a:endParaRPr lang="en-US"/>
        </a:p>
      </dgm:t>
    </dgm:pt>
    <dgm:pt modelId="{2DEA14F6-4645-413B-A902-F0F680B1292F}">
      <dgm:prSet phldrT="[Text]"/>
      <dgm:spPr/>
      <dgm:t>
        <a:bodyPr/>
        <a:lstStyle/>
        <a:p>
          <a:r>
            <a:rPr lang="en-US"/>
            <a:t>PHP</a:t>
          </a:r>
          <a:endParaRPr lang="en-US" dirty="0"/>
        </a:p>
      </dgm:t>
    </dgm:pt>
    <dgm:pt modelId="{C077D30B-E57C-4638-B0CB-30E4EA10D5D1}" type="parTrans" cxnId="{E5513BCB-D349-4DAA-87DA-ACCCD1328A76}">
      <dgm:prSet/>
      <dgm:spPr/>
      <dgm:t>
        <a:bodyPr/>
        <a:lstStyle/>
        <a:p>
          <a:endParaRPr lang="en-US"/>
        </a:p>
      </dgm:t>
    </dgm:pt>
    <dgm:pt modelId="{C777A30C-77B2-4B8C-B287-B6B41BF6AA5F}" type="sibTrans" cxnId="{E5513BCB-D349-4DAA-87DA-ACCCD1328A76}">
      <dgm:prSet/>
      <dgm:spPr/>
      <dgm:t>
        <a:bodyPr/>
        <a:lstStyle/>
        <a:p>
          <a:endParaRPr lang="en-US"/>
        </a:p>
      </dgm:t>
    </dgm:pt>
    <dgm:pt modelId="{B3D890EE-D51A-4296-8E24-83B9166E378B}" type="pres">
      <dgm:prSet presAssocID="{6CAAF349-FBD4-484A-B50D-83749CC3708F}" presName="Name0" presStyleCnt="0">
        <dgm:presLayoutVars>
          <dgm:dir/>
          <dgm:animLvl val="lvl"/>
          <dgm:resizeHandles val="exact"/>
        </dgm:presLayoutVars>
      </dgm:prSet>
      <dgm:spPr/>
    </dgm:pt>
    <dgm:pt modelId="{11E6FA26-4F1E-4A8A-A18E-42AD4B48F30C}" type="pres">
      <dgm:prSet presAssocID="{E848D9F1-4D38-4B7D-8441-7241DCEC42FC}" presName="composite" presStyleCnt="0"/>
      <dgm:spPr/>
    </dgm:pt>
    <dgm:pt modelId="{D8B5A2EC-8B48-46C9-BC96-2A23524C104D}" type="pres">
      <dgm:prSet presAssocID="{E848D9F1-4D38-4B7D-8441-7241DCEC42FC}" presName="parTx" presStyleLbl="node1" presStyleIdx="0" presStyleCnt="3">
        <dgm:presLayoutVars>
          <dgm:chMax val="0"/>
          <dgm:chPref val="0"/>
          <dgm:bulletEnabled val="1"/>
        </dgm:presLayoutVars>
      </dgm:prSet>
      <dgm:spPr/>
    </dgm:pt>
    <dgm:pt modelId="{FFA1CBDA-EEA1-4812-B0AB-B39240FBEB06}" type="pres">
      <dgm:prSet presAssocID="{E848D9F1-4D38-4B7D-8441-7241DCEC42FC}" presName="desTx" presStyleLbl="revTx" presStyleIdx="0" presStyleCnt="3">
        <dgm:presLayoutVars>
          <dgm:bulletEnabled val="1"/>
        </dgm:presLayoutVars>
      </dgm:prSet>
      <dgm:spPr/>
    </dgm:pt>
    <dgm:pt modelId="{49EBAD22-8F5C-4CE3-88F2-D4173A7690CE}" type="pres">
      <dgm:prSet presAssocID="{B4BEC87F-EA0B-4BA8-9594-215DF98D093B}" presName="space" presStyleCnt="0"/>
      <dgm:spPr/>
    </dgm:pt>
    <dgm:pt modelId="{0E9CD3FA-C6AB-471E-9C01-8344D6365BB3}" type="pres">
      <dgm:prSet presAssocID="{61D8084C-E5DC-4AA3-84B7-754871F2C9C8}" presName="composite" presStyleCnt="0"/>
      <dgm:spPr/>
    </dgm:pt>
    <dgm:pt modelId="{FDE03CD7-276F-413E-AE2E-18FB0AE1444F}" type="pres">
      <dgm:prSet presAssocID="{61D8084C-E5DC-4AA3-84B7-754871F2C9C8}" presName="parTx" presStyleLbl="node1" presStyleIdx="1" presStyleCnt="3">
        <dgm:presLayoutVars>
          <dgm:chMax val="0"/>
          <dgm:chPref val="0"/>
          <dgm:bulletEnabled val="1"/>
        </dgm:presLayoutVars>
      </dgm:prSet>
      <dgm:spPr/>
    </dgm:pt>
    <dgm:pt modelId="{ED1853F3-FCF5-4958-B9A8-826AEEC27B3D}" type="pres">
      <dgm:prSet presAssocID="{61D8084C-E5DC-4AA3-84B7-754871F2C9C8}" presName="desTx" presStyleLbl="revTx" presStyleIdx="1" presStyleCnt="3">
        <dgm:presLayoutVars>
          <dgm:bulletEnabled val="1"/>
        </dgm:presLayoutVars>
      </dgm:prSet>
      <dgm:spPr/>
    </dgm:pt>
    <dgm:pt modelId="{0572CA9E-A457-4A9E-9715-6A39B6A3F87D}" type="pres">
      <dgm:prSet presAssocID="{A63EBBC6-97BD-43DA-A4E5-7EA799DD09EC}" presName="space" presStyleCnt="0"/>
      <dgm:spPr/>
    </dgm:pt>
    <dgm:pt modelId="{1535CC82-70DE-4ED7-AF5E-03CEBA7697C3}" type="pres">
      <dgm:prSet presAssocID="{A0403A86-F7B0-414E-B413-3F011E2E14B0}" presName="composite" presStyleCnt="0"/>
      <dgm:spPr/>
    </dgm:pt>
    <dgm:pt modelId="{DB5F8183-6CAC-4A44-95B2-479CF5794F37}" type="pres">
      <dgm:prSet presAssocID="{A0403A86-F7B0-414E-B413-3F011E2E14B0}" presName="parTx" presStyleLbl="node1" presStyleIdx="2" presStyleCnt="3">
        <dgm:presLayoutVars>
          <dgm:chMax val="0"/>
          <dgm:chPref val="0"/>
          <dgm:bulletEnabled val="1"/>
        </dgm:presLayoutVars>
      </dgm:prSet>
      <dgm:spPr/>
    </dgm:pt>
    <dgm:pt modelId="{AFE73F63-AEF5-403C-B143-A181B6E7B650}" type="pres">
      <dgm:prSet presAssocID="{A0403A86-F7B0-414E-B413-3F011E2E14B0}" presName="desTx" presStyleLbl="revTx" presStyleIdx="2" presStyleCnt="3">
        <dgm:presLayoutVars>
          <dgm:bulletEnabled val="1"/>
        </dgm:presLayoutVars>
      </dgm:prSet>
      <dgm:spPr/>
    </dgm:pt>
  </dgm:ptLst>
  <dgm:cxnLst>
    <dgm:cxn modelId="{D63D0B0D-53F0-4318-9077-1EA5C3569858}" type="presOf" srcId="{E848D9F1-4D38-4B7D-8441-7241DCEC42FC}" destId="{D8B5A2EC-8B48-46C9-BC96-2A23524C104D}" srcOrd="0" destOrd="0" presId="urn:microsoft.com/office/officeart/2005/8/layout/chevron1"/>
    <dgm:cxn modelId="{A9927215-4BE8-4046-97CF-42AF258004B7}" srcId="{6CAAF349-FBD4-484A-B50D-83749CC3708F}" destId="{E848D9F1-4D38-4B7D-8441-7241DCEC42FC}" srcOrd="0" destOrd="0" parTransId="{19A58BF4-AB56-4E6F-9C6A-03DA08632D06}" sibTransId="{B4BEC87F-EA0B-4BA8-9594-215DF98D093B}"/>
    <dgm:cxn modelId="{5740612D-1855-4098-8BC3-345CDA7B8A0D}" type="presOf" srcId="{6CAAF349-FBD4-484A-B50D-83749CC3708F}" destId="{B3D890EE-D51A-4296-8E24-83B9166E378B}" srcOrd="0" destOrd="0" presId="urn:microsoft.com/office/officeart/2005/8/layout/chevron1"/>
    <dgm:cxn modelId="{C2DF752F-15CF-48F6-944E-C03700837F97}" type="presOf" srcId="{52B89A66-303B-4792-97AB-8538DC727019}" destId="{FFA1CBDA-EEA1-4812-B0AB-B39240FBEB06}" srcOrd="0" destOrd="0" presId="urn:microsoft.com/office/officeart/2005/8/layout/chevron1"/>
    <dgm:cxn modelId="{C7FD3F5C-FC03-4AEA-8EF3-50FE5B6D7E63}" type="presOf" srcId="{08D7CD0F-33F3-4A2C-AEB3-42285C575CBD}" destId="{AFE73F63-AEF5-403C-B143-A181B6E7B650}" srcOrd="0" destOrd="0" presId="urn:microsoft.com/office/officeart/2005/8/layout/chevron1"/>
    <dgm:cxn modelId="{DD1D2847-2384-4DF9-9E35-2463507DE74E}" type="presOf" srcId="{61D8084C-E5DC-4AA3-84B7-754871F2C9C8}" destId="{FDE03CD7-276F-413E-AE2E-18FB0AE1444F}" srcOrd="0" destOrd="0" presId="urn:microsoft.com/office/officeart/2005/8/layout/chevron1"/>
    <dgm:cxn modelId="{DDD1E151-F24C-41F6-B867-14DE3A4607E9}" srcId="{6CAAF349-FBD4-484A-B50D-83749CC3708F}" destId="{A0403A86-F7B0-414E-B413-3F011E2E14B0}" srcOrd="2" destOrd="0" parTransId="{F8D4E144-B687-4767-9C5E-9D4BB7263889}" sibTransId="{31A157E3-179F-4BB0-8ECE-28934CEDB912}"/>
    <dgm:cxn modelId="{13BBCB90-45AF-4C6A-85DF-064435AA2752}" type="presOf" srcId="{2DEA14F6-4645-413B-A902-F0F680B1292F}" destId="{ED1853F3-FCF5-4958-B9A8-826AEEC27B3D}" srcOrd="0" destOrd="0" presId="urn:microsoft.com/office/officeart/2005/8/layout/chevron1"/>
    <dgm:cxn modelId="{D7B911C7-98B7-4406-B8CB-C844103151B3}" type="presOf" srcId="{A0403A86-F7B0-414E-B413-3F011E2E14B0}" destId="{DB5F8183-6CAC-4A44-95B2-479CF5794F37}" srcOrd="0" destOrd="0" presId="urn:microsoft.com/office/officeart/2005/8/layout/chevron1"/>
    <dgm:cxn modelId="{E5513BCB-D349-4DAA-87DA-ACCCD1328A76}" srcId="{61D8084C-E5DC-4AA3-84B7-754871F2C9C8}" destId="{2DEA14F6-4645-413B-A902-F0F680B1292F}" srcOrd="0" destOrd="0" parTransId="{C077D30B-E57C-4638-B0CB-30E4EA10D5D1}" sibTransId="{C777A30C-77B2-4B8C-B287-B6B41BF6AA5F}"/>
    <dgm:cxn modelId="{6CAD69D9-2428-4764-B3D7-3F9E6478C12D}" srcId="{6CAAF349-FBD4-484A-B50D-83749CC3708F}" destId="{61D8084C-E5DC-4AA3-84B7-754871F2C9C8}" srcOrd="1" destOrd="0" parTransId="{C5225A66-CB21-45F1-BB0A-187656DDF2C3}" sibTransId="{A63EBBC6-97BD-43DA-A4E5-7EA799DD09EC}"/>
    <dgm:cxn modelId="{5C9CC1DF-4B0F-47D0-9FC3-79C7A157EC63}" srcId="{A0403A86-F7B0-414E-B413-3F011E2E14B0}" destId="{08D7CD0F-33F3-4A2C-AEB3-42285C575CBD}" srcOrd="0" destOrd="0" parTransId="{3D555693-656B-4A9B-8EAE-61486FBCAF53}" sibTransId="{D4758ACF-4729-494D-BFC9-F16C9F2170B5}"/>
    <dgm:cxn modelId="{8FD4C7F2-8A03-47E9-8693-155685CB48EC}" srcId="{E848D9F1-4D38-4B7D-8441-7241DCEC42FC}" destId="{52B89A66-303B-4792-97AB-8538DC727019}" srcOrd="0" destOrd="0" parTransId="{8B5BCCEC-C32E-4B46-A896-E409B150FFD0}" sibTransId="{A744E3D1-AE60-48EB-9EA6-B93B2F713183}"/>
    <dgm:cxn modelId="{0A7CF799-82FC-4953-BE4F-15088EF6D242}" type="presParOf" srcId="{B3D890EE-D51A-4296-8E24-83B9166E378B}" destId="{11E6FA26-4F1E-4A8A-A18E-42AD4B48F30C}" srcOrd="0" destOrd="0" presId="urn:microsoft.com/office/officeart/2005/8/layout/chevron1"/>
    <dgm:cxn modelId="{7538282B-84E5-46E3-8FE1-6E84BEBDAE08}" type="presParOf" srcId="{11E6FA26-4F1E-4A8A-A18E-42AD4B48F30C}" destId="{D8B5A2EC-8B48-46C9-BC96-2A23524C104D}" srcOrd="0" destOrd="0" presId="urn:microsoft.com/office/officeart/2005/8/layout/chevron1"/>
    <dgm:cxn modelId="{807791B1-A7E6-4E3D-AAEE-7C051CB4382F}" type="presParOf" srcId="{11E6FA26-4F1E-4A8A-A18E-42AD4B48F30C}" destId="{FFA1CBDA-EEA1-4812-B0AB-B39240FBEB06}" srcOrd="1" destOrd="0" presId="urn:microsoft.com/office/officeart/2005/8/layout/chevron1"/>
    <dgm:cxn modelId="{583EB3BC-5780-4ACC-B2A8-068607DD161E}" type="presParOf" srcId="{B3D890EE-D51A-4296-8E24-83B9166E378B}" destId="{49EBAD22-8F5C-4CE3-88F2-D4173A7690CE}" srcOrd="1" destOrd="0" presId="urn:microsoft.com/office/officeart/2005/8/layout/chevron1"/>
    <dgm:cxn modelId="{07056AD4-2C4E-4DC0-90BD-F762B580A27A}" type="presParOf" srcId="{B3D890EE-D51A-4296-8E24-83B9166E378B}" destId="{0E9CD3FA-C6AB-471E-9C01-8344D6365BB3}" srcOrd="2" destOrd="0" presId="urn:microsoft.com/office/officeart/2005/8/layout/chevron1"/>
    <dgm:cxn modelId="{F574E3A6-4C8F-4456-98C0-91282A16976D}" type="presParOf" srcId="{0E9CD3FA-C6AB-471E-9C01-8344D6365BB3}" destId="{FDE03CD7-276F-413E-AE2E-18FB0AE1444F}" srcOrd="0" destOrd="0" presId="urn:microsoft.com/office/officeart/2005/8/layout/chevron1"/>
    <dgm:cxn modelId="{0611F573-8777-4BE9-A2F3-F892B4988633}" type="presParOf" srcId="{0E9CD3FA-C6AB-471E-9C01-8344D6365BB3}" destId="{ED1853F3-FCF5-4958-B9A8-826AEEC27B3D}" srcOrd="1" destOrd="0" presId="urn:microsoft.com/office/officeart/2005/8/layout/chevron1"/>
    <dgm:cxn modelId="{B455DFFC-6817-4777-9D63-C0179A7FC8C9}" type="presParOf" srcId="{B3D890EE-D51A-4296-8E24-83B9166E378B}" destId="{0572CA9E-A457-4A9E-9715-6A39B6A3F87D}" srcOrd="3" destOrd="0" presId="urn:microsoft.com/office/officeart/2005/8/layout/chevron1"/>
    <dgm:cxn modelId="{6B36586E-EE05-4CE6-A22A-5E57179C326C}" type="presParOf" srcId="{B3D890EE-D51A-4296-8E24-83B9166E378B}" destId="{1535CC82-70DE-4ED7-AF5E-03CEBA7697C3}" srcOrd="4" destOrd="0" presId="urn:microsoft.com/office/officeart/2005/8/layout/chevron1"/>
    <dgm:cxn modelId="{11997948-C56B-421C-B53A-54B6771095D6}" type="presParOf" srcId="{1535CC82-70DE-4ED7-AF5E-03CEBA7697C3}" destId="{DB5F8183-6CAC-4A44-95B2-479CF5794F37}" srcOrd="0" destOrd="0" presId="urn:microsoft.com/office/officeart/2005/8/layout/chevron1"/>
    <dgm:cxn modelId="{A85DE14E-9025-4E00-8A65-86842BDB10FB}" type="presParOf" srcId="{1535CC82-70DE-4ED7-AF5E-03CEBA7697C3}" destId="{AFE73F63-AEF5-403C-B143-A181B6E7B650}"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5A2EC-8B48-46C9-BC96-2A23524C104D}">
      <dsp:nvSpPr>
        <dsp:cNvPr id="0" name=""/>
        <dsp:cNvSpPr/>
      </dsp:nvSpPr>
      <dsp:spPr>
        <a:xfrm>
          <a:off x="5482" y="714171"/>
          <a:ext cx="3645544" cy="145821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dirty="0"/>
            <a:t>Presentation Layer (Client)</a:t>
          </a:r>
        </a:p>
      </dsp:txBody>
      <dsp:txXfrm>
        <a:off x="734591" y="714171"/>
        <a:ext cx="2187327" cy="1458217"/>
      </dsp:txXfrm>
    </dsp:sp>
    <dsp:sp modelId="{FFA1CBDA-EEA1-4812-B0AB-B39240FBEB06}">
      <dsp:nvSpPr>
        <dsp:cNvPr id="0" name=""/>
        <dsp:cNvSpPr/>
      </dsp:nvSpPr>
      <dsp:spPr>
        <a:xfrm>
          <a:off x="5482" y="2354666"/>
          <a:ext cx="2916435"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333500">
            <a:lnSpc>
              <a:spcPct val="90000"/>
            </a:lnSpc>
            <a:spcBef>
              <a:spcPct val="0"/>
            </a:spcBef>
            <a:spcAft>
              <a:spcPct val="15000"/>
            </a:spcAft>
            <a:buChar char="•"/>
          </a:pPr>
          <a:r>
            <a:rPr lang="en-US" sz="3000" kern="1200" dirty="0"/>
            <a:t>HTML, CSS (Bootstrap 5), JavaScript</a:t>
          </a:r>
        </a:p>
      </dsp:txBody>
      <dsp:txXfrm>
        <a:off x="5482" y="2354666"/>
        <a:ext cx="2916435" cy="1282500"/>
      </dsp:txXfrm>
    </dsp:sp>
    <dsp:sp modelId="{FDE03CD7-276F-413E-AE2E-18FB0AE1444F}">
      <dsp:nvSpPr>
        <dsp:cNvPr id="0" name=""/>
        <dsp:cNvSpPr/>
      </dsp:nvSpPr>
      <dsp:spPr>
        <a:xfrm>
          <a:off x="3435027" y="714171"/>
          <a:ext cx="3645544" cy="145821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dirty="0"/>
            <a:t>Application Layer (Server)</a:t>
          </a:r>
        </a:p>
      </dsp:txBody>
      <dsp:txXfrm>
        <a:off x="4164136" y="714171"/>
        <a:ext cx="2187327" cy="1458217"/>
      </dsp:txXfrm>
    </dsp:sp>
    <dsp:sp modelId="{ED1853F3-FCF5-4958-B9A8-826AEEC27B3D}">
      <dsp:nvSpPr>
        <dsp:cNvPr id="0" name=""/>
        <dsp:cNvSpPr/>
      </dsp:nvSpPr>
      <dsp:spPr>
        <a:xfrm>
          <a:off x="3435027" y="2354666"/>
          <a:ext cx="2916435"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333500">
            <a:lnSpc>
              <a:spcPct val="90000"/>
            </a:lnSpc>
            <a:spcBef>
              <a:spcPct val="0"/>
            </a:spcBef>
            <a:spcAft>
              <a:spcPct val="15000"/>
            </a:spcAft>
            <a:buChar char="•"/>
          </a:pPr>
          <a:r>
            <a:rPr lang="en-US" sz="3000" kern="1200"/>
            <a:t>PHP</a:t>
          </a:r>
          <a:endParaRPr lang="en-US" sz="3000" kern="1200" dirty="0"/>
        </a:p>
      </dsp:txBody>
      <dsp:txXfrm>
        <a:off x="3435027" y="2354666"/>
        <a:ext cx="2916435" cy="1282500"/>
      </dsp:txXfrm>
    </dsp:sp>
    <dsp:sp modelId="{DB5F8183-6CAC-4A44-95B2-479CF5794F37}">
      <dsp:nvSpPr>
        <dsp:cNvPr id="0" name=""/>
        <dsp:cNvSpPr/>
      </dsp:nvSpPr>
      <dsp:spPr>
        <a:xfrm>
          <a:off x="6864572" y="714171"/>
          <a:ext cx="3645544" cy="145821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40005" rIns="40005" bIns="40005" numCol="1" spcCol="1270" anchor="ctr" anchorCtr="0">
          <a:noAutofit/>
        </a:bodyPr>
        <a:lstStyle/>
        <a:p>
          <a:pPr marL="0" lvl="0" indent="0" algn="ctr" defTabSz="1333500">
            <a:lnSpc>
              <a:spcPct val="90000"/>
            </a:lnSpc>
            <a:spcBef>
              <a:spcPct val="0"/>
            </a:spcBef>
            <a:spcAft>
              <a:spcPct val="35000"/>
            </a:spcAft>
            <a:buNone/>
          </a:pPr>
          <a:r>
            <a:rPr lang="en-US" sz="3000" kern="1200" dirty="0"/>
            <a:t>Data Layer (Database)</a:t>
          </a:r>
        </a:p>
      </dsp:txBody>
      <dsp:txXfrm>
        <a:off x="7593681" y="714171"/>
        <a:ext cx="2187327" cy="1458217"/>
      </dsp:txXfrm>
    </dsp:sp>
    <dsp:sp modelId="{AFE73F63-AEF5-403C-B143-A181B6E7B650}">
      <dsp:nvSpPr>
        <dsp:cNvPr id="0" name=""/>
        <dsp:cNvSpPr/>
      </dsp:nvSpPr>
      <dsp:spPr>
        <a:xfrm>
          <a:off x="6864572" y="2354666"/>
          <a:ext cx="2916435" cy="128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333500">
            <a:lnSpc>
              <a:spcPct val="90000"/>
            </a:lnSpc>
            <a:spcBef>
              <a:spcPct val="0"/>
            </a:spcBef>
            <a:spcAft>
              <a:spcPct val="15000"/>
            </a:spcAft>
            <a:buChar char="•"/>
          </a:pPr>
          <a:r>
            <a:rPr lang="en-US" sz="3000" kern="1200"/>
            <a:t>MySQL</a:t>
          </a:r>
          <a:endParaRPr lang="en-US" sz="3000" kern="1200" dirty="0"/>
        </a:p>
      </dsp:txBody>
      <dsp:txXfrm>
        <a:off x="6864572" y="2354666"/>
        <a:ext cx="2916435" cy="128250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523B-7879-413D-B974-4EA8BAD8717A}"/>
              </a:ext>
            </a:extLst>
          </p:cNvPr>
          <p:cNvSpPr>
            <a:spLocks noGrp="1"/>
          </p:cNvSpPr>
          <p:nvPr>
            <p:ph type="ctrTitle"/>
          </p:nvPr>
        </p:nvSpPr>
        <p:spPr>
          <a:xfrm>
            <a:off x="1524000" y="1122363"/>
            <a:ext cx="9144000" cy="2387600"/>
          </a:xfrm>
        </p:spPr>
        <p:txBody>
          <a:bodyPr anchor="b"/>
          <a:lstStyle>
            <a:lvl1pPr algn="ctr">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8425677C-C4F4-4003-8081-2CA323FE87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EBDFB6-B844-410B-871F-A9547EC777E1}"/>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F125EE92-8782-4771-BBA2-385EC3B1C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C773E-0593-4E3E-A921-36876FFE5ABB}"/>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9C71CC2-94AB-45BF-B83B-6D0466401FA9}"/>
              </a:ext>
            </a:extLst>
          </p:cNvPr>
          <p:cNvPicPr>
            <a:picLocks noChangeAspect="1"/>
          </p:cNvPicPr>
          <p:nvPr userDrawn="1"/>
        </p:nvPicPr>
        <p:blipFill>
          <a:blip r:embed="rId2">
            <a:alphaModFix amt="65000"/>
            <a:extLst>
              <a:ext uri="{28A0092B-C50C-407E-A947-70E740481C1C}">
                <a14:useLocalDpi xmlns:a14="http://schemas.microsoft.com/office/drawing/2010/main" val="0"/>
              </a:ext>
            </a:extLst>
          </a:blip>
          <a:stretch>
            <a:fillRect/>
          </a:stretch>
        </p:blipFill>
        <p:spPr>
          <a:xfrm>
            <a:off x="4927011" y="4160648"/>
            <a:ext cx="2337977" cy="2094067"/>
          </a:xfrm>
          <a:prstGeom prst="rect">
            <a:avLst/>
          </a:prstGeom>
        </p:spPr>
      </p:pic>
    </p:spTree>
    <p:extLst>
      <p:ext uri="{BB962C8B-B14F-4D97-AF65-F5344CB8AC3E}">
        <p14:creationId xmlns:p14="http://schemas.microsoft.com/office/powerpoint/2010/main" val="261237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FE9E-2EAE-47F7-9BCF-8CE6618938C9}"/>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0DA83C7-1BAA-4632-825D-9DCD8B8E6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7E41AA-741F-4EC6-A497-D1DEB1011FD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5366A5DD-EB46-4E38-9B93-2ED8D93DF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B6A07-A0C0-4565-90CD-83F9F70E5348}"/>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30AFC61-666A-4D08-AE3C-1B79355EEE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00905" y="6176962"/>
            <a:ext cx="760362" cy="681037"/>
          </a:xfrm>
          <a:prstGeom prst="rect">
            <a:avLst/>
          </a:prstGeom>
        </p:spPr>
      </p:pic>
    </p:spTree>
    <p:extLst>
      <p:ext uri="{BB962C8B-B14F-4D97-AF65-F5344CB8AC3E}">
        <p14:creationId xmlns:p14="http://schemas.microsoft.com/office/powerpoint/2010/main" val="409570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1F54-45A7-436C-80E0-91459F5EB1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856C5C-9625-46C6-8DA5-CF58A2EE5F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1E8-BC8F-4753-ADB3-A0C48167311C}"/>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2A239F8A-1350-48EF-BD37-666B5D1EF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9524A-BFD0-4E76-8617-E50C51C351AA}"/>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93456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2AE11-2AFB-47A4-890C-4991DBBD22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0517F6-26BF-477B-80F4-8E1AF6645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706272-9F06-4612-8B6C-5BF50CEC5F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41C4EC-9929-4DCE-8A0D-128E9BE0D9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1CEDA14C-6B80-472E-AE8A-5D71B925C6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770449-5253-4B20-A1CC-AC3677333F4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059888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58E8-F72B-4C5B-B31E-C39070112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EEA8A5-4B13-4A06-872D-F1A3232627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5C7779-F8D2-4F64-8095-FDFC56CDB0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13D80E-A482-4598-B0B0-6FEE61ED80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45DEA-EBE2-463A-92B3-156809288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32383A-BEA2-439D-9016-2DE5062144BB}"/>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8" name="Footer Placeholder 7">
            <a:extLst>
              <a:ext uri="{FF2B5EF4-FFF2-40B4-BE49-F238E27FC236}">
                <a16:creationId xmlns:a16="http://schemas.microsoft.com/office/drawing/2014/main" id="{00DF060A-F869-4CFC-BEC9-436E45FDCE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F742A3-A4B8-4F34-A226-2F317C64C61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42312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7E50-68E4-4AEB-AD2D-D5ED555A31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B69AFB-C8BF-4C66-A4EA-4147AED45409}"/>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4" name="Footer Placeholder 3">
            <a:extLst>
              <a:ext uri="{FF2B5EF4-FFF2-40B4-BE49-F238E27FC236}">
                <a16:creationId xmlns:a16="http://schemas.microsoft.com/office/drawing/2014/main" id="{5C105508-0742-43E9-BA29-7E405D3D41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3C142E-3D1A-427B-BA6B-7A453D4ED1FB}"/>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7169170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6004DB-86FF-4B67-B3C9-DC35E0ECD4E4}"/>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3" name="Footer Placeholder 2">
            <a:extLst>
              <a:ext uri="{FF2B5EF4-FFF2-40B4-BE49-F238E27FC236}">
                <a16:creationId xmlns:a16="http://schemas.microsoft.com/office/drawing/2014/main" id="{D86352AE-C1A3-4B2F-8F0B-8EABFF9C55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06BA80-BCAF-48E5-8D07-8A059E56039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51640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D035-D8A0-4FC2-8F79-526FBF59B4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F7B67-0FB4-4620-BBDF-658857E7B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D8C51-DF6F-46A4-9232-C95714472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AC53C-DB51-4743-9D99-B8CD2B2524A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64DBC3D-49AC-4011-B820-F3F7EA5185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9B0DDC-539E-4D00-84DA-89041EC6425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44479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BBC2-B05A-46ED-A241-BA9E3E8802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6BAD30-E81E-48D0-B564-9BBAA44091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80F4405-7CFA-4985-B5B7-6189705A0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DC5395-E644-4646-8327-ED7327EE59E7}"/>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70660FA-4807-411B-BA30-E201D8286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0283C1-EF9F-4823-A56C-8799FE4DC97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984709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D5838-557A-4543-B7AE-4E7E629898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3BF8E1-259C-46CA-B233-0F947B7C7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DB938-4651-49A6-AD85-87C5B7F2D9F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A04DE878-AAF8-481F-9EB6-7B3F33BB36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72BD8B-7F3E-4F5D-A953-764469667066}"/>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250029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DDCDF4-4D7A-4375-A309-354D24F5A7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573EB7-28A0-4361-9CDB-35C28ADE8A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F066A-E6EE-4F7B-8FC5-BE9B2CAB18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E8B6381A-C118-4E62-BF37-EA0EBD626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CEB07-AD06-45B6-9855-C8B2A45EE0A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411556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7978F9-BCFE-4189-A0A8-446CC99C09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51A654-BA2D-4FB0-851C-76683F8C5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5C5A9-AB1C-4D1E-873E-AB223D54F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1BA9A757-4B5D-46F4-872F-32AE4B103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CCE750-2D47-4D77-93E0-297723B38C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122ED-C147-4045-89CD-7A79E332317A}" type="slidenum">
              <a:rPr lang="en-US" smtClean="0"/>
              <a:t>‹#›</a:t>
            </a:fld>
            <a:endParaRPr lang="en-US"/>
          </a:p>
        </p:txBody>
      </p:sp>
      <p:pic>
        <p:nvPicPr>
          <p:cNvPr id="8" name="Picture 7">
            <a:extLst>
              <a:ext uri="{FF2B5EF4-FFF2-40B4-BE49-F238E27FC236}">
                <a16:creationId xmlns:a16="http://schemas.microsoft.com/office/drawing/2014/main" id="{09F43C55-1C86-4C11-A83E-15C62D47465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56"/>
            <a:ext cx="12192000" cy="298450"/>
          </a:xfrm>
          <a:prstGeom prst="rect">
            <a:avLst/>
          </a:prstGeom>
        </p:spPr>
      </p:pic>
    </p:spTree>
    <p:extLst>
      <p:ext uri="{BB962C8B-B14F-4D97-AF65-F5344CB8AC3E}">
        <p14:creationId xmlns:p14="http://schemas.microsoft.com/office/powerpoint/2010/main" val="4199795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9CD8-14E7-4A95-99DB-B02DBD937ACA}"/>
              </a:ext>
            </a:extLst>
          </p:cNvPr>
          <p:cNvSpPr>
            <a:spLocks noGrp="1"/>
          </p:cNvSpPr>
          <p:nvPr>
            <p:ph type="ctrTitle"/>
          </p:nvPr>
        </p:nvSpPr>
        <p:spPr/>
        <p:txBody>
          <a:bodyPr/>
          <a:lstStyle/>
          <a:p>
            <a:r>
              <a:rPr lang="en-US" dirty="0"/>
              <a:t>Adebayo Gbenga Bello</a:t>
            </a:r>
          </a:p>
        </p:txBody>
      </p:sp>
      <p:sp>
        <p:nvSpPr>
          <p:cNvPr id="3" name="Subtitle 2">
            <a:extLst>
              <a:ext uri="{FF2B5EF4-FFF2-40B4-BE49-F238E27FC236}">
                <a16:creationId xmlns:a16="http://schemas.microsoft.com/office/drawing/2014/main" id="{ED535F16-4A24-4AED-8DB2-DAA4BCFBE2CF}"/>
              </a:ext>
            </a:extLst>
          </p:cNvPr>
          <p:cNvSpPr>
            <a:spLocks noGrp="1"/>
          </p:cNvSpPr>
          <p:nvPr>
            <p:ph type="subTitle" idx="1"/>
          </p:nvPr>
        </p:nvSpPr>
        <p:spPr/>
        <p:txBody>
          <a:bodyPr vert="horz" lIns="91440" tIns="45720" rIns="91440" bIns="45720" rtlCol="0" anchor="t">
            <a:normAutofit/>
          </a:bodyPr>
          <a:lstStyle/>
          <a:p>
            <a:r>
              <a:rPr lang="en-US" dirty="0"/>
              <a:t>Web Tech Summer 2025 Final Exams</a:t>
            </a:r>
          </a:p>
        </p:txBody>
      </p:sp>
    </p:spTree>
    <p:extLst>
      <p:ext uri="{BB962C8B-B14F-4D97-AF65-F5344CB8AC3E}">
        <p14:creationId xmlns:p14="http://schemas.microsoft.com/office/powerpoint/2010/main" val="1741095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F5CAFA-01D7-4C9A-B6E2-3E744EA7D38B}"/>
              </a:ext>
            </a:extLst>
          </p:cNvPr>
          <p:cNvSpPr>
            <a:spLocks noGrp="1"/>
          </p:cNvSpPr>
          <p:nvPr>
            <p:ph type="title"/>
          </p:nvPr>
        </p:nvSpPr>
        <p:spPr>
          <a:xfrm>
            <a:off x="831850" y="1709738"/>
            <a:ext cx="10515600" cy="2852737"/>
          </a:xfrm>
        </p:spPr>
        <p:txBody>
          <a:bodyPr anchor="b">
            <a:normAutofit fontScale="90000"/>
          </a:bodyPr>
          <a:lstStyle/>
          <a:p>
            <a:r>
              <a:rPr lang="en-US" sz="4200" i="1" dirty="0">
                <a:effectLst/>
              </a:rPr>
              <a:t>Adebayo </a:t>
            </a:r>
            <a:r>
              <a:rPr lang="en-US" sz="4200" i="1" dirty="0"/>
              <a:t>Bello is </a:t>
            </a:r>
            <a:r>
              <a:rPr lang="en-US" sz="4400" dirty="0"/>
              <a:t>developing a data-powered website to help </a:t>
            </a:r>
            <a:r>
              <a:rPr lang="en-US" sz="4400" b="1" dirty="0"/>
              <a:t>Property Managers and Landlords</a:t>
            </a:r>
            <a:r>
              <a:rPr lang="en-US" sz="4400" dirty="0"/>
              <a:t> solve </a:t>
            </a:r>
            <a:r>
              <a:rPr lang="en-US" sz="4400" b="1" dirty="0"/>
              <a:t>the problem of fragmented property management and inefficient tenant tracking</a:t>
            </a:r>
            <a:r>
              <a:rPr lang="en-US" sz="4400" dirty="0"/>
              <a:t>.</a:t>
            </a:r>
            <a:r>
              <a:rPr lang="en-US" sz="4200" b="1" i="1" dirty="0">
                <a:effectLst/>
              </a:rPr>
              <a:t>.</a:t>
            </a:r>
            <a:br>
              <a:rPr lang="en-US" sz="4200" i="1" dirty="0">
                <a:effectLst/>
              </a:rPr>
            </a:br>
            <a:endParaRPr lang="en-US" sz="4200" dirty="0"/>
          </a:p>
        </p:txBody>
      </p:sp>
      <p:sp>
        <p:nvSpPr>
          <p:cNvPr id="9" name="Text Placeholder 2">
            <a:extLst>
              <a:ext uri="{FF2B5EF4-FFF2-40B4-BE49-F238E27FC236}">
                <a16:creationId xmlns:a16="http://schemas.microsoft.com/office/drawing/2014/main" id="{E8ED7AE9-F1AD-4DAF-AD81-ED38A088D24C}"/>
              </a:ext>
            </a:extLst>
          </p:cNvPr>
          <p:cNvSpPr>
            <a:spLocks noGrp="1"/>
          </p:cNvSpPr>
          <p:nvPr>
            <p:ph type="body" idx="1"/>
          </p:nvPr>
        </p:nvSpPr>
        <p:spPr>
          <a:xfrm>
            <a:off x="831850" y="4589463"/>
            <a:ext cx="10515600" cy="1500187"/>
          </a:xfrm>
        </p:spPr>
        <p:txBody>
          <a:bodyPr/>
          <a:lstStyle/>
          <a:p>
            <a:endParaRPr lang="en-US"/>
          </a:p>
        </p:txBody>
      </p:sp>
    </p:spTree>
    <p:extLst>
      <p:ext uri="{BB962C8B-B14F-4D97-AF65-F5344CB8AC3E}">
        <p14:creationId xmlns:p14="http://schemas.microsoft.com/office/powerpoint/2010/main" val="223872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24;p26">
            <a:extLst>
              <a:ext uri="{FF2B5EF4-FFF2-40B4-BE49-F238E27FC236}">
                <a16:creationId xmlns:a16="http://schemas.microsoft.com/office/drawing/2014/main" id="{45854F39-C3A4-489F-B694-859EFBCDAE4E}"/>
              </a:ext>
            </a:extLst>
          </p:cNvPr>
          <p:cNvSpPr txBox="1"/>
          <p:nvPr/>
        </p:nvSpPr>
        <p:spPr>
          <a:xfrm>
            <a:off x="5136043" y="1532214"/>
            <a:ext cx="3378900" cy="2548897"/>
          </a:xfrm>
          <a:prstGeom prst="rect">
            <a:avLst/>
          </a:prstGeom>
          <a:solidFill>
            <a:schemeClr val="lt1">
              <a:alpha val="7176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PAYOFF: </a:t>
            </a:r>
            <a:r>
              <a:rPr lang="en-US" sz="1200" i="1" dirty="0">
                <a:solidFill>
                  <a:schemeClr val="dk1"/>
                </a:solidFill>
                <a:latin typeface="Calibri"/>
                <a:ea typeface="Calibri"/>
                <a:cs typeface="Calibri"/>
                <a:sym typeface="Calibri"/>
              </a:rPr>
              <a:t>The Manager Dashboard: A "God-view" screen that instantly shows:</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Total Monthly Revenue (calculated dynamically from payment records).</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Occupancy Rates (Visual badges showing "Vacant" vs. "Occupied").</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Recent Activity Logs (Real-time feed of what agents are doing).</a:t>
            </a:r>
            <a:endParaRPr sz="1200" dirty="0">
              <a:solidFill>
                <a:schemeClr val="dk1"/>
              </a:solidFill>
              <a:latin typeface="Calibri"/>
              <a:ea typeface="Calibri"/>
              <a:cs typeface="Calibri"/>
              <a:sym typeface="Calibri"/>
            </a:endParaRPr>
          </a:p>
        </p:txBody>
      </p:sp>
      <p:sp>
        <p:nvSpPr>
          <p:cNvPr id="15" name="Google Shape;128;p26">
            <a:extLst>
              <a:ext uri="{FF2B5EF4-FFF2-40B4-BE49-F238E27FC236}">
                <a16:creationId xmlns:a16="http://schemas.microsoft.com/office/drawing/2014/main" id="{B0376552-4BDD-431F-A63E-87A711EAE56C}"/>
              </a:ext>
            </a:extLst>
          </p:cNvPr>
          <p:cNvSpPr txBox="1">
            <a:spLocks/>
          </p:cNvSpPr>
          <p:nvPr/>
        </p:nvSpPr>
        <p:spPr>
          <a:xfrm>
            <a:off x="0" y="549275"/>
            <a:ext cx="11360150" cy="852488"/>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4400"/>
              <a:buFont typeface="Calibri"/>
              <a:buNone/>
            </a:pPr>
            <a:r>
              <a:rPr lang="en-US" dirty="0" err="1">
                <a:solidFill>
                  <a:schemeClr val="dk1"/>
                </a:solidFill>
                <a:latin typeface="Calibri"/>
                <a:ea typeface="Calibri"/>
                <a:cs typeface="Calibri"/>
                <a:sym typeface="Calibri"/>
              </a:rPr>
              <a:t>RentalFlow</a:t>
            </a:r>
            <a:endParaRPr lang="en-US" dirty="0">
              <a:solidFill>
                <a:schemeClr val="dk1"/>
              </a:solidFill>
              <a:latin typeface="Calibri"/>
              <a:ea typeface="Calibri"/>
              <a:cs typeface="Calibri"/>
              <a:sym typeface="Calibri"/>
            </a:endParaRPr>
          </a:p>
        </p:txBody>
      </p:sp>
      <p:sp>
        <p:nvSpPr>
          <p:cNvPr id="25" name="Google Shape;133;p26">
            <a:extLst>
              <a:ext uri="{FF2B5EF4-FFF2-40B4-BE49-F238E27FC236}">
                <a16:creationId xmlns:a16="http://schemas.microsoft.com/office/drawing/2014/main" id="{3F4E89E7-ABA2-466A-B1F8-0CA4BEBEDA3D}"/>
              </a:ext>
            </a:extLst>
          </p:cNvPr>
          <p:cNvSpPr txBox="1"/>
          <p:nvPr/>
        </p:nvSpPr>
        <p:spPr>
          <a:xfrm>
            <a:off x="288657" y="1558319"/>
            <a:ext cx="2726418" cy="1259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dirty="0">
                <a:solidFill>
                  <a:schemeClr val="dk1"/>
                </a:solidFill>
                <a:latin typeface="Calibri"/>
                <a:ea typeface="Calibri"/>
                <a:cs typeface="Calibri"/>
                <a:sym typeface="Calibri"/>
              </a:rPr>
              <a:t>PERSONA</a:t>
            </a:r>
            <a:r>
              <a:rPr lang="en-US" sz="1200" dirty="0">
                <a:solidFill>
                  <a:schemeClr val="dk1"/>
                </a:solidFill>
                <a:latin typeface="Calibri"/>
                <a:ea typeface="Calibri"/>
                <a:cs typeface="Calibri"/>
                <a:sym typeface="Calibri"/>
              </a:rPr>
              <a:t>(s) </a:t>
            </a:r>
            <a:r>
              <a:rPr lang="en-US" sz="1200" i="1" dirty="0">
                <a:solidFill>
                  <a:schemeClr val="dk1"/>
                </a:solidFill>
                <a:latin typeface="Calibri"/>
                <a:ea typeface="Calibri"/>
                <a:cs typeface="Calibri"/>
                <a:sym typeface="Calibri"/>
              </a:rPr>
              <a:t>The system is designed for a property management business that oversees multiple rental units.</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Primary User: The Property Manager (Admin)</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Role: The business owner or head administrator.</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Responsibilities: They own the data. They add new properties, hire employees, oversee all financial </a:t>
            </a:r>
            <a:r>
              <a:rPr lang="en-US" sz="1200" i="1" dirty="0" err="1">
                <a:solidFill>
                  <a:schemeClr val="dk1"/>
                </a:solidFill>
                <a:latin typeface="Calibri"/>
                <a:ea typeface="Calibri"/>
                <a:cs typeface="Calibri"/>
                <a:sym typeface="Calibri"/>
              </a:rPr>
              <a:t>reports.Secondary</a:t>
            </a:r>
            <a:r>
              <a:rPr lang="en-US" sz="1200" i="1" dirty="0">
                <a:solidFill>
                  <a:schemeClr val="dk1"/>
                </a:solidFill>
                <a:latin typeface="Calibri"/>
                <a:ea typeface="Calibri"/>
                <a:cs typeface="Calibri"/>
                <a:sym typeface="Calibri"/>
              </a:rPr>
              <a:t> User: The Employee</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Role: Staff members hired by the manager.</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Responsibilities: They manage day-to-day operations for specific assigned properties. They collect rent, update tenant details, and log maintenance issues.</a:t>
            </a:r>
            <a:endParaRPr sz="1200" i="1" dirty="0">
              <a:solidFill>
                <a:schemeClr val="dk1"/>
              </a:solidFill>
              <a:latin typeface="Calibri"/>
              <a:ea typeface="Calibri"/>
              <a:cs typeface="Calibri"/>
              <a:sym typeface="Calibri"/>
            </a:endParaRPr>
          </a:p>
        </p:txBody>
      </p:sp>
      <p:sp>
        <p:nvSpPr>
          <p:cNvPr id="27" name="Google Shape;134;p26">
            <a:extLst>
              <a:ext uri="{FF2B5EF4-FFF2-40B4-BE49-F238E27FC236}">
                <a16:creationId xmlns:a16="http://schemas.microsoft.com/office/drawing/2014/main" id="{7FCFFFAA-E5F2-46D8-8DAA-857512D7D290}"/>
              </a:ext>
            </a:extLst>
          </p:cNvPr>
          <p:cNvSpPr txBox="1"/>
          <p:nvPr/>
        </p:nvSpPr>
        <p:spPr>
          <a:xfrm>
            <a:off x="2938073" y="1532215"/>
            <a:ext cx="2144100" cy="1669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PROBLEM: </a:t>
            </a:r>
            <a:r>
              <a:rPr lang="en-US" sz="1200" i="1" dirty="0">
                <a:solidFill>
                  <a:schemeClr val="dk1"/>
                </a:solidFill>
                <a:latin typeface="Calibri"/>
                <a:ea typeface="Calibri"/>
                <a:cs typeface="Calibri"/>
                <a:sym typeface="Calibri"/>
              </a:rPr>
              <a:t>Currently, small-to-mid-sized landlords rely on disconnected tools like Excel spreadsheets, WhatsApp messages, and paper receipts to manage their business. This leads to:</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Lost Data: Rent payments and maintenance requests get lost in chat histories.</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Lack of Oversight: Managers cannot easily see which employees are managing which properties effectively.</a:t>
            </a:r>
          </a:p>
          <a:p>
            <a:pPr marL="0" marR="0" lvl="0" indent="0" algn="l" rtl="0">
              <a:spcBef>
                <a:spcPts val="0"/>
              </a:spcBef>
              <a:spcAft>
                <a:spcPts val="0"/>
              </a:spcAft>
              <a:buNone/>
            </a:pPr>
            <a:r>
              <a:rPr lang="en-US" sz="1200" i="1" dirty="0">
                <a:solidFill>
                  <a:schemeClr val="dk1"/>
                </a:solidFill>
                <a:latin typeface="Calibri"/>
                <a:ea typeface="Calibri"/>
                <a:cs typeface="Calibri"/>
                <a:sym typeface="Calibri"/>
              </a:rPr>
              <a:t>Inefficiency: There is no central place to view the real-time occupancy status or total revenue of the portfolio.</a:t>
            </a:r>
            <a:endParaRPr sz="1200" dirty="0">
              <a:solidFill>
                <a:schemeClr val="dk1"/>
              </a:solidFill>
              <a:latin typeface="Calibri"/>
              <a:ea typeface="Calibri"/>
              <a:cs typeface="Calibri"/>
              <a:sym typeface="Calibri"/>
            </a:endParaRPr>
          </a:p>
        </p:txBody>
      </p:sp>
      <p:sp>
        <p:nvSpPr>
          <p:cNvPr id="29" name="Google Shape;135;p26">
            <a:extLst>
              <a:ext uri="{FF2B5EF4-FFF2-40B4-BE49-F238E27FC236}">
                <a16:creationId xmlns:a16="http://schemas.microsoft.com/office/drawing/2014/main" id="{663C807B-3501-4A1A-B45B-BCE89ED53D86}"/>
              </a:ext>
            </a:extLst>
          </p:cNvPr>
          <p:cNvSpPr txBox="1"/>
          <p:nvPr/>
        </p:nvSpPr>
        <p:spPr>
          <a:xfrm>
            <a:off x="8697908" y="1558319"/>
            <a:ext cx="2438522" cy="1259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FINISH</a:t>
            </a:r>
            <a:r>
              <a:rPr lang="en-US" sz="1200" i="1" dirty="0">
                <a:solidFill>
                  <a:schemeClr val="dk1"/>
                </a:solidFill>
                <a:latin typeface="Calibri"/>
                <a:ea typeface="Calibri"/>
                <a:cs typeface="Calibri"/>
                <a:sym typeface="Calibri"/>
              </a:rPr>
              <a:t>: Managers gain peace of mind and financial clarity without micromanaging. Employees have a clear workspace to log their work without using personal </a:t>
            </a:r>
            <a:r>
              <a:rPr lang="en-US" sz="1200" i="1" dirty="0" err="1">
                <a:solidFill>
                  <a:schemeClr val="dk1"/>
                </a:solidFill>
                <a:latin typeface="Calibri"/>
                <a:ea typeface="Calibri"/>
                <a:cs typeface="Calibri"/>
                <a:sym typeface="Calibri"/>
              </a:rPr>
              <a:t>phones.The</a:t>
            </a:r>
            <a:r>
              <a:rPr lang="en-US" sz="1200" i="1" dirty="0">
                <a:solidFill>
                  <a:schemeClr val="dk1"/>
                </a:solidFill>
                <a:latin typeface="Calibri"/>
                <a:ea typeface="Calibri"/>
                <a:cs typeface="Calibri"/>
                <a:sym typeface="Calibri"/>
              </a:rPr>
              <a:t> Business scales faster because data is centralized and secure.</a:t>
            </a:r>
            <a:endParaRPr sz="1200" i="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924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4AAEF-FFFC-4D02-8E01-39733404A943}"/>
              </a:ext>
            </a:extLst>
          </p:cNvPr>
          <p:cNvSpPr>
            <a:spLocks noGrp="1"/>
          </p:cNvSpPr>
          <p:nvPr>
            <p:ph type="title"/>
          </p:nvPr>
        </p:nvSpPr>
        <p:spPr/>
        <p:txBody>
          <a:bodyPr/>
          <a:lstStyle/>
          <a:p>
            <a:r>
              <a:rPr lang="en-US" dirty="0"/>
              <a:t>User / Customer</a:t>
            </a:r>
          </a:p>
        </p:txBody>
      </p:sp>
      <p:sp>
        <p:nvSpPr>
          <p:cNvPr id="3" name="Content Placeholder 2">
            <a:extLst>
              <a:ext uri="{FF2B5EF4-FFF2-40B4-BE49-F238E27FC236}">
                <a16:creationId xmlns:a16="http://schemas.microsoft.com/office/drawing/2014/main" id="{95C42002-6CD1-4A60-B873-4164CDE4C052}"/>
              </a:ext>
            </a:extLst>
          </p:cNvPr>
          <p:cNvSpPr>
            <a:spLocks noGrp="1"/>
          </p:cNvSpPr>
          <p:nvPr>
            <p:ph idx="1"/>
          </p:nvPr>
        </p:nvSpPr>
        <p:spPr/>
        <p:txBody>
          <a:bodyPr/>
          <a:lstStyle/>
          <a:p>
            <a:r>
              <a:rPr lang="en-US" sz="1800" dirty="0">
                <a:effectLst/>
                <a:latin typeface="Calibri" panose="020F0502020204030204" pitchFamily="34" charset="0"/>
                <a:ea typeface="Calibri" panose="020F0502020204030204" pitchFamily="34" charset="0"/>
                <a:cs typeface="Arial" panose="020B0604020202020204" pitchFamily="34" charset="0"/>
              </a:rPr>
              <a:t>describe the business, organization, or group of people that will use this website.  If a business, describe its products or services and what its purpose is.</a:t>
            </a:r>
          </a:p>
          <a:p>
            <a:r>
              <a:rPr lang="en-US" sz="1800" dirty="0"/>
              <a:t> Managers will be able to add rentals, remove rentals, edit rental information, create employees, assign rentals to employees, see all rentals under their business, see rental logs, rental revenue, and remove rentals from employees.</a:t>
            </a:r>
          </a:p>
          <a:p>
            <a:r>
              <a:rPr lang="en-US" sz="1800" dirty="0"/>
              <a:t>Employees will be able to view assigned rentals, input tenant information, and create logs about events pertaining to that rental. </a:t>
            </a:r>
          </a:p>
        </p:txBody>
      </p:sp>
    </p:spTree>
    <p:extLst>
      <p:ext uri="{BB962C8B-B14F-4D97-AF65-F5344CB8AC3E}">
        <p14:creationId xmlns:p14="http://schemas.microsoft.com/office/powerpoint/2010/main" val="2113497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30D1-743D-4000-9929-9878F282E703}"/>
              </a:ext>
            </a:extLst>
          </p:cNvPr>
          <p:cNvSpPr>
            <a:spLocks noGrp="1"/>
          </p:cNvSpPr>
          <p:nvPr>
            <p:ph type="title"/>
          </p:nvPr>
        </p:nvSpPr>
        <p:spPr/>
        <p:txBody>
          <a:bodyPr/>
          <a:lstStyle/>
          <a:p>
            <a:r>
              <a:rPr lang="en-US" dirty="0"/>
              <a:t>Main Functions of the Website</a:t>
            </a:r>
          </a:p>
        </p:txBody>
      </p:sp>
      <p:sp>
        <p:nvSpPr>
          <p:cNvPr id="3" name="Content Placeholder 2">
            <a:extLst>
              <a:ext uri="{FF2B5EF4-FFF2-40B4-BE49-F238E27FC236}">
                <a16:creationId xmlns:a16="http://schemas.microsoft.com/office/drawing/2014/main" id="{9F74E113-BC91-4D17-8467-AD7ACB6061A4}"/>
              </a:ext>
            </a:extLst>
          </p:cNvPr>
          <p:cNvSpPr>
            <a:spLocks noGrp="1"/>
          </p:cNvSpPr>
          <p:nvPr>
            <p:ph idx="1"/>
          </p:nvPr>
        </p:nvSpPr>
        <p:spPr/>
        <p:txBody>
          <a:bodyPr>
            <a:normAutofit/>
          </a:bodyPr>
          <a:lstStyle/>
          <a:p>
            <a:r>
              <a:rPr lang="en-US" sz="1800" dirty="0"/>
              <a:t>Property &amp; Asset Management: Managers can add/edit/delete properties and upload images. System automatically tracks the status (Occupied/Vacant) based on tenant assignment.</a:t>
            </a:r>
          </a:p>
          <a:p>
            <a:r>
              <a:rPr lang="en-US" sz="1800" dirty="0"/>
              <a:t>Role-Based Access Control (RBAC):Managers have full access to all data and can create Employee accounts .Employees can only see and manage the specific properties assigned to them by the Manager.</a:t>
            </a:r>
          </a:p>
          <a:p>
            <a:r>
              <a:rPr lang="en-US" sz="1800" dirty="0"/>
              <a:t>Financial &amp; Activity Logging: Employees can record rent payments and log maintenance events. The system aggregates these logs into a history view for each property, creating a permanent audit trail.</a:t>
            </a:r>
          </a:p>
          <a:p>
            <a:r>
              <a:rPr lang="en-US" sz="1800" dirty="0"/>
              <a:t>Tenant Management: Employees can update tenant contact info and assign tenants to properties, ensuring the "Occupied" status is always accurate.</a:t>
            </a:r>
          </a:p>
        </p:txBody>
      </p:sp>
    </p:spTree>
    <p:extLst>
      <p:ext uri="{BB962C8B-B14F-4D97-AF65-F5344CB8AC3E}">
        <p14:creationId xmlns:p14="http://schemas.microsoft.com/office/powerpoint/2010/main" val="3537379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FA18-7093-430E-BD23-BCEBC00BC538}"/>
              </a:ext>
            </a:extLst>
          </p:cNvPr>
          <p:cNvSpPr>
            <a:spLocks noGrp="1"/>
          </p:cNvSpPr>
          <p:nvPr>
            <p:ph type="title"/>
          </p:nvPr>
        </p:nvSpPr>
        <p:spPr/>
        <p:txBody>
          <a:bodyPr/>
          <a:lstStyle/>
          <a:p>
            <a:r>
              <a:rPr lang="en-US" dirty="0"/>
              <a:t>Architecture</a:t>
            </a:r>
          </a:p>
        </p:txBody>
      </p:sp>
      <p:graphicFrame>
        <p:nvGraphicFramePr>
          <p:cNvPr id="4" name="Content Placeholder 3">
            <a:extLst>
              <a:ext uri="{FF2B5EF4-FFF2-40B4-BE49-F238E27FC236}">
                <a16:creationId xmlns:a16="http://schemas.microsoft.com/office/drawing/2014/main" id="{08E12CCF-6CAF-C378-7B18-DB7B97585C6D}"/>
              </a:ext>
            </a:extLst>
          </p:cNvPr>
          <p:cNvGraphicFramePr>
            <a:graphicFrameLocks noGrp="1"/>
          </p:cNvGraphicFramePr>
          <p:nvPr>
            <p:ph idx="1"/>
            <p:extLst>
              <p:ext uri="{D42A27DB-BD31-4B8C-83A1-F6EECF244321}">
                <p14:modId xmlns:p14="http://schemas.microsoft.com/office/powerpoint/2010/main" val="32129964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7009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88D4E-1A6E-6E69-FD46-5B7757E3314E}"/>
              </a:ext>
            </a:extLst>
          </p:cNvPr>
          <p:cNvSpPr>
            <a:spLocks noGrp="1"/>
          </p:cNvSpPr>
          <p:nvPr>
            <p:ph type="title"/>
          </p:nvPr>
        </p:nvSpPr>
        <p:spPr/>
        <p:txBody>
          <a:bodyPr/>
          <a:lstStyle/>
          <a:p>
            <a:r>
              <a:rPr lang="en-US" dirty="0"/>
              <a:t>Architecture</a:t>
            </a:r>
          </a:p>
        </p:txBody>
      </p:sp>
      <p:sp>
        <p:nvSpPr>
          <p:cNvPr id="3" name="Content Placeholder 2">
            <a:extLst>
              <a:ext uri="{FF2B5EF4-FFF2-40B4-BE49-F238E27FC236}">
                <a16:creationId xmlns:a16="http://schemas.microsoft.com/office/drawing/2014/main" id="{07B8902E-662B-7F5B-20A8-A973E550749F}"/>
              </a:ext>
            </a:extLst>
          </p:cNvPr>
          <p:cNvSpPr>
            <a:spLocks noGrp="1"/>
          </p:cNvSpPr>
          <p:nvPr>
            <p:ph idx="1"/>
          </p:nvPr>
        </p:nvSpPr>
        <p:spPr/>
        <p:txBody>
          <a:bodyPr>
            <a:normAutofit fontScale="92500" lnSpcReduction="20000"/>
          </a:bodyPr>
          <a:lstStyle/>
          <a:p>
            <a:r>
              <a:rPr lang="en-US" sz="1800" dirty="0"/>
              <a:t>Tier 1: Presentation Layer (Frontend)</a:t>
            </a:r>
          </a:p>
          <a:p>
            <a:pPr lvl="1"/>
            <a:r>
              <a:rPr lang="en-US" sz="1400" dirty="0"/>
              <a:t>Technologies: HTML5, CSS3 (Bootstrap 5), JavaScript.</a:t>
            </a:r>
          </a:p>
          <a:p>
            <a:pPr lvl="1"/>
            <a:r>
              <a:rPr lang="en-US" sz="1400" dirty="0"/>
              <a:t>Role: Handles user interaction and input validation.</a:t>
            </a:r>
          </a:p>
          <a:p>
            <a:pPr lvl="1"/>
            <a:r>
              <a:rPr lang="en-US" sz="1400" dirty="0"/>
              <a:t>Key File: login.js – Intercepts the login form to check for empty fields before sending data to the server, reducing server load.</a:t>
            </a:r>
          </a:p>
          <a:p>
            <a:r>
              <a:rPr lang="en-US" sz="1800" dirty="0"/>
              <a:t>Tier 2: Application Layer (Backend Logic)</a:t>
            </a:r>
          </a:p>
          <a:p>
            <a:pPr lvl="1"/>
            <a:r>
              <a:rPr lang="en-US" sz="1400" dirty="0"/>
              <a:t>Technologies: PHP 8.2.Role: Processes logic, handles security, and manages sessions.</a:t>
            </a:r>
          </a:p>
          <a:p>
            <a:pPr lvl="1"/>
            <a:r>
              <a:rPr lang="en-US" sz="1400" dirty="0"/>
              <a:t>Logic Flow Example:</a:t>
            </a:r>
          </a:p>
          <a:p>
            <a:pPr lvl="2"/>
            <a:r>
              <a:rPr lang="en-US" sz="1000" dirty="0"/>
              <a:t>Input: User clicks "Add Property" on </a:t>
            </a:r>
            <a:r>
              <a:rPr lang="en-US" sz="1000" dirty="0" err="1"/>
              <a:t>add_property.php</a:t>
            </a:r>
            <a:r>
              <a:rPr lang="en-US" sz="1000" dirty="0"/>
              <a:t>.</a:t>
            </a:r>
          </a:p>
          <a:p>
            <a:pPr lvl="2"/>
            <a:r>
              <a:rPr lang="en-US" sz="1000" dirty="0"/>
              <a:t>Logic: PHP checks $_SESSION['role'] to ensure user is a "Manager".</a:t>
            </a:r>
          </a:p>
          <a:p>
            <a:pPr lvl="2"/>
            <a:r>
              <a:rPr lang="en-US" sz="1000" dirty="0"/>
              <a:t>Process: PHP renames the uploaded image file to a unique ID to prevent overwriting.</a:t>
            </a:r>
          </a:p>
          <a:p>
            <a:pPr lvl="2"/>
            <a:r>
              <a:rPr lang="en-US" sz="1000" dirty="0"/>
              <a:t>Output: PHP sends the data to the Database. </a:t>
            </a:r>
          </a:p>
          <a:p>
            <a:r>
              <a:rPr lang="en-US" sz="1800" dirty="0"/>
              <a:t>Tier 3: Data Layer (Storage)Technologies: MySQL (Relational Database).</a:t>
            </a:r>
          </a:p>
          <a:p>
            <a:pPr lvl="1"/>
            <a:r>
              <a:rPr lang="en-US" sz="1400" dirty="0"/>
              <a:t>Role: Permanent storage of complex relationships.</a:t>
            </a:r>
          </a:p>
          <a:p>
            <a:pPr lvl="1"/>
            <a:r>
              <a:rPr lang="en-US" sz="1400" dirty="0"/>
              <a:t>Key Relationships (ERD):</a:t>
            </a:r>
          </a:p>
          <a:p>
            <a:pPr lvl="2"/>
            <a:r>
              <a:rPr lang="en-US" sz="1000" dirty="0"/>
              <a:t>One-to-Many: One Manager employs many Employees.</a:t>
            </a:r>
          </a:p>
          <a:p>
            <a:pPr lvl="2"/>
            <a:r>
              <a:rPr lang="en-US" sz="1000" dirty="0"/>
              <a:t>One-to-Many: One Employee manages multiple Properties.</a:t>
            </a:r>
          </a:p>
          <a:p>
            <a:pPr lvl="2"/>
            <a:r>
              <a:rPr lang="en-US" sz="1000" dirty="0"/>
              <a:t>Foreign Keys: The Logs table uses </a:t>
            </a:r>
            <a:r>
              <a:rPr lang="en-US" sz="1000" dirty="0" err="1"/>
              <a:t>property_id</a:t>
            </a:r>
            <a:r>
              <a:rPr lang="en-US" sz="1000" dirty="0"/>
              <a:t> and </a:t>
            </a:r>
            <a:r>
              <a:rPr lang="en-US" sz="1000" dirty="0" err="1"/>
              <a:t>employee_id</a:t>
            </a:r>
            <a:r>
              <a:rPr lang="en-US" sz="1000" dirty="0"/>
              <a:t> to link every action back to a specific building and agent.</a:t>
            </a:r>
          </a:p>
          <a:p>
            <a:r>
              <a:rPr lang="en-US" sz="1800" dirty="0"/>
              <a:t>Why This Stack</a:t>
            </a:r>
          </a:p>
          <a:p>
            <a:pPr lvl="1"/>
            <a:r>
              <a:rPr lang="en-US" sz="1400" dirty="0"/>
              <a:t>Security: PHP's </a:t>
            </a:r>
            <a:r>
              <a:rPr lang="en-US" sz="1400" dirty="0" err="1"/>
              <a:t>password_hash</a:t>
            </a:r>
            <a:r>
              <a:rPr lang="en-US" sz="1400" dirty="0"/>
              <a:t>() ensures passwords are never stored as plain text.</a:t>
            </a:r>
          </a:p>
          <a:p>
            <a:pPr lvl="1"/>
            <a:r>
              <a:rPr lang="en-US" sz="1400" dirty="0"/>
              <a:t>Scalability: The separation of logic (PHP) and data (MySQL) allows the business to grow without rewriting the code.</a:t>
            </a:r>
          </a:p>
          <a:p>
            <a:pPr lvl="1"/>
            <a:r>
              <a:rPr lang="en-US" sz="1400" dirty="0"/>
              <a:t>Responsiveness: Bootstrap ensure agents can log payments on their mobile phones while at the property.</a:t>
            </a:r>
          </a:p>
        </p:txBody>
      </p:sp>
    </p:spTree>
    <p:extLst>
      <p:ext uri="{BB962C8B-B14F-4D97-AF65-F5344CB8AC3E}">
        <p14:creationId xmlns:p14="http://schemas.microsoft.com/office/powerpoint/2010/main" val="3210742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CF49-DE34-ACB5-8B4F-AA36A9C08CA3}"/>
              </a:ext>
            </a:extLst>
          </p:cNvPr>
          <p:cNvSpPr>
            <a:spLocks noGrp="1"/>
          </p:cNvSpPr>
          <p:nvPr>
            <p:ph type="title"/>
          </p:nvPr>
        </p:nvSpPr>
        <p:spPr/>
        <p:txBody>
          <a:bodyPr/>
          <a:lstStyle/>
          <a:p>
            <a:r>
              <a:rPr lang="en-US" dirty="0"/>
              <a:t>ERD</a:t>
            </a:r>
          </a:p>
        </p:txBody>
      </p:sp>
      <p:pic>
        <p:nvPicPr>
          <p:cNvPr id="5" name="Content Placeholder 4" descr="A diagram of a computer program&#10;&#10;AI-generated content may be incorrect.">
            <a:extLst>
              <a:ext uri="{FF2B5EF4-FFF2-40B4-BE49-F238E27FC236}">
                <a16:creationId xmlns:a16="http://schemas.microsoft.com/office/drawing/2014/main" id="{98E12863-F9CD-9F73-3654-523BD18928E5}"/>
              </a:ext>
            </a:extLst>
          </p:cNvPr>
          <p:cNvPicPr>
            <a:picLocks noGrp="1" noChangeAspect="1"/>
          </p:cNvPicPr>
          <p:nvPr>
            <p:ph idx="1"/>
          </p:nvPr>
        </p:nvPicPr>
        <p:blipFill>
          <a:blip r:embed="rId2"/>
          <a:stretch>
            <a:fillRect/>
          </a:stretch>
        </p:blipFill>
        <p:spPr>
          <a:xfrm>
            <a:off x="4414955" y="1825625"/>
            <a:ext cx="4647229" cy="4351338"/>
          </a:xfrm>
          <a:prstGeom prst="rect">
            <a:avLst/>
          </a:prstGeom>
        </p:spPr>
      </p:pic>
    </p:spTree>
    <p:extLst>
      <p:ext uri="{BB962C8B-B14F-4D97-AF65-F5344CB8AC3E}">
        <p14:creationId xmlns:p14="http://schemas.microsoft.com/office/powerpoint/2010/main" val="856987210"/>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923D41"/>
      </a:dk2>
      <a:lt2>
        <a:srgbClr val="AAC3EC"/>
      </a:lt2>
      <a:accent1>
        <a:srgbClr val="4472C4"/>
      </a:accent1>
      <a:accent2>
        <a:srgbClr val="C56728"/>
      </a:accent2>
      <a:accent3>
        <a:srgbClr val="A5A5A5"/>
      </a:accent3>
      <a:accent4>
        <a:srgbClr val="FFC000"/>
      </a:accent4>
      <a:accent5>
        <a:srgbClr val="5B9BD5"/>
      </a:accent5>
      <a:accent6>
        <a:srgbClr val="C09B7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43679034-79EA-4C15-9A71-1EF1E1074EAF}" vid="{7FD254AA-BBEA-4868-8697-6021C48FEDDC}"/>
    </a:ext>
  </a:extLst>
</a:theme>
</file>

<file path=docProps/app.xml><?xml version="1.0" encoding="utf-8"?>
<Properties xmlns="http://schemas.openxmlformats.org/officeDocument/2006/extended-properties" xmlns:vt="http://schemas.openxmlformats.org/officeDocument/2006/docPropsVTypes">
  <TotalTime>49</TotalTime>
  <Words>832</Words>
  <Application>Microsoft Office PowerPoint</Application>
  <PresentationFormat>Widescreen</PresentationFormat>
  <Paragraphs>58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Adebayo Gbenga Bello</vt:lpstr>
      <vt:lpstr>Adebayo Bello is developing a data-powered website to help Property Managers and Landlords solve the problem of fragmented property management and inefficient tenant tracking.. </vt:lpstr>
      <vt:lpstr>PowerPoint Presentation</vt:lpstr>
      <vt:lpstr>User / Customer</vt:lpstr>
      <vt:lpstr>Main Functions of the Website</vt:lpstr>
      <vt:lpstr>Architecture</vt:lpstr>
      <vt:lpstr>Architecture</vt:lpstr>
      <vt:lpstr>ERD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&lt;Letter&gt;</dc:title>
  <dc:creator>Todd Warren</dc:creator>
  <cp:lastModifiedBy>Adebayo Gbenga Bello</cp:lastModifiedBy>
  <cp:revision>23</cp:revision>
  <dcterms:created xsi:type="dcterms:W3CDTF">2020-09-23T20:07:55Z</dcterms:created>
  <dcterms:modified xsi:type="dcterms:W3CDTF">2025-12-18T23:45:42Z</dcterms:modified>
</cp:coreProperties>
</file>