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300" r:id="rId3"/>
    <p:sldId id="301" r:id="rId4"/>
    <p:sldId id="302" r:id="rId5"/>
    <p:sldId id="304" r:id="rId6"/>
    <p:sldId id="303" r:id="rId7"/>
    <p:sldId id="305" r:id="rId8"/>
    <p:sldId id="306" r:id="rId9"/>
    <p:sldId id="307" r:id="rId10"/>
    <p:sldId id="308" r:id="rId11"/>
    <p:sldId id="309" r:id="rId12"/>
    <p:sldId id="323" r:id="rId13"/>
    <p:sldId id="324" r:id="rId14"/>
    <p:sldId id="325" r:id="rId15"/>
    <p:sldId id="310" r:id="rId16"/>
    <p:sldId id="317" r:id="rId17"/>
    <p:sldId id="311" r:id="rId18"/>
    <p:sldId id="328" r:id="rId19"/>
    <p:sldId id="312" r:id="rId20"/>
    <p:sldId id="313" r:id="rId21"/>
    <p:sldId id="314" r:id="rId22"/>
    <p:sldId id="318" r:id="rId23"/>
    <p:sldId id="319" r:id="rId24"/>
    <p:sldId id="315" r:id="rId25"/>
    <p:sldId id="320" r:id="rId26"/>
    <p:sldId id="321" r:id="rId27"/>
    <p:sldId id="322" r:id="rId28"/>
    <p:sldId id="329" r:id="rId29"/>
    <p:sldId id="330" r:id="rId30"/>
    <p:sldId id="331" r:id="rId31"/>
    <p:sldId id="333" r:id="rId32"/>
    <p:sldId id="334" r:id="rId33"/>
    <p:sldId id="335" r:id="rId34"/>
    <p:sldId id="338" r:id="rId35"/>
    <p:sldId id="339" r:id="rId36"/>
    <p:sldId id="340" r:id="rId37"/>
    <p:sldId id="341" r:id="rId38"/>
    <p:sldId id="342" r:id="rId39"/>
    <p:sldId id="343" r:id="rId40"/>
    <p:sldId id="344" r:id="rId41"/>
    <p:sldId id="345" r:id="rId42"/>
    <p:sldId id="346" r:id="rId43"/>
    <p:sldId id="347" r:id="rId44"/>
    <p:sldId id="336" r:id="rId45"/>
    <p:sldId id="348" r:id="rId46"/>
    <p:sldId id="349" r:id="rId47"/>
    <p:sldId id="350" r:id="rId48"/>
    <p:sldId id="351" r:id="rId49"/>
    <p:sldId id="352" r:id="rId50"/>
    <p:sldId id="353" r:id="rId51"/>
    <p:sldId id="354" r:id="rId52"/>
    <p:sldId id="337" r:id="rId53"/>
    <p:sldId id="355" r:id="rId54"/>
    <p:sldId id="356" r:id="rId55"/>
    <p:sldId id="357" r:id="rId56"/>
    <p:sldId id="358" r:id="rId57"/>
    <p:sldId id="359" r:id="rId58"/>
    <p:sldId id="316" r:id="rId59"/>
    <p:sldId id="326" r:id="rId60"/>
    <p:sldId id="327" r:id="rId61"/>
    <p:sldId id="360" r:id="rId62"/>
    <p:sldId id="361" r:id="rId63"/>
    <p:sldId id="363" r:id="rId64"/>
    <p:sldId id="362" r:id="rId65"/>
    <p:sldId id="364" r:id="rId66"/>
    <p:sldId id="365" r:id="rId67"/>
    <p:sldId id="366" r:id="rId68"/>
    <p:sldId id="367" r:id="rId69"/>
    <p:sldId id="368" r:id="rId70"/>
    <p:sldId id="369" r:id="rId71"/>
    <p:sldId id="370" r:id="rId72"/>
    <p:sldId id="371" r:id="rId73"/>
    <p:sldId id="372" r:id="rId74"/>
    <p:sldId id="373" r:id="rId75"/>
    <p:sldId id="285" r:id="rId7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143C"/>
    <a:srgbClr val="188C73"/>
    <a:srgbClr val="2D8F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2" autoAdjust="0"/>
    <p:restoredTop sz="94660"/>
  </p:normalViewPr>
  <p:slideViewPr>
    <p:cSldViewPr snapToGrid="0">
      <p:cViewPr varScale="1">
        <p:scale>
          <a:sx n="60" d="100"/>
          <a:sy n="60" d="100"/>
        </p:scale>
        <p:origin x="65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01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92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24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8535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6599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091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530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768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121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187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5960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s 9">
            <a:extLst>
              <a:ext uri="{FF2B5EF4-FFF2-40B4-BE49-F238E27FC236}">
                <a16:creationId xmlns:a16="http://schemas.microsoft.com/office/drawing/2014/main" id="{ADC1A0AE-A0C7-CD4A-0BAB-8EBC26398050}"/>
              </a:ext>
            </a:extLst>
          </p:cNvPr>
          <p:cNvSpPr/>
          <p:nvPr/>
        </p:nvSpPr>
        <p:spPr>
          <a:xfrm flipV="1">
            <a:off x="222485" y="6626648"/>
            <a:ext cx="8752840" cy="22063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0465" y="129540"/>
            <a:ext cx="8681519" cy="11626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100" y="1386039"/>
            <a:ext cx="8681519" cy="4943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623601"/>
            <a:ext cx="3086100" cy="2154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10341" y="6615830"/>
            <a:ext cx="2057400" cy="2310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A logo of a university&#10;&#10;Description automatically generate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20" y="6355380"/>
            <a:ext cx="588010" cy="485140"/>
          </a:xfrm>
          <a:prstGeom prst="rect">
            <a:avLst/>
          </a:prstGeom>
        </p:spPr>
      </p:pic>
      <p:sp>
        <p:nvSpPr>
          <p:cNvPr id="9" name="Rectangles 9">
            <a:extLst>
              <a:ext uri="{FF2B5EF4-FFF2-40B4-BE49-F238E27FC236}">
                <a16:creationId xmlns:a16="http://schemas.microsoft.com/office/drawing/2014/main" id="{E634ECF9-3972-2CC8-4938-4B4BFD28C772}"/>
              </a:ext>
            </a:extLst>
          </p:cNvPr>
          <p:cNvSpPr/>
          <p:nvPr/>
        </p:nvSpPr>
        <p:spPr>
          <a:xfrm flipV="1">
            <a:off x="14806" y="7014"/>
            <a:ext cx="9108241" cy="39062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10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rgbClr val="C00000"/>
          </a:solidFill>
          <a:latin typeface="+mj-lt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Verdana" panose="020B060403050404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intro.asp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intro.asp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intro.asp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intro.asp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/css_intro.asp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olors/colors_names.asp" TargetMode="Externa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Dr Govindha Ramaiah Yeluripati</a:t>
            </a:r>
          </a:p>
        </p:txBody>
      </p:sp>
    </p:spTree>
    <p:extLst>
      <p:ext uri="{BB962C8B-B14F-4D97-AF65-F5344CB8AC3E}">
        <p14:creationId xmlns:p14="http://schemas.microsoft.com/office/powerpoint/2010/main" val="307201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65E9F-2041-D0C2-F344-8CB5B1197F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71062-57C0-33C2-4D4E-AD28E0B16E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Introduction (need for CSS)</a:t>
            </a:r>
          </a:p>
          <a:p>
            <a:r>
              <a:rPr lang="en-IN" dirty="0"/>
              <a:t>What is CSS and how to use it?</a:t>
            </a:r>
          </a:p>
          <a:p>
            <a:r>
              <a:rPr lang="en-IN" dirty="0"/>
              <a:t>Ways of using CSS</a:t>
            </a:r>
          </a:p>
          <a:p>
            <a:r>
              <a:rPr lang="en-IN" dirty="0"/>
              <a:t>Syntax </a:t>
            </a:r>
          </a:p>
          <a:p>
            <a:r>
              <a:rPr lang="en-IN" dirty="0"/>
              <a:t>Selectors and their types</a:t>
            </a:r>
          </a:p>
          <a:p>
            <a:r>
              <a:rPr lang="en-IN" dirty="0"/>
              <a:t>How do CSS rules work? And Cascading Order</a:t>
            </a:r>
          </a:p>
          <a:p>
            <a:r>
              <a:rPr lang="en-IN" dirty="0"/>
              <a:t>Comments</a:t>
            </a:r>
          </a:p>
          <a:p>
            <a:r>
              <a:rPr lang="en-IN" dirty="0" err="1"/>
              <a:t>Colors</a:t>
            </a:r>
            <a:r>
              <a:rPr lang="en-IN" dirty="0"/>
              <a:t>, Borders, Margins, padding</a:t>
            </a:r>
          </a:p>
          <a:p>
            <a:r>
              <a:rPr lang="en-IN" dirty="0"/>
              <a:t>Box Model</a:t>
            </a:r>
          </a:p>
          <a:p>
            <a:r>
              <a:rPr lang="en-IN" dirty="0"/>
              <a:t>Things to explore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399202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20EF8-C701-BF05-18A9-0A8F3323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Introduction: Why CSS?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689A38-740B-782D-5097-7BCDF0936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style web pages directly in HTML (early age method).</a:t>
            </a:r>
          </a:p>
          <a:p>
            <a:r>
              <a:rPr lang="en-US" dirty="0"/>
              <a:t>This involves inline styles using the HTML tags like </a:t>
            </a:r>
            <a:r>
              <a:rPr lang="en-US" b="1" dirty="0">
                <a:solidFill>
                  <a:srgbClr val="C00000"/>
                </a:solidFill>
              </a:rPr>
              <a:t>&lt;font&gt;</a:t>
            </a:r>
            <a:r>
              <a:rPr lang="en-US" dirty="0"/>
              <a:t>,</a:t>
            </a:r>
            <a:r>
              <a:rPr lang="en-US" b="1" dirty="0">
                <a:solidFill>
                  <a:srgbClr val="C00000"/>
                </a:solidFill>
              </a:rPr>
              <a:t> &lt;center&gt;</a:t>
            </a:r>
            <a:r>
              <a:rPr lang="en-US" dirty="0"/>
              <a:t>, and </a:t>
            </a:r>
            <a:r>
              <a:rPr lang="en-US" b="1" dirty="0">
                <a:solidFill>
                  <a:srgbClr val="C00000"/>
                </a:solidFill>
              </a:rPr>
              <a:t>&lt;b&gt;</a:t>
            </a:r>
            <a:r>
              <a:rPr lang="en-US" dirty="0"/>
              <a:t> to control appearance.</a:t>
            </a:r>
          </a:p>
          <a:p>
            <a:endParaRPr lang="en-US" dirty="0"/>
          </a:p>
          <a:p>
            <a:r>
              <a:rPr lang="en-US" dirty="0"/>
              <a:t>Inline styling is inefficient and difficult to maintain, particularly when the websites are more complex.</a:t>
            </a:r>
          </a:p>
          <a:p>
            <a:pPr lvl="1"/>
            <a:r>
              <a:rPr lang="en-US" dirty="0"/>
              <a:t>Each element needed its own style settings, leading to code redundancy and clutter.</a:t>
            </a:r>
          </a:p>
          <a:p>
            <a:pPr lvl="1"/>
            <a:r>
              <a:rPr lang="en-US" dirty="0"/>
              <a:t>Handling both structure and appearance using HTML makes updates and redesigns more </a:t>
            </a:r>
            <a:r>
              <a:rPr lang="en-US" dirty="0" err="1"/>
              <a:t>labour-intensive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CSS is developed to address these issues.</a:t>
            </a: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791053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897B-211C-7013-FA7E-B29AF0F0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CSS?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BE2AE-F61B-1D1C-3926-FF68E7498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CSS stands for </a:t>
            </a:r>
            <a:r>
              <a:rPr lang="en-US" b="1" dirty="0">
                <a:solidFill>
                  <a:srgbClr val="0070C0"/>
                </a:solidFill>
              </a:rPr>
              <a:t>Cascading Style Sheets</a:t>
            </a:r>
            <a:r>
              <a:rPr lang="en-US" dirty="0"/>
              <a:t>. </a:t>
            </a:r>
          </a:p>
          <a:p>
            <a:endParaRPr lang="en-US" dirty="0"/>
          </a:p>
          <a:p>
            <a:r>
              <a:rPr lang="en-US" dirty="0"/>
              <a:t>CSS describes how HTML elements are to be displayed on screen, paper, or in other media.</a:t>
            </a:r>
          </a:p>
          <a:p>
            <a:pPr lvl="1"/>
            <a:r>
              <a:rPr lang="en-US" b="1" dirty="0"/>
              <a:t>On screen</a:t>
            </a:r>
            <a:r>
              <a:rPr lang="en-US" dirty="0"/>
              <a:t>: Webpages viewed on devices such as computers, tablets, or phones.</a:t>
            </a:r>
          </a:p>
          <a:p>
            <a:pPr lvl="1"/>
            <a:r>
              <a:rPr lang="en-US" b="1" dirty="0"/>
              <a:t>On paper</a:t>
            </a:r>
            <a:r>
              <a:rPr lang="en-US" dirty="0"/>
              <a:t>: If you print a webpage, CSS can control how the content appears on the printed page.</a:t>
            </a:r>
          </a:p>
          <a:p>
            <a:pPr lvl="1"/>
            <a:r>
              <a:rPr lang="en-US" b="1" dirty="0"/>
              <a:t>Other media</a:t>
            </a:r>
            <a:r>
              <a:rPr lang="en-US" dirty="0"/>
              <a:t>: This includes styles for projectors, braille readers, or other output devices.</a:t>
            </a:r>
          </a:p>
          <a:p>
            <a:pPr lvl="1"/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CSS saves a lot of work</a:t>
            </a:r>
            <a:r>
              <a:rPr lang="en-US" dirty="0"/>
              <a:t>: It can control the layout of multiple web pages all at once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4848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0897B-211C-7013-FA7E-B29AF0F0F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to use CSS?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BE2AE-F61B-1D1C-3926-FF68E7498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Verdana" panose="020B0604030504040204" pitchFamily="34" charset="0"/>
                <a:cs typeface="+mn-cs"/>
              </a:rPr>
              <a:t>External stylesheets are stored in CSS files: </a:t>
            </a: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Verdana" panose="020B0604030504040204" pitchFamily="34" charset="0"/>
                <a:cs typeface="+mn-cs"/>
              </a:rPr>
              <a:t>Create a separate CSS file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Verdana" panose="020B0604030504040204" pitchFamily="34" charset="0"/>
                <a:cs typeface="+mn-cs"/>
              </a:rPr>
              <a:t>with the extension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Verdana" panose="020B0604030504040204" pitchFamily="34" charset="0"/>
                <a:cs typeface="+mn-cs"/>
              </a:rPr>
              <a:t>.</a:t>
            </a:r>
            <a:r>
              <a:rPr kumimoji="0" lang="en-US" sz="2400" b="1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Verdana" panose="020B0604030504040204" pitchFamily="34" charset="0"/>
                <a:cs typeface="+mn-cs"/>
              </a:rPr>
              <a:t>css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Verdana" panose="020B0604030504040204" pitchFamily="34" charset="0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Verdana" panose="020B0604030504040204" pitchFamily="34" charset="0"/>
                <a:cs typeface="+mn-cs"/>
              </a:rPr>
              <a:t>Link the CSS file to your HTML document using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Verdana" panose="020B0604030504040204" pitchFamily="34" charset="0"/>
                <a:cs typeface="+mn-cs"/>
              </a:rPr>
              <a:t>&lt;link&gt;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Verdana" panose="020B0604030504040204" pitchFamily="34" charset="0"/>
                <a:cs typeface="+mn-cs"/>
              </a:rPr>
              <a:t>tag in the 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/>
                <a:ea typeface="Verdana" panose="020B0604030504040204" pitchFamily="34" charset="0"/>
                <a:cs typeface="+mn-cs"/>
              </a:rPr>
              <a:t>&lt;head&gt;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Verdana" panose="020B0604030504040204" pitchFamily="34" charset="0"/>
                <a:cs typeface="+mn-cs"/>
              </a:rPr>
              <a:t>section of your HTML document.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85A8B4-96D3-7754-4958-6A05C5145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66" y="3289193"/>
            <a:ext cx="5944882" cy="300528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C9E3F6-9925-60A1-3F9A-951C7CFC2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835" y="3489766"/>
            <a:ext cx="2200621" cy="28047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51F5C2-B534-A442-4EEA-9D9616C7D585}"/>
              </a:ext>
            </a:extLst>
          </p:cNvPr>
          <p:cNvSpPr txBox="1"/>
          <p:nvPr/>
        </p:nvSpPr>
        <p:spPr>
          <a:xfrm>
            <a:off x="6836735" y="3147237"/>
            <a:ext cx="1531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styles.css</a:t>
            </a:r>
            <a:endParaRPr lang="en-GH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101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4333-991C-108C-D70A-E46E8BD8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Demo: One HTML page, Multiple Styles</a:t>
            </a:r>
            <a:endParaRPr lang="en-G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0CE044-ACCB-5CD7-7BCF-022B0DBEFF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3099" t="2566"/>
          <a:stretch/>
        </p:blipFill>
        <p:spPr>
          <a:xfrm>
            <a:off x="198416" y="1754372"/>
            <a:ext cx="8724921" cy="416339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400D53-5937-B9EB-9FB2-16D7D5D55F76}"/>
              </a:ext>
            </a:extLst>
          </p:cNvPr>
          <p:cNvSpPr txBox="1"/>
          <p:nvPr/>
        </p:nvSpPr>
        <p:spPr>
          <a:xfrm>
            <a:off x="3732027" y="6010585"/>
            <a:ext cx="20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Source: </a:t>
            </a:r>
            <a:r>
              <a:rPr lang="en-IN" dirty="0">
                <a:hlinkClick r:id="rId3"/>
              </a:rPr>
              <a:t>W3 Schools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005014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4333-991C-108C-D70A-E46E8BD8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Demo: One HTML page, Multiple Styles</a:t>
            </a:r>
            <a:endParaRPr lang="en-GH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C29E5D5-9211-2A8D-FDE2-29535C029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300" y="1449357"/>
            <a:ext cx="8682038" cy="4816537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4C566C-8000-E2AA-D456-74D418659F89}"/>
              </a:ext>
            </a:extLst>
          </p:cNvPr>
          <p:cNvSpPr txBox="1"/>
          <p:nvPr/>
        </p:nvSpPr>
        <p:spPr>
          <a:xfrm>
            <a:off x="3678864" y="6238360"/>
            <a:ext cx="20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Source: </a:t>
            </a:r>
            <a:r>
              <a:rPr lang="en-IN" dirty="0">
                <a:hlinkClick r:id="rId3"/>
              </a:rPr>
              <a:t>W3 Schools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690759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4333-991C-108C-D70A-E46E8BD8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Demo: One HTML page, Multiple Styles</a:t>
            </a:r>
            <a:endParaRPr lang="en-GH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9A1AB2E-AB85-D25B-2F6A-2C47A8FF69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9582" y="1385888"/>
            <a:ext cx="7905474" cy="4943475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B9728B2-A87F-7336-56D1-8C8D3DD4D6C0}"/>
              </a:ext>
            </a:extLst>
          </p:cNvPr>
          <p:cNvSpPr txBox="1"/>
          <p:nvPr/>
        </p:nvSpPr>
        <p:spPr>
          <a:xfrm>
            <a:off x="3742659" y="6329363"/>
            <a:ext cx="20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Source: </a:t>
            </a:r>
            <a:r>
              <a:rPr lang="en-IN" dirty="0">
                <a:hlinkClick r:id="rId3"/>
              </a:rPr>
              <a:t>W3 Schools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17525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4333-991C-108C-D70A-E46E8BD8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Demo: One HTML page, Multiple Styles</a:t>
            </a:r>
            <a:endParaRPr lang="en-GH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9B6C62F-7F35-4024-C06E-233D9C4AAF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1300" y="1446354"/>
            <a:ext cx="8682038" cy="4822543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477FE8F-59BA-1DDC-F584-AB8406A60ED8}"/>
              </a:ext>
            </a:extLst>
          </p:cNvPr>
          <p:cNvSpPr txBox="1"/>
          <p:nvPr/>
        </p:nvSpPr>
        <p:spPr>
          <a:xfrm>
            <a:off x="3646966" y="6238360"/>
            <a:ext cx="20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Source: </a:t>
            </a:r>
            <a:r>
              <a:rPr lang="en-IN" dirty="0">
                <a:hlinkClick r:id="rId3"/>
              </a:rPr>
              <a:t>W3 Schools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478717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4333-991C-108C-D70A-E46E8BD8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Demo: One HTML page, Multiple Styles</a:t>
            </a:r>
            <a:endParaRPr lang="en-GH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F735F5E-28A1-73BD-B5C5-9389B88CD5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822" y="1385888"/>
            <a:ext cx="8118993" cy="4943475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3A39197-1ACE-57A7-7089-860069C3EBA4}"/>
              </a:ext>
            </a:extLst>
          </p:cNvPr>
          <p:cNvSpPr txBox="1"/>
          <p:nvPr/>
        </p:nvSpPr>
        <p:spPr>
          <a:xfrm>
            <a:off x="3657599" y="6311089"/>
            <a:ext cx="20308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Source: </a:t>
            </a:r>
            <a:r>
              <a:rPr lang="en-IN" dirty="0">
                <a:hlinkClick r:id="rId3"/>
              </a:rPr>
              <a:t>W3 Schools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6984564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6587-F534-BF3D-0C06-BF90144C5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/>
              <a:t>Try an example</a:t>
            </a:r>
            <a:endParaRPr lang="en-G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9664B38-8DA2-E92F-EA6B-B1B2882068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89537" y="364226"/>
            <a:ext cx="3744369" cy="6124266"/>
          </a:xfrm>
        </p:spPr>
      </p:pic>
      <p:sp>
        <p:nvSpPr>
          <p:cNvPr id="6" name="Left Brace 5">
            <a:extLst>
              <a:ext uri="{FF2B5EF4-FFF2-40B4-BE49-F238E27FC236}">
                <a16:creationId xmlns:a16="http://schemas.microsoft.com/office/drawing/2014/main" id="{03C947A4-5391-B1A3-D611-4397A588D367}"/>
              </a:ext>
            </a:extLst>
          </p:cNvPr>
          <p:cNvSpPr/>
          <p:nvPr/>
        </p:nvSpPr>
        <p:spPr>
          <a:xfrm>
            <a:off x="3763927" y="1169581"/>
            <a:ext cx="808074" cy="3423684"/>
          </a:xfrm>
          <a:prstGeom prst="leftBrace">
            <a:avLst>
              <a:gd name="adj1" fmla="val 8333"/>
              <a:gd name="adj2" fmla="val 51553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6B10C-0893-F1D2-E220-A66EE0A1F0BD}"/>
              </a:ext>
            </a:extLst>
          </p:cNvPr>
          <p:cNvSpPr txBox="1"/>
          <p:nvPr/>
        </p:nvSpPr>
        <p:spPr>
          <a:xfrm>
            <a:off x="340246" y="2588802"/>
            <a:ext cx="36203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/>
              <a:t>Put this code in a separate CSS file (without the &lt;style&gt; tag) and link it to this HTML page.</a:t>
            </a:r>
            <a:endParaRPr lang="en-GH" sz="2000" dirty="0"/>
          </a:p>
        </p:txBody>
      </p:sp>
    </p:spTree>
    <p:extLst>
      <p:ext uri="{BB962C8B-B14F-4D97-AF65-F5344CB8AC3E}">
        <p14:creationId xmlns:p14="http://schemas.microsoft.com/office/powerpoint/2010/main" val="2225614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619CE-53B8-DD60-67D9-FE6F8B2F1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Ways to Insert CSS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FA2CF-B7A2-B493-1D8F-1C9FD2374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00" y="1386040"/>
            <a:ext cx="8681519" cy="65541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dirty="0"/>
              <a:t>External CSS 		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87DA47-599C-312D-3627-747D8715D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60" y="2041451"/>
            <a:ext cx="5656968" cy="409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635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619CE-53B8-DD60-67D9-FE6F8B2F1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Ways to Insert CSS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FA2CF-B7A2-B493-1D8F-1C9FD2374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00" y="1386040"/>
            <a:ext cx="8681519" cy="655412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en-IN" dirty="0"/>
              <a:t>Internal CSS</a:t>
            </a:r>
            <a:endParaRPr lang="en-G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778C5F-3A05-13CF-EEE2-128B26B8C0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7138" y="978704"/>
            <a:ext cx="3845922" cy="5601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39035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619CE-53B8-DD60-67D9-FE6F8B2F1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Ways to Insert CSS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FA2CF-B7A2-B493-1D8F-1C9FD2374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00" y="1386040"/>
            <a:ext cx="8681519" cy="655412"/>
          </a:xfrm>
        </p:spPr>
        <p:txBody>
          <a:bodyPr/>
          <a:lstStyle/>
          <a:p>
            <a:pPr marL="457200" indent="-457200">
              <a:buFont typeface="+mj-lt"/>
              <a:buAutoNum type="arabicPeriod" startAt="3"/>
            </a:pPr>
            <a:r>
              <a:rPr lang="en-IN" dirty="0"/>
              <a:t>Inline CSS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490F07-793A-5B93-453A-BA0495007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729" y="2041452"/>
            <a:ext cx="7788544" cy="2775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10417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CCC34-056C-FB2A-06EC-4E1E58A4C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Syntax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B79D6-76A5-346E-905A-17D2390AA3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CSS rule consists of a selector and a declaration block.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selector points to the HTML element you want to style.</a:t>
            </a:r>
          </a:p>
          <a:p>
            <a:r>
              <a:rPr lang="en-US" dirty="0"/>
              <a:t>The declaration block contains one or more declarations separated by semicolons.</a:t>
            </a:r>
          </a:p>
          <a:p>
            <a:r>
              <a:rPr lang="en-US" dirty="0"/>
              <a:t>Each declaration includes a CSS property name and a value, separated by a colon.</a:t>
            </a:r>
          </a:p>
          <a:p>
            <a:r>
              <a:rPr lang="en-US" dirty="0"/>
              <a:t>Multiple CSS declarations are separated with semicolons, and declaration blocks are surrounded by curly braces.</a:t>
            </a:r>
          </a:p>
          <a:p>
            <a:endParaRPr lang="en-GH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5CA46F-0715-9555-BE53-E6B4D03ED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32" y="1992803"/>
            <a:ext cx="6867193" cy="1436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18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67EF5-E35B-117E-C948-FDCE9B2AE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Selectors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8885E-68AC-4B46-DF68-091B29463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Used to "find" (or select) the HTML elements to be styled. </a:t>
            </a:r>
          </a:p>
          <a:p>
            <a:r>
              <a:rPr lang="en-US" dirty="0"/>
              <a:t>We can divide CSS selectors into five categories: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Simple selectors </a:t>
            </a:r>
            <a:r>
              <a:rPr lang="en-US" dirty="0"/>
              <a:t>(select elements based on name, id, </a:t>
            </a:r>
            <a:r>
              <a:rPr lang="en-US" b="1" dirty="0">
                <a:solidFill>
                  <a:srgbClr val="FF0000"/>
                </a:solidFill>
              </a:rPr>
              <a:t>class</a:t>
            </a:r>
            <a:r>
              <a:rPr lang="en-US" dirty="0"/>
              <a:t>)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Combinator selectors </a:t>
            </a:r>
            <a:r>
              <a:rPr lang="en-US" dirty="0"/>
              <a:t>(select elements based on a specific relationship between them)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Pseudo-class selectors </a:t>
            </a:r>
            <a:r>
              <a:rPr lang="en-US" dirty="0"/>
              <a:t>(select elements based on a certain state)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Pseudo-elements selectors </a:t>
            </a:r>
            <a:r>
              <a:rPr lang="en-US" dirty="0"/>
              <a:t>(select and style a part of an element)</a:t>
            </a:r>
          </a:p>
          <a:p>
            <a:pPr marL="457200" indent="-457200">
              <a:buFont typeface="+mj-lt"/>
              <a:buAutoNum type="arabicParenR"/>
            </a:pPr>
            <a:r>
              <a:rPr lang="en-US" b="1" dirty="0"/>
              <a:t>Attribute selectors </a:t>
            </a:r>
            <a:r>
              <a:rPr lang="en-US" dirty="0"/>
              <a:t>(select elements based on an attribute or attribute value)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7657638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67EF5-E35B-117E-C948-FDCE9B2AE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Selectors: Simple Type – Examples </a:t>
            </a:r>
            <a:endParaRPr lang="en-GH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C9A5432A-42A3-8E0D-F4D0-8F2660C26982}"/>
              </a:ext>
            </a:extLst>
          </p:cNvPr>
          <p:cNvSpPr txBox="1">
            <a:spLocks/>
          </p:cNvSpPr>
          <p:nvPr/>
        </p:nvSpPr>
        <p:spPr>
          <a:xfrm>
            <a:off x="561687" y="1292225"/>
            <a:ext cx="3602214" cy="5172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Light"/>
              <a:buChar char="■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b="1" dirty="0">
                <a:solidFill>
                  <a:schemeClr val="tx1"/>
                </a:solidFill>
                <a:latin typeface="+mn-lt"/>
              </a:rPr>
              <a:t>Tag Selector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Targets all instances of a specific tag, like this example which selects all &lt;h1&gt; elements: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rgbClr val="C00000"/>
                </a:solidFill>
                <a:latin typeface="+mn-lt"/>
              </a:rPr>
              <a:t>h1 {  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rgbClr val="C00000"/>
                </a:solidFill>
                <a:latin typeface="+mn-lt"/>
              </a:rPr>
              <a:t>     text-transform: uppercase;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rgbClr val="C00000"/>
                </a:solidFill>
                <a:latin typeface="+mn-lt"/>
              </a:rPr>
              <a:t>}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endParaRPr lang="en-GB" sz="1600" dirty="0">
              <a:solidFill>
                <a:schemeClr val="tx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b="1" dirty="0">
                <a:solidFill>
                  <a:schemeClr val="tx1"/>
                </a:solidFill>
                <a:latin typeface="+mn-lt"/>
              </a:rPr>
              <a:t>Class Selector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Targets elements with a specific class. Prefix a class selector with a period .: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rgbClr val="C00000"/>
                </a:solidFill>
                <a:latin typeface="+mn-lt"/>
              </a:rPr>
              <a:t>.my-custom-class { 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rgbClr val="C00000"/>
                </a:solidFill>
                <a:latin typeface="+mn-lt"/>
              </a:rPr>
              <a:t> padding: 1rem;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rgbClr val="C00000"/>
                </a:solidFill>
                <a:latin typeface="+mn-lt"/>
              </a:rPr>
              <a:t>}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B9639F0-D944-57B9-890A-0D3C5B56638F}"/>
              </a:ext>
            </a:extLst>
          </p:cNvPr>
          <p:cNvSpPr txBox="1">
            <a:spLocks/>
          </p:cNvSpPr>
          <p:nvPr/>
        </p:nvSpPr>
        <p:spPr>
          <a:xfrm>
            <a:off x="5169646" y="1292225"/>
            <a:ext cx="3602214" cy="4874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oboto Light"/>
              <a:buChar char="●"/>
              <a:defRPr sz="18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■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●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oboto Light"/>
              <a:buChar char="○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oboto Light"/>
              <a:buChar char="■"/>
              <a:defRPr sz="1400" b="0" i="0" u="none" strike="noStrike" cap="none">
                <a:solidFill>
                  <a:srgbClr val="FFFFFF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b="1" dirty="0">
                <a:solidFill>
                  <a:schemeClr val="tx1"/>
                </a:solidFill>
                <a:latin typeface="+mn-lt"/>
              </a:rPr>
              <a:t>ID Selector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Targets an element with a specific ID. Prefix an ID selector with #: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rgbClr val="C00000"/>
                </a:solidFill>
                <a:latin typeface="+mn-lt"/>
              </a:rPr>
              <a:t>#my-custom-id {  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rgbClr val="C00000"/>
                </a:solidFill>
                <a:latin typeface="+mn-lt"/>
              </a:rPr>
              <a:t>  margin: 1rem;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rgbClr val="C00000"/>
                </a:solidFill>
                <a:latin typeface="+mn-lt"/>
              </a:rPr>
              <a:t>}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endParaRPr lang="en-GB" sz="1600" dirty="0">
              <a:solidFill>
                <a:schemeClr val="tx1"/>
              </a:solidFill>
              <a:latin typeface="+mn-lt"/>
            </a:endParaRP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b="1" dirty="0">
                <a:solidFill>
                  <a:schemeClr val="tx1"/>
                </a:solidFill>
                <a:latin typeface="+mn-lt"/>
              </a:rPr>
              <a:t>Combined Selectors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chemeClr val="tx1"/>
                </a:solidFill>
                <a:latin typeface="+mn-lt"/>
              </a:rPr>
              <a:t>You can combine selectors to target elements more precisely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rgbClr val="C00000"/>
                </a:solidFill>
                <a:latin typeface="+mn-lt"/>
              </a:rPr>
              <a:t>p.my-custom-p-class {  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rgbClr val="C00000"/>
                </a:solidFill>
                <a:latin typeface="+mn-lt"/>
              </a:rPr>
              <a:t>    border: 1px solid black;</a:t>
            </a:r>
          </a:p>
          <a:p>
            <a:pPr marL="0" indent="0">
              <a:lnSpc>
                <a:spcPct val="150000"/>
              </a:lnSpc>
              <a:buClr>
                <a:schemeClr val="bg1"/>
              </a:buClr>
              <a:buNone/>
            </a:pPr>
            <a:r>
              <a:rPr lang="en-GB" sz="1600" dirty="0">
                <a:solidFill>
                  <a:srgbClr val="C00000"/>
                </a:solidFill>
                <a:latin typeface="+mn-lt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78673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B7649-C66D-5C0B-2EB0-B3273E6D3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1) Simple Selectors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77688-0F9C-7306-9536-E6E1D5F14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Element (type) selector</a:t>
            </a:r>
            <a:r>
              <a:rPr lang="en-US" dirty="0"/>
              <a:t>: Selects all elements of a given type </a:t>
            </a:r>
          </a:p>
          <a:p>
            <a:pPr lvl="1"/>
            <a:r>
              <a:rPr lang="en-US" dirty="0"/>
              <a:t>e.g., </a:t>
            </a:r>
            <a:r>
              <a:rPr lang="en-US" b="1" dirty="0">
                <a:solidFill>
                  <a:srgbClr val="C00000"/>
                </a:solidFill>
              </a:rPr>
              <a:t>p</a:t>
            </a:r>
            <a:r>
              <a:rPr lang="en-US" dirty="0"/>
              <a:t> for paragraphs</a:t>
            </a:r>
          </a:p>
          <a:p>
            <a:r>
              <a:rPr lang="en-US" b="1" dirty="0">
                <a:solidFill>
                  <a:srgbClr val="0070C0"/>
                </a:solidFill>
              </a:rPr>
              <a:t>ID selector</a:t>
            </a:r>
            <a:r>
              <a:rPr lang="en-US" dirty="0"/>
              <a:t>: Selects an element with a specific ID using the </a:t>
            </a:r>
            <a:r>
              <a:rPr lang="en-US" b="1" dirty="0">
                <a:solidFill>
                  <a:srgbClr val="FF0000"/>
                </a:solidFill>
              </a:rPr>
              <a:t>#</a:t>
            </a:r>
            <a:r>
              <a:rPr lang="en-US" dirty="0"/>
              <a:t> symbol </a:t>
            </a:r>
          </a:p>
          <a:p>
            <a:pPr lvl="1"/>
            <a:r>
              <a:rPr lang="en-US" dirty="0"/>
              <a:t>e.g., </a:t>
            </a:r>
            <a:r>
              <a:rPr lang="en-US" b="1" dirty="0">
                <a:solidFill>
                  <a:srgbClr val="C00000"/>
                </a:solidFill>
              </a:rPr>
              <a:t>#header</a:t>
            </a:r>
          </a:p>
          <a:p>
            <a:r>
              <a:rPr lang="en-US" b="1" dirty="0">
                <a:solidFill>
                  <a:srgbClr val="0070C0"/>
                </a:solidFill>
              </a:rPr>
              <a:t>Class selector</a:t>
            </a:r>
            <a:r>
              <a:rPr lang="en-US" dirty="0"/>
              <a:t>: Selects all elements with a specific class using the </a:t>
            </a:r>
            <a:r>
              <a:rPr lang="en-US" sz="3200" dirty="0">
                <a:solidFill>
                  <a:srgbClr val="FF0000"/>
                </a:solidFill>
              </a:rPr>
              <a:t>.</a:t>
            </a:r>
            <a:r>
              <a:rPr lang="en-US" dirty="0"/>
              <a:t> symbol </a:t>
            </a:r>
          </a:p>
          <a:p>
            <a:pPr lvl="1"/>
            <a:r>
              <a:rPr lang="en-US" dirty="0"/>
              <a:t>e.g., </a:t>
            </a:r>
            <a:r>
              <a:rPr lang="en-US" b="1" dirty="0">
                <a:solidFill>
                  <a:srgbClr val="C00000"/>
                </a:solidFill>
              </a:rPr>
              <a:t>.container</a:t>
            </a:r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Universal selector</a:t>
            </a:r>
            <a:r>
              <a:rPr lang="en-US" dirty="0"/>
              <a:t>: Selects all elements using </a:t>
            </a:r>
            <a:r>
              <a:rPr lang="en-US" b="1" dirty="0">
                <a:solidFill>
                  <a:srgbClr val="FF0000"/>
                </a:solidFill>
              </a:rPr>
              <a:t>* </a:t>
            </a:r>
            <a:r>
              <a:rPr lang="en-US" dirty="0"/>
              <a:t>as selector</a:t>
            </a:r>
            <a:endParaRPr lang="en-US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Group selector</a:t>
            </a:r>
            <a:r>
              <a:rPr lang="en-US" dirty="0"/>
              <a:t>: Selects multiple elements separated by commas</a:t>
            </a:r>
          </a:p>
          <a:p>
            <a:pPr lvl="1"/>
            <a:r>
              <a:rPr lang="en-US" dirty="0"/>
              <a:t>e.g., </a:t>
            </a:r>
            <a:r>
              <a:rPr lang="en-US" b="1" dirty="0">
                <a:solidFill>
                  <a:srgbClr val="C00000"/>
                </a:solidFill>
              </a:rPr>
              <a:t>h1, h2, p</a:t>
            </a:r>
            <a:endParaRPr lang="en-GH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5172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F2582-74D6-25D9-7114-E99E8CB8E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element Selector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B8E5F3-439F-EBD0-B944-74E5413B2F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element selector selects HTML elements based on the element name.</a:t>
            </a:r>
          </a:p>
          <a:p>
            <a:r>
              <a:rPr lang="en-US" b="1" dirty="0">
                <a:solidFill>
                  <a:srgbClr val="0070C0"/>
                </a:solidFill>
              </a:rPr>
              <a:t>Example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All </a:t>
            </a:r>
            <a:r>
              <a:rPr lang="en-US" b="1" dirty="0">
                <a:solidFill>
                  <a:srgbClr val="C00000"/>
                </a:solidFill>
              </a:rPr>
              <a:t>&lt;p&gt;</a:t>
            </a:r>
            <a:r>
              <a:rPr lang="en-US" dirty="0"/>
              <a:t> elements on the page will be center-aligned, with a red text color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E31409-2568-A733-88E5-2CC728335C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809" y="3429000"/>
            <a:ext cx="3606754" cy="1551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8504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A42E6-0A31-B755-8401-9EDBC946A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id Selector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7D010-7EBB-7CF8-3ACF-A8E804988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id selector uses the id attribute of an HTML element to select a specific element.</a:t>
            </a:r>
          </a:p>
          <a:p>
            <a:r>
              <a:rPr lang="en-US" dirty="0"/>
              <a:t>The id of an element is unique within a page, so the id selector is used to select one unique element!</a:t>
            </a:r>
          </a:p>
          <a:p>
            <a:r>
              <a:rPr lang="en-US" dirty="0"/>
              <a:t>To select an element with a specific id, write a </a:t>
            </a:r>
            <a:r>
              <a:rPr lang="en-US" dirty="0">
                <a:solidFill>
                  <a:srgbClr val="FF0000"/>
                </a:solidFill>
              </a:rPr>
              <a:t>hash (#) </a:t>
            </a:r>
            <a:r>
              <a:rPr lang="en-US" dirty="0"/>
              <a:t>character, followed by the id of the element.</a:t>
            </a:r>
          </a:p>
          <a:p>
            <a:r>
              <a:rPr lang="en-US" b="1" dirty="0">
                <a:solidFill>
                  <a:srgbClr val="0070C0"/>
                </a:solidFill>
              </a:rPr>
              <a:t>Example</a:t>
            </a:r>
            <a:r>
              <a:rPr lang="en-US" dirty="0"/>
              <a:t>: The CSS rule below will be applied to the HTML element with id="para1"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E2EAB4-77D2-26AD-B2F2-8E9D97310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765" y="4642921"/>
            <a:ext cx="3143256" cy="150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125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3250-DD97-6025-D67E-12B60045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class Selector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5C3D3-F8EC-AE85-E36D-94EA40DF1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class selector selects HTML elements with a specific class attribute.</a:t>
            </a:r>
          </a:p>
          <a:p>
            <a:r>
              <a:rPr lang="en-US" dirty="0"/>
              <a:t>To select elements with a specific class, write a period (.) character, followed by the class name.</a:t>
            </a:r>
          </a:p>
          <a:p>
            <a:r>
              <a:rPr lang="en-US" dirty="0"/>
              <a:t>Example: </a:t>
            </a:r>
          </a:p>
          <a:p>
            <a:pPr marL="0" indent="0">
              <a:buNone/>
            </a:pPr>
            <a:r>
              <a:rPr lang="en-US" dirty="0"/>
              <a:t>All HTML elements with </a:t>
            </a:r>
            <a:r>
              <a:rPr lang="en-US" dirty="0">
                <a:solidFill>
                  <a:srgbClr val="FF0000"/>
                </a:solidFill>
              </a:rPr>
              <a:t>class</a:t>
            </a:r>
            <a:r>
              <a:rPr lang="en-US" dirty="0"/>
              <a:t>=</a:t>
            </a:r>
            <a:r>
              <a:rPr lang="en-US" dirty="0">
                <a:solidFill>
                  <a:srgbClr val="188C73"/>
                </a:solidFill>
              </a:rPr>
              <a:t>"center"</a:t>
            </a:r>
            <a:r>
              <a:rPr lang="en-US" dirty="0"/>
              <a:t> will be red and center-aligned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37B80F-A384-0A1A-E84A-0A18DC6AB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967" y="4070207"/>
            <a:ext cx="3366957" cy="1401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520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69858-4BB9-A8B5-99B0-4F696391F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class in CSS?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28CE9-43B3-741E-AD4B-F5BEC99DC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class is a type of selector used to define a specific style for multiple HTML elements. </a:t>
            </a:r>
          </a:p>
          <a:p>
            <a:r>
              <a:rPr lang="en-US" dirty="0"/>
              <a:t>Classes allow applying the same styles to different elements without repeating the CSS code, giving more control and flexibility.</a:t>
            </a:r>
          </a:p>
        </p:txBody>
      </p:sp>
    </p:spTree>
    <p:extLst>
      <p:ext uri="{BB962C8B-B14F-4D97-AF65-F5344CB8AC3E}">
        <p14:creationId xmlns:p14="http://schemas.microsoft.com/office/powerpoint/2010/main" val="13107999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69858-4BB9-A8B5-99B0-4F696391F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How to Use a Class in CSS?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28CE9-43B3-741E-AD4B-F5BEC99DCF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0000"/>
                </a:solidFill>
              </a:rPr>
              <a:t>Assign a class to an HTML element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Add the class attribute to an HTML tag and give it a class name.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 startAt="2"/>
            </a:pPr>
            <a:r>
              <a:rPr lang="en-US" dirty="0">
                <a:solidFill>
                  <a:srgbClr val="FF0000"/>
                </a:solidFill>
              </a:rPr>
              <a:t>Define the class in CSS</a:t>
            </a:r>
            <a:r>
              <a:rPr lang="en-US" dirty="0"/>
              <a:t>: </a:t>
            </a:r>
          </a:p>
          <a:p>
            <a:pPr marL="0" indent="0">
              <a:buNone/>
            </a:pPr>
            <a:r>
              <a:rPr lang="en-US" dirty="0"/>
              <a:t>In the CSS file or within a &lt;style&gt; block, define styles for the class by using a dot (.) followed by the class name.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0E58D1-E082-EED9-F544-E78958362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5583" y="2348335"/>
            <a:ext cx="8497317" cy="62519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F40D6A-6EF9-88A3-CC3A-EE69EA9C89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65" y="4471201"/>
            <a:ext cx="4029637" cy="1743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C69E72-42DD-FC86-CB1D-6BF56F793E4E}"/>
              </a:ext>
            </a:extLst>
          </p:cNvPr>
          <p:cNvSpPr txBox="1"/>
          <p:nvPr/>
        </p:nvSpPr>
        <p:spPr>
          <a:xfrm>
            <a:off x="4969593" y="4471201"/>
            <a:ext cx="366404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In this example: The class name is </a:t>
            </a:r>
            <a:r>
              <a:rPr lang="en-US" sz="2000" b="1" dirty="0">
                <a:solidFill>
                  <a:srgbClr val="C00000"/>
                </a:solidFill>
              </a:rPr>
              <a:t>content</a:t>
            </a:r>
            <a:r>
              <a:rPr lang="en-US" sz="2000" dirty="0"/>
              <a:t>. The CSS rule </a:t>
            </a:r>
            <a:r>
              <a:rPr lang="en-US" sz="2000" b="1" dirty="0">
                <a:solidFill>
                  <a:srgbClr val="C00000"/>
                </a:solidFill>
              </a:rPr>
              <a:t>.content </a:t>
            </a:r>
            <a:r>
              <a:rPr lang="en-US" sz="2000" dirty="0"/>
              <a:t>applies the styles (blue text, 20px font size, and 10px padding) to any element that has the </a:t>
            </a:r>
            <a:r>
              <a:rPr lang="en-US" sz="2000" b="1" dirty="0">
                <a:solidFill>
                  <a:srgbClr val="C00000"/>
                </a:solidFill>
              </a:rPr>
              <a:t>content class</a:t>
            </a:r>
            <a:r>
              <a:rPr lang="en-US" sz="2000" dirty="0"/>
              <a:t>.</a:t>
            </a:r>
            <a:endParaRPr lang="en-GH" sz="2000" dirty="0"/>
          </a:p>
        </p:txBody>
      </p:sp>
    </p:spTree>
    <p:extLst>
      <p:ext uri="{BB962C8B-B14F-4D97-AF65-F5344CB8AC3E}">
        <p14:creationId xmlns:p14="http://schemas.microsoft.com/office/powerpoint/2010/main" val="33335886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3250-DD97-6025-D67E-12B600452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class Selector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5C3D3-F8EC-AE85-E36D-94EA40DF1B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also specify that only specific HTML elements should be affected by a class (</a:t>
            </a:r>
            <a:r>
              <a:rPr lang="en-US" dirty="0">
                <a:solidFill>
                  <a:srgbClr val="0070C0"/>
                </a:solidFill>
              </a:rPr>
              <a:t>combined selector</a:t>
            </a:r>
            <a:r>
              <a:rPr lang="en-US" dirty="0"/>
              <a:t>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HTML elements can also refer to more than one class.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2626FD-F968-9B53-E0AD-ECDF8CCD8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619" y="2318252"/>
            <a:ext cx="3408381" cy="14420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CD8EFA-1C58-16CF-A51F-5757994AEB34}"/>
              </a:ext>
            </a:extLst>
          </p:cNvPr>
          <p:cNvSpPr txBox="1"/>
          <p:nvPr/>
        </p:nvSpPr>
        <p:spPr>
          <a:xfrm>
            <a:off x="5310006" y="2435214"/>
            <a:ext cx="310470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Only &lt;p&gt; elements with class="center" will be red and center-aligned</a:t>
            </a:r>
            <a:endParaRPr lang="en-GH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D0CEFA8-86E4-A2D3-496B-642D1E144736}"/>
              </a:ext>
            </a:extLst>
          </p:cNvPr>
          <p:cNvCxnSpPr/>
          <p:nvPr/>
        </p:nvCxnSpPr>
        <p:spPr>
          <a:xfrm>
            <a:off x="4412512" y="2923953"/>
            <a:ext cx="8974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2CDDBE83-60A3-57E3-9EAF-915902BE45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65" y="4546561"/>
            <a:ext cx="8908149" cy="52018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2BA9BD-0524-E915-DBF5-90F3C0E166A2}"/>
              </a:ext>
            </a:extLst>
          </p:cNvPr>
          <p:cNvSpPr txBox="1"/>
          <p:nvPr/>
        </p:nvSpPr>
        <p:spPr>
          <a:xfrm>
            <a:off x="712645" y="5853047"/>
            <a:ext cx="7963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&lt;p&gt; element will be styled according to class="center" and to class="large"</a:t>
            </a:r>
            <a:endParaRPr lang="en-GH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51A3C29-EBCA-82A4-8B73-5C83FF8D3343}"/>
              </a:ext>
            </a:extLst>
          </p:cNvPr>
          <p:cNvCxnSpPr/>
          <p:nvPr/>
        </p:nvCxnSpPr>
        <p:spPr>
          <a:xfrm>
            <a:off x="1594884" y="5156791"/>
            <a:ext cx="531628" cy="6962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63EB2C3-4E97-0F3D-BEA5-C61A1F9B263C}"/>
              </a:ext>
            </a:extLst>
          </p:cNvPr>
          <p:cNvCxnSpPr/>
          <p:nvPr/>
        </p:nvCxnSpPr>
        <p:spPr>
          <a:xfrm flipV="1">
            <a:off x="1594884" y="2083981"/>
            <a:ext cx="1765004" cy="351233"/>
          </a:xfrm>
          <a:prstGeom prst="straightConnector1">
            <a:avLst/>
          </a:prstGeom>
          <a:ln>
            <a:solidFill>
              <a:schemeClr val="accent4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8269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EA7D8-6838-389A-AF64-53F2327D0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Universal Selector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5A4B0-0404-2D9C-76F4-83C8C79DD0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universal selector (*) selects all HTML elements on the page.</a:t>
            </a:r>
          </a:p>
          <a:p>
            <a:r>
              <a:rPr lang="en-US" b="1" dirty="0">
                <a:solidFill>
                  <a:srgbClr val="0070C0"/>
                </a:solidFill>
              </a:rPr>
              <a:t>Example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dirty="0"/>
              <a:t>The CSS rule below will affect every HTML element on the page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8D3F30-2A95-14DF-BC87-ED1FBFC4F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203" y="2874260"/>
            <a:ext cx="3657328" cy="1612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549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8B9C-3990-DC9B-BC83-0D0ACF77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Grouping Selector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5F3CC-CA57-B6AA-B86C-5C8455161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00" y="1386039"/>
            <a:ext cx="4054453" cy="4943141"/>
          </a:xfrm>
        </p:spPr>
        <p:txBody>
          <a:bodyPr/>
          <a:lstStyle/>
          <a:p>
            <a:r>
              <a:rPr lang="en-US" dirty="0"/>
              <a:t>The grouping selector selects all the HTML elements with the same style definitions.</a:t>
            </a:r>
          </a:p>
          <a:p>
            <a:r>
              <a:rPr lang="en-US" dirty="0"/>
              <a:t>In the CSS code shown, the h1, h2, and p elements have the same style definitions.</a:t>
            </a: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A03975-6673-3458-46BE-F3BAADD9EE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818" y="1386040"/>
            <a:ext cx="4121423" cy="4943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9951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8B9C-3990-DC9B-BC83-0D0ACF77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The CSS Grouping Selector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75F3CC-CA57-B6AA-B86C-5C84551616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00" y="1386039"/>
            <a:ext cx="4054453" cy="4943141"/>
          </a:xfrm>
        </p:spPr>
        <p:txBody>
          <a:bodyPr/>
          <a:lstStyle/>
          <a:p>
            <a:r>
              <a:rPr lang="en-US" dirty="0"/>
              <a:t>It will be better to group the selectors, to minimize the code.</a:t>
            </a:r>
          </a:p>
          <a:p>
            <a:endParaRPr lang="en-US" dirty="0"/>
          </a:p>
          <a:p>
            <a:r>
              <a:rPr lang="en-US" dirty="0"/>
              <a:t>To group selectors, separate each selector with a comma.</a:t>
            </a:r>
            <a:endParaRPr lang="en-G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69343C-834F-0980-3A34-54C301671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8449" y="1770121"/>
            <a:ext cx="3889827" cy="1541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6755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7301F-E5CC-358B-5205-898AA997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2) Combinator Selectors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7FC1E-8A80-6537-763F-22CADAF857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elements based on the relationship between them</a:t>
            </a:r>
          </a:p>
          <a:p>
            <a:r>
              <a:rPr lang="en-US" b="1" dirty="0">
                <a:solidFill>
                  <a:srgbClr val="0070C0"/>
                </a:solidFill>
              </a:rPr>
              <a:t>Descendant combinator (</a:t>
            </a:r>
            <a:r>
              <a:rPr lang="en-US" b="1" dirty="0">
                <a:solidFill>
                  <a:srgbClr val="FF0000"/>
                </a:solidFill>
              </a:rPr>
              <a:t>space</a:t>
            </a:r>
            <a:r>
              <a:rPr lang="en-US" b="1" dirty="0">
                <a:solidFill>
                  <a:srgbClr val="0070C0"/>
                </a:solidFill>
              </a:rPr>
              <a:t>)</a:t>
            </a:r>
            <a:r>
              <a:rPr lang="en-US" dirty="0"/>
              <a:t>: Selects elements that are descendants of a specified element </a:t>
            </a:r>
          </a:p>
          <a:p>
            <a:pPr lvl="1"/>
            <a:r>
              <a:rPr lang="en-US" dirty="0"/>
              <a:t>e.g., </a:t>
            </a:r>
            <a:r>
              <a:rPr lang="en-US" b="1" dirty="0">
                <a:solidFill>
                  <a:srgbClr val="C00000"/>
                </a:solidFill>
              </a:rPr>
              <a:t>div p</a:t>
            </a:r>
            <a:r>
              <a:rPr lang="en-US" dirty="0"/>
              <a:t> selects all </a:t>
            </a:r>
            <a:r>
              <a:rPr lang="en-US" dirty="0">
                <a:solidFill>
                  <a:srgbClr val="C00000"/>
                </a:solidFill>
              </a:rPr>
              <a:t>&lt;p&gt;</a:t>
            </a:r>
            <a:r>
              <a:rPr lang="en-US" dirty="0"/>
              <a:t> inside a </a:t>
            </a:r>
            <a:r>
              <a:rPr lang="en-US" dirty="0">
                <a:solidFill>
                  <a:srgbClr val="C00000"/>
                </a:solidFill>
              </a:rPr>
              <a:t>&lt;div&gt;</a:t>
            </a:r>
            <a:endParaRPr lang="en-US" dirty="0"/>
          </a:p>
          <a:p>
            <a:r>
              <a:rPr lang="en-US" b="1" dirty="0">
                <a:solidFill>
                  <a:srgbClr val="0070C0"/>
                </a:solidFill>
              </a:rPr>
              <a:t>Child combinator (</a:t>
            </a:r>
            <a:r>
              <a:rPr lang="en-US" b="1" dirty="0">
                <a:solidFill>
                  <a:srgbClr val="FF0000"/>
                </a:solidFill>
              </a:rPr>
              <a:t>&gt;</a:t>
            </a:r>
            <a:r>
              <a:rPr lang="en-US" b="1" dirty="0">
                <a:solidFill>
                  <a:srgbClr val="0070C0"/>
                </a:solidFill>
              </a:rPr>
              <a:t>)</a:t>
            </a:r>
            <a:r>
              <a:rPr lang="en-US" dirty="0"/>
              <a:t>: Selects direct children of a specified element </a:t>
            </a:r>
          </a:p>
          <a:p>
            <a:pPr lvl="1"/>
            <a:r>
              <a:rPr lang="en-US" dirty="0"/>
              <a:t>e.g., </a:t>
            </a:r>
            <a:r>
              <a:rPr lang="en-US" b="1" dirty="0" err="1">
                <a:solidFill>
                  <a:srgbClr val="C00000"/>
                </a:solidFill>
              </a:rPr>
              <a:t>ul</a:t>
            </a:r>
            <a:r>
              <a:rPr lang="en-US" b="1" dirty="0">
                <a:solidFill>
                  <a:srgbClr val="C00000"/>
                </a:solidFill>
              </a:rPr>
              <a:t> &gt; li</a:t>
            </a:r>
          </a:p>
          <a:p>
            <a:r>
              <a:rPr lang="en-US" b="1" dirty="0">
                <a:solidFill>
                  <a:srgbClr val="0070C0"/>
                </a:solidFill>
              </a:rPr>
              <a:t>Adjacent sibling combinator (</a:t>
            </a:r>
            <a:r>
              <a:rPr lang="en-US" b="1" dirty="0">
                <a:solidFill>
                  <a:srgbClr val="FF0000"/>
                </a:solidFill>
              </a:rPr>
              <a:t>+</a:t>
            </a:r>
            <a:r>
              <a:rPr lang="en-US" b="1" dirty="0">
                <a:solidFill>
                  <a:srgbClr val="0070C0"/>
                </a:solidFill>
              </a:rPr>
              <a:t>)</a:t>
            </a:r>
            <a:r>
              <a:rPr lang="en-US" dirty="0"/>
              <a:t>: Selects an element that is immediately after a specific element </a:t>
            </a:r>
          </a:p>
          <a:p>
            <a:pPr lvl="1"/>
            <a:r>
              <a:rPr lang="en-US" dirty="0"/>
              <a:t>e.g., </a:t>
            </a:r>
            <a:r>
              <a:rPr lang="en-US" b="1" dirty="0">
                <a:solidFill>
                  <a:srgbClr val="C00000"/>
                </a:solidFill>
              </a:rPr>
              <a:t>h1 + p</a:t>
            </a:r>
          </a:p>
          <a:p>
            <a:r>
              <a:rPr lang="en-US" b="1" dirty="0">
                <a:solidFill>
                  <a:srgbClr val="0070C0"/>
                </a:solidFill>
              </a:rPr>
              <a:t>General sibling combinator (</a:t>
            </a:r>
            <a:r>
              <a:rPr lang="en-US" b="1" dirty="0">
                <a:solidFill>
                  <a:srgbClr val="FF0000"/>
                </a:solidFill>
              </a:rPr>
              <a:t>~</a:t>
            </a:r>
            <a:r>
              <a:rPr lang="en-US" b="1" dirty="0">
                <a:solidFill>
                  <a:srgbClr val="0070C0"/>
                </a:solidFill>
              </a:rPr>
              <a:t>)</a:t>
            </a:r>
            <a:r>
              <a:rPr lang="en-US" dirty="0"/>
              <a:t>: Selects all siblings after a specified element </a:t>
            </a:r>
          </a:p>
          <a:p>
            <a:pPr lvl="1"/>
            <a:r>
              <a:rPr lang="en-US" dirty="0"/>
              <a:t>e.g., </a:t>
            </a:r>
            <a:r>
              <a:rPr lang="en-US" b="1" dirty="0">
                <a:solidFill>
                  <a:srgbClr val="C00000"/>
                </a:solidFill>
              </a:rPr>
              <a:t>h1 ~ p</a:t>
            </a:r>
            <a:endParaRPr lang="en-GH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82281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292F26-DAB6-9B90-15E0-BD2319190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Descendant Combinator (space)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B15DC-48D9-54B7-F587-F381B9F78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all elements that are descendants (children, grandchildren, etc.) of a specified parent element.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B1F8F6-59C4-BDF9-EF0F-352075B30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1808" y="2657291"/>
            <a:ext cx="5582429" cy="2400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BC48831-A775-BE47-D43B-6A10A37136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808" y="5359920"/>
            <a:ext cx="1838582" cy="1038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6B1DDA-7D3E-2324-295D-77B7E0604EA1}"/>
              </a:ext>
            </a:extLst>
          </p:cNvPr>
          <p:cNvSpPr txBox="1"/>
          <p:nvPr/>
        </p:nvSpPr>
        <p:spPr>
          <a:xfrm>
            <a:off x="489098" y="2785730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6EEC73-21F6-5D4C-0E2B-E17FF7063639}"/>
              </a:ext>
            </a:extLst>
          </p:cNvPr>
          <p:cNvSpPr txBox="1"/>
          <p:nvPr/>
        </p:nvSpPr>
        <p:spPr>
          <a:xfrm>
            <a:off x="489098" y="5359920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140786-D6BA-DCB3-26E5-FEB52DC41757}"/>
              </a:ext>
            </a:extLst>
          </p:cNvPr>
          <p:cNvSpPr txBox="1"/>
          <p:nvPr/>
        </p:nvSpPr>
        <p:spPr>
          <a:xfrm>
            <a:off x="3934046" y="5342567"/>
            <a:ext cx="4572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Only the paragraph inside the &lt;div&gt; will be blue. The paragraph inside the &lt;section&gt; won't be affected.</a:t>
            </a:r>
            <a:endParaRPr lang="en-GH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0FE20AE-C200-2332-90E5-21E12973D76A}"/>
              </a:ext>
            </a:extLst>
          </p:cNvPr>
          <p:cNvCxnSpPr/>
          <p:nvPr/>
        </p:nvCxnSpPr>
        <p:spPr>
          <a:xfrm flipV="1">
            <a:off x="3391783" y="5544586"/>
            <a:ext cx="786808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313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3CC72-C4FF-8907-D9B2-246D277C5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Child Combinator (&gt;)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6A71C-BE22-F86A-E7DA-FCB3B50B92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only the direct children of a parent element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9BC9BC-F573-3544-2D22-A5E083A97E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951" y="2803545"/>
            <a:ext cx="3143689" cy="34199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F81E53-DE3C-4BC6-009C-9904D796F041}"/>
              </a:ext>
            </a:extLst>
          </p:cNvPr>
          <p:cNvSpPr txBox="1"/>
          <p:nvPr/>
        </p:nvSpPr>
        <p:spPr>
          <a:xfrm>
            <a:off x="1945758" y="2430763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E28036-BAB0-48D4-D19C-90ADAA01C077}"/>
              </a:ext>
            </a:extLst>
          </p:cNvPr>
          <p:cNvSpPr txBox="1"/>
          <p:nvPr/>
        </p:nvSpPr>
        <p:spPr>
          <a:xfrm>
            <a:off x="6368903" y="2246097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91139AC-6295-B623-2197-C5E9A33128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3348" y="2800095"/>
            <a:ext cx="1905266" cy="106694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955B600-6442-8CF9-C788-C2E79EB70D82}"/>
              </a:ext>
            </a:extLst>
          </p:cNvPr>
          <p:cNvSpPr txBox="1"/>
          <p:nvPr/>
        </p:nvSpPr>
        <p:spPr>
          <a:xfrm>
            <a:off x="4330900" y="4402254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CSS rule will select only the direct children &lt;li&gt; elements of the top-level &lt;</a:t>
            </a:r>
            <a:r>
              <a:rPr lang="en-US" dirty="0" err="1"/>
              <a:t>ul</a:t>
            </a:r>
            <a:r>
              <a:rPr lang="en-US" dirty="0"/>
              <a:t>&gt;.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rule will not affect the nested &lt;li&gt; element inside the second &lt;</a:t>
            </a:r>
            <a:r>
              <a:rPr lang="en-US" dirty="0" err="1"/>
              <a:t>ul</a:t>
            </a:r>
            <a:r>
              <a:rPr lang="en-US" dirty="0"/>
              <a:t>&gt;.</a:t>
            </a:r>
            <a:endParaRPr lang="en-GH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45CA3A-3193-1CD6-F341-DCE68C22B2B5}"/>
              </a:ext>
            </a:extLst>
          </p:cNvPr>
          <p:cNvCxnSpPr/>
          <p:nvPr/>
        </p:nvCxnSpPr>
        <p:spPr>
          <a:xfrm flipH="1">
            <a:off x="5922335" y="3965944"/>
            <a:ext cx="276446" cy="34024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58669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64262-E2C9-6364-C336-D45D014C8B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an element that is immediately next to another element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35E478A-C2EB-F3AC-DE46-EF0061C43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9713" y="130175"/>
            <a:ext cx="8682037" cy="1162050"/>
          </a:xfrm>
        </p:spPr>
        <p:txBody>
          <a:bodyPr/>
          <a:lstStyle/>
          <a:p>
            <a:r>
              <a:rPr lang="en-IN" dirty="0"/>
              <a:t>Adjacent Sibling Combinator (+)</a:t>
            </a:r>
            <a:endParaRPr lang="en-G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246BA1E-4367-F0F0-9686-C492F67AA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356" y="2601225"/>
            <a:ext cx="4286848" cy="11241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2F7859-FB3B-7446-6AA0-B9114A8A4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356" y="4385954"/>
            <a:ext cx="1571844" cy="9716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1A06DBB-7F58-2526-3A50-708C5BCCB0B4}"/>
              </a:ext>
            </a:extLst>
          </p:cNvPr>
          <p:cNvSpPr txBox="1"/>
          <p:nvPr/>
        </p:nvSpPr>
        <p:spPr>
          <a:xfrm>
            <a:off x="3537409" y="4271632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CSS rule applies to the first &lt;p&gt; element immediately next to the &lt;h1&gt;.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the first paragraph will be red, but the second one won’t be.</a:t>
            </a:r>
            <a:endParaRPr lang="en-GH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B1C068-A6BF-0025-860A-3C8D547C020C}"/>
              </a:ext>
            </a:extLst>
          </p:cNvPr>
          <p:cNvSpPr txBox="1"/>
          <p:nvPr/>
        </p:nvSpPr>
        <p:spPr>
          <a:xfrm>
            <a:off x="435935" y="2615429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63F38E-AC32-F3AF-B25A-CD94F2A2BECF}"/>
              </a:ext>
            </a:extLst>
          </p:cNvPr>
          <p:cNvSpPr txBox="1"/>
          <p:nvPr/>
        </p:nvSpPr>
        <p:spPr>
          <a:xfrm>
            <a:off x="531629" y="4385954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C693CB5-ED67-76B3-F096-CA1703C78504}"/>
              </a:ext>
            </a:extLst>
          </p:cNvPr>
          <p:cNvCxnSpPr/>
          <p:nvPr/>
        </p:nvCxnSpPr>
        <p:spPr>
          <a:xfrm flipV="1">
            <a:off x="2913321" y="4570620"/>
            <a:ext cx="624088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604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5B315-C71F-1829-9F7A-CC621832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General Sibling Combinator (~)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CF7FB5-DE70-120C-5D7A-9871F9D2B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all siblings after a specified element, not just the one immediately following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E2A274-CA03-A48D-CDB2-FE81B47D1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014" y="2805307"/>
            <a:ext cx="6544588" cy="100026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539AFF0-7022-C50A-C988-12B818346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4014" y="4350891"/>
            <a:ext cx="2086266" cy="103837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9538A86-645F-7ACA-0D6A-634F47F7AD9A}"/>
              </a:ext>
            </a:extLst>
          </p:cNvPr>
          <p:cNvSpPr txBox="1"/>
          <p:nvPr/>
        </p:nvSpPr>
        <p:spPr>
          <a:xfrm>
            <a:off x="3732027" y="4235653"/>
            <a:ext cx="474212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CSS rule selects all &lt;p&gt; elements that are siblings of the &lt;h2&gt; and appears after it.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paragraphs will be orange because they are siblings of the &lt;h2&gt; and come after it.</a:t>
            </a:r>
            <a:endParaRPr lang="en-GH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6954EBC-0E0F-0BEA-5D41-1CE9458CFBD5}"/>
              </a:ext>
            </a:extLst>
          </p:cNvPr>
          <p:cNvCxnSpPr/>
          <p:nvPr/>
        </p:nvCxnSpPr>
        <p:spPr>
          <a:xfrm flipV="1">
            <a:off x="3413051" y="4593265"/>
            <a:ext cx="489098" cy="1488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BD40731-0ED5-0E41-DD11-3EF4F35D2EB6}"/>
              </a:ext>
            </a:extLst>
          </p:cNvPr>
          <p:cNvSpPr txBox="1"/>
          <p:nvPr/>
        </p:nvSpPr>
        <p:spPr>
          <a:xfrm>
            <a:off x="407630" y="2823637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C15DC3-3F8A-5EFF-631E-3080BBA2169D}"/>
              </a:ext>
            </a:extLst>
          </p:cNvPr>
          <p:cNvSpPr txBox="1"/>
          <p:nvPr/>
        </p:nvSpPr>
        <p:spPr>
          <a:xfrm>
            <a:off x="503324" y="4594162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2686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33A9C-5F47-7994-D35D-A875A3AE4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3) Pseudo-class Selectors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ACCD7-26BC-C3C7-21EA-78175887E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dirty="0"/>
              <a:t>Select elements based on a certain state or condition</a:t>
            </a:r>
          </a:p>
          <a:p>
            <a:pPr marL="0" indent="0">
              <a:buNone/>
            </a:pPr>
            <a:endParaRPr lang="en-US" dirty="0"/>
          </a:p>
          <a:p>
            <a:pPr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:hover</a:t>
            </a:r>
            <a:r>
              <a:rPr lang="en-US" dirty="0"/>
              <a:t>: Selects an element when the user hovers over it</a:t>
            </a:r>
          </a:p>
          <a:p>
            <a:pPr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:focus</a:t>
            </a:r>
            <a:r>
              <a:rPr lang="en-US" dirty="0"/>
              <a:t>: Selects an element when it is focused </a:t>
            </a:r>
          </a:p>
          <a:p>
            <a:pPr lvl="1"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dirty="0"/>
              <a:t>e.g., when an input field is selected</a:t>
            </a:r>
          </a:p>
          <a:p>
            <a:pPr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:nth-child()</a:t>
            </a:r>
            <a:r>
              <a:rPr lang="en-US" dirty="0"/>
              <a:t>: Selects elements based on their position in a parent element</a:t>
            </a:r>
          </a:p>
          <a:p>
            <a:pPr>
              <a:buClr>
                <a:schemeClr val="tx1"/>
              </a:buClr>
              <a:buFont typeface="Calibri" panose="020F050202020403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:first-child, :last-child</a:t>
            </a:r>
            <a:r>
              <a:rPr lang="en-US" dirty="0"/>
              <a:t>: Selects the first or last child of a parent element.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2925114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F0B5F-51EC-72B9-D757-61D9B3FC4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:hover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DAC99-7853-19BA-742D-5ECB2C5E90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an element when the user hovers over it with the mouse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CF8989-1A41-AD64-9CE1-5CADAAE54A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481" b="60533"/>
          <a:stretch/>
        </p:blipFill>
        <p:spPr>
          <a:xfrm>
            <a:off x="498212" y="3002004"/>
            <a:ext cx="4137582" cy="9219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9AD683-DC5E-3907-DCC3-CFD5D85935DF}"/>
              </a:ext>
            </a:extLst>
          </p:cNvPr>
          <p:cNvSpPr txBox="1"/>
          <p:nvPr/>
        </p:nvSpPr>
        <p:spPr>
          <a:xfrm>
            <a:off x="5149992" y="4764514"/>
            <a:ext cx="365528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button's background color changes to light blue when the user hovers over it</a:t>
            </a:r>
            <a:endParaRPr lang="en-GH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35CA62-D94B-BD0C-448B-A8A8D1D80CF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399" b="4052"/>
          <a:stretch/>
        </p:blipFill>
        <p:spPr>
          <a:xfrm>
            <a:off x="498212" y="4528340"/>
            <a:ext cx="4403492" cy="149974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6C2D9C-128B-66AA-CBC0-851A201C827F}"/>
              </a:ext>
            </a:extLst>
          </p:cNvPr>
          <p:cNvSpPr txBox="1"/>
          <p:nvPr/>
        </p:nvSpPr>
        <p:spPr>
          <a:xfrm>
            <a:off x="907360" y="2632672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3F39D-1379-6C32-3A9C-40D2C814464B}"/>
              </a:ext>
            </a:extLst>
          </p:cNvPr>
          <p:cNvSpPr txBox="1"/>
          <p:nvPr/>
        </p:nvSpPr>
        <p:spPr>
          <a:xfrm>
            <a:off x="981789" y="4183585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B96E01-F6BC-0E78-0467-A94A2BCFA8E3}"/>
              </a:ext>
            </a:extLst>
          </p:cNvPr>
          <p:cNvCxnSpPr/>
          <p:nvPr/>
        </p:nvCxnSpPr>
        <p:spPr>
          <a:xfrm>
            <a:off x="4572000" y="4901609"/>
            <a:ext cx="577992" cy="956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0549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D9691-FDF7-EFD0-BF26-81D4D09D5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:focus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B4B4BC-BC85-5C1D-6AE0-766A3E63C5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an element when it is focused, such as when a user clicks or tabs into an input field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C15112-0646-E1AE-728B-C01A6EC14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5867" y="2707275"/>
            <a:ext cx="6230219" cy="571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22E78A-ABA7-BDA2-7F8D-5D497D9509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5867" y="4193011"/>
            <a:ext cx="2943636" cy="11050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7B07C9A-F598-F5C9-AEC7-25F67CD5B061}"/>
              </a:ext>
            </a:extLst>
          </p:cNvPr>
          <p:cNvSpPr txBox="1"/>
          <p:nvPr/>
        </p:nvSpPr>
        <p:spPr>
          <a:xfrm>
            <a:off x="1034956" y="2781534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704649-4B1D-0450-0711-4655FECDB4BA}"/>
              </a:ext>
            </a:extLst>
          </p:cNvPr>
          <p:cNvSpPr txBox="1"/>
          <p:nvPr/>
        </p:nvSpPr>
        <p:spPr>
          <a:xfrm>
            <a:off x="1109385" y="4332447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720066-0980-F28A-AA4B-D8238FAB1327}"/>
              </a:ext>
            </a:extLst>
          </p:cNvPr>
          <p:cNvSpPr txBox="1"/>
          <p:nvPr/>
        </p:nvSpPr>
        <p:spPr>
          <a:xfrm>
            <a:off x="5475768" y="4260435"/>
            <a:ext cx="331735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border of the input field becomes blue when the user clicks on it or tabs into it.</a:t>
            </a:r>
            <a:endParaRPr lang="en-GH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CEC6C8E-53B7-2458-FD8E-F981955EC639}"/>
              </a:ext>
            </a:extLst>
          </p:cNvPr>
          <p:cNvCxnSpPr>
            <a:cxnSpLocks/>
          </p:cNvCxnSpPr>
          <p:nvPr/>
        </p:nvCxnSpPr>
        <p:spPr>
          <a:xfrm>
            <a:off x="4719503" y="4517113"/>
            <a:ext cx="7562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87478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91DB9-389E-0338-3E96-4F1B27714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:nth-child(n)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96EEC-93FB-785E-F9EC-2CD12939B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Selects elements based on their position in a parent element, using a formula like n</a:t>
            </a:r>
          </a:p>
          <a:p>
            <a:r>
              <a:rPr lang="en-US"/>
              <a:t>Example: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507A13-BD36-1AB8-FB8E-49E617B3C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803" y="2739291"/>
            <a:ext cx="2276793" cy="2038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96AA5B-B27B-E3E4-7559-1AF5A38227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3382" y="5045176"/>
            <a:ext cx="2248214" cy="108600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D18DEA-0512-C7CA-A600-A8E73508F096}"/>
              </a:ext>
            </a:extLst>
          </p:cNvPr>
          <p:cNvSpPr txBox="1"/>
          <p:nvPr/>
        </p:nvSpPr>
        <p:spPr>
          <a:xfrm>
            <a:off x="4631786" y="5092219"/>
            <a:ext cx="354064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second &lt;li&gt; element ("Item 2") will be styled with green text.</a:t>
            </a:r>
            <a:endParaRPr lang="en-GH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237103-1138-565C-E125-01BDC8A3208E}"/>
              </a:ext>
            </a:extLst>
          </p:cNvPr>
          <p:cNvCxnSpPr/>
          <p:nvPr/>
        </p:nvCxnSpPr>
        <p:spPr>
          <a:xfrm flipV="1">
            <a:off x="3732028" y="5358809"/>
            <a:ext cx="899758" cy="113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F307E27-F69E-41B8-E853-8B515AF8576F}"/>
              </a:ext>
            </a:extLst>
          </p:cNvPr>
          <p:cNvSpPr txBox="1"/>
          <p:nvPr/>
        </p:nvSpPr>
        <p:spPr>
          <a:xfrm>
            <a:off x="811675" y="2781534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D3C561-FD99-84A4-FAF0-09FB5B19104D}"/>
              </a:ext>
            </a:extLst>
          </p:cNvPr>
          <p:cNvSpPr txBox="1"/>
          <p:nvPr/>
        </p:nvSpPr>
        <p:spPr>
          <a:xfrm>
            <a:off x="971572" y="5102629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96343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E3170-3DF6-5B52-4649-AF95D7096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:first-child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22C43-2133-AFDB-87C3-48609B78E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the first child of a parent element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648E5A-E2F6-BB39-3262-7D2FE41B5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7889" y="2367061"/>
            <a:ext cx="2800741" cy="17623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5206F27-F72F-E49B-7AF5-E91DACCEF6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889" y="4695831"/>
            <a:ext cx="2610214" cy="10669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CD8D8D2-CAFC-8BA9-1C0A-06DD578EEFC3}"/>
              </a:ext>
            </a:extLst>
          </p:cNvPr>
          <p:cNvSpPr txBox="1"/>
          <p:nvPr/>
        </p:nvSpPr>
        <p:spPr>
          <a:xfrm>
            <a:off x="4816549" y="4825630"/>
            <a:ext cx="289338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first &lt;li&gt; ("First item") will have bold text</a:t>
            </a:r>
            <a:endParaRPr lang="en-GH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8A610F-1734-8147-47CD-68CE2D010903}"/>
              </a:ext>
            </a:extLst>
          </p:cNvPr>
          <p:cNvCxnSpPr/>
          <p:nvPr/>
        </p:nvCxnSpPr>
        <p:spPr>
          <a:xfrm>
            <a:off x="3891516" y="5092995"/>
            <a:ext cx="92503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76F980B-10F9-92D4-815D-77A6CD91F5BC}"/>
              </a:ext>
            </a:extLst>
          </p:cNvPr>
          <p:cNvSpPr txBox="1"/>
          <p:nvPr/>
        </p:nvSpPr>
        <p:spPr>
          <a:xfrm>
            <a:off x="715981" y="2420020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1B9E53-F950-8427-D8AA-7A1A4A51A996}"/>
              </a:ext>
            </a:extLst>
          </p:cNvPr>
          <p:cNvSpPr txBox="1"/>
          <p:nvPr/>
        </p:nvSpPr>
        <p:spPr>
          <a:xfrm>
            <a:off x="875878" y="4741115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00097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C530D-10C9-2CEA-4414-BF97A4587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:last-child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15D406-F134-8635-822B-48835FC9E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65" y="1375406"/>
            <a:ext cx="8681519" cy="4943141"/>
          </a:xfrm>
        </p:spPr>
        <p:txBody>
          <a:bodyPr/>
          <a:lstStyle/>
          <a:p>
            <a:r>
              <a:rPr lang="en-US" dirty="0"/>
              <a:t>Selects the last child of a parent element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E45A5F-7F48-DBAE-04CB-2D5161D898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0720" y="2332951"/>
            <a:ext cx="2734057" cy="1724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3FE4A95-FB13-B6C5-BA0A-F824155F5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720" y="4678223"/>
            <a:ext cx="2172003" cy="1019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0A45DC9-F23F-7036-4AB2-66ADC7B21D59}"/>
              </a:ext>
            </a:extLst>
          </p:cNvPr>
          <p:cNvSpPr txBox="1"/>
          <p:nvPr/>
        </p:nvSpPr>
        <p:spPr>
          <a:xfrm>
            <a:off x="4476306" y="4836263"/>
            <a:ext cx="29558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last &lt;li&gt; ("Third item") will have red text.</a:t>
            </a:r>
            <a:endParaRPr lang="en-GH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33DC4DD-DE08-1343-7895-F3C16B1B3B9F}"/>
              </a:ext>
            </a:extLst>
          </p:cNvPr>
          <p:cNvCxnSpPr>
            <a:endCxn id="9" idx="1"/>
          </p:cNvCxnSpPr>
          <p:nvPr/>
        </p:nvCxnSpPr>
        <p:spPr>
          <a:xfrm flipV="1">
            <a:off x="3561907" y="5159429"/>
            <a:ext cx="914399" cy="284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323C233-BFCE-43E6-5D60-27DFF2E1294D}"/>
              </a:ext>
            </a:extLst>
          </p:cNvPr>
          <p:cNvSpPr txBox="1"/>
          <p:nvPr/>
        </p:nvSpPr>
        <p:spPr>
          <a:xfrm>
            <a:off x="864843" y="2590143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73A1A9-756A-C958-1F48-D4B2EEDC65CE}"/>
              </a:ext>
            </a:extLst>
          </p:cNvPr>
          <p:cNvSpPr txBox="1"/>
          <p:nvPr/>
        </p:nvSpPr>
        <p:spPr>
          <a:xfrm>
            <a:off x="1024740" y="4911238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87224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6103-9D64-B527-4B36-528702F1E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:nth-of-type(n)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EBE17-1B43-E0B6-66C4-53CD3B8EB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elements based on their position in a parent, but only considers elements of a specific type.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8543C3-2664-1A2C-A9DE-51B0A6E6EA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5781" y="2736742"/>
            <a:ext cx="3429479" cy="20862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A46952D-C7D0-C777-CCD8-5FB4479E7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5781" y="5289361"/>
            <a:ext cx="2343477" cy="11336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D064B37-5063-418A-AE64-7A84D7C15769}"/>
              </a:ext>
            </a:extLst>
          </p:cNvPr>
          <p:cNvSpPr txBox="1"/>
          <p:nvPr/>
        </p:nvSpPr>
        <p:spPr>
          <a:xfrm>
            <a:off x="4708820" y="5356711"/>
            <a:ext cx="41254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second &lt;p&gt; element ("Paragraph 2") will be styled with purple text. The &lt;span&gt; is ignored as it is a different type.</a:t>
            </a:r>
            <a:endParaRPr lang="en-GH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63CBC1-9403-76CA-FD02-3553783F144D}"/>
              </a:ext>
            </a:extLst>
          </p:cNvPr>
          <p:cNvCxnSpPr/>
          <p:nvPr/>
        </p:nvCxnSpPr>
        <p:spPr>
          <a:xfrm flipV="1">
            <a:off x="3710763" y="5635256"/>
            <a:ext cx="1041990" cy="2209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744BA3B-9C31-B70C-EF94-1177725ABAEE}"/>
              </a:ext>
            </a:extLst>
          </p:cNvPr>
          <p:cNvSpPr txBox="1"/>
          <p:nvPr/>
        </p:nvSpPr>
        <p:spPr>
          <a:xfrm>
            <a:off x="871461" y="3059668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E3619E-3A8A-2051-C3EB-12559B6F072B}"/>
              </a:ext>
            </a:extLst>
          </p:cNvPr>
          <p:cNvSpPr txBox="1"/>
          <p:nvPr/>
        </p:nvSpPr>
        <p:spPr>
          <a:xfrm>
            <a:off x="1031358" y="5380763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6683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A160F-FA2E-E09E-222E-C77C7691C9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:not(selector)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C82FE0-2C65-A055-5639-37AEA429AF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240" y="1292225"/>
            <a:ext cx="8681519" cy="4943141"/>
          </a:xfrm>
        </p:spPr>
        <p:txBody>
          <a:bodyPr/>
          <a:lstStyle/>
          <a:p>
            <a:r>
              <a:rPr lang="en-US" dirty="0"/>
              <a:t>Selects elements that do not match a certain selector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A4C43D-6A94-78CC-2395-876ECCA57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2961" y="2323946"/>
            <a:ext cx="4658375" cy="11050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56C29D-9B29-C61F-8776-0C5ACF0169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961" y="4349635"/>
            <a:ext cx="2419688" cy="11145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CAC6EB-08EB-25C4-07BF-FD9ABCFD0DB5}"/>
              </a:ext>
            </a:extLst>
          </p:cNvPr>
          <p:cNvSpPr txBox="1"/>
          <p:nvPr/>
        </p:nvSpPr>
        <p:spPr>
          <a:xfrm>
            <a:off x="864843" y="2474841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B01FF-7CDE-D704-26FA-A48B6AF5A8A6}"/>
              </a:ext>
            </a:extLst>
          </p:cNvPr>
          <p:cNvSpPr txBox="1"/>
          <p:nvPr/>
        </p:nvSpPr>
        <p:spPr>
          <a:xfrm>
            <a:off x="992842" y="4407019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A6D7164-7C31-5AFE-6E95-83882E668954}"/>
              </a:ext>
            </a:extLst>
          </p:cNvPr>
          <p:cNvSpPr txBox="1"/>
          <p:nvPr/>
        </p:nvSpPr>
        <p:spPr>
          <a:xfrm>
            <a:off x="4929492" y="4314686"/>
            <a:ext cx="32216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All &lt;p&gt; elements except the one with class "exclude" will have orange text</a:t>
            </a:r>
            <a:endParaRPr lang="en-GH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E3121AE-FDE1-402A-B651-F87179900CDC}"/>
              </a:ext>
            </a:extLst>
          </p:cNvPr>
          <p:cNvCxnSpPr>
            <a:cxnSpLocks/>
          </p:cNvCxnSpPr>
          <p:nvPr/>
        </p:nvCxnSpPr>
        <p:spPr>
          <a:xfrm flipV="1">
            <a:off x="3902148" y="4591685"/>
            <a:ext cx="1027344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10759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700F4-071B-E01C-A0F0-CE2569E497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:checked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12479-7DB6-A78B-A507-02384967E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any &lt;input&gt; elements that are checked (like checkboxes or radio buttons)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88A282-8D3A-FFFD-48B2-97FC20019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930" y="2664406"/>
            <a:ext cx="4239217" cy="657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A4DD42D-9E13-3CF0-8FBA-6B5312482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930" y="4085668"/>
            <a:ext cx="3115110" cy="10288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916843E-F890-51A1-6803-681A58A9208B}"/>
              </a:ext>
            </a:extLst>
          </p:cNvPr>
          <p:cNvSpPr txBox="1"/>
          <p:nvPr/>
        </p:nvSpPr>
        <p:spPr>
          <a:xfrm>
            <a:off x="737247" y="2730025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6D88AB-F311-0EBD-417C-C398A6A21FC7}"/>
              </a:ext>
            </a:extLst>
          </p:cNvPr>
          <p:cNvSpPr txBox="1"/>
          <p:nvPr/>
        </p:nvSpPr>
        <p:spPr>
          <a:xfrm>
            <a:off x="918409" y="4160270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6471BE-55DB-D27B-88C6-764A7898ECA0}"/>
              </a:ext>
            </a:extLst>
          </p:cNvPr>
          <p:cNvSpPr txBox="1"/>
          <p:nvPr/>
        </p:nvSpPr>
        <p:spPr>
          <a:xfrm>
            <a:off x="5220586" y="4186818"/>
            <a:ext cx="28495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label text turns green when the checkbox is checked</a:t>
            </a:r>
            <a:endParaRPr lang="en-GH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20C41449-A80E-3234-BAD4-42F3AB96C50E}"/>
              </a:ext>
            </a:extLst>
          </p:cNvPr>
          <p:cNvCxnSpPr/>
          <p:nvPr/>
        </p:nvCxnSpPr>
        <p:spPr>
          <a:xfrm flipV="1">
            <a:off x="4178595" y="4369981"/>
            <a:ext cx="1052624" cy="1596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36987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C61DD-53E4-7E97-548B-F64699F03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:disabled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401A3-5FEB-EA11-FD7E-C244232DCC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form elements that are disabled (i.e., they cannot be interacted with)</a:t>
            </a:r>
          </a:p>
          <a:p>
            <a:r>
              <a:rPr lang="en-US" dirty="0"/>
              <a:t>Example: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3BA055-5E40-6750-F502-2B96D71A1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193" y="2716033"/>
            <a:ext cx="6716062" cy="447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A1AADC-4933-F8E3-BE0E-8EF9EFC678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193" y="3955526"/>
            <a:ext cx="3486637" cy="10764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D16C7C-233B-329F-4BB7-9CBA7F75BF4B}"/>
              </a:ext>
            </a:extLst>
          </p:cNvPr>
          <p:cNvSpPr txBox="1"/>
          <p:nvPr/>
        </p:nvSpPr>
        <p:spPr>
          <a:xfrm>
            <a:off x="5603358" y="4100143"/>
            <a:ext cx="29239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disabled input field has a light gray background</a:t>
            </a:r>
            <a:endParaRPr lang="en-GH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4E3962F-215B-EE44-6091-90894527B21D}"/>
              </a:ext>
            </a:extLst>
          </p:cNvPr>
          <p:cNvCxnSpPr/>
          <p:nvPr/>
        </p:nvCxnSpPr>
        <p:spPr>
          <a:xfrm>
            <a:off x="4667693" y="4298737"/>
            <a:ext cx="935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3342813-4B04-E78F-C48D-11D982D4B877}"/>
              </a:ext>
            </a:extLst>
          </p:cNvPr>
          <p:cNvSpPr txBox="1"/>
          <p:nvPr/>
        </p:nvSpPr>
        <p:spPr>
          <a:xfrm>
            <a:off x="641550" y="2730025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39AE4A-36CA-20F3-00BE-FC3F186E56A6}"/>
              </a:ext>
            </a:extLst>
          </p:cNvPr>
          <p:cNvSpPr txBox="1"/>
          <p:nvPr/>
        </p:nvSpPr>
        <p:spPr>
          <a:xfrm>
            <a:off x="822712" y="4160270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180996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8FF62-A124-53FF-834C-4AD3735E10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:empty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15E2E-38EA-F437-4216-1335E3F237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elements that have no children (including text nodes)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C8149E-3F5B-A3A3-12B7-5D2A1E3BE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351" y="2361593"/>
            <a:ext cx="3839111" cy="752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73C476-2FDE-8DD5-991D-3330F9BA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351" y="3986254"/>
            <a:ext cx="3067478" cy="990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93236A-3F9A-0398-7C7B-6FF74771786E}"/>
              </a:ext>
            </a:extLst>
          </p:cNvPr>
          <p:cNvSpPr txBox="1"/>
          <p:nvPr/>
        </p:nvSpPr>
        <p:spPr>
          <a:xfrm>
            <a:off x="908708" y="2502414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658B71-D038-0B7C-7E50-D98ACDD95D36}"/>
              </a:ext>
            </a:extLst>
          </p:cNvPr>
          <p:cNvSpPr txBox="1"/>
          <p:nvPr/>
        </p:nvSpPr>
        <p:spPr>
          <a:xfrm>
            <a:off x="1089870" y="3932659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A98287-544D-D0BD-95DD-39CFA7E79DDC}"/>
              </a:ext>
            </a:extLst>
          </p:cNvPr>
          <p:cNvSpPr txBox="1"/>
          <p:nvPr/>
        </p:nvSpPr>
        <p:spPr>
          <a:xfrm>
            <a:off x="5262310" y="4089727"/>
            <a:ext cx="24135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empty &lt;div&gt; will have a red border</a:t>
            </a:r>
            <a:endParaRPr lang="en-GH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116706A-5898-8C04-E977-D7E9CCFBFEDB}"/>
              </a:ext>
            </a:extLst>
          </p:cNvPr>
          <p:cNvCxnSpPr/>
          <p:nvPr/>
        </p:nvCxnSpPr>
        <p:spPr>
          <a:xfrm>
            <a:off x="4412512" y="4117325"/>
            <a:ext cx="849798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2763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76BF7-A3D5-A177-3CBD-918E54BD5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4) Pseudo-element Selectors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D5497-6DCE-0A58-41B2-B5656A2DF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and style specific parts of an element</a:t>
            </a:r>
          </a:p>
          <a:p>
            <a:endParaRPr lang="en-US" dirty="0"/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rgbClr val="0070C0"/>
                </a:solidFill>
              </a:rPr>
              <a:t>::before</a:t>
            </a:r>
            <a:r>
              <a:rPr lang="en-US" dirty="0"/>
              <a:t>: Inserts content before an element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rgbClr val="0070C0"/>
                </a:solidFill>
              </a:rPr>
              <a:t>::after</a:t>
            </a:r>
            <a:r>
              <a:rPr lang="en-US" dirty="0"/>
              <a:t>: Inserts content after an element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rgbClr val="0070C0"/>
                </a:solidFill>
              </a:rPr>
              <a:t>::first-line</a:t>
            </a:r>
            <a:r>
              <a:rPr lang="en-US" dirty="0"/>
              <a:t>: Styles the first line of text in an element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rgbClr val="0070C0"/>
                </a:solidFill>
              </a:rPr>
              <a:t>::first-letter</a:t>
            </a:r>
            <a:r>
              <a:rPr lang="en-US" dirty="0"/>
              <a:t>: Styles the first letter of a block of text.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855253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F4666-5AC7-FB92-84A2-F19EC7682A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::before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B5192-6E1B-39F6-2B64-06F9B7033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Inserts content before an element's content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6D4487-D432-E9F3-48CF-78866D201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2574" y="2471485"/>
            <a:ext cx="3229426" cy="447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F49AC6-277F-6147-7ECA-A09E1E17F8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574" y="3537749"/>
            <a:ext cx="2753109" cy="17814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3DF1D28-A3FA-6652-D336-92D95443958F}"/>
              </a:ext>
            </a:extLst>
          </p:cNvPr>
          <p:cNvSpPr txBox="1"/>
          <p:nvPr/>
        </p:nvSpPr>
        <p:spPr>
          <a:xfrm>
            <a:off x="534500" y="2498651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925C6B-B946-E7BD-25AC-715E00A882B4}"/>
              </a:ext>
            </a:extLst>
          </p:cNvPr>
          <p:cNvSpPr txBox="1"/>
          <p:nvPr/>
        </p:nvSpPr>
        <p:spPr>
          <a:xfrm>
            <a:off x="715662" y="3928896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6BD7B8D-BA9C-0E7B-00F4-813A0EBA033F}"/>
              </a:ext>
            </a:extLst>
          </p:cNvPr>
          <p:cNvSpPr txBox="1"/>
          <p:nvPr/>
        </p:nvSpPr>
        <p:spPr>
          <a:xfrm>
            <a:off x="4722595" y="3928896"/>
            <a:ext cx="35282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text "Note: " will be added before the paragraph content, and it will appear in red and bold.</a:t>
            </a:r>
            <a:endParaRPr lang="en-GH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0AC2502-8778-7141-DC50-5F626248210A}"/>
              </a:ext>
            </a:extLst>
          </p:cNvPr>
          <p:cNvCxnSpPr/>
          <p:nvPr/>
        </p:nvCxnSpPr>
        <p:spPr>
          <a:xfrm>
            <a:off x="3817088" y="3806456"/>
            <a:ext cx="905507" cy="3508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BFA16588-FD18-4D1B-9AE3-254080E67C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2017" y="5292592"/>
            <a:ext cx="3229426" cy="533474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9B59B35-C49F-9B1E-F148-C64420B29021}"/>
              </a:ext>
            </a:extLst>
          </p:cNvPr>
          <p:cNvCxnSpPr/>
          <p:nvPr/>
        </p:nvCxnSpPr>
        <p:spPr>
          <a:xfrm>
            <a:off x="5975498" y="4852226"/>
            <a:ext cx="0" cy="368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1401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FD2F9-7E5B-4481-1ACF-145766DBC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::after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11E1B-D589-4852-9F0D-72F68BCC4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Inserts content after an element's content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0C706F-4579-AD51-C078-C602152FF6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5466" y="2374685"/>
            <a:ext cx="3391373" cy="428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F2478B-349A-48D3-A385-C16C658A3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466" y="3653508"/>
            <a:ext cx="3810532" cy="14861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7B82824-F814-4896-B5EB-8BC9924D2361}"/>
              </a:ext>
            </a:extLst>
          </p:cNvPr>
          <p:cNvSpPr txBox="1"/>
          <p:nvPr/>
        </p:nvSpPr>
        <p:spPr>
          <a:xfrm>
            <a:off x="877392" y="2434038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B31F1B-AACB-8CF0-85ED-091065749FCD}"/>
              </a:ext>
            </a:extLst>
          </p:cNvPr>
          <p:cNvSpPr txBox="1"/>
          <p:nvPr/>
        </p:nvSpPr>
        <p:spPr>
          <a:xfrm>
            <a:off x="1058554" y="3864283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789F02-D1D9-D2C5-3A88-01E617EFF30E}"/>
              </a:ext>
            </a:extLst>
          </p:cNvPr>
          <p:cNvSpPr txBox="1"/>
          <p:nvPr/>
        </p:nvSpPr>
        <p:spPr>
          <a:xfrm>
            <a:off x="5875879" y="3700703"/>
            <a:ext cx="30210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text " End of paragraph." will be added after the paragraph content and will appear in blue.</a:t>
            </a:r>
            <a:endParaRPr lang="en-GH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AB28E7A-A3C2-A36C-1FDF-9703BADD8A77}"/>
              </a:ext>
            </a:extLst>
          </p:cNvPr>
          <p:cNvCxnSpPr/>
          <p:nvPr/>
        </p:nvCxnSpPr>
        <p:spPr>
          <a:xfrm>
            <a:off x="5156791" y="3864283"/>
            <a:ext cx="7549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AD1B1B3-39BB-3CAC-FE90-E0B0998DEAD4}"/>
              </a:ext>
            </a:extLst>
          </p:cNvPr>
          <p:cNvCxnSpPr/>
          <p:nvPr/>
        </p:nvCxnSpPr>
        <p:spPr>
          <a:xfrm>
            <a:off x="6804837" y="4901032"/>
            <a:ext cx="0" cy="5641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" name="Picture 17">
            <a:extLst>
              <a:ext uri="{FF2B5EF4-FFF2-40B4-BE49-F238E27FC236}">
                <a16:creationId xmlns:a16="http://schemas.microsoft.com/office/drawing/2014/main" id="{9C13F0DA-697B-3B81-9D4E-09A188E0F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391" y="5582703"/>
            <a:ext cx="4363059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4802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E8058-2FC6-4915-328A-09B1A78DC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::first-line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1613C-4D2C-AAD6-2EFF-3F2222869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Applies styles to only the first line of text within an element</a:t>
            </a:r>
            <a:endParaRPr lang="en-IN" dirty="0"/>
          </a:p>
          <a:p>
            <a:r>
              <a:rPr lang="en-IN" dirty="0"/>
              <a:t>Example: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&lt;p&gt;</a:t>
            </a:r>
            <a:r>
              <a:rPr lang="en-US" dirty="0"/>
              <a:t>This is the first line of a long paragraph, </a:t>
            </a:r>
            <a:r>
              <a:rPr lang="en-US" b="1" dirty="0">
                <a:solidFill>
                  <a:srgbClr val="C00000"/>
                </a:solidFill>
              </a:rPr>
              <a:t>&lt;</a:t>
            </a:r>
            <a:r>
              <a:rPr lang="en-US" b="1" dirty="0" err="1">
                <a:solidFill>
                  <a:srgbClr val="C00000"/>
                </a:solidFill>
              </a:rPr>
              <a:t>br</a:t>
            </a:r>
            <a:r>
              <a:rPr lang="en-US" b="1" dirty="0">
                <a:solidFill>
                  <a:srgbClr val="C00000"/>
                </a:solidFill>
              </a:rPr>
              <a:t>&gt; </a:t>
            </a:r>
            <a:r>
              <a:rPr lang="en-US" dirty="0"/>
              <a:t>and it will style only the first line of text.</a:t>
            </a:r>
            <a:r>
              <a:rPr lang="en-US" b="1" dirty="0">
                <a:solidFill>
                  <a:srgbClr val="C00000"/>
                </a:solidFill>
              </a:rPr>
              <a:t>&lt;/p&gt;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A849B5-5387-45AB-A731-5483340110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808" y="4055642"/>
            <a:ext cx="2514951" cy="14003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8A133EF-FFF3-08DC-055E-31C9BD46B370}"/>
              </a:ext>
            </a:extLst>
          </p:cNvPr>
          <p:cNvSpPr txBox="1"/>
          <p:nvPr/>
        </p:nvSpPr>
        <p:spPr>
          <a:xfrm>
            <a:off x="4445678" y="4211621"/>
            <a:ext cx="35422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Only the first line of the paragraph will be styled with green, bold text</a:t>
            </a:r>
            <a:endParaRPr lang="en-GH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9CFDD5C-BDF6-A8B6-DDDC-7CDC4DFCB20A}"/>
              </a:ext>
            </a:extLst>
          </p:cNvPr>
          <p:cNvCxnSpPr/>
          <p:nvPr/>
        </p:nvCxnSpPr>
        <p:spPr>
          <a:xfrm>
            <a:off x="3444949" y="4359349"/>
            <a:ext cx="105262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B80F1F6-5F29-0207-5BF9-99E613199A2B}"/>
              </a:ext>
            </a:extLst>
          </p:cNvPr>
          <p:cNvSpPr txBox="1"/>
          <p:nvPr/>
        </p:nvSpPr>
        <p:spPr>
          <a:xfrm>
            <a:off x="632841" y="2380873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0643C4F-7D35-019E-8793-52A63C22D961}"/>
              </a:ext>
            </a:extLst>
          </p:cNvPr>
          <p:cNvSpPr txBox="1"/>
          <p:nvPr/>
        </p:nvSpPr>
        <p:spPr>
          <a:xfrm>
            <a:off x="632841" y="4170360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624B6F-6BDB-FFFC-49D0-72A00217E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4805" y="5626851"/>
            <a:ext cx="4143953" cy="638264"/>
          </a:xfrm>
          <a:prstGeom prst="rect">
            <a:avLst/>
          </a:prstGeom>
          <a:ln>
            <a:solidFill>
              <a:srgbClr val="FF0000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BAAD64-76E9-8B97-D502-A0268143AEAD}"/>
              </a:ext>
            </a:extLst>
          </p:cNvPr>
          <p:cNvCxnSpPr/>
          <p:nvPr/>
        </p:nvCxnSpPr>
        <p:spPr>
          <a:xfrm>
            <a:off x="5688419" y="4951766"/>
            <a:ext cx="0" cy="5719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52047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82905-683C-E156-D5F7-4CA1CC32F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::first-letter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673447-1C67-9DD7-8A70-43028CB59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Styles the first letter of the first line of text in a block-level element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586B54-3431-0DBD-1066-F022E3C70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3787" y="2377236"/>
            <a:ext cx="3305636" cy="38105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DE27E1-F0DB-2D24-DB11-EE25959972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3787" y="3152660"/>
            <a:ext cx="2276793" cy="14098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2D9E73C-2B92-5867-C20E-81CF6D8F401E}"/>
              </a:ext>
            </a:extLst>
          </p:cNvPr>
          <p:cNvSpPr txBox="1"/>
          <p:nvPr/>
        </p:nvSpPr>
        <p:spPr>
          <a:xfrm>
            <a:off x="739170" y="2380873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CA0DAA-E680-5D51-CF41-C57C66B248DF}"/>
              </a:ext>
            </a:extLst>
          </p:cNvPr>
          <p:cNvSpPr txBox="1"/>
          <p:nvPr/>
        </p:nvSpPr>
        <p:spPr>
          <a:xfrm>
            <a:off x="930556" y="3264184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6DEA40-268D-D8F1-7610-E91733446EF3}"/>
              </a:ext>
            </a:extLst>
          </p:cNvPr>
          <p:cNvSpPr txBox="1"/>
          <p:nvPr/>
        </p:nvSpPr>
        <p:spPr>
          <a:xfrm>
            <a:off x="4572000" y="3476554"/>
            <a:ext cx="3200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first letter of the paragraph will be larger and red.</a:t>
            </a:r>
            <a:endParaRPr lang="en-GH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71B93D0-2607-647D-54DE-FD10FE7A4824}"/>
              </a:ext>
            </a:extLst>
          </p:cNvPr>
          <p:cNvCxnSpPr>
            <a:endCxn id="13" idx="1"/>
          </p:cNvCxnSpPr>
          <p:nvPr/>
        </p:nvCxnSpPr>
        <p:spPr>
          <a:xfrm flipV="1">
            <a:off x="3551274" y="3799720"/>
            <a:ext cx="1020726" cy="578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A4BDD38-CF89-8A54-1ED0-6D757551A4B1}"/>
              </a:ext>
            </a:extLst>
          </p:cNvPr>
          <p:cNvCxnSpPr/>
          <p:nvPr/>
        </p:nvCxnSpPr>
        <p:spPr>
          <a:xfrm>
            <a:off x="5890437" y="4122885"/>
            <a:ext cx="0" cy="7182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5D9CE957-9964-021D-4501-299C311372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6137" y="4871168"/>
            <a:ext cx="2210108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0808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00408-7A0B-376F-9F92-9EF2F7BED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::selection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FCFB1-D07C-7BB4-6CDC-A5A2C9ED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Styles the part of an element that is selected by the user (e.g., highlighted text)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4DABA1-5A38-F60B-0578-6A05F4071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895" y="2757457"/>
            <a:ext cx="4906060" cy="428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17F109-A4A8-ADBF-3CDB-AD68F8504F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895" y="3871868"/>
            <a:ext cx="3181794" cy="141942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E511985-8836-F03C-40ED-7907AFCE1899}"/>
              </a:ext>
            </a:extLst>
          </p:cNvPr>
          <p:cNvSpPr txBox="1"/>
          <p:nvPr/>
        </p:nvSpPr>
        <p:spPr>
          <a:xfrm>
            <a:off x="4958598" y="4019958"/>
            <a:ext cx="34981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When the user selects or highlights any text on the page, it will have a yellow background with black text.</a:t>
            </a:r>
            <a:endParaRPr lang="en-GH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6A2789-D8DA-CCA6-F3A4-44FEC18FEDDA}"/>
              </a:ext>
            </a:extLst>
          </p:cNvPr>
          <p:cNvSpPr txBox="1"/>
          <p:nvPr/>
        </p:nvSpPr>
        <p:spPr>
          <a:xfrm>
            <a:off x="578211" y="2833979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DC1949-51AE-1B26-0817-1CE865E28156}"/>
              </a:ext>
            </a:extLst>
          </p:cNvPr>
          <p:cNvSpPr txBox="1"/>
          <p:nvPr/>
        </p:nvSpPr>
        <p:spPr>
          <a:xfrm>
            <a:off x="687290" y="4094652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5D9BE09-8EEC-CC27-82A8-67E76B618930}"/>
              </a:ext>
            </a:extLst>
          </p:cNvPr>
          <p:cNvCxnSpPr/>
          <p:nvPr/>
        </p:nvCxnSpPr>
        <p:spPr>
          <a:xfrm>
            <a:off x="4157330" y="4094652"/>
            <a:ext cx="801268" cy="190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8A42907-FD81-4A75-C3CC-7DE871D08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6270" y="5529419"/>
            <a:ext cx="2114845" cy="495369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615C72-0317-C45E-6D9E-70B657EEED16}"/>
              </a:ext>
            </a:extLst>
          </p:cNvPr>
          <p:cNvCxnSpPr>
            <a:endCxn id="15" idx="0"/>
          </p:cNvCxnSpPr>
          <p:nvPr/>
        </p:nvCxnSpPr>
        <p:spPr>
          <a:xfrm>
            <a:off x="6953692" y="4943288"/>
            <a:ext cx="1" cy="5861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0982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9CACA-3453-A8F0-19F6-D06E300CD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::marker (for list items)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BC6F5-A151-B93F-6F5F-54924651D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65" y="1386038"/>
            <a:ext cx="8681519" cy="4943141"/>
          </a:xfrm>
        </p:spPr>
        <p:txBody>
          <a:bodyPr/>
          <a:lstStyle/>
          <a:p>
            <a:r>
              <a:rPr lang="en-US" dirty="0"/>
              <a:t>Targets the markers (like bullets or numbers) of list items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89C995B-B0BB-7D3D-6332-A2FA626F6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282" y="2409607"/>
            <a:ext cx="2743583" cy="144800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8646AB-5B4C-989C-A08F-96C736469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282" y="4369393"/>
            <a:ext cx="2514951" cy="144800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8B6802D-6788-DC3C-D115-AB565A5BD2BC}"/>
              </a:ext>
            </a:extLst>
          </p:cNvPr>
          <p:cNvSpPr txBox="1"/>
          <p:nvPr/>
        </p:nvSpPr>
        <p:spPr>
          <a:xfrm>
            <a:off x="4906769" y="4770228"/>
            <a:ext cx="3526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bullets (or markers) for the list items will appear larger and red.</a:t>
            </a:r>
            <a:endParaRPr lang="en-GH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258E18C-0EBA-3A02-50E3-5CA902487294}"/>
              </a:ext>
            </a:extLst>
          </p:cNvPr>
          <p:cNvCxnSpPr/>
          <p:nvPr/>
        </p:nvCxnSpPr>
        <p:spPr>
          <a:xfrm>
            <a:off x="3934047" y="4720856"/>
            <a:ext cx="972722" cy="2445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129FDAB7-3701-4953-2B69-92EB512F24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918" y="5660973"/>
            <a:ext cx="1857634" cy="733527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EF80EC5-D4B2-323B-4EDA-6139930C8C4D}"/>
              </a:ext>
            </a:extLst>
          </p:cNvPr>
          <p:cNvCxnSpPr/>
          <p:nvPr/>
        </p:nvCxnSpPr>
        <p:spPr>
          <a:xfrm>
            <a:off x="5613991" y="5507665"/>
            <a:ext cx="372139" cy="3097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984BEAE-4A84-6A1F-4627-7C925E1E54F3}"/>
              </a:ext>
            </a:extLst>
          </p:cNvPr>
          <p:cNvSpPr txBox="1"/>
          <p:nvPr/>
        </p:nvSpPr>
        <p:spPr>
          <a:xfrm>
            <a:off x="914208" y="2674067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D7DBE3-4C8F-6C4F-6138-D02E220A4C0E}"/>
              </a:ext>
            </a:extLst>
          </p:cNvPr>
          <p:cNvSpPr txBox="1"/>
          <p:nvPr/>
        </p:nvSpPr>
        <p:spPr>
          <a:xfrm>
            <a:off x="1052746" y="4585562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42614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D9CAE-1648-70DE-908E-3FCEC2BCF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::placeholder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22514F-6BD5-4945-1320-44DA2E212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Applies styles to the placeholder text in form elements, like &lt;input&gt; and &lt;</a:t>
            </a:r>
            <a:r>
              <a:rPr lang="en-US" dirty="0" err="1"/>
              <a:t>textarea</a:t>
            </a:r>
            <a:r>
              <a:rPr lang="en-US" dirty="0"/>
              <a:t>&gt;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A304B2-481E-29FC-94A5-9E0D29E3E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1450" y="2683029"/>
            <a:ext cx="5715798" cy="4286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4657592-A2B0-369B-DAC6-43999829C9FC}"/>
              </a:ext>
            </a:extLst>
          </p:cNvPr>
          <p:cNvSpPr txBox="1"/>
          <p:nvPr/>
        </p:nvSpPr>
        <p:spPr>
          <a:xfrm>
            <a:off x="737706" y="2674488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A53392-993F-1DE1-5442-484EB6C7DF03}"/>
              </a:ext>
            </a:extLst>
          </p:cNvPr>
          <p:cNvSpPr txBox="1"/>
          <p:nvPr/>
        </p:nvSpPr>
        <p:spPr>
          <a:xfrm>
            <a:off x="846785" y="3935161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3FC7D3-FE88-CFD2-AFA2-53B7015CECAD}"/>
              </a:ext>
            </a:extLst>
          </p:cNvPr>
          <p:cNvSpPr txBox="1"/>
          <p:nvPr/>
        </p:nvSpPr>
        <p:spPr>
          <a:xfrm>
            <a:off x="4813961" y="3954733"/>
            <a:ext cx="34832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placeholder text will appear in gray and italicized.</a:t>
            </a:r>
            <a:endParaRPr lang="en-GH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4C79317-C5BF-B51A-1144-02621982D18B}"/>
              </a:ext>
            </a:extLst>
          </p:cNvPr>
          <p:cNvCxnSpPr/>
          <p:nvPr/>
        </p:nvCxnSpPr>
        <p:spPr>
          <a:xfrm>
            <a:off x="3987209" y="4119827"/>
            <a:ext cx="8121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BE7912CC-FE16-5E7F-1064-5A61C0ECE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4706" y="5279337"/>
            <a:ext cx="2543530" cy="590632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80DAA5F-8643-8619-5CFB-AD53453EF74D}"/>
              </a:ext>
            </a:extLst>
          </p:cNvPr>
          <p:cNvCxnSpPr/>
          <p:nvPr/>
        </p:nvCxnSpPr>
        <p:spPr>
          <a:xfrm>
            <a:off x="6134986" y="4731488"/>
            <a:ext cx="0" cy="5550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A3102C2F-DC99-73DD-6DE8-4289525A18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8577" y="3933116"/>
            <a:ext cx="2871460" cy="99534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467490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6521D-3882-EFDF-8587-F89B9B63A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5) Attribute Selectors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981F27-6121-2ED0-131D-82C6FAE6C0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 elements based on attributes or attribute values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rgbClr val="0070C0"/>
                </a:solidFill>
              </a:rPr>
              <a:t>[attribute]</a:t>
            </a:r>
            <a:r>
              <a:rPr lang="en-US" dirty="0"/>
              <a:t>: Selects elements with a specific attribute 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e.g., </a:t>
            </a:r>
            <a:r>
              <a:rPr lang="en-US" b="1" dirty="0">
                <a:solidFill>
                  <a:srgbClr val="C00000"/>
                </a:solidFill>
              </a:rPr>
              <a:t>[type]</a:t>
            </a:r>
            <a:r>
              <a:rPr lang="en-US" dirty="0"/>
              <a:t> selects elements with the type attribute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rgbClr val="0070C0"/>
                </a:solidFill>
              </a:rPr>
              <a:t>[attribute=value]</a:t>
            </a:r>
            <a:r>
              <a:rPr lang="en-US" dirty="0"/>
              <a:t>: Selects elements with a specific attribute value </a:t>
            </a:r>
          </a:p>
          <a:p>
            <a:pPr lvl="1">
              <a:buClr>
                <a:schemeClr val="tx1"/>
              </a:buClr>
            </a:pPr>
            <a:r>
              <a:rPr lang="en-US" dirty="0"/>
              <a:t>e.g., </a:t>
            </a:r>
            <a:r>
              <a:rPr lang="en-US" b="1" dirty="0">
                <a:solidFill>
                  <a:srgbClr val="C00000"/>
                </a:solidFill>
              </a:rPr>
              <a:t>[type=</a:t>
            </a:r>
            <a:r>
              <a:rPr lang="en-US" b="1" dirty="0">
                <a:solidFill>
                  <a:srgbClr val="2D8F5E"/>
                </a:solidFill>
              </a:rPr>
              <a:t>"text"</a:t>
            </a:r>
            <a:r>
              <a:rPr lang="en-US" b="1" dirty="0">
                <a:solidFill>
                  <a:srgbClr val="C00000"/>
                </a:solidFill>
              </a:rPr>
              <a:t>]</a:t>
            </a:r>
            <a:r>
              <a:rPr lang="en-US" dirty="0"/>
              <a:t> selects input elements of type </a:t>
            </a:r>
            <a:r>
              <a:rPr lang="en-US" b="1" dirty="0">
                <a:solidFill>
                  <a:srgbClr val="2D8F5E"/>
                </a:solidFill>
              </a:rPr>
              <a:t>text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accent1"/>
                </a:solidFill>
              </a:rPr>
              <a:t>[attribute^=value]</a:t>
            </a:r>
            <a:r>
              <a:rPr lang="en-US" dirty="0"/>
              <a:t>: Selects elements whose attribute value starts with a given value.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accent1"/>
                </a:solidFill>
              </a:rPr>
              <a:t>[attribute$=value]</a:t>
            </a:r>
            <a:r>
              <a:rPr lang="en-US" dirty="0"/>
              <a:t>: Selects elements whose attribute value ends with a given value.</a:t>
            </a:r>
          </a:p>
          <a:p>
            <a:pPr>
              <a:buClr>
                <a:schemeClr val="tx1"/>
              </a:buClr>
            </a:pPr>
            <a:r>
              <a:rPr lang="en-US" b="1" dirty="0">
                <a:solidFill>
                  <a:schemeClr val="accent1"/>
                </a:solidFill>
              </a:rPr>
              <a:t>[attribute*=value]</a:t>
            </a:r>
            <a:r>
              <a:rPr lang="en-US" dirty="0"/>
              <a:t>: Selects elements whose attribute value contains a given value.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9918851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56D1A-F1D9-FBBC-668E-78B749A56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[attribute]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7FC38-73F0-1236-E823-E38086256B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elements that have a specific attribute, regardless of its value.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8DDD48-DA65-41CE-D6E8-179C11631E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761" y="2752631"/>
            <a:ext cx="5734850" cy="67636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661745-5782-5864-5EB0-B0A967C588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8761" y="4015263"/>
            <a:ext cx="3038899" cy="11241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2C2D72C-D6CB-D7B8-32E8-F7D712CE81E8}"/>
              </a:ext>
            </a:extLst>
          </p:cNvPr>
          <p:cNvSpPr txBox="1"/>
          <p:nvPr/>
        </p:nvSpPr>
        <p:spPr>
          <a:xfrm>
            <a:off x="5157593" y="3700728"/>
            <a:ext cx="374530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rule selects all &lt;input&gt; elements that have a placeholder attribute. The first input will have a blue border, while the second input will not since it lacks the placeholder attribute.</a:t>
            </a:r>
            <a:endParaRPr lang="en-GH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A8826CA-3C17-BDD1-4BE8-AA15005AE497}"/>
              </a:ext>
            </a:extLst>
          </p:cNvPr>
          <p:cNvCxnSpPr/>
          <p:nvPr/>
        </p:nvCxnSpPr>
        <p:spPr>
          <a:xfrm flipV="1">
            <a:off x="4306186" y="4015263"/>
            <a:ext cx="851407" cy="28029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29D07680-2001-6236-82F0-E72614E338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1585" y="5718438"/>
            <a:ext cx="5344271" cy="571580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F40B7DE-AB61-5BA8-7DD1-C307EC82D6BA}"/>
              </a:ext>
            </a:extLst>
          </p:cNvPr>
          <p:cNvCxnSpPr>
            <a:endCxn id="13" idx="0"/>
          </p:cNvCxnSpPr>
          <p:nvPr/>
        </p:nvCxnSpPr>
        <p:spPr>
          <a:xfrm flipH="1">
            <a:off x="6113721" y="5178056"/>
            <a:ext cx="606056" cy="540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9C6837A-4272-966F-6F02-28C189F912BC}"/>
              </a:ext>
            </a:extLst>
          </p:cNvPr>
          <p:cNvSpPr txBox="1"/>
          <p:nvPr/>
        </p:nvSpPr>
        <p:spPr>
          <a:xfrm>
            <a:off x="748339" y="2770185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7C1AD9-3F5F-07AD-4B7C-7ACB71AD6A83}"/>
              </a:ext>
            </a:extLst>
          </p:cNvPr>
          <p:cNvSpPr txBox="1"/>
          <p:nvPr/>
        </p:nvSpPr>
        <p:spPr>
          <a:xfrm>
            <a:off x="857418" y="4030858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337741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A0A5B6-1D03-DEF7-E26F-D18493E91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[attribute=value]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74D4B9-48C9-83E6-890C-8FEF7BC20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elements where the attribute is exactly equal to a specific value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3E5147-AB4A-8FF9-4DAE-39D7836FBE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7219" y="2743104"/>
            <a:ext cx="5677692" cy="6858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50B905-8BD6-453D-7D98-07F4F1886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7219" y="4098448"/>
            <a:ext cx="2981741" cy="10002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0C4113C-CCD5-A252-00CE-483F35BF71F9}"/>
              </a:ext>
            </a:extLst>
          </p:cNvPr>
          <p:cNvSpPr txBox="1"/>
          <p:nvPr/>
        </p:nvSpPr>
        <p:spPr>
          <a:xfrm>
            <a:off x="599483" y="2764056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895391-14E8-1052-F177-E1D063FA3127}"/>
              </a:ext>
            </a:extLst>
          </p:cNvPr>
          <p:cNvSpPr txBox="1"/>
          <p:nvPr/>
        </p:nvSpPr>
        <p:spPr>
          <a:xfrm>
            <a:off x="708562" y="4024729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34436D-10F8-81BA-5080-EA84129D9C32}"/>
              </a:ext>
            </a:extLst>
          </p:cNvPr>
          <p:cNvSpPr txBox="1"/>
          <p:nvPr/>
        </p:nvSpPr>
        <p:spPr>
          <a:xfrm>
            <a:off x="5104460" y="3857609"/>
            <a:ext cx="333097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rule selects &lt;input&gt; elements whose type attribute is exactly "password". The second input will have a red border.</a:t>
            </a:r>
            <a:endParaRPr lang="en-GH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E3C36556-2ADC-6B1E-4DC0-E2467026DD19}"/>
              </a:ext>
            </a:extLst>
          </p:cNvPr>
          <p:cNvCxnSpPr/>
          <p:nvPr/>
        </p:nvCxnSpPr>
        <p:spPr>
          <a:xfrm flipV="1">
            <a:off x="4278960" y="4209395"/>
            <a:ext cx="825500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A6AA01C5-1C88-C13A-5778-109DDCBEE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3188" y="5704528"/>
            <a:ext cx="5258534" cy="609685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F854843-5603-42EA-BA46-A2522AE03C31}"/>
              </a:ext>
            </a:extLst>
          </p:cNvPr>
          <p:cNvCxnSpPr/>
          <p:nvPr/>
        </p:nvCxnSpPr>
        <p:spPr>
          <a:xfrm flipH="1">
            <a:off x="6613451" y="5056778"/>
            <a:ext cx="520996" cy="5572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255026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B4063-9328-CFDA-4326-4314B40C1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[attribute^=value]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00B44-3A26-5FBF-C4FF-84162363B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elements where the attribute value begins with a specific value.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6948EC-8106-E58D-3A26-37B9E2327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346" y="2665266"/>
            <a:ext cx="5887272" cy="10383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206E0C-FE1C-A81C-A53E-5F5E666616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346" y="4171001"/>
            <a:ext cx="2486372" cy="11145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54858D-BC4F-3ED8-49BA-FCA75562ADE6}"/>
              </a:ext>
            </a:extLst>
          </p:cNvPr>
          <p:cNvSpPr txBox="1"/>
          <p:nvPr/>
        </p:nvSpPr>
        <p:spPr>
          <a:xfrm>
            <a:off x="727078" y="2795955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778B97-1E79-D7B7-051E-EB632FF3E838}"/>
              </a:ext>
            </a:extLst>
          </p:cNvPr>
          <p:cNvSpPr txBox="1"/>
          <p:nvPr/>
        </p:nvSpPr>
        <p:spPr>
          <a:xfrm>
            <a:off x="878687" y="4205871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57B07D-D5BA-2DBB-6262-406ED6DB1E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8043" y="5819809"/>
            <a:ext cx="3648584" cy="4953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ECB68E7-AC9D-1C72-810C-821140ECA6D5}"/>
              </a:ext>
            </a:extLst>
          </p:cNvPr>
          <p:cNvSpPr txBox="1"/>
          <p:nvPr/>
        </p:nvSpPr>
        <p:spPr>
          <a:xfrm>
            <a:off x="4600843" y="4039243"/>
            <a:ext cx="38170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rule selects all &lt;a&gt; elements whose </a:t>
            </a:r>
            <a:r>
              <a:rPr lang="en-US" dirty="0" err="1"/>
              <a:t>href</a:t>
            </a:r>
            <a:r>
              <a:rPr lang="en-US" dirty="0"/>
              <a:t> attribute value starts with "https". The first link will be green, while the others will not be affected.</a:t>
            </a:r>
            <a:endParaRPr lang="en-GH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BB6EAE5-FCF4-3CBB-8B63-10D1A0FB79DD}"/>
              </a:ext>
            </a:extLst>
          </p:cNvPr>
          <p:cNvCxnSpPr/>
          <p:nvPr/>
        </p:nvCxnSpPr>
        <p:spPr>
          <a:xfrm flipV="1">
            <a:off x="3806456" y="4284921"/>
            <a:ext cx="774768" cy="2902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196CBE8-1B29-3AA4-5FA5-58D4BD19D9F1}"/>
              </a:ext>
            </a:extLst>
          </p:cNvPr>
          <p:cNvCxnSpPr/>
          <p:nvPr/>
        </p:nvCxnSpPr>
        <p:spPr>
          <a:xfrm flipH="1">
            <a:off x="5752214" y="5285582"/>
            <a:ext cx="329609" cy="534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406087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6FA6F-AB9E-B4FE-ACC8-A1A623990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[attribute$=value]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DAAE73-6CA1-9724-EA00-3EDD303B71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elements where the attribute value ends with a specific value.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99A1E3-332D-1712-7B5A-C7E49AC54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819" y="2626055"/>
            <a:ext cx="4610743" cy="10955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3C4251-56A7-D618-CDB7-B953A2631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220" y="4229358"/>
            <a:ext cx="3077004" cy="10574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563DE7C-B433-0839-74D7-AF860584709B}"/>
              </a:ext>
            </a:extLst>
          </p:cNvPr>
          <p:cNvSpPr txBox="1"/>
          <p:nvPr/>
        </p:nvSpPr>
        <p:spPr>
          <a:xfrm>
            <a:off x="727078" y="2795955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A51410-0EDE-1DAE-3F0F-32F9200E1577}"/>
              </a:ext>
            </a:extLst>
          </p:cNvPr>
          <p:cNvSpPr txBox="1"/>
          <p:nvPr/>
        </p:nvSpPr>
        <p:spPr>
          <a:xfrm>
            <a:off x="878687" y="4205871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546A991-A4DA-E743-1736-62A9B2C1FE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391" y="5783752"/>
            <a:ext cx="3543795" cy="47631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DF53F3-7729-9C02-3F71-3F3912E5E9F6}"/>
              </a:ext>
            </a:extLst>
          </p:cNvPr>
          <p:cNvSpPr txBox="1"/>
          <p:nvPr/>
        </p:nvSpPr>
        <p:spPr>
          <a:xfrm>
            <a:off x="5019835" y="4351850"/>
            <a:ext cx="39021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This rule selects &lt;</a:t>
            </a:r>
            <a:r>
              <a:rPr lang="en-US" dirty="0" err="1"/>
              <a:t>img</a:t>
            </a:r>
            <a:r>
              <a:rPr lang="en-US" dirty="0"/>
              <a:t>&gt; elements where the </a:t>
            </a:r>
            <a:r>
              <a:rPr lang="en-US" dirty="0" err="1"/>
              <a:t>src</a:t>
            </a:r>
            <a:r>
              <a:rPr lang="en-US" dirty="0"/>
              <a:t> attribute ends with .</a:t>
            </a:r>
            <a:r>
              <a:rPr lang="en-US" dirty="0" err="1"/>
              <a:t>png</a:t>
            </a:r>
            <a:r>
              <a:rPr lang="en-US" dirty="0"/>
              <a:t>. The second image will have a green border.</a:t>
            </a:r>
            <a:endParaRPr lang="en-GH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DFB0BB42-5D46-6246-B1F1-7AFCBE0AD10A}"/>
              </a:ext>
            </a:extLst>
          </p:cNvPr>
          <p:cNvCxnSpPr/>
          <p:nvPr/>
        </p:nvCxnSpPr>
        <p:spPr>
          <a:xfrm>
            <a:off x="4348716" y="4390537"/>
            <a:ext cx="659219" cy="1731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1E2926-6AEC-0939-5396-9E4150718F54}"/>
              </a:ext>
            </a:extLst>
          </p:cNvPr>
          <p:cNvCxnSpPr/>
          <p:nvPr/>
        </p:nvCxnSpPr>
        <p:spPr>
          <a:xfrm flipH="1">
            <a:off x="6303213" y="5386453"/>
            <a:ext cx="182647" cy="4043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8325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98614-B6E9-4AA9-EFEA-032C3326F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[attribute*=value]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2CA6D-1702-001F-56D5-C8548AC808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Selects elements where the attribute value contains a specific value anywhere</a:t>
            </a:r>
          </a:p>
          <a:p>
            <a:r>
              <a:rPr lang="en-US" dirty="0"/>
              <a:t>Example:</a:t>
            </a:r>
          </a:p>
          <a:p>
            <a:endParaRPr lang="en-GH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C494BA-5B19-C785-526D-D621F278C287}"/>
              </a:ext>
            </a:extLst>
          </p:cNvPr>
          <p:cNvSpPr txBox="1"/>
          <p:nvPr/>
        </p:nvSpPr>
        <p:spPr>
          <a:xfrm>
            <a:off x="620748" y="2572670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HTML</a:t>
            </a:r>
            <a:endParaRPr lang="en-GH" b="1" dirty="0">
              <a:solidFill>
                <a:srgbClr val="FF0000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F79FAA6-57FD-EA53-34E1-95EF17938B1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6217"/>
          <a:stretch/>
        </p:blipFill>
        <p:spPr>
          <a:xfrm>
            <a:off x="1428822" y="2562471"/>
            <a:ext cx="6944694" cy="1124609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B9A9444E-7DFC-4399-CA4A-B97479DA7E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8773" r="51666" b="32190"/>
          <a:stretch/>
        </p:blipFill>
        <p:spPr>
          <a:xfrm>
            <a:off x="1419599" y="3982413"/>
            <a:ext cx="3143178" cy="139825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F8B2862-C98D-7711-0A1B-FD321DB2B51E}"/>
              </a:ext>
            </a:extLst>
          </p:cNvPr>
          <p:cNvSpPr txBox="1"/>
          <p:nvPr/>
        </p:nvSpPr>
        <p:spPr>
          <a:xfrm>
            <a:off x="797021" y="3976669"/>
            <a:ext cx="8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CSS</a:t>
            </a:r>
            <a:endParaRPr lang="en-GH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C3035A0-141D-98E7-46D1-49981A950305}"/>
              </a:ext>
            </a:extLst>
          </p:cNvPr>
          <p:cNvSpPr txBox="1"/>
          <p:nvPr/>
        </p:nvSpPr>
        <p:spPr>
          <a:xfrm>
            <a:off x="5001550" y="3896927"/>
            <a:ext cx="334542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Selects paragraphs whose data-type attribute contains the word "important".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selected paragraphs will be bold and red.</a:t>
            </a:r>
            <a:endParaRPr lang="en-GH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F9AC7D7-2CFD-3674-5CBC-C02BBD987F5E}"/>
              </a:ext>
            </a:extLst>
          </p:cNvPr>
          <p:cNvCxnSpPr/>
          <p:nvPr/>
        </p:nvCxnSpPr>
        <p:spPr>
          <a:xfrm flipV="1">
            <a:off x="4544274" y="4253668"/>
            <a:ext cx="713790" cy="1846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715FB104-FDC5-1173-CF92-E859CBD422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992" y="5442885"/>
            <a:ext cx="2254543" cy="1106396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CF7B912-1CD5-3E3E-62FE-2ED3E13118D7}"/>
              </a:ext>
            </a:extLst>
          </p:cNvPr>
          <p:cNvCxnSpPr/>
          <p:nvPr/>
        </p:nvCxnSpPr>
        <p:spPr>
          <a:xfrm>
            <a:off x="5635256" y="5442885"/>
            <a:ext cx="775736" cy="3305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79690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2562A-C159-3946-CB92-BC6165E93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do CSS rules work?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AA133-9941-5933-D162-E90B8C49C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Cascading</a:t>
            </a:r>
            <a:r>
              <a:rPr lang="en-US" dirty="0"/>
              <a:t>: CSS rules follow a cascading system, where the order of the rules matters. Generally, the last defined rule takes precedence if two rules have the same </a:t>
            </a:r>
            <a:r>
              <a:rPr lang="en-US" b="1" dirty="0">
                <a:solidFill>
                  <a:srgbClr val="0070C0"/>
                </a:solidFill>
              </a:rPr>
              <a:t>specificity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Specificity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Tag selectors (e.g., &lt;p&gt;) have the lowest priority.</a:t>
            </a:r>
          </a:p>
          <a:p>
            <a:pPr lvl="1"/>
            <a:r>
              <a:rPr lang="en-US" dirty="0"/>
              <a:t>Class selectors (e.g., .example) have more priority.</a:t>
            </a:r>
          </a:p>
          <a:p>
            <a:pPr lvl="1"/>
            <a:r>
              <a:rPr lang="en-US" dirty="0"/>
              <a:t>ID selectors (e.g., #example) have the highest priority.</a:t>
            </a:r>
          </a:p>
          <a:p>
            <a:pPr marL="0" indent="0">
              <a:buNone/>
            </a:pPr>
            <a:r>
              <a:rPr lang="en-US" dirty="0"/>
              <a:t>    When rules conflict, specificity determines which rule is applied.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Inheritance</a:t>
            </a:r>
            <a:r>
              <a:rPr lang="en-US" dirty="0"/>
              <a:t>: Some CSS properties, like </a:t>
            </a:r>
            <a:r>
              <a:rPr lang="en-US" dirty="0" err="1"/>
              <a:t>colour</a:t>
            </a:r>
            <a:r>
              <a:rPr lang="en-US" dirty="0"/>
              <a:t> and font, are inherited by child elements from their parent element unless explicitly overridden.</a:t>
            </a: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14229547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D0815-9C1C-3A49-5B1E-E1BDCFF41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Cascading Order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D9B05-C9EA-8583-63BE-45056914D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style will be used when there is more than one style specified for an HTML element?</a:t>
            </a:r>
          </a:p>
          <a:p>
            <a:endParaRPr lang="en-US" dirty="0"/>
          </a:p>
          <a:p>
            <a:r>
              <a:rPr lang="en-US" dirty="0"/>
              <a:t>All the styles in a page will "cascade" into a new "virtual" style sheet by the following rules, where number one has the highest priority.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Inline style (inside an HTML element)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External and internal style sheets (in the head section)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Browser default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4236058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DC9DB-ED7A-B97B-DC2E-C292FACB6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 Style Sheets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1AEC2-FF24-62FF-0FE2-73FC2C3C8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some properties have been defined for the same selector (element) in different style sheets, the value from the last read style sheet will be used. </a:t>
            </a:r>
            <a:endParaRPr lang="en-G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06F1EBC-9C71-68B5-5B0D-956F4030E3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153" y="2960363"/>
            <a:ext cx="8215743" cy="26748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79E4D91-75EF-CB79-DC93-D05ED03A5028}"/>
              </a:ext>
            </a:extLst>
          </p:cNvPr>
          <p:cNvSpPr txBox="1"/>
          <p:nvPr/>
        </p:nvSpPr>
        <p:spPr>
          <a:xfrm>
            <a:off x="3550708" y="4297809"/>
            <a:ext cx="51951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0" i="0" dirty="0">
                <a:solidFill>
                  <a:srgbClr val="000000"/>
                </a:solidFill>
                <a:effectLst/>
              </a:rPr>
              <a:t>Here, the </a:t>
            </a:r>
            <a:r>
              <a:rPr lang="en-US" sz="2000" b="0" i="0" u="sng" dirty="0">
                <a:solidFill>
                  <a:srgbClr val="000000"/>
                </a:solidFill>
                <a:effectLst/>
              </a:rPr>
              <a:t>internal style 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is defined </a:t>
            </a:r>
            <a:r>
              <a:rPr lang="en-US" sz="2000" b="1" i="0" dirty="0">
                <a:solidFill>
                  <a:srgbClr val="000000"/>
                </a:solidFill>
                <a:effectLst/>
              </a:rPr>
              <a:t>after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 the link to the </a:t>
            </a:r>
            <a:r>
              <a:rPr lang="en-US" sz="2000" b="0" i="0" u="sng" dirty="0">
                <a:solidFill>
                  <a:srgbClr val="000000"/>
                </a:solidFill>
                <a:effectLst/>
              </a:rPr>
              <a:t>external style sheet</a:t>
            </a:r>
            <a:r>
              <a:rPr lang="en-US" sz="2000" b="0" i="0" dirty="0">
                <a:solidFill>
                  <a:srgbClr val="000000"/>
                </a:solidFill>
                <a:effectLst/>
              </a:rPr>
              <a:t>, so, the &lt;h1&gt; elements will be "orange"</a:t>
            </a:r>
            <a:endParaRPr lang="en-GH" sz="20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1594F8D-B89E-E96C-84B3-D58E991F132F}"/>
              </a:ext>
            </a:extLst>
          </p:cNvPr>
          <p:cNvCxnSpPr/>
          <p:nvPr/>
        </p:nvCxnSpPr>
        <p:spPr>
          <a:xfrm>
            <a:off x="1733107" y="3857609"/>
            <a:ext cx="3423684" cy="44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DCA39AC-7AAF-70A4-1655-54D8BFC751EF}"/>
              </a:ext>
            </a:extLst>
          </p:cNvPr>
          <p:cNvCxnSpPr>
            <a:cxnSpLocks/>
          </p:cNvCxnSpPr>
          <p:nvPr/>
        </p:nvCxnSpPr>
        <p:spPr>
          <a:xfrm flipH="1" flipV="1">
            <a:off x="3030279" y="3646967"/>
            <a:ext cx="1541721" cy="10156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002B46CD-EE85-9576-F330-232C56B18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2555" y="5442037"/>
            <a:ext cx="1706042" cy="887143"/>
          </a:xfrm>
          <a:prstGeom prst="rect">
            <a:avLst/>
          </a:prstGeom>
          <a:ln>
            <a:solidFill>
              <a:srgbClr val="002060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FD0DC70-7487-CDCF-087D-496ED4A3BF16}"/>
              </a:ext>
            </a:extLst>
          </p:cNvPr>
          <p:cNvSpPr txBox="1"/>
          <p:nvPr/>
        </p:nvSpPr>
        <p:spPr>
          <a:xfrm>
            <a:off x="7102265" y="5442037"/>
            <a:ext cx="13925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188C73"/>
                </a:solidFill>
              </a:rPr>
              <a:t>mystyle.css</a:t>
            </a:r>
            <a:endParaRPr lang="en-GH" b="1" dirty="0">
              <a:solidFill>
                <a:srgbClr val="188C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50615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B064F-2C1B-C89A-74CA-79B9F46A5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Comments in CSS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5FF7C-286A-14D8-8F08-7A07273B4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Comments are used to explain the code and may help when editing the source code later.</a:t>
            </a:r>
          </a:p>
          <a:p>
            <a:r>
              <a:rPr lang="en-US" dirty="0"/>
              <a:t>A CSS comment is placed inside the </a:t>
            </a:r>
            <a:r>
              <a:rPr lang="en-US" dirty="0">
                <a:solidFill>
                  <a:srgbClr val="C00000"/>
                </a:solidFill>
              </a:rPr>
              <a:t>&lt;style&gt; </a:t>
            </a:r>
            <a:r>
              <a:rPr lang="en-US" dirty="0"/>
              <a:t>element (internal or external) and starts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/*</a:t>
            </a:r>
            <a:r>
              <a:rPr lang="en-US" dirty="0"/>
              <a:t> and ends with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*/</a:t>
            </a:r>
          </a:p>
          <a:p>
            <a:r>
              <a:rPr lang="en-US" dirty="0"/>
              <a:t>Examples:</a:t>
            </a:r>
          </a:p>
          <a:p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F465B4-553F-0FC5-0E57-2355E3166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518" y="3527609"/>
            <a:ext cx="3824101" cy="11923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4F6F96-3E76-0828-FA4E-FF1B45FF6E50}"/>
              </a:ext>
            </a:extLst>
          </p:cNvPr>
          <p:cNvSpPr txBox="1"/>
          <p:nvPr/>
        </p:nvSpPr>
        <p:spPr>
          <a:xfrm>
            <a:off x="441453" y="4985959"/>
            <a:ext cx="57466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 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color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red</a:t>
            </a: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 </a:t>
            </a:r>
            <a:r>
              <a:rPr lang="en-US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 inside the declaration block*/</a:t>
            </a:r>
            <a:br>
              <a:rPr lang="en-US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H" sz="1600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2441BF9-E21B-A667-DFB4-8BD607D33E09}"/>
              </a:ext>
            </a:extLst>
          </p:cNvPr>
          <p:cNvCxnSpPr>
            <a:cxnSpLocks/>
          </p:cNvCxnSpPr>
          <p:nvPr/>
        </p:nvCxnSpPr>
        <p:spPr>
          <a:xfrm>
            <a:off x="526517" y="4890977"/>
            <a:ext cx="3824102" cy="0"/>
          </a:xfrm>
          <a:prstGeom prst="line">
            <a:avLst/>
          </a:prstGeom>
          <a:ln w="222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AC00DFF-33C4-A56A-9428-64EF4A0DDB07}"/>
              </a:ext>
            </a:extLst>
          </p:cNvPr>
          <p:cNvSpPr txBox="1"/>
          <p:nvPr/>
        </p:nvSpPr>
        <p:spPr>
          <a:xfrm>
            <a:off x="4350619" y="3393802"/>
            <a:ext cx="4572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p 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IN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i="0" dirty="0" err="1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IN" sz="1600" b="0" i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/*middle of code line*/ </a:t>
            </a:r>
            <a:r>
              <a:rPr lang="en-IN" sz="1600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blue</a:t>
            </a: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IN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</a:t>
            </a:r>
            <a:br>
              <a:rPr lang="en-IN" sz="1600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IN" sz="16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H" sz="1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7CA470D-797F-6FBF-FCC7-79892FD51363}"/>
              </a:ext>
            </a:extLst>
          </p:cNvPr>
          <p:cNvCxnSpPr/>
          <p:nvPr/>
        </p:nvCxnSpPr>
        <p:spPr>
          <a:xfrm>
            <a:off x="4350619" y="3429000"/>
            <a:ext cx="0" cy="1461977"/>
          </a:xfrm>
          <a:prstGeom prst="line">
            <a:avLst/>
          </a:prstGeom>
          <a:ln w="222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CFE82D0-DABA-C31D-CB99-8230EA8E6396}"/>
              </a:ext>
            </a:extLst>
          </p:cNvPr>
          <p:cNvCxnSpPr>
            <a:cxnSpLocks/>
          </p:cNvCxnSpPr>
          <p:nvPr/>
        </p:nvCxnSpPr>
        <p:spPr>
          <a:xfrm>
            <a:off x="4350619" y="4890977"/>
            <a:ext cx="2369158" cy="0"/>
          </a:xfrm>
          <a:prstGeom prst="line">
            <a:avLst/>
          </a:prstGeom>
          <a:ln w="222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03DD603-2D80-033D-9285-8561A1FEBA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822" y="4224799"/>
            <a:ext cx="1805726" cy="2080989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0C8B68C-CEFA-3608-4D1C-36364F4AB314}"/>
              </a:ext>
            </a:extLst>
          </p:cNvPr>
          <p:cNvCxnSpPr/>
          <p:nvPr/>
        </p:nvCxnSpPr>
        <p:spPr>
          <a:xfrm>
            <a:off x="6735856" y="4159988"/>
            <a:ext cx="0" cy="1461977"/>
          </a:xfrm>
          <a:prstGeom prst="line">
            <a:avLst/>
          </a:prstGeom>
          <a:ln w="222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7276818-077D-C5B9-F49B-7AE3FC6C4B56}"/>
              </a:ext>
            </a:extLst>
          </p:cNvPr>
          <p:cNvCxnSpPr>
            <a:cxnSpLocks/>
          </p:cNvCxnSpPr>
          <p:nvPr/>
        </p:nvCxnSpPr>
        <p:spPr>
          <a:xfrm>
            <a:off x="6728169" y="4170621"/>
            <a:ext cx="1884525" cy="0"/>
          </a:xfrm>
          <a:prstGeom prst="line">
            <a:avLst/>
          </a:prstGeom>
          <a:ln w="2222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537569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4D45-C9FC-A17F-23A8-AEC45EDF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</a:t>
            </a:r>
            <a:r>
              <a:rPr lang="en-IN" dirty="0" err="1"/>
              <a:t>Colors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AE6B9-9069-F769-91C5-C1980D2CA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Colors are specified using </a:t>
            </a:r>
            <a:r>
              <a:rPr lang="en-US" b="1" dirty="0"/>
              <a:t>predefined color names</a:t>
            </a:r>
            <a:r>
              <a:rPr lang="en-US" dirty="0"/>
              <a:t>, or </a:t>
            </a:r>
            <a:r>
              <a:rPr lang="en-US" b="1" dirty="0"/>
              <a:t>RGB</a:t>
            </a:r>
            <a:r>
              <a:rPr lang="en-US" dirty="0"/>
              <a:t>, </a:t>
            </a:r>
            <a:r>
              <a:rPr lang="en-US" b="1" dirty="0"/>
              <a:t>HEX</a:t>
            </a:r>
            <a:r>
              <a:rPr lang="en-US" dirty="0"/>
              <a:t>, </a:t>
            </a:r>
            <a:r>
              <a:rPr lang="en-US" b="1" dirty="0" err="1"/>
              <a:t>HSL</a:t>
            </a:r>
            <a:r>
              <a:rPr lang="en-US" dirty="0"/>
              <a:t>, </a:t>
            </a:r>
            <a:r>
              <a:rPr lang="en-US" b="1" dirty="0" err="1"/>
              <a:t>RGBA</a:t>
            </a:r>
            <a:r>
              <a:rPr lang="en-US" dirty="0"/>
              <a:t>, </a:t>
            </a:r>
            <a:r>
              <a:rPr lang="en-US" b="1" dirty="0" err="1"/>
              <a:t>HSLA</a:t>
            </a:r>
            <a:r>
              <a:rPr lang="en-US" dirty="0"/>
              <a:t> values.</a:t>
            </a:r>
          </a:p>
          <a:p>
            <a:endParaRPr lang="en-US" dirty="0"/>
          </a:p>
          <a:p>
            <a:r>
              <a:rPr lang="en-US" u="sng" dirty="0"/>
              <a:t>Example</a:t>
            </a:r>
            <a:r>
              <a:rPr lang="en-US" dirty="0"/>
              <a:t> predefined color names: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2A9F10-55C2-CAA0-06BC-D01D55EB2E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12" r="5058"/>
          <a:stretch/>
        </p:blipFill>
        <p:spPr>
          <a:xfrm>
            <a:off x="595423" y="3121051"/>
            <a:ext cx="8086096" cy="144525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99C7F0-B9A3-0A1E-7AE3-388C7EDFD1E7}"/>
              </a:ext>
            </a:extLst>
          </p:cNvPr>
          <p:cNvSpPr txBox="1"/>
          <p:nvPr/>
        </p:nvSpPr>
        <p:spPr>
          <a:xfrm>
            <a:off x="276439" y="4870832"/>
            <a:ext cx="65283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00000"/>
                </a:solidFill>
                <a:effectLst/>
              </a:rPr>
              <a:t>CSS/HTML support </a:t>
            </a:r>
            <a:r>
              <a:rPr lang="en-US" sz="2400" b="0" i="0" dirty="0">
                <a:solidFill>
                  <a:srgbClr val="059862"/>
                </a:solidFill>
                <a:effectLst/>
                <a:hlinkClick r:id="rId3"/>
              </a:rPr>
              <a:t>140 standard color names</a:t>
            </a:r>
            <a:r>
              <a:rPr lang="en-US" sz="2400" b="0" i="0" dirty="0">
                <a:solidFill>
                  <a:srgbClr val="000000"/>
                </a:solidFill>
                <a:effectLst/>
              </a:rPr>
              <a:t>.</a:t>
            </a:r>
            <a:endParaRPr lang="en-GH" sz="2400" dirty="0"/>
          </a:p>
        </p:txBody>
      </p:sp>
    </p:spTree>
    <p:extLst>
      <p:ext uri="{BB962C8B-B14F-4D97-AF65-F5344CB8AC3E}">
        <p14:creationId xmlns:p14="http://schemas.microsoft.com/office/powerpoint/2010/main" val="352597619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94D45-C9FC-A17F-23A8-AEC45EDFF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</a:t>
            </a:r>
            <a:r>
              <a:rPr lang="en-IN" dirty="0" err="1"/>
              <a:t>Colors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AE6B9-9069-F769-91C5-C1980D2CAC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u="sng" dirty="0"/>
              <a:t>Examples</a:t>
            </a:r>
            <a:r>
              <a:rPr lang="en-IN" dirty="0"/>
              <a:t>: Setting background, text, and border </a:t>
            </a:r>
            <a:r>
              <a:rPr lang="en-IN" dirty="0" err="1"/>
              <a:t>colors</a:t>
            </a:r>
            <a:r>
              <a:rPr lang="en-IN" dirty="0"/>
              <a:t>.</a:t>
            </a:r>
            <a:endParaRPr lang="en-G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878635-6CBE-B6CF-6324-04DDCCB40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743" y="2018721"/>
            <a:ext cx="7301288" cy="735112"/>
          </a:xfrm>
          <a:prstGeom prst="rect">
            <a:avLst/>
          </a:prstGeom>
          <a:ln>
            <a:solidFill>
              <a:srgbClr val="002060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1FA3EA3-B396-384D-617A-ABB639CC05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706" y="3009932"/>
            <a:ext cx="6692585" cy="881583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9260E9-78A7-EE77-F607-BAA48E8924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516" y="4147614"/>
            <a:ext cx="7371742" cy="1033304"/>
          </a:xfrm>
          <a:prstGeom prst="rect">
            <a:avLst/>
          </a:prstGeom>
          <a:ln>
            <a:solidFill>
              <a:srgbClr val="00B050"/>
            </a:solidFill>
          </a:ln>
        </p:spPr>
      </p:pic>
    </p:spTree>
    <p:extLst>
      <p:ext uri="{BB962C8B-B14F-4D97-AF65-F5344CB8AC3E}">
        <p14:creationId xmlns:p14="http://schemas.microsoft.com/office/powerpoint/2010/main" val="267364864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3A3BC-4ED4-6987-D00E-38C430B4E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CSS </a:t>
            </a:r>
            <a:r>
              <a:rPr lang="en-IN" dirty="0" err="1"/>
              <a:t>Colors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3DC9FD-8F76-885B-DEFF-D262DFC83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Colors can also be specified using </a:t>
            </a:r>
            <a:r>
              <a:rPr lang="en-US" b="1" dirty="0"/>
              <a:t>RGB</a:t>
            </a:r>
            <a:r>
              <a:rPr lang="en-US" dirty="0"/>
              <a:t> values, </a:t>
            </a:r>
            <a:r>
              <a:rPr lang="en-US" b="1" dirty="0"/>
              <a:t>HEX </a:t>
            </a:r>
            <a:r>
              <a:rPr lang="en-US" dirty="0"/>
              <a:t>values, </a:t>
            </a:r>
            <a:r>
              <a:rPr lang="en-US" b="1" dirty="0" err="1"/>
              <a:t>HSL</a:t>
            </a:r>
            <a:r>
              <a:rPr lang="en-US" dirty="0"/>
              <a:t> values, </a:t>
            </a:r>
            <a:r>
              <a:rPr lang="en-US" b="1" dirty="0" err="1"/>
              <a:t>RGBA</a:t>
            </a:r>
            <a:r>
              <a:rPr lang="en-US" dirty="0"/>
              <a:t> values, and </a:t>
            </a:r>
            <a:r>
              <a:rPr lang="en-US" b="1" dirty="0" err="1"/>
              <a:t>HSLA</a:t>
            </a:r>
            <a:r>
              <a:rPr lang="en-US" dirty="0"/>
              <a:t> values.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IN" b="1" dirty="0">
                <a:solidFill>
                  <a:srgbClr val="FF0000"/>
                </a:solidFill>
              </a:rPr>
              <a:t>RGB</a:t>
            </a:r>
            <a:r>
              <a:rPr lang="en-IN" dirty="0"/>
              <a:t>: Red, Green, Blue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IN" dirty="0"/>
              <a:t>Example: </a:t>
            </a:r>
            <a:r>
              <a:rPr lang="en-IN" b="1" dirty="0" err="1">
                <a:solidFill>
                  <a:srgbClr val="0070C0"/>
                </a:solidFill>
              </a:rPr>
              <a:t>rgb</a:t>
            </a:r>
            <a:r>
              <a:rPr lang="en-IN" b="1" dirty="0">
                <a:solidFill>
                  <a:srgbClr val="0070C0"/>
                </a:solidFill>
              </a:rPr>
              <a:t>(255, 0, 0)</a:t>
            </a:r>
            <a:r>
              <a:rPr lang="en-IN" dirty="0">
                <a:solidFill>
                  <a:srgbClr val="0070C0"/>
                </a:solidFill>
              </a:rPr>
              <a:t> </a:t>
            </a:r>
            <a:r>
              <a:rPr lang="en-IN" dirty="0"/>
              <a:t>represents red.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IN" b="1" dirty="0">
                <a:solidFill>
                  <a:srgbClr val="FF0000"/>
                </a:solidFill>
              </a:rPr>
              <a:t>HEX</a:t>
            </a:r>
            <a:r>
              <a:rPr lang="en-IN" dirty="0"/>
              <a:t>: Hexadecimal (base 16) representation of RGB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IN" dirty="0"/>
              <a:t>Example: </a:t>
            </a:r>
            <a:r>
              <a:rPr lang="en-IN" b="1" dirty="0">
                <a:solidFill>
                  <a:srgbClr val="0070C0"/>
                </a:solidFill>
              </a:rPr>
              <a:t>#FF0000</a:t>
            </a:r>
            <a:r>
              <a:rPr lang="en-IN" dirty="0"/>
              <a:t> represents red.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IN" b="1" dirty="0" err="1">
                <a:solidFill>
                  <a:srgbClr val="FF0000"/>
                </a:solidFill>
              </a:rPr>
              <a:t>HSL</a:t>
            </a:r>
            <a:r>
              <a:rPr lang="en-IN" dirty="0"/>
              <a:t>: Hue, Saturation, Lightness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IN" dirty="0"/>
              <a:t>Example: </a:t>
            </a:r>
            <a:r>
              <a:rPr lang="en-IN" b="1" dirty="0" err="1">
                <a:solidFill>
                  <a:srgbClr val="0070C0"/>
                </a:solidFill>
              </a:rPr>
              <a:t>hsl</a:t>
            </a:r>
            <a:r>
              <a:rPr lang="en-IN" b="1" dirty="0">
                <a:solidFill>
                  <a:srgbClr val="0070C0"/>
                </a:solidFill>
              </a:rPr>
              <a:t>(0, 100%, 50%) </a:t>
            </a:r>
            <a:r>
              <a:rPr lang="en-IN" dirty="0"/>
              <a:t>represents red.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IN" b="1" dirty="0" err="1">
                <a:solidFill>
                  <a:srgbClr val="FF0000"/>
                </a:solidFill>
              </a:rPr>
              <a:t>RGBA</a:t>
            </a:r>
            <a:r>
              <a:rPr lang="en-IN" dirty="0"/>
              <a:t>: Red, Green, Blue, Alpha (where Alpha defines the opacity)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IN" dirty="0"/>
              <a:t>Example: </a:t>
            </a:r>
            <a:r>
              <a:rPr lang="en-IN" b="1" dirty="0" err="1">
                <a:solidFill>
                  <a:srgbClr val="0070C0"/>
                </a:solidFill>
              </a:rPr>
              <a:t>rgba</a:t>
            </a:r>
            <a:r>
              <a:rPr lang="en-IN" b="1" dirty="0">
                <a:solidFill>
                  <a:srgbClr val="0070C0"/>
                </a:solidFill>
              </a:rPr>
              <a:t>(255, 0, 0, 0.5)</a:t>
            </a:r>
            <a:r>
              <a:rPr lang="en-IN" dirty="0"/>
              <a:t> represents red with 50% opacity.</a:t>
            </a:r>
          </a:p>
          <a:p>
            <a:pPr marL="457200" indent="-457200">
              <a:buClr>
                <a:schemeClr val="tx1"/>
              </a:buClr>
              <a:buFont typeface="+mj-lt"/>
              <a:buAutoNum type="arabicPeriod"/>
            </a:pPr>
            <a:r>
              <a:rPr lang="en-IN" b="1" dirty="0" err="1">
                <a:solidFill>
                  <a:srgbClr val="FF0000"/>
                </a:solidFill>
              </a:rPr>
              <a:t>HSLA</a:t>
            </a:r>
            <a:r>
              <a:rPr lang="en-IN" dirty="0"/>
              <a:t>: Hue, Saturation, Lightness, Alpha (where Alpha defines the opacity)</a:t>
            </a:r>
          </a:p>
          <a:p>
            <a:pPr marL="457200" lvl="1" indent="0">
              <a:buClr>
                <a:schemeClr val="tx1"/>
              </a:buClr>
              <a:buNone/>
            </a:pPr>
            <a:r>
              <a:rPr lang="en-IN" dirty="0"/>
              <a:t>Example: </a:t>
            </a:r>
            <a:r>
              <a:rPr lang="en-IN" dirty="0" err="1"/>
              <a:t>hsla</a:t>
            </a:r>
            <a:r>
              <a:rPr lang="en-IN" dirty="0"/>
              <a:t>(0, 100%, 50%, 0.5) represents red with 50% opacity.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182307604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08097-A175-9BF6-E01D-5396F5EA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465" y="129540"/>
            <a:ext cx="8681519" cy="1162685"/>
          </a:xfrm>
        </p:spPr>
        <p:txBody>
          <a:bodyPr anchor="t">
            <a:normAutofit/>
          </a:bodyPr>
          <a:lstStyle/>
          <a:p>
            <a:r>
              <a:rPr lang="en-IN" dirty="0"/>
              <a:t>CSS </a:t>
            </a:r>
            <a:r>
              <a:rPr lang="en-IN" dirty="0" err="1"/>
              <a:t>Colors</a:t>
            </a:r>
            <a:r>
              <a:rPr lang="en-IN" dirty="0"/>
              <a:t>: Example</a:t>
            </a:r>
            <a:endParaRPr lang="en-GH" dirty="0"/>
          </a:p>
        </p:txBody>
      </p:sp>
      <p:pic>
        <p:nvPicPr>
          <p:cNvPr id="5" name="Content Placeholder 4" descr="A computer code with numbers and letters&#10;&#10;Description automatically generated">
            <a:extLst>
              <a:ext uri="{FF2B5EF4-FFF2-40B4-BE49-F238E27FC236}">
                <a16:creationId xmlns:a16="http://schemas.microsoft.com/office/drawing/2014/main" id="{8C489A53-FFB7-1B1F-EAF4-BEEAE03C29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465" y="1882564"/>
            <a:ext cx="8681519" cy="3950091"/>
          </a:xfrm>
          <a:noFill/>
        </p:spPr>
      </p:pic>
    </p:spTree>
    <p:extLst>
      <p:ext uri="{BB962C8B-B14F-4D97-AF65-F5344CB8AC3E}">
        <p14:creationId xmlns:p14="http://schemas.microsoft.com/office/powerpoint/2010/main" val="17474856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13341-B333-86C9-0D49-8C441054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Background Styles</a:t>
            </a:r>
            <a:endParaRPr lang="en-GH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0ACE44-760B-82D2-27E6-0C8901508A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1076" y="1410205"/>
            <a:ext cx="7321847" cy="3256030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1A63D65-C3D5-62F6-2CD4-7841D5D09643}"/>
              </a:ext>
            </a:extLst>
          </p:cNvPr>
          <p:cNvSpPr txBox="1"/>
          <p:nvPr/>
        </p:nvSpPr>
        <p:spPr>
          <a:xfrm>
            <a:off x="1743740" y="4958689"/>
            <a:ext cx="66785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Can define multiple background-related properties in one line. </a:t>
            </a:r>
          </a:p>
          <a:p>
            <a:r>
              <a:rPr lang="en-US" sz="2000" dirty="0"/>
              <a:t>It allows you to specify background color, image, position, size, repeat, attachment, and origin</a:t>
            </a:r>
            <a:endParaRPr lang="en-GH" sz="2000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94B3491-2E6B-6C0D-6108-40823C6A0663}"/>
              </a:ext>
            </a:extLst>
          </p:cNvPr>
          <p:cNvCxnSpPr/>
          <p:nvPr/>
        </p:nvCxnSpPr>
        <p:spPr>
          <a:xfrm flipH="1">
            <a:off x="5241851" y="4338080"/>
            <a:ext cx="287079" cy="6206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A8EDF5C-DE38-0CDD-7467-6CA1137F8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76" y="6196990"/>
            <a:ext cx="7887801" cy="3143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15DC972-C43A-E3C6-3DAC-B74526EA1F3C}"/>
              </a:ext>
            </a:extLst>
          </p:cNvPr>
          <p:cNvSpPr txBox="1"/>
          <p:nvPr/>
        </p:nvSpPr>
        <p:spPr>
          <a:xfrm>
            <a:off x="776178" y="5889288"/>
            <a:ext cx="1860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Example:</a:t>
            </a:r>
            <a:endParaRPr lang="en-GH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004271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098D4-9D54-046C-1408-59E2A8A9F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Background Styles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AE341-C5BD-1B3E-17AB-CF7D8BAE65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100" y="1386039"/>
            <a:ext cx="8775309" cy="4943141"/>
          </a:xfrm>
        </p:spPr>
        <p:txBody>
          <a:bodyPr/>
          <a:lstStyle/>
          <a:p>
            <a:pPr marL="0" indent="0">
              <a:buNone/>
            </a:pPr>
            <a:r>
              <a:rPr lang="en-US" b="1" i="0" dirty="0">
                <a:effectLst/>
              </a:rPr>
              <a:t>Individual property setting</a:t>
            </a:r>
            <a:r>
              <a:rPr lang="en-US" b="1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background-color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#ffffff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background-image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("img_tree.png")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background-repeat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no-repeat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background-position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right top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1" i="0" dirty="0">
                <a:solidFill>
                  <a:srgbClr val="000000"/>
                </a:solidFill>
                <a:effectLst/>
              </a:rPr>
              <a:t>Using shorthand: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body 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  background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 #ffffff </a:t>
            </a:r>
            <a:r>
              <a:rPr lang="en-US" b="0" i="0" dirty="0" err="1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("img_tree.png") no-repeat 							right top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66882644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D7469-0909-6FC6-9F49-AF7680D48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Border Styles</a:t>
            </a:r>
            <a:endParaRPr lang="en-G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0B17CD-611D-D053-3F13-F87270D63F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1100" y="1386039"/>
            <a:ext cx="8680884" cy="489364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</a:pP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Use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border-style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property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with the following a</a:t>
            </a:r>
            <a:r>
              <a:rPr kumimoji="0" lang="en-GH" altLang="en-GH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llowed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values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</a:t>
            </a:r>
            <a:endParaRPr kumimoji="0" lang="en-IN" altLang="en-GH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</a:pPr>
            <a:endParaRPr kumimoji="0" lang="en-GH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dotted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- </a:t>
            </a:r>
            <a:r>
              <a:rPr lang="en-IN" altLang="en-GH" dirty="0">
                <a:solidFill>
                  <a:srgbClr val="000000"/>
                </a:solidFill>
                <a:latin typeface="+mn-lt"/>
              </a:rPr>
              <a:t>D</a:t>
            </a:r>
            <a:r>
              <a:rPr kumimoji="0" lang="en-GH" altLang="en-GH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otted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border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dashed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- </a:t>
            </a:r>
            <a:r>
              <a:rPr lang="en-IN" altLang="en-GH" dirty="0">
                <a:solidFill>
                  <a:srgbClr val="000000"/>
                </a:solidFill>
                <a:latin typeface="+mn-lt"/>
              </a:rPr>
              <a:t>D</a:t>
            </a:r>
            <a:r>
              <a:rPr kumimoji="0" lang="en-GH" altLang="en-GH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ashed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border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solid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- </a:t>
            </a:r>
            <a:r>
              <a:rPr lang="en-IN" altLang="en-GH" dirty="0">
                <a:solidFill>
                  <a:srgbClr val="000000"/>
                </a:solidFill>
                <a:latin typeface="+mn-lt"/>
              </a:rPr>
              <a:t>S</a:t>
            </a:r>
            <a:r>
              <a:rPr kumimoji="0" lang="en-GH" altLang="en-GH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olid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border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double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-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lang="en-IN" altLang="en-GH" dirty="0">
                <a:solidFill>
                  <a:srgbClr val="000000"/>
                </a:solidFill>
                <a:latin typeface="+mn-lt"/>
              </a:rPr>
              <a:t>D</a:t>
            </a:r>
            <a:r>
              <a:rPr kumimoji="0" lang="en-GH" altLang="en-GH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ouble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border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groove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- 3D grooved border. </a:t>
            </a:r>
            <a:r>
              <a:rPr lang="en-IN" altLang="en-GH" dirty="0">
                <a:solidFill>
                  <a:srgbClr val="000000"/>
                </a:solidFill>
                <a:latin typeface="+mn-lt"/>
              </a:rPr>
              <a:t>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ffect depends on border-</a:t>
            </a:r>
            <a:r>
              <a:rPr kumimoji="0" lang="en-GH" altLang="en-GH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color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ridge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- 3D ridged border. </a:t>
            </a:r>
            <a:r>
              <a:rPr lang="en-IN" altLang="en-GH" dirty="0">
                <a:solidFill>
                  <a:srgbClr val="000000"/>
                </a:solidFill>
                <a:latin typeface="+mn-lt"/>
              </a:rPr>
              <a:t>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ffect depends on border-</a:t>
            </a:r>
            <a:r>
              <a:rPr kumimoji="0" lang="en-GH" altLang="en-GH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color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inset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- 3D inset border. 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ffect depends on the border-</a:t>
            </a:r>
            <a:r>
              <a:rPr kumimoji="0" lang="en-GH" altLang="en-GH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color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outset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- 3D outset border. 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ffect depends on the border-</a:t>
            </a:r>
            <a:r>
              <a:rPr kumimoji="0" lang="en-GH" altLang="en-GH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color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value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none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	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- 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N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o border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hidden</a:t>
            </a:r>
            <a:r>
              <a:rPr lang="en-IN" altLang="en-GH" dirty="0">
                <a:solidFill>
                  <a:srgbClr val="000000"/>
                </a:solidFill>
                <a:latin typeface="+mn-lt"/>
              </a:rPr>
              <a:t>	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- </a:t>
            </a:r>
            <a:r>
              <a:rPr lang="en-IN" altLang="en-GH" dirty="0">
                <a:solidFill>
                  <a:srgbClr val="000000"/>
                </a:solidFill>
                <a:latin typeface="+mn-lt"/>
              </a:rPr>
              <a:t>H</a:t>
            </a:r>
            <a:r>
              <a:rPr kumimoji="0" lang="en-GH" altLang="en-GH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idden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border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H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8596220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8BEB3-D699-6BC6-7659-F738B34C3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Other border properties 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0F212-2B53-D941-8FB5-81D29C4242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0" i="0" dirty="0">
                <a:solidFill>
                  <a:srgbClr val="DC143C"/>
                </a:solidFill>
                <a:effectLst/>
              </a:rPr>
              <a:t>border-width: </a:t>
            </a:r>
            <a:r>
              <a:rPr lang="en-IN" b="0" i="0" dirty="0">
                <a:effectLst/>
              </a:rPr>
              <a:t>units - </a:t>
            </a:r>
            <a:r>
              <a:rPr lang="en-IN" b="0" i="0" dirty="0" err="1">
                <a:effectLst/>
              </a:rPr>
              <a:t>px</a:t>
            </a:r>
            <a:r>
              <a:rPr lang="en-IN" b="0" i="0" dirty="0">
                <a:effectLst/>
              </a:rPr>
              <a:t>, pt, cm, </a:t>
            </a:r>
            <a:r>
              <a:rPr lang="en-IN" b="0" i="0" dirty="0" err="1">
                <a:effectLst/>
              </a:rPr>
              <a:t>em</a:t>
            </a:r>
            <a:r>
              <a:rPr lang="en-IN" dirty="0"/>
              <a:t>      </a:t>
            </a:r>
            <a:r>
              <a:rPr lang="en-IN" b="0" i="0" dirty="0">
                <a:effectLst/>
              </a:rPr>
              <a:t>values - thin, medium, thick</a:t>
            </a:r>
          </a:p>
          <a:p>
            <a:r>
              <a:rPr lang="en-IN" dirty="0">
                <a:solidFill>
                  <a:srgbClr val="DC143C"/>
                </a:solidFill>
              </a:rPr>
              <a:t>border-</a:t>
            </a:r>
            <a:r>
              <a:rPr lang="en-IN" dirty="0" err="1">
                <a:solidFill>
                  <a:srgbClr val="DC143C"/>
                </a:solidFill>
              </a:rPr>
              <a:t>color</a:t>
            </a:r>
            <a:endParaRPr lang="en-IN" dirty="0">
              <a:solidFill>
                <a:srgbClr val="DC143C"/>
              </a:solidFill>
            </a:endParaRPr>
          </a:p>
          <a:p>
            <a:r>
              <a:rPr lang="en-IN" dirty="0">
                <a:solidFill>
                  <a:srgbClr val="DC143C"/>
                </a:solidFill>
              </a:rPr>
              <a:t>border-radius</a:t>
            </a:r>
          </a:p>
          <a:p>
            <a:endParaRPr lang="en-IN" dirty="0">
              <a:solidFill>
                <a:srgbClr val="DC143C"/>
              </a:solidFill>
            </a:endParaRPr>
          </a:p>
          <a:p>
            <a:r>
              <a:rPr lang="en-IN" dirty="0">
                <a:solidFill>
                  <a:srgbClr val="DC143C"/>
                </a:solidFill>
              </a:rPr>
              <a:t>border-top-style, border-right-style, border-bottom-style,    border-left-style </a:t>
            </a:r>
            <a:r>
              <a:rPr lang="en-IN" dirty="0"/>
              <a:t>(properties for one side)</a:t>
            </a:r>
          </a:p>
          <a:p>
            <a:r>
              <a:rPr lang="en-IN" dirty="0">
                <a:solidFill>
                  <a:srgbClr val="DC143C"/>
                </a:solidFill>
              </a:rPr>
              <a:t>border: </a:t>
            </a:r>
            <a:r>
              <a:rPr lang="en-IN" dirty="0"/>
              <a:t>shorthand property </a:t>
            </a:r>
            <a:r>
              <a:rPr lang="en-US" dirty="0"/>
              <a:t>for the individual border properties:  </a:t>
            </a:r>
          </a:p>
          <a:p>
            <a:pPr marL="0" indent="0">
              <a:buNone/>
            </a:pPr>
            <a:r>
              <a:rPr lang="en-US" dirty="0">
                <a:solidFill>
                  <a:srgbClr val="DC143C"/>
                </a:solidFill>
              </a:rPr>
              <a:t>                  border-width, border-style </a:t>
            </a:r>
            <a:r>
              <a:rPr lang="en-US" dirty="0"/>
              <a:t>(required)</a:t>
            </a:r>
            <a:r>
              <a:rPr lang="en-US" dirty="0">
                <a:solidFill>
                  <a:srgbClr val="DC143C"/>
                </a:solidFill>
              </a:rPr>
              <a:t>, border-color</a:t>
            </a:r>
          </a:p>
          <a:p>
            <a:r>
              <a:rPr lang="en-US" dirty="0"/>
              <a:t>Individual border properties can be specified for just one side 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6ED6E7-6F68-5685-60C9-ED0015497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459" y="5423097"/>
            <a:ext cx="3502858" cy="9926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7ADAEB6-A033-BA85-15EA-01EF9BA559BF}"/>
              </a:ext>
            </a:extLst>
          </p:cNvPr>
          <p:cNvSpPr txBox="1"/>
          <p:nvPr/>
        </p:nvSpPr>
        <p:spPr>
          <a:xfrm>
            <a:off x="2775098" y="5734764"/>
            <a:ext cx="156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Example:</a:t>
            </a:r>
            <a:endParaRPr lang="en-GH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6E5E2BD-856C-BE31-BE85-458134BCF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880" y="1900515"/>
            <a:ext cx="2973435" cy="1296418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A2BE40-DBE8-4341-6F1B-61C8CC764F3F}"/>
              </a:ext>
            </a:extLst>
          </p:cNvPr>
          <p:cNvCxnSpPr/>
          <p:nvPr/>
        </p:nvCxnSpPr>
        <p:spPr>
          <a:xfrm>
            <a:off x="2328530" y="2548724"/>
            <a:ext cx="200955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ACA5B8E-F3B5-5BEA-E966-5CFE3A059A40}"/>
              </a:ext>
            </a:extLst>
          </p:cNvPr>
          <p:cNvSpPr txBox="1"/>
          <p:nvPr/>
        </p:nvSpPr>
        <p:spPr>
          <a:xfrm>
            <a:off x="3297989" y="2240552"/>
            <a:ext cx="156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Example:</a:t>
            </a:r>
            <a:endParaRPr lang="en-GH" b="1" dirty="0"/>
          </a:p>
        </p:txBody>
      </p:sp>
    </p:spTree>
    <p:extLst>
      <p:ext uri="{BB962C8B-B14F-4D97-AF65-F5344CB8AC3E}">
        <p14:creationId xmlns:p14="http://schemas.microsoft.com/office/powerpoint/2010/main" val="279156530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A4EF-E07F-6C7C-26C4-CA130AD41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Note on </a:t>
            </a:r>
            <a:r>
              <a:rPr lang="en-IN" dirty="0">
                <a:solidFill>
                  <a:srgbClr val="0070C0"/>
                </a:solidFill>
              </a:rPr>
              <a:t>border-style</a:t>
            </a:r>
            <a:r>
              <a:rPr lang="en-IN" dirty="0"/>
              <a:t> property</a:t>
            </a:r>
            <a:endParaRPr lang="en-GH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9F3912-BC95-AC8A-0489-EE8C51AAA0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41100" y="1077695"/>
            <a:ext cx="8680884" cy="526297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If the 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border-style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property has four values:</a:t>
            </a:r>
            <a:endParaRPr kumimoji="0" lang="en-GH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IN" altLang="en-GH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Example: </a:t>
            </a:r>
            <a:r>
              <a:rPr kumimoji="0" lang="en-GH" altLang="en-GH" sz="20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n-lt"/>
              </a:rPr>
              <a:t>border-style</a:t>
            </a:r>
            <a:r>
              <a:rPr kumimoji="0" lang="en-GH" altLang="en-GH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: </a:t>
            </a:r>
            <a:r>
              <a:rPr kumimoji="0" lang="en-GH" altLang="en-GH" sz="20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</a:rPr>
              <a:t>dotted solid double dashed;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top border is dotted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right border is solid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bottom border is double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l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eft border is dashed</a:t>
            </a:r>
            <a:endParaRPr kumimoji="0" lang="en-IN" altLang="en-GH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GH" altLang="en-GH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If the 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border-style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property has three values:</a:t>
            </a:r>
            <a:endParaRPr kumimoji="0" lang="en-GH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IN" altLang="en-GH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Example: </a:t>
            </a:r>
            <a:r>
              <a:rPr kumimoji="0" lang="en-GH" altLang="en-GH" sz="20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n-lt"/>
              </a:rPr>
              <a:t>border-style:</a:t>
            </a:r>
            <a:r>
              <a:rPr kumimoji="0" lang="en-GH" altLang="en-GH" sz="20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</a:rPr>
              <a:t> dotted solid double;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top border is dotted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right and left borders are solid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bottom border is double</a:t>
            </a:r>
            <a:endParaRPr kumimoji="0" lang="en-IN" altLang="en-GH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GH" altLang="en-GH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If the 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border-style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property has two values:</a:t>
            </a:r>
            <a:endParaRPr kumimoji="0" lang="en-GH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IN" altLang="en-GH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Example: </a:t>
            </a:r>
            <a:r>
              <a:rPr kumimoji="0" lang="en-GH" altLang="en-GH" sz="20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n-lt"/>
              </a:rPr>
              <a:t>border-style:</a:t>
            </a:r>
            <a:r>
              <a:rPr kumimoji="0" lang="en-GH" altLang="en-GH" sz="20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 </a:t>
            </a:r>
            <a:r>
              <a:rPr kumimoji="0" lang="en-GH" altLang="en-GH" sz="20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</a:rPr>
              <a:t>dotted solid</a:t>
            </a:r>
            <a:r>
              <a:rPr kumimoji="0" lang="en-IN" altLang="en-GH" sz="20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</a:rPr>
              <a:t>;</a:t>
            </a:r>
            <a:endParaRPr kumimoji="0" lang="en-GH" altLang="en-GH" sz="2000" i="0" u="none" strike="noStrike" cap="none" normalizeH="0" baseline="0" dirty="0">
              <a:ln>
                <a:noFill/>
              </a:ln>
              <a:solidFill>
                <a:srgbClr val="0070C0"/>
              </a:solidFill>
              <a:effectLst/>
              <a:latin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top and bottom borders are dotted</a:t>
            </a:r>
            <a:r>
              <a:rPr kumimoji="0" lang="en-IN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, 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right and left borders are solid</a:t>
            </a:r>
            <a:endParaRPr kumimoji="0" lang="en-IN" altLang="en-GH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GH" altLang="en-GH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If the 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+mn-lt"/>
              </a:rPr>
              <a:t>border-style</a:t>
            </a: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 property has one value:</a:t>
            </a:r>
            <a:endParaRPr kumimoji="0" lang="en-GH" altLang="en-GH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IN" altLang="en-GH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Example: </a:t>
            </a:r>
            <a:r>
              <a:rPr kumimoji="0" lang="en-GH" altLang="en-GH" sz="200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+mn-lt"/>
              </a:rPr>
              <a:t>border-style: </a:t>
            </a:r>
            <a:r>
              <a:rPr kumimoji="0" lang="en-GH" altLang="en-GH" sz="2000" i="0" u="none" strike="noStrike" cap="none" normalizeH="0" baseline="0" dirty="0">
                <a:ln>
                  <a:noFill/>
                </a:ln>
                <a:solidFill>
                  <a:srgbClr val="0070C0"/>
                </a:solidFill>
                <a:effectLst/>
                <a:latin typeface="+mn-lt"/>
              </a:rPr>
              <a:t>dotted;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GH" altLang="en-GH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</a:rPr>
              <a:t>all four borders are dotted</a:t>
            </a:r>
            <a:endParaRPr kumimoji="0" lang="en-GH" altLang="en-GH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96200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0820D-1B38-C13C-FAD7-C85091655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Margins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662C1-4BA0-A696-2955-0BAC8D3E18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b="1" dirty="0">
                <a:solidFill>
                  <a:srgbClr val="DC143C"/>
                </a:solidFill>
              </a:rPr>
              <a:t>margin</a:t>
            </a:r>
            <a:r>
              <a:rPr lang="en-US" dirty="0"/>
              <a:t> property is used to create space around elements, outside of any defined borders.</a:t>
            </a:r>
          </a:p>
          <a:p>
            <a:r>
              <a:rPr lang="en-IN" dirty="0"/>
              <a:t>Individual margin properties:</a:t>
            </a:r>
          </a:p>
          <a:p>
            <a:pPr marL="0" indent="0">
              <a:buNone/>
            </a:pPr>
            <a:r>
              <a:rPr lang="en-IN" dirty="0"/>
              <a:t>	</a:t>
            </a:r>
            <a:r>
              <a:rPr lang="en-IN" dirty="0">
                <a:solidFill>
                  <a:srgbClr val="DC143C"/>
                </a:solidFill>
              </a:rPr>
              <a:t>margin-top</a:t>
            </a:r>
          </a:p>
          <a:p>
            <a:pPr marL="0" indent="0">
              <a:buNone/>
            </a:pPr>
            <a:r>
              <a:rPr lang="en-IN" dirty="0">
                <a:solidFill>
                  <a:srgbClr val="DC143C"/>
                </a:solidFill>
              </a:rPr>
              <a:t>	margin-right</a:t>
            </a:r>
          </a:p>
          <a:p>
            <a:pPr marL="0" indent="0">
              <a:buNone/>
            </a:pPr>
            <a:r>
              <a:rPr lang="en-IN" dirty="0">
                <a:solidFill>
                  <a:srgbClr val="DC143C"/>
                </a:solidFill>
              </a:rPr>
              <a:t>	margin-bottom</a:t>
            </a:r>
          </a:p>
          <a:p>
            <a:pPr marL="0" indent="0">
              <a:buNone/>
            </a:pPr>
            <a:r>
              <a:rPr lang="en-IN" dirty="0">
                <a:solidFill>
                  <a:srgbClr val="DC143C"/>
                </a:solidFill>
              </a:rPr>
              <a:t>	margin-left</a:t>
            </a:r>
          </a:p>
          <a:p>
            <a:pPr marL="0" indent="0">
              <a:buNone/>
            </a:pPr>
            <a:endParaRPr lang="en-IN" dirty="0">
              <a:solidFill>
                <a:srgbClr val="DC143C"/>
              </a:solidFill>
            </a:endParaRPr>
          </a:p>
          <a:p>
            <a:r>
              <a:rPr lang="en-IN" dirty="0"/>
              <a:t>The </a:t>
            </a:r>
            <a:r>
              <a:rPr lang="en-IN" dirty="0">
                <a:solidFill>
                  <a:srgbClr val="DC143C"/>
                </a:solidFill>
              </a:rPr>
              <a:t>margin </a:t>
            </a:r>
            <a:r>
              <a:rPr lang="en-IN" dirty="0"/>
              <a:t>can be used as a shorthand property. The rules similar to those for borders on the previous slide are applicable</a:t>
            </a:r>
            <a:endParaRPr lang="en-G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7674BD2-C05E-3058-9208-0F67CD4E8C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901" y="2863536"/>
            <a:ext cx="3680798" cy="9429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329307-C780-C270-6D92-127B1852C477}"/>
              </a:ext>
            </a:extLst>
          </p:cNvPr>
          <p:cNvSpPr txBox="1"/>
          <p:nvPr/>
        </p:nvSpPr>
        <p:spPr>
          <a:xfrm>
            <a:off x="3799731" y="2863536"/>
            <a:ext cx="156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Example:</a:t>
            </a:r>
            <a:endParaRPr lang="en-GH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1D8275C-28CA-3DA6-140B-550F8BDFFE15}"/>
              </a:ext>
            </a:extLst>
          </p:cNvPr>
          <p:cNvCxnSpPr/>
          <p:nvPr/>
        </p:nvCxnSpPr>
        <p:spPr>
          <a:xfrm flipV="1">
            <a:off x="5061098" y="3806456"/>
            <a:ext cx="563525" cy="1010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810649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F642C-8669-74CF-8F26-4D7DBA5E4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Padding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5C4D9-E0A2-8919-F376-8FAA6BEEC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CSS </a:t>
            </a:r>
            <a:r>
              <a:rPr lang="en-US" b="1" dirty="0">
                <a:solidFill>
                  <a:srgbClr val="DC143C"/>
                </a:solidFill>
              </a:rPr>
              <a:t>padding</a:t>
            </a:r>
            <a:r>
              <a:rPr lang="en-US" dirty="0"/>
              <a:t> properties are used to generate space around an element's content, inside of any defined borders.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Just like borders and margins, padding can be set for all four sides of an element.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C6C3B9-4252-9B83-ADB4-19E1DE384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21" y="2196287"/>
            <a:ext cx="8165805" cy="13851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7F1318-8429-0DC8-6AC9-AB81FF869E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0864" y="4776388"/>
            <a:ext cx="2608578" cy="168062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84B99F5-A6E9-AE90-D711-7E65CAE873B9}"/>
              </a:ext>
            </a:extLst>
          </p:cNvPr>
          <p:cNvSpPr txBox="1"/>
          <p:nvPr/>
        </p:nvSpPr>
        <p:spPr>
          <a:xfrm>
            <a:off x="1715750" y="5247369"/>
            <a:ext cx="156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Example:</a:t>
            </a:r>
            <a:endParaRPr lang="en-GH" b="1" dirty="0"/>
          </a:p>
        </p:txBody>
      </p:sp>
    </p:spTree>
    <p:extLst>
      <p:ext uri="{BB962C8B-B14F-4D97-AF65-F5344CB8AC3E}">
        <p14:creationId xmlns:p14="http://schemas.microsoft.com/office/powerpoint/2010/main" val="129603526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CE893F-7B9B-6948-AEB1-DDFD29312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Putting the things together: The Box Model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E04E5-7309-73F3-0AC5-315A79AED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term "box model" is used when talking about design and layout. It describes content, padding, borders and margins. </a:t>
            </a:r>
          </a:p>
          <a:p>
            <a:pPr marL="0" indent="0">
              <a:buNone/>
            </a:pPr>
            <a:endParaRPr lang="en-G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CBE2D0-F574-9429-29C9-C78AAB6C2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73" y="2163726"/>
            <a:ext cx="7891261" cy="30756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8DD7FB0-2411-A21F-BF38-582DE10A3C2D}"/>
              </a:ext>
            </a:extLst>
          </p:cNvPr>
          <p:cNvSpPr txBox="1"/>
          <p:nvPr/>
        </p:nvSpPr>
        <p:spPr>
          <a:xfrm>
            <a:off x="465473" y="5329634"/>
            <a:ext cx="556318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Content</a:t>
            </a:r>
            <a:r>
              <a:rPr lang="en-US" dirty="0"/>
              <a:t> – text, image, video etc.</a:t>
            </a:r>
          </a:p>
          <a:p>
            <a:r>
              <a:rPr lang="en-US" b="1" dirty="0">
                <a:solidFill>
                  <a:srgbClr val="0070C0"/>
                </a:solidFill>
              </a:rPr>
              <a:t>Padding</a:t>
            </a:r>
            <a:r>
              <a:rPr lang="en-US" dirty="0"/>
              <a:t> - Clears an area around the content (transparent)</a:t>
            </a:r>
          </a:p>
          <a:p>
            <a:r>
              <a:rPr lang="en-US" b="1" dirty="0">
                <a:solidFill>
                  <a:srgbClr val="0070C0"/>
                </a:solidFill>
              </a:rPr>
              <a:t>Border</a:t>
            </a:r>
            <a:r>
              <a:rPr lang="en-US" dirty="0"/>
              <a:t> - Goes around the padding and content</a:t>
            </a:r>
          </a:p>
          <a:p>
            <a:r>
              <a:rPr lang="en-US" b="1" dirty="0">
                <a:solidFill>
                  <a:srgbClr val="0070C0"/>
                </a:solidFill>
              </a:rPr>
              <a:t>Margin</a:t>
            </a:r>
            <a:r>
              <a:rPr lang="en-US" dirty="0"/>
              <a:t> - Clears an area outside the border (transparent)</a:t>
            </a:r>
            <a:endParaRPr lang="en-GH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45C67E0-44D4-ECC2-9CAD-8FD844496D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054" y="5260162"/>
            <a:ext cx="2264957" cy="128636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BF584F5-46C8-2A5A-E1B1-9ADF6DD4C1D4}"/>
              </a:ext>
            </a:extLst>
          </p:cNvPr>
          <p:cNvSpPr txBox="1"/>
          <p:nvPr/>
        </p:nvSpPr>
        <p:spPr>
          <a:xfrm>
            <a:off x="5438010" y="5195410"/>
            <a:ext cx="156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Example:</a:t>
            </a:r>
            <a:endParaRPr lang="en-GH" b="1" dirty="0"/>
          </a:p>
        </p:txBody>
      </p:sp>
    </p:spTree>
    <p:extLst>
      <p:ext uri="{BB962C8B-B14F-4D97-AF65-F5344CB8AC3E}">
        <p14:creationId xmlns:p14="http://schemas.microsoft.com/office/powerpoint/2010/main" val="23129267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892A6-4619-C17C-1BF6-417EBCCF0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Other styles to explore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A2B2A4-45A6-78F8-2B2C-A225CA4E0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465" y="1386039"/>
            <a:ext cx="8681519" cy="4943141"/>
          </a:xfrm>
        </p:spPr>
        <p:txBody>
          <a:bodyPr/>
          <a:lstStyle/>
          <a:p>
            <a:r>
              <a:rPr lang="en-IN" dirty="0"/>
              <a:t>For text: </a:t>
            </a:r>
            <a:r>
              <a:rPr lang="en-IN" dirty="0" err="1"/>
              <a:t>color</a:t>
            </a:r>
            <a:r>
              <a:rPr lang="en-IN" dirty="0"/>
              <a:t>, decoration, transformation, alignment, spacing</a:t>
            </a:r>
          </a:p>
          <a:p>
            <a:r>
              <a:rPr lang="en-IN" dirty="0"/>
              <a:t>For font: size, style, family etc.</a:t>
            </a:r>
          </a:p>
          <a:p>
            <a:r>
              <a:rPr lang="en-IN" dirty="0"/>
              <a:t>Icons</a:t>
            </a:r>
          </a:p>
          <a:p>
            <a:r>
              <a:rPr lang="en-IN" dirty="0"/>
              <a:t>Link styles for buttons, text etc.</a:t>
            </a:r>
          </a:p>
          <a:p>
            <a:r>
              <a:rPr lang="en-IN" b="1" dirty="0">
                <a:solidFill>
                  <a:srgbClr val="0070C0"/>
                </a:solidFill>
              </a:rPr>
              <a:t>list-style-type</a:t>
            </a:r>
          </a:p>
          <a:p>
            <a:r>
              <a:rPr lang="en-IN" dirty="0"/>
              <a:t>For Tables:</a:t>
            </a:r>
            <a:r>
              <a:rPr lang="en-IN" dirty="0">
                <a:solidFill>
                  <a:srgbClr val="0070C0"/>
                </a:solidFill>
              </a:rPr>
              <a:t> </a:t>
            </a:r>
            <a:r>
              <a:rPr lang="en-IN" dirty="0"/>
              <a:t>Borders, alignment, size (width and height), responsiveness (</a:t>
            </a:r>
            <a:r>
              <a:rPr lang="en-US" dirty="0"/>
              <a:t>display a horizontal scroll bar)</a:t>
            </a:r>
          </a:p>
          <a:p>
            <a:r>
              <a:rPr lang="en-US" dirty="0"/>
              <a:t>Display</a:t>
            </a:r>
          </a:p>
          <a:p>
            <a:r>
              <a:rPr lang="en-US" dirty="0"/>
              <a:t>Position</a:t>
            </a:r>
          </a:p>
          <a:p>
            <a:r>
              <a:rPr lang="en-US" dirty="0"/>
              <a:t>Z-Index</a:t>
            </a:r>
          </a:p>
          <a:p>
            <a:r>
              <a:rPr lang="en-US" dirty="0"/>
              <a:t>Math Functions (calc(), max(), min())</a:t>
            </a:r>
            <a:endParaRPr lang="en-IN" dirty="0"/>
          </a:p>
          <a:p>
            <a:endParaRPr lang="en-IN" dirty="0"/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234287537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E5ADBE-0CED-4B5E-AA44-7678FBC8A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62F7F-A8FA-2635-91C2-8FBD1A40C3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dirty="0"/>
              <a:t>Questions???</a:t>
            </a:r>
            <a:endParaRPr lang="en-GH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D5CE5-C9D7-1978-5960-AF2C70FD652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algn="ctr"/>
            <a:r>
              <a:rPr lang="en-IN" dirty="0"/>
              <a:t>Govindha Yeluripati</a:t>
            </a:r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427750370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A6F9229A-DD42-46FB-AC7D-2F23A646FBDE}" vid="{29738491-4758-454F-8D61-01C0E307144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Govindha-Ashesi-3-4-Five</Template>
  <TotalTime>1406</TotalTime>
  <Words>3873</Words>
  <Application>Microsoft Office PowerPoint</Application>
  <PresentationFormat>On-screen Show (4:3)</PresentationFormat>
  <Paragraphs>496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0" baseType="lpstr">
      <vt:lpstr>Arial</vt:lpstr>
      <vt:lpstr>Calibri</vt:lpstr>
      <vt:lpstr>Calibri Light</vt:lpstr>
      <vt:lpstr>Consolas</vt:lpstr>
      <vt:lpstr>1_Office Theme</vt:lpstr>
      <vt:lpstr>CSS</vt:lpstr>
      <vt:lpstr>Outline</vt:lpstr>
      <vt:lpstr>Introduction: Why CSS?</vt:lpstr>
      <vt:lpstr>What is CSS?</vt:lpstr>
      <vt:lpstr>How to use CSS?</vt:lpstr>
      <vt:lpstr>CSS Demo: One HTML page, Multiple Styles</vt:lpstr>
      <vt:lpstr>CSS Demo: One HTML page, Multiple Styles</vt:lpstr>
      <vt:lpstr>CSS Demo: One HTML page, Multiple Styles</vt:lpstr>
      <vt:lpstr>CSS Demo: One HTML page, Multiple Styles</vt:lpstr>
      <vt:lpstr>CSS Demo: One HTML page, Multiple Styles</vt:lpstr>
      <vt:lpstr>Try an example</vt:lpstr>
      <vt:lpstr>Three Ways to Insert CSS</vt:lpstr>
      <vt:lpstr>Three Ways to Insert CSS</vt:lpstr>
      <vt:lpstr>Three Ways to Insert CSS</vt:lpstr>
      <vt:lpstr>CSS Syntax</vt:lpstr>
      <vt:lpstr>CSS Selectors</vt:lpstr>
      <vt:lpstr>CSS Selectors: Simple Type – Examples </vt:lpstr>
      <vt:lpstr>1) Simple Selectors</vt:lpstr>
      <vt:lpstr>The CSS element Selector</vt:lpstr>
      <vt:lpstr>The CSS id Selector</vt:lpstr>
      <vt:lpstr>The CSS class Selector</vt:lpstr>
      <vt:lpstr>What is a class in CSS?</vt:lpstr>
      <vt:lpstr>How to Use a Class in CSS?</vt:lpstr>
      <vt:lpstr>The CSS class Selector</vt:lpstr>
      <vt:lpstr>The CSS Universal Selector</vt:lpstr>
      <vt:lpstr>The CSS Grouping Selector</vt:lpstr>
      <vt:lpstr>The CSS Grouping Selector</vt:lpstr>
      <vt:lpstr>2) Combinator Selectors</vt:lpstr>
      <vt:lpstr>Descendant Combinator (space)</vt:lpstr>
      <vt:lpstr>Child Combinator (&gt;)</vt:lpstr>
      <vt:lpstr>Adjacent Sibling Combinator (+)</vt:lpstr>
      <vt:lpstr>General Sibling Combinator (~)</vt:lpstr>
      <vt:lpstr>3) Pseudo-class Selectors</vt:lpstr>
      <vt:lpstr>:hover</vt:lpstr>
      <vt:lpstr>:focus</vt:lpstr>
      <vt:lpstr>:nth-child(n)</vt:lpstr>
      <vt:lpstr>:first-child</vt:lpstr>
      <vt:lpstr>:last-child</vt:lpstr>
      <vt:lpstr>:nth-of-type(n)</vt:lpstr>
      <vt:lpstr>:not(selector)</vt:lpstr>
      <vt:lpstr>:checked</vt:lpstr>
      <vt:lpstr>:disabled</vt:lpstr>
      <vt:lpstr>:empty</vt:lpstr>
      <vt:lpstr>4) Pseudo-element Selectors</vt:lpstr>
      <vt:lpstr>::before</vt:lpstr>
      <vt:lpstr>::after</vt:lpstr>
      <vt:lpstr>::first-line</vt:lpstr>
      <vt:lpstr>::first-letter</vt:lpstr>
      <vt:lpstr>::selection</vt:lpstr>
      <vt:lpstr>::marker (for list items)</vt:lpstr>
      <vt:lpstr>::placeholder</vt:lpstr>
      <vt:lpstr>5) Attribute Selectors</vt:lpstr>
      <vt:lpstr>[attribute]</vt:lpstr>
      <vt:lpstr>[attribute=value]</vt:lpstr>
      <vt:lpstr>[attribute^=value]</vt:lpstr>
      <vt:lpstr>[attribute$=value]</vt:lpstr>
      <vt:lpstr>[attribute*=value]</vt:lpstr>
      <vt:lpstr>How do CSS rules work?</vt:lpstr>
      <vt:lpstr>Cascading Order</vt:lpstr>
      <vt:lpstr>Multiple Style Sheets</vt:lpstr>
      <vt:lpstr>Comments in CSS</vt:lpstr>
      <vt:lpstr>CSS Colors</vt:lpstr>
      <vt:lpstr>CSS Colors</vt:lpstr>
      <vt:lpstr>CSS Colors</vt:lpstr>
      <vt:lpstr>CSS Colors: Example</vt:lpstr>
      <vt:lpstr>Background Styles</vt:lpstr>
      <vt:lpstr>Background Styles</vt:lpstr>
      <vt:lpstr>Border Styles</vt:lpstr>
      <vt:lpstr>Other border properties </vt:lpstr>
      <vt:lpstr>Note on border-style property</vt:lpstr>
      <vt:lpstr>Margins</vt:lpstr>
      <vt:lpstr>Padding</vt:lpstr>
      <vt:lpstr>Putting the things together: The Box Model</vt:lpstr>
      <vt:lpstr>Other styles to explore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Govindha R Yeluripati</dc:creator>
  <cp:lastModifiedBy>Govindha  Ramaiah Yeluripati</cp:lastModifiedBy>
  <cp:revision>121</cp:revision>
  <dcterms:created xsi:type="dcterms:W3CDTF">2024-09-11T05:06:52Z</dcterms:created>
  <dcterms:modified xsi:type="dcterms:W3CDTF">2024-09-24T19:00:10Z</dcterms:modified>
</cp:coreProperties>
</file>