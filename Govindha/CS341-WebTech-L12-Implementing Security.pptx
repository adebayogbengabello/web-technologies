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7"/>
  </p:notesMasterIdLst>
  <p:sldIdLst>
    <p:sldId id="256" r:id="rId2"/>
    <p:sldId id="257" r:id="rId3"/>
    <p:sldId id="293" r:id="rId4"/>
    <p:sldId id="287" r:id="rId5"/>
    <p:sldId id="286" r:id="rId6"/>
    <p:sldId id="288" r:id="rId7"/>
    <p:sldId id="289" r:id="rId8"/>
    <p:sldId id="290" r:id="rId9"/>
    <p:sldId id="291" r:id="rId10"/>
    <p:sldId id="295" r:id="rId11"/>
    <p:sldId id="294" r:id="rId12"/>
    <p:sldId id="296" r:id="rId13"/>
    <p:sldId id="297" r:id="rId14"/>
    <p:sldId id="298" r:id="rId15"/>
    <p:sldId id="301" r:id="rId16"/>
    <p:sldId id="300" r:id="rId17"/>
    <p:sldId id="302" r:id="rId18"/>
    <p:sldId id="303" r:id="rId19"/>
    <p:sldId id="305" r:id="rId20"/>
    <p:sldId id="304" r:id="rId21"/>
    <p:sldId id="306" r:id="rId22"/>
    <p:sldId id="307" r:id="rId23"/>
    <p:sldId id="308" r:id="rId24"/>
    <p:sldId id="309" r:id="rId25"/>
    <p:sldId id="285"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2" autoAdjust="0"/>
    <p:restoredTop sz="85613" autoAdjust="0"/>
  </p:normalViewPr>
  <p:slideViewPr>
    <p:cSldViewPr snapToGrid="0">
      <p:cViewPr varScale="1">
        <p:scale>
          <a:sx n="51" d="100"/>
          <a:sy n="51" d="100"/>
        </p:scale>
        <p:origin x="1636"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A33EEC-B47C-49E8-B84F-34B93CEE99AD}" type="datetimeFigureOut">
              <a:rPr lang="en-GH" smtClean="0"/>
              <a:t>19/11/2024</a:t>
            </a:fld>
            <a:endParaRPr lang="en-GH"/>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6FEFE0-2319-461A-A752-96B5F86327A5}" type="slidenum">
              <a:rPr lang="en-GH" smtClean="0"/>
              <a:t>‹#›</a:t>
            </a:fld>
            <a:endParaRPr lang="en-GH"/>
          </a:p>
        </p:txBody>
      </p:sp>
    </p:spTree>
    <p:extLst>
      <p:ext uri="{BB962C8B-B14F-4D97-AF65-F5344CB8AC3E}">
        <p14:creationId xmlns:p14="http://schemas.microsoft.com/office/powerpoint/2010/main" val="6291237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 security refers to the measures and practices used to protect websites, web applications, and users from cyber threats. It encompasses a variety of tools, practices, and security protocols. </a:t>
            </a:r>
          </a:p>
          <a:p>
            <a:r>
              <a:rPr lang="en-US" dirty="0"/>
              <a:t>Some examples of threats to Web applications include unauthorized access to sensitive data, exploitation of vulnerabilities in web applications (e.g., SQL injection, </a:t>
            </a:r>
            <a:r>
              <a:rPr lang="en-US" dirty="0" err="1"/>
              <a:t>XSS</a:t>
            </a:r>
            <a:r>
              <a:rPr lang="en-US" dirty="0"/>
              <a:t>), and attacks like Distributed Denial of Service (DDoS). The goal of Web security is to ensure the confidentiality, integrity, and availability of data and services.</a:t>
            </a:r>
          </a:p>
          <a:p>
            <a:r>
              <a:rPr lang="en-US" dirty="0"/>
              <a:t>Unauthorized access can lead to the theft of sensitive information such as financial details, personal identities, or trade secrets. Several incidents (any latest?) are being reported every day leading to data breaches and significant financial losses.</a:t>
            </a:r>
          </a:p>
          <a:p>
            <a:r>
              <a:rPr lang="en-US" dirty="0"/>
              <a:t>A breach or attack can erode the trust customers or users place in an organization. Trust is critical for brand reputation and customer retention. For example, a compromised e-commerce platform might lose customers unwilling to risk their data.</a:t>
            </a:r>
          </a:p>
          <a:p>
            <a:r>
              <a:rPr lang="en-US" dirty="0"/>
              <a:t>There are several regulatory and compliance requirements (e.g., GDPR, HIPAA, or CCPA) that mandate organizations to safeguard user data. Failing to comply with these requirements can result in hefty fines, legal actions, or business shutdowns.</a:t>
            </a:r>
          </a:p>
          <a:p>
            <a:r>
              <a:rPr lang="en-US" dirty="0"/>
              <a:t>Phishing attacks or malware often aim to deceive </a:t>
            </a:r>
            <a:r>
              <a:rPr lang="en-US" b="1" dirty="0"/>
              <a:t>users</a:t>
            </a:r>
            <a:r>
              <a:rPr lang="en-US" dirty="0"/>
              <a:t> into providing sensitive information or compromising their devices. You can think about a fake website or emails requesting login credentials.</a:t>
            </a:r>
          </a:p>
          <a:p>
            <a:r>
              <a:rPr lang="en-US" dirty="0"/>
              <a:t>Several types of attacks target vulnerabilities in web applications like SQL Injection: Injecting malicious code to exploit database vulnerabilities. Cross-Site Scripting (</a:t>
            </a:r>
            <a:r>
              <a:rPr lang="en-US" dirty="0" err="1"/>
              <a:t>XSS</a:t>
            </a:r>
            <a:r>
              <a:rPr lang="en-US" dirty="0"/>
              <a:t>): Injecting malicious scripts into websites to target users. DDoS Attacks: Overloading a server to make the website/application unavailable. So, as applications grow complex, they become attractive targets.</a:t>
            </a:r>
          </a:p>
          <a:p>
            <a:endParaRPr lang="en-US" dirty="0"/>
          </a:p>
          <a:p>
            <a:endParaRPr lang="en-US" dirty="0"/>
          </a:p>
          <a:p>
            <a:endParaRPr lang="en-GH" dirty="0"/>
          </a:p>
        </p:txBody>
      </p:sp>
      <p:sp>
        <p:nvSpPr>
          <p:cNvPr id="4" name="Slide Number Placeholder 3"/>
          <p:cNvSpPr>
            <a:spLocks noGrp="1"/>
          </p:cNvSpPr>
          <p:nvPr>
            <p:ph type="sldNum" sz="quarter" idx="5"/>
          </p:nvPr>
        </p:nvSpPr>
        <p:spPr/>
        <p:txBody>
          <a:bodyPr/>
          <a:lstStyle/>
          <a:p>
            <a:fld id="{5E6FEFE0-2319-461A-A752-96B5F86327A5}" type="slidenum">
              <a:rPr lang="en-GH" smtClean="0"/>
              <a:t>4</a:t>
            </a:fld>
            <a:endParaRPr lang="en-GH"/>
          </a:p>
        </p:txBody>
      </p:sp>
    </p:spTree>
    <p:extLst>
      <p:ext uri="{BB962C8B-B14F-4D97-AF65-F5344CB8AC3E}">
        <p14:creationId xmlns:p14="http://schemas.microsoft.com/office/powerpoint/2010/main" val="9501543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 vulnerabilities are </a:t>
            </a:r>
            <a:r>
              <a:rPr lang="en-US" b="1" dirty="0">
                <a:solidFill>
                  <a:srgbClr val="FF0000"/>
                </a:solidFill>
              </a:rPr>
              <a:t>weaknesses in web applications </a:t>
            </a:r>
            <a:r>
              <a:rPr lang="en-US" dirty="0"/>
              <a:t>that attackers exploit to compromise the confidentiality, integrity, or availability of systems or data. Therefore, understanding these vulnerabilities is key to preventing them.</a:t>
            </a:r>
          </a:p>
          <a:p>
            <a:pPr marL="228600" indent="-228600">
              <a:buFont typeface="Arial" panose="020B0604020202020204" pitchFamily="34" charset="0"/>
              <a:buAutoNum type="arabicParenR"/>
            </a:pPr>
            <a:r>
              <a:rPr lang="en-US" dirty="0"/>
              <a:t>SQL Injection is a type of attack where an attacker manipulates a web application's database query by injecting malicious SQL code. For example, as shown in the diagram, the attacker sends a specially crafted input like </a:t>
            </a:r>
            <a:r>
              <a:rPr lang="en-US" dirty="0" err="1"/>
              <a:t>teacherId</a:t>
            </a:r>
            <a:r>
              <a:rPr lang="en-US" dirty="0"/>
              <a:t>=117 OR 1=1, which tricks the database into executing unintended queries. The query SELECT * FROM teachers WHERE </a:t>
            </a:r>
            <a:r>
              <a:rPr lang="en-US" dirty="0" err="1"/>
              <a:t>teacherId</a:t>
            </a:r>
            <a:r>
              <a:rPr lang="en-US" dirty="0"/>
              <a:t>=117 OR 1=1 always evaluates to true, exposing all data in the </a:t>
            </a:r>
            <a:r>
              <a:rPr lang="en-US" b="1" dirty="0"/>
              <a:t>teachers</a:t>
            </a:r>
            <a:r>
              <a:rPr lang="en-US" dirty="0"/>
              <a:t> table. This can lead to data breaches, unauthorized data modification, or even complete system compromise. To prevent this kind of attack, the developers should use </a:t>
            </a:r>
            <a:r>
              <a:rPr lang="en-US" b="1" dirty="0">
                <a:solidFill>
                  <a:srgbClr val="FF0000"/>
                </a:solidFill>
              </a:rPr>
              <a:t>prepared statements, parameterized queries, and input validation.</a:t>
            </a:r>
          </a:p>
          <a:p>
            <a:pPr marL="228600" indent="-228600">
              <a:buFont typeface="Arial" panose="020B0604020202020204" pitchFamily="34" charset="0"/>
              <a:buAutoNum type="arabicParenR"/>
            </a:pPr>
            <a:r>
              <a:rPr lang="en-US" dirty="0" err="1"/>
              <a:t>XSS</a:t>
            </a:r>
            <a:r>
              <a:rPr lang="en-US" dirty="0"/>
              <a:t> is an attack where attackers inject malicious scripts (usually JavaScript) into web pages that are then executed in the browsers of unsuspecting users. But, </a:t>
            </a:r>
            <a:r>
              <a:rPr lang="en-US" b="0" dirty="0"/>
              <a:t>how does this work? </a:t>
            </a:r>
            <a:r>
              <a:rPr lang="en-US" dirty="0"/>
              <a:t>Attackers exploit vulnerabilities in how the </a:t>
            </a:r>
            <a:r>
              <a:rPr lang="en-US" b="1" dirty="0"/>
              <a:t>application handles user input</a:t>
            </a:r>
            <a:r>
              <a:rPr lang="en-US" dirty="0"/>
              <a:t>. The malicious script might steal cookies, redirect users to malicious sites, or deface the website. For example, a compromised login page could steal credentials from users. To prevent this attack, we must use output encoding, sanitize user inputs, and implement a Content Security Policy (</a:t>
            </a:r>
            <a:r>
              <a:rPr lang="en-US" dirty="0" err="1"/>
              <a:t>CSP</a:t>
            </a:r>
            <a:r>
              <a:rPr lang="en-US" dirty="0"/>
              <a:t>).</a:t>
            </a:r>
          </a:p>
          <a:p>
            <a:pPr marL="228600" indent="-228600">
              <a:buFont typeface="Arial" panose="020B0604020202020204" pitchFamily="34" charset="0"/>
              <a:buAutoNum type="arabicParenR"/>
            </a:pPr>
            <a:r>
              <a:rPr lang="en-US" b="0" dirty="0" err="1">
                <a:solidFill>
                  <a:srgbClr val="FF0000"/>
                </a:solidFill>
              </a:rPr>
              <a:t>CSRF</a:t>
            </a:r>
            <a:r>
              <a:rPr lang="en-US" b="0" dirty="0">
                <a:solidFill>
                  <a:srgbClr val="FF0000"/>
                </a:solidFill>
              </a:rPr>
              <a:t> tricks a user’s browser into performing actions they didn’t intend while authenticated, like transferring funds or changing account details. Consider the example that if a user is logged into their bank account, a malicious site can send a request that transfers money without their consent. To prevent such attacks, we must use anti-</a:t>
            </a:r>
            <a:r>
              <a:rPr lang="en-US" b="0" dirty="0" err="1">
                <a:solidFill>
                  <a:srgbClr val="FF0000"/>
                </a:solidFill>
              </a:rPr>
              <a:t>CSRF</a:t>
            </a:r>
            <a:r>
              <a:rPr lang="en-US" b="0" dirty="0">
                <a:solidFill>
                  <a:srgbClr val="FF0000"/>
                </a:solidFill>
              </a:rPr>
              <a:t> tokens, validate HTTP requests, and implement same-site cookies.</a:t>
            </a:r>
          </a:p>
          <a:p>
            <a:pPr marL="228600" indent="-228600">
              <a:buFont typeface="Arial" panose="020B0604020202020204" pitchFamily="34" charset="0"/>
              <a:buAutoNum type="arabicParenR"/>
            </a:pPr>
            <a:r>
              <a:rPr lang="en-US" b="0" dirty="0">
                <a:solidFill>
                  <a:srgbClr val="FF0000"/>
                </a:solidFill>
              </a:rPr>
              <a:t>Insecure Authentication vulnerability involves weak mechanisms for verifying users, like allowing weak passwords, session hijacking due to poorly secured session tokens, and improper credential storage such as storing passwords in plaintext. This may lead to unauthorized access, identity theft, and loss of sensitive data. To prevent such attacks we must enforce strong password policies, use HTTPS, secure session management, and store passwords using strong hashing algorithms like bcrypt.</a:t>
            </a:r>
          </a:p>
          <a:p>
            <a:pPr marL="228600" indent="-228600">
              <a:buFont typeface="Arial" panose="020B0604020202020204" pitchFamily="34" charset="0"/>
              <a:buAutoNum type="arabicParenR"/>
            </a:pPr>
            <a:r>
              <a:rPr lang="en-US" b="0" dirty="0">
                <a:solidFill>
                  <a:srgbClr val="FF0000"/>
                </a:solidFill>
              </a:rPr>
              <a:t>Broken Access Control occurs when an application does not properly enforce user permissions, allowing unauthorized users to access or modify restricted data or actions. As a result, for example, an unauthorized user might access admin-only functionality or data by directly entering a URL they shouldn’t have access to. To prevent these attacks we must implement proper role-based access controls (</a:t>
            </a:r>
            <a:r>
              <a:rPr lang="en-US" b="0" dirty="0" err="1">
                <a:solidFill>
                  <a:srgbClr val="FF0000"/>
                </a:solidFill>
              </a:rPr>
              <a:t>RBAC</a:t>
            </a:r>
            <a:r>
              <a:rPr lang="en-US" b="0" dirty="0">
                <a:solidFill>
                  <a:srgbClr val="FF0000"/>
                </a:solidFill>
              </a:rPr>
              <a:t>), validate access permissions for every request, and avoid relying solely on client-side authorization.</a:t>
            </a:r>
          </a:p>
          <a:p>
            <a:pPr marL="0" indent="0">
              <a:buFont typeface="Arial" panose="020B0604020202020204" pitchFamily="34" charset="0"/>
              <a:buNone/>
            </a:pPr>
            <a:r>
              <a:rPr lang="en-US" b="0" dirty="0">
                <a:solidFill>
                  <a:srgbClr val="FF0000"/>
                </a:solidFill>
              </a:rPr>
              <a:t>So, proactively addressing these vulnerabilities to secure web applications and protect users is very important. As a developer you might think of adopting secure coding practices, regular vulnerability scanning, and security testing.</a:t>
            </a:r>
          </a:p>
          <a:p>
            <a:endParaRPr lang="en-GH" dirty="0"/>
          </a:p>
        </p:txBody>
      </p:sp>
      <p:sp>
        <p:nvSpPr>
          <p:cNvPr id="4" name="Slide Number Placeholder 3"/>
          <p:cNvSpPr>
            <a:spLocks noGrp="1"/>
          </p:cNvSpPr>
          <p:nvPr>
            <p:ph type="sldNum" sz="quarter" idx="5"/>
          </p:nvPr>
        </p:nvSpPr>
        <p:spPr/>
        <p:txBody>
          <a:bodyPr/>
          <a:lstStyle/>
          <a:p>
            <a:fld id="{5E6FEFE0-2319-461A-A752-96B5F86327A5}" type="slidenum">
              <a:rPr lang="en-GH" smtClean="0"/>
              <a:t>5</a:t>
            </a:fld>
            <a:endParaRPr lang="en-GH"/>
          </a:p>
        </p:txBody>
      </p:sp>
    </p:spTree>
    <p:extLst>
      <p:ext uri="{BB962C8B-B14F-4D97-AF65-F5344CB8AC3E}">
        <p14:creationId xmlns:p14="http://schemas.microsoft.com/office/powerpoint/2010/main" val="29789740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several measures and proactive steps to safeguard systems and data.</a:t>
            </a:r>
          </a:p>
          <a:p>
            <a:r>
              <a:rPr lang="en-US" b="1" dirty="0"/>
              <a:t>Input validation </a:t>
            </a:r>
            <a:r>
              <a:rPr lang="en-US" dirty="0"/>
              <a:t>ensures that user inputs say for example form inputs,  are sanitized and validated to prevent malicious data from being processed by the system. This can prevent SQL injection, Cross-Site Scripting (</a:t>
            </a:r>
            <a:r>
              <a:rPr lang="en-US" dirty="0" err="1"/>
              <a:t>XSS</a:t>
            </a:r>
            <a:r>
              <a:rPr lang="en-US" dirty="0"/>
              <a:t>), or other injection attacks. It is recommended to use server-side validation to enforce stricter controls on data input avoiding directly trusting client-side validations. Implement whitelists for acceptable input formats (e.g., ensuring only numeric inputs for age fields).</a:t>
            </a:r>
          </a:p>
          <a:p>
            <a:r>
              <a:rPr lang="en-US" b="1" dirty="0"/>
              <a:t>Authentication</a:t>
            </a:r>
            <a:r>
              <a:rPr lang="en-US" dirty="0"/>
              <a:t> is the process where the identity of users is verified. You must use strong password policies (e.g., minimum length, a combination of characters). Implement multi-factor authentication (MFA) to add an extra layer of security. </a:t>
            </a:r>
          </a:p>
          <a:p>
            <a:r>
              <a:rPr lang="en-US" b="1" dirty="0"/>
              <a:t>Authorization </a:t>
            </a:r>
            <a:r>
              <a:rPr lang="en-US" b="0" dirty="0"/>
              <a:t>e</a:t>
            </a:r>
            <a:r>
              <a:rPr lang="en-US" dirty="0"/>
              <a:t>nsures users have the necessary permissions to access specific resources. One commonly used method is to enforce </a:t>
            </a:r>
            <a:r>
              <a:rPr lang="en-US" b="1" dirty="0"/>
              <a:t>role-based access control (</a:t>
            </a:r>
            <a:r>
              <a:rPr lang="en-US" b="1" dirty="0" err="1"/>
              <a:t>RBAC</a:t>
            </a:r>
            <a:r>
              <a:rPr lang="en-US" b="1" dirty="0"/>
              <a:t>) </a:t>
            </a:r>
            <a:r>
              <a:rPr lang="en-US" dirty="0"/>
              <a:t>to define permissions based on user roles</a:t>
            </a:r>
          </a:p>
          <a:p>
            <a:r>
              <a:rPr lang="en-US" dirty="0"/>
              <a:t>Remember that, both authentication and authorization work together to ensure secure access to applications.</a:t>
            </a:r>
          </a:p>
          <a:p>
            <a:r>
              <a:rPr lang="en-US" dirty="0"/>
              <a:t>Properly </a:t>
            </a:r>
            <a:r>
              <a:rPr lang="en-US" b="1" dirty="0"/>
              <a:t>managing user sessions </a:t>
            </a:r>
            <a:r>
              <a:rPr lang="en-US" dirty="0"/>
              <a:t>is essential to prevent session hijacking and unauthorized access. Avoid exposing session IDs in URLs as they can be easily intercepted. Use secure cookies with attributes like </a:t>
            </a:r>
            <a:r>
              <a:rPr lang="en-US" b="1" dirty="0" err="1"/>
              <a:t>HttpOnly</a:t>
            </a:r>
            <a:r>
              <a:rPr lang="en-US" dirty="0"/>
              <a:t> and </a:t>
            </a:r>
            <a:r>
              <a:rPr lang="en-US" b="1" dirty="0"/>
              <a:t>Secure</a:t>
            </a:r>
            <a:r>
              <a:rPr lang="en-US" dirty="0"/>
              <a:t>. Implement session timeouts to reduce the risk of session fixation or theft. Remember that, poor session handling can allow attackers to impersonate legitimate users.</a:t>
            </a:r>
          </a:p>
          <a:p>
            <a:r>
              <a:rPr lang="en-IN" b="1" dirty="0"/>
              <a:t>Encryption</a:t>
            </a:r>
            <a:r>
              <a:rPr lang="en-IN" dirty="0"/>
              <a:t> protects sensitive data both during transmission (in transit) and while it is stored (at rest). </a:t>
            </a:r>
          </a:p>
          <a:p>
            <a:r>
              <a:rPr lang="en-IN" dirty="0"/>
              <a:t>The diagram explains how HTTPS encrypts data using SSL/TLS protocols.</a:t>
            </a:r>
          </a:p>
          <a:p>
            <a:r>
              <a:rPr lang="en-IN" dirty="0"/>
              <a:t>The public key encrypts the data, and the session key ensures secure communication between the browser and the server. </a:t>
            </a:r>
          </a:p>
          <a:p>
            <a:r>
              <a:rPr lang="en-IN" dirty="0"/>
              <a:t>Always enforce HTTPS for secure communication. Use strong encryption algorithms like AES for sensitive data storage. Avoid using outdated protocols like SSLv2 or weak algorithms. Remember that, encryption ensures confidentiality, prevents eavesdropping, and protects data integrity.</a:t>
            </a:r>
            <a:endParaRPr lang="en-GH" dirty="0"/>
          </a:p>
        </p:txBody>
      </p:sp>
      <p:sp>
        <p:nvSpPr>
          <p:cNvPr id="4" name="Slide Number Placeholder 3"/>
          <p:cNvSpPr>
            <a:spLocks noGrp="1"/>
          </p:cNvSpPr>
          <p:nvPr>
            <p:ph type="sldNum" sz="quarter" idx="5"/>
          </p:nvPr>
        </p:nvSpPr>
        <p:spPr/>
        <p:txBody>
          <a:bodyPr/>
          <a:lstStyle/>
          <a:p>
            <a:fld id="{5E6FEFE0-2319-461A-A752-96B5F86327A5}" type="slidenum">
              <a:rPr lang="en-GH" smtClean="0"/>
              <a:t>6</a:t>
            </a:fld>
            <a:endParaRPr lang="en-GH"/>
          </a:p>
        </p:txBody>
      </p:sp>
    </p:spTree>
    <p:extLst>
      <p:ext uri="{BB962C8B-B14F-4D97-AF65-F5344CB8AC3E}">
        <p14:creationId xmlns:p14="http://schemas.microsoft.com/office/powerpoint/2010/main" val="28910126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OWASP</a:t>
            </a:r>
            <a:r>
              <a:rPr lang="en-US" dirty="0"/>
              <a:t> (Open Web Application Security Project) is a nonprofit organization that provides resources to help organizations improve the security of their web applications. The </a:t>
            </a:r>
            <a:r>
              <a:rPr lang="en-US" b="1" dirty="0" err="1"/>
              <a:t>OWASP</a:t>
            </a:r>
            <a:r>
              <a:rPr lang="en-US" b="1" dirty="0"/>
              <a:t> Top 10 </a:t>
            </a:r>
            <a:r>
              <a:rPr lang="en-US" dirty="0"/>
              <a:t>is a widely recognized list of the most critical web application security risks. It serves as a guideline for developers and organizations to prioritize and mitigate these risks. Understanding and mitigating these vulnerabilities significantly reduces the risk of cyberattacks.</a:t>
            </a:r>
          </a:p>
          <a:p>
            <a:endParaRPr lang="en-US" dirty="0"/>
          </a:p>
          <a:p>
            <a:r>
              <a:rPr lang="en-US" b="1" dirty="0"/>
              <a:t>Defense-in-depth</a:t>
            </a:r>
            <a:r>
              <a:rPr lang="en-US" dirty="0"/>
              <a:t> is a cybersecurity strategy that applies multiple layers of defense to protect systems, applications, and data. </a:t>
            </a:r>
          </a:p>
          <a:p>
            <a:r>
              <a:rPr lang="en-US" dirty="0"/>
              <a:t>The layers of defense range from physical security (outermost) to application and data protection (innermost).</a:t>
            </a:r>
          </a:p>
          <a:p>
            <a:r>
              <a:rPr lang="en-US" dirty="0"/>
              <a:t>Each layer acts as a barrier, slowing down attackers and increasing the chances of detecting and stopping them.</a:t>
            </a:r>
          </a:p>
          <a:p>
            <a:endParaRPr lang="en-US" dirty="0"/>
          </a:p>
          <a:p>
            <a:r>
              <a:rPr lang="en-US" dirty="0"/>
              <a:t>The Key Layers include:</a:t>
            </a:r>
          </a:p>
          <a:p>
            <a:r>
              <a:rPr lang="en-US" b="1" dirty="0"/>
              <a:t>Physical Security</a:t>
            </a:r>
            <a:r>
              <a:rPr lang="en-US" dirty="0"/>
              <a:t>: Securing physical access to servers and hardware.</a:t>
            </a:r>
          </a:p>
          <a:p>
            <a:r>
              <a:rPr lang="en-US" b="1" dirty="0"/>
              <a:t>Perimeter Security</a:t>
            </a:r>
            <a:r>
              <a:rPr lang="en-US" dirty="0"/>
              <a:t>: Firewalls, intrusion detection systems (IDS), and intrusion prevention systems (IPS).</a:t>
            </a:r>
          </a:p>
          <a:p>
            <a:r>
              <a:rPr lang="en-US" b="1" dirty="0"/>
              <a:t>Internal Network Security</a:t>
            </a:r>
            <a:r>
              <a:rPr lang="en-US" dirty="0"/>
              <a:t>: Securing internal communications and network segmentation.</a:t>
            </a:r>
          </a:p>
          <a:p>
            <a:r>
              <a:rPr lang="en-US" b="1" dirty="0"/>
              <a:t>Host Security</a:t>
            </a:r>
            <a:r>
              <a:rPr lang="en-US" dirty="0"/>
              <a:t>: Hardening servers and workstations.</a:t>
            </a:r>
          </a:p>
          <a:p>
            <a:r>
              <a:rPr lang="en-US" b="1" dirty="0"/>
              <a:t>Application Security</a:t>
            </a:r>
            <a:r>
              <a:rPr lang="en-US" dirty="0"/>
              <a:t>: Preventing vulnerabilities like SQLi, </a:t>
            </a:r>
            <a:r>
              <a:rPr lang="en-US" dirty="0" err="1"/>
              <a:t>XSS</a:t>
            </a:r>
            <a:r>
              <a:rPr lang="en-US" dirty="0"/>
              <a:t>, and </a:t>
            </a:r>
            <a:r>
              <a:rPr lang="en-US" dirty="0" err="1"/>
              <a:t>CSRF</a:t>
            </a:r>
            <a:r>
              <a:rPr lang="en-US" dirty="0"/>
              <a:t> through secure coding practices.</a:t>
            </a:r>
          </a:p>
          <a:p>
            <a:r>
              <a:rPr lang="en-US" b="1" dirty="0"/>
              <a:t>Data Security</a:t>
            </a:r>
            <a:r>
              <a:rPr lang="en-US" dirty="0"/>
              <a:t>: Encrypting sensitive data both at rest and in transit.</a:t>
            </a:r>
          </a:p>
          <a:p>
            <a:endParaRPr lang="en-US" dirty="0"/>
          </a:p>
          <a:p>
            <a:r>
              <a:rPr lang="en-US" dirty="0"/>
              <a:t>Understand that no single defense mechanism is foolproof. Combining multiple defenses increases overall security.</a:t>
            </a:r>
            <a:endParaRPr lang="en-GH" dirty="0"/>
          </a:p>
        </p:txBody>
      </p:sp>
      <p:sp>
        <p:nvSpPr>
          <p:cNvPr id="4" name="Slide Number Placeholder 3"/>
          <p:cNvSpPr>
            <a:spLocks noGrp="1"/>
          </p:cNvSpPr>
          <p:nvPr>
            <p:ph type="sldNum" sz="quarter" idx="5"/>
          </p:nvPr>
        </p:nvSpPr>
        <p:spPr/>
        <p:txBody>
          <a:bodyPr/>
          <a:lstStyle/>
          <a:p>
            <a:fld id="{5E6FEFE0-2319-461A-A752-96B5F86327A5}" type="slidenum">
              <a:rPr lang="en-GH" smtClean="0"/>
              <a:t>7</a:t>
            </a:fld>
            <a:endParaRPr lang="en-GH"/>
          </a:p>
        </p:txBody>
      </p:sp>
    </p:spTree>
    <p:extLst>
      <p:ext uri="{BB962C8B-B14F-4D97-AF65-F5344CB8AC3E}">
        <p14:creationId xmlns:p14="http://schemas.microsoft.com/office/powerpoint/2010/main" val="16951376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Summary of Best Practices</a:t>
            </a:r>
          </a:p>
          <a:p>
            <a:r>
              <a:rPr lang="en-US" dirty="0"/>
              <a:t>Sanitizing and validating user inputs to prevent injection attacks and other exploits is crucial.</a:t>
            </a:r>
          </a:p>
          <a:p>
            <a:r>
              <a:rPr lang="en-US" dirty="0"/>
              <a:t>HTTPS/TLS plays a significant role in protecting data during transit and strong encryption methods for data at rest.</a:t>
            </a:r>
          </a:p>
          <a:p>
            <a:r>
              <a:rPr lang="en-US" dirty="0"/>
              <a:t>Strong authentication mechanisms, including multi-factor authentication (MFA), is the key to secure user access.</a:t>
            </a:r>
          </a:p>
          <a:p>
            <a:endParaRPr lang="en-US" dirty="0"/>
          </a:p>
          <a:p>
            <a:r>
              <a:rPr lang="en-US" b="1" dirty="0"/>
              <a:t>Tools and Resources</a:t>
            </a:r>
          </a:p>
          <a:p>
            <a:r>
              <a:rPr lang="en-US" b="1" dirty="0" err="1"/>
              <a:t>OWASP</a:t>
            </a:r>
            <a:r>
              <a:rPr lang="en-US" b="1" dirty="0"/>
              <a:t> ZAP </a:t>
            </a:r>
            <a:r>
              <a:rPr lang="en-US" b="0" dirty="0"/>
              <a:t>is a </a:t>
            </a:r>
            <a:r>
              <a:rPr lang="en-US" dirty="0"/>
              <a:t>free and popular tool for finding vulnerabilities in web applications.</a:t>
            </a:r>
          </a:p>
          <a:p>
            <a:r>
              <a:rPr lang="en-US" b="0" dirty="0"/>
              <a:t>Also, </a:t>
            </a:r>
            <a:r>
              <a:rPr lang="en-US" b="1" dirty="0"/>
              <a:t>Burp Suite </a:t>
            </a:r>
            <a:r>
              <a:rPr lang="en-US" b="0" dirty="0"/>
              <a:t>has </a:t>
            </a:r>
            <a:r>
              <a:rPr lang="en-US" dirty="0"/>
              <a:t>robust features for analyzing and testing web application security.</a:t>
            </a:r>
          </a:p>
          <a:p>
            <a:pPr>
              <a:buFont typeface="Arial" panose="020B0604020202020204" pitchFamily="34" charset="0"/>
              <a:buNone/>
            </a:pPr>
            <a:r>
              <a:rPr lang="en-US" b="0" dirty="0"/>
              <a:t>There are several Automated Security Testing Tools that you might want to integrate </a:t>
            </a:r>
            <a:r>
              <a:rPr lang="en-US" dirty="0"/>
              <a:t>into the development lifecycle to identify and address issues early (e.g., static code analysis tools or CI/CD security scanners). </a:t>
            </a:r>
          </a:p>
          <a:p>
            <a:pPr>
              <a:buFont typeface="Arial" panose="020B0604020202020204" pitchFamily="34" charset="0"/>
              <a:buNone/>
            </a:pPr>
            <a:r>
              <a:rPr lang="en-US" dirty="0"/>
              <a:t>All such tools help supplement manual efforts and improve efficiency in detecting vulnerabilities.</a:t>
            </a:r>
          </a:p>
          <a:p>
            <a:r>
              <a:rPr lang="en-US" b="1" dirty="0"/>
              <a:t>Final Thoughts</a:t>
            </a:r>
          </a:p>
          <a:p>
            <a:pPr>
              <a:buFont typeface="Arial" panose="020B0604020202020204" pitchFamily="34" charset="0"/>
              <a:buNone/>
            </a:pPr>
            <a:r>
              <a:rPr lang="en-US" dirty="0"/>
              <a:t>Web security is not a one-time activity. It requires continuous monitoring, testing, and updating to stay ahead of evolving threats.</a:t>
            </a:r>
          </a:p>
          <a:p>
            <a:pPr>
              <a:buFont typeface="Arial" panose="020B0604020202020204" pitchFamily="34" charset="0"/>
              <a:buNone/>
            </a:pPr>
            <a:r>
              <a:rPr lang="en-US" b="0" dirty="0"/>
              <a:t>It is very important to keep soft</a:t>
            </a:r>
            <a:r>
              <a:rPr lang="en-US" dirty="0"/>
              <a:t>ware, frameworks, and libraries updated to patch vulnerabilities. Outdated systems are a common entry point for attackers.</a:t>
            </a:r>
          </a:p>
          <a:p>
            <a:pPr>
              <a:buFont typeface="Arial" panose="020B0604020202020204" pitchFamily="34" charset="0"/>
              <a:buNone/>
            </a:pPr>
            <a:r>
              <a:rPr lang="en-US" dirty="0"/>
              <a:t>It is highly recommended to stay updated on new vulnerabilities and attack techniques by following platforms like </a:t>
            </a:r>
            <a:r>
              <a:rPr lang="en-US" dirty="0" err="1"/>
              <a:t>OWASP</a:t>
            </a:r>
            <a:r>
              <a:rPr lang="en-US" dirty="0"/>
              <a:t> and security forums. </a:t>
            </a:r>
          </a:p>
          <a:p>
            <a:pPr>
              <a:buFont typeface="Arial" panose="020B0604020202020204" pitchFamily="34" charset="0"/>
              <a:buNone/>
            </a:pPr>
            <a:endParaRPr lang="en-US" dirty="0"/>
          </a:p>
          <a:p>
            <a:pPr>
              <a:buFont typeface="Arial" panose="020B0604020202020204" pitchFamily="34" charset="0"/>
              <a:buNone/>
            </a:pPr>
            <a:r>
              <a:rPr lang="en-US" dirty="0"/>
              <a:t>Fostering a culture of security awareness among developers and stakeholders is crucial.</a:t>
            </a:r>
          </a:p>
          <a:p>
            <a:endParaRPr lang="en-GH" dirty="0"/>
          </a:p>
        </p:txBody>
      </p:sp>
      <p:sp>
        <p:nvSpPr>
          <p:cNvPr id="4" name="Slide Number Placeholder 3"/>
          <p:cNvSpPr>
            <a:spLocks noGrp="1"/>
          </p:cNvSpPr>
          <p:nvPr>
            <p:ph type="sldNum" sz="quarter" idx="5"/>
          </p:nvPr>
        </p:nvSpPr>
        <p:spPr/>
        <p:txBody>
          <a:bodyPr/>
          <a:lstStyle/>
          <a:p>
            <a:fld id="{5E6FEFE0-2319-461A-A752-96B5F86327A5}" type="slidenum">
              <a:rPr lang="en-GH" smtClean="0"/>
              <a:t>8</a:t>
            </a:fld>
            <a:endParaRPr lang="en-GH"/>
          </a:p>
        </p:txBody>
      </p:sp>
    </p:spTree>
    <p:extLst>
      <p:ext uri="{BB962C8B-B14F-4D97-AF65-F5344CB8AC3E}">
        <p14:creationId xmlns:p14="http://schemas.microsoft.com/office/powerpoint/2010/main" val="34125310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moz://a </a:t>
            </a:r>
            <a:r>
              <a:rPr lang="en-US" dirty="0"/>
              <a:t>is Mozilla’s initiative to promote secure and privacy-respecting web development.</a:t>
            </a:r>
          </a:p>
          <a:p>
            <a:r>
              <a:rPr lang="en-US" dirty="0"/>
              <a:t>Explore Mozilla's guidelines and tools, such as Security best practices for developers and Firefox-specific security features and their implementation.</a:t>
            </a:r>
          </a:p>
          <a:p>
            <a:endParaRPr lang="en-US" dirty="0"/>
          </a:p>
          <a:p>
            <a:r>
              <a:rPr lang="en-IN" b="1" dirty="0" err="1"/>
              <a:t>MDN</a:t>
            </a:r>
            <a:r>
              <a:rPr lang="en-IN" b="1" dirty="0"/>
              <a:t> Web Docs</a:t>
            </a:r>
            <a:r>
              <a:rPr lang="en-IN" dirty="0"/>
              <a:t> is a comprehensive resource for web developers. It provides detailed tutorials on secure web development, best practices for handling user input, cookies, HTTPS, and more. For example, search for "secure cookies" or "input sanitization" on </a:t>
            </a:r>
            <a:r>
              <a:rPr lang="en-IN" dirty="0" err="1"/>
              <a:t>MDN</a:t>
            </a:r>
            <a:r>
              <a:rPr lang="en-IN" dirty="0"/>
              <a:t> for in-depth guidance.</a:t>
            </a:r>
          </a:p>
          <a:p>
            <a:endParaRPr lang="en-IN" dirty="0"/>
          </a:p>
          <a:p>
            <a:r>
              <a:rPr lang="en-US" b="1" dirty="0"/>
              <a:t>Google</a:t>
            </a:r>
            <a:r>
              <a:rPr lang="en-US" dirty="0"/>
              <a:t> provides tools and documentation focused on securing web applications and improving user safety online. Google’s Safe Browsing initiative, for example, protects users from malicious websites. </a:t>
            </a:r>
          </a:p>
          <a:p>
            <a:r>
              <a:rPr lang="en-US" dirty="0"/>
              <a:t>Also, provides guidelines for developers on integrating Google’s security services.</a:t>
            </a:r>
          </a:p>
          <a:p>
            <a:r>
              <a:rPr lang="en-US" dirty="0"/>
              <a:t>Please explore their recommendations for HTTPS and Content Security Policies (</a:t>
            </a:r>
            <a:r>
              <a:rPr lang="en-US" dirty="0" err="1"/>
              <a:t>CSP</a:t>
            </a:r>
            <a:r>
              <a:rPr lang="en-US" dirty="0"/>
              <a:t>).</a:t>
            </a:r>
            <a:endParaRPr lang="en-GH" dirty="0"/>
          </a:p>
        </p:txBody>
      </p:sp>
      <p:sp>
        <p:nvSpPr>
          <p:cNvPr id="4" name="Slide Number Placeholder 3"/>
          <p:cNvSpPr>
            <a:spLocks noGrp="1"/>
          </p:cNvSpPr>
          <p:nvPr>
            <p:ph type="sldNum" sz="quarter" idx="5"/>
          </p:nvPr>
        </p:nvSpPr>
        <p:spPr/>
        <p:txBody>
          <a:bodyPr/>
          <a:lstStyle/>
          <a:p>
            <a:fld id="{5E6FEFE0-2319-461A-A752-96B5F86327A5}" type="slidenum">
              <a:rPr lang="en-GH" smtClean="0"/>
              <a:t>9</a:t>
            </a:fld>
            <a:endParaRPr lang="en-GH"/>
          </a:p>
        </p:txBody>
      </p:sp>
    </p:spTree>
    <p:extLst>
      <p:ext uri="{BB962C8B-B14F-4D97-AF65-F5344CB8AC3E}">
        <p14:creationId xmlns:p14="http://schemas.microsoft.com/office/powerpoint/2010/main" val="9118449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44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392201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106192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4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068524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701853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743659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1960910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229530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219576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839121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500187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177596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Rectangles 9">
            <a:extLst>
              <a:ext uri="{FF2B5EF4-FFF2-40B4-BE49-F238E27FC236}">
                <a16:creationId xmlns:a16="http://schemas.microsoft.com/office/drawing/2014/main" id="{ADC1A0AE-A0C7-CD4A-0BAB-8EBC26398050}"/>
              </a:ext>
            </a:extLst>
          </p:cNvPr>
          <p:cNvSpPr/>
          <p:nvPr/>
        </p:nvSpPr>
        <p:spPr>
          <a:xfrm flipV="1">
            <a:off x="222485" y="6626648"/>
            <a:ext cx="8752840" cy="220630"/>
          </a:xfrm>
          <a:prstGeom prst="rect">
            <a:avLst/>
          </a:prstGeom>
          <a:solidFill>
            <a:schemeClr val="accent2">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240465" y="129540"/>
            <a:ext cx="8681519" cy="116268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41100" y="1386039"/>
            <a:ext cx="8681519" cy="494314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3028950" y="6623601"/>
            <a:ext cx="3086100" cy="21548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910341" y="6615830"/>
            <a:ext cx="2057400" cy="231027"/>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pic>
        <p:nvPicPr>
          <p:cNvPr id="8" name="Picture 7" descr="A logo of a university&#10;&#10;Description automatically generated"/>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32820" y="6355380"/>
            <a:ext cx="588010" cy="485140"/>
          </a:xfrm>
          <a:prstGeom prst="rect">
            <a:avLst/>
          </a:prstGeom>
        </p:spPr>
      </p:pic>
      <p:sp>
        <p:nvSpPr>
          <p:cNvPr id="9" name="Rectangles 9">
            <a:extLst>
              <a:ext uri="{FF2B5EF4-FFF2-40B4-BE49-F238E27FC236}">
                <a16:creationId xmlns:a16="http://schemas.microsoft.com/office/drawing/2014/main" id="{E634ECF9-3972-2CC8-4938-4B4BFD28C772}"/>
              </a:ext>
            </a:extLst>
          </p:cNvPr>
          <p:cNvSpPr/>
          <p:nvPr/>
        </p:nvSpPr>
        <p:spPr>
          <a:xfrm flipV="1">
            <a:off x="14806" y="7014"/>
            <a:ext cx="9108241" cy="39062"/>
          </a:xfrm>
          <a:prstGeom prst="rect">
            <a:avLst/>
          </a:prstGeom>
          <a:solidFill>
            <a:schemeClr val="accent5">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810263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lnSpc>
          <a:spcPct val="90000"/>
        </a:lnSpc>
        <a:spcBef>
          <a:spcPct val="0"/>
        </a:spcBef>
        <a:buNone/>
        <a:defRPr sz="3600" b="1" kern="1200">
          <a:solidFill>
            <a:srgbClr val="C00000"/>
          </a:solidFill>
          <a:latin typeface="+mj-lt"/>
          <a:ea typeface="Verdana" panose="020B060403050404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owasp.org/www-project-top-ten/"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infosec.mozilla.org/guidelines/web_security"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hyperlink" Target="https://web.dev/explore/secure" TargetMode="External"/><Relationship Id="rId4" Type="http://schemas.openxmlformats.org/officeDocument/2006/relationships/hyperlink" Target="https://developer.mozilla.org/en-US/docs/Web/Security"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localhost/"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localhost/"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Implementing Security</a:t>
            </a:r>
          </a:p>
        </p:txBody>
      </p:sp>
      <p:sp>
        <p:nvSpPr>
          <p:cNvPr id="3" name="Subtitle 2"/>
          <p:cNvSpPr>
            <a:spLocks noGrp="1"/>
          </p:cNvSpPr>
          <p:nvPr>
            <p:ph type="subTitle" idx="1"/>
          </p:nvPr>
        </p:nvSpPr>
        <p:spPr/>
        <p:txBody>
          <a:bodyPr/>
          <a:lstStyle/>
          <a:p>
            <a:r>
              <a:rPr lang="en-US" dirty="0"/>
              <a:t>Dr Govindha Ramaiah Yeluripati</a:t>
            </a:r>
          </a:p>
        </p:txBody>
      </p:sp>
    </p:spTree>
    <p:extLst>
      <p:ext uri="{BB962C8B-B14F-4D97-AF65-F5344CB8AC3E}">
        <p14:creationId xmlns:p14="http://schemas.microsoft.com/office/powerpoint/2010/main" val="3072013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768AC-CEEE-2837-35FA-CA657F2BE845}"/>
              </a:ext>
            </a:extLst>
          </p:cNvPr>
          <p:cNvSpPr>
            <a:spLocks noGrp="1"/>
          </p:cNvSpPr>
          <p:nvPr>
            <p:ph type="title"/>
          </p:nvPr>
        </p:nvSpPr>
        <p:spPr/>
        <p:txBody>
          <a:bodyPr/>
          <a:lstStyle/>
          <a:p>
            <a:r>
              <a:rPr lang="en-IN" dirty="0"/>
              <a:t>Outline</a:t>
            </a:r>
            <a:endParaRPr lang="en-GH" dirty="0"/>
          </a:p>
        </p:txBody>
      </p:sp>
      <p:sp>
        <p:nvSpPr>
          <p:cNvPr id="3" name="Content Placeholder 2">
            <a:extLst>
              <a:ext uri="{FF2B5EF4-FFF2-40B4-BE49-F238E27FC236}">
                <a16:creationId xmlns:a16="http://schemas.microsoft.com/office/drawing/2014/main" id="{FE9B6F12-7C25-291E-A1F2-74995F542A7C}"/>
              </a:ext>
            </a:extLst>
          </p:cNvPr>
          <p:cNvSpPr>
            <a:spLocks noGrp="1"/>
          </p:cNvSpPr>
          <p:nvPr>
            <p:ph idx="1"/>
          </p:nvPr>
        </p:nvSpPr>
        <p:spPr/>
        <p:txBody>
          <a:bodyPr/>
          <a:lstStyle/>
          <a:p>
            <a:r>
              <a:rPr lang="en-IN" dirty="0"/>
              <a:t>PART1: Security Essentials:</a:t>
            </a:r>
          </a:p>
          <a:p>
            <a:pPr lvl="1">
              <a:buFont typeface="Wingdings" panose="05000000000000000000" pitchFamily="2" charset="2"/>
              <a:buChar char="ü"/>
            </a:pPr>
            <a:r>
              <a:rPr lang="en-IN" dirty="0"/>
              <a:t>Introduction to Web Security</a:t>
            </a:r>
          </a:p>
          <a:p>
            <a:pPr lvl="1">
              <a:buFont typeface="Wingdings" panose="05000000000000000000" pitchFamily="2" charset="2"/>
              <a:buChar char="ü"/>
            </a:pPr>
            <a:r>
              <a:rPr lang="en-IN" dirty="0"/>
              <a:t>Common Web Vulnerabilities</a:t>
            </a:r>
          </a:p>
          <a:p>
            <a:pPr lvl="1">
              <a:buFont typeface="Wingdings" panose="05000000000000000000" pitchFamily="2" charset="2"/>
              <a:buChar char="ü"/>
            </a:pPr>
            <a:r>
              <a:rPr lang="en-IN" dirty="0"/>
              <a:t>Security Best Practices</a:t>
            </a:r>
          </a:p>
          <a:p>
            <a:pPr lvl="1">
              <a:buFont typeface="Wingdings" panose="05000000000000000000" pitchFamily="2" charset="2"/>
              <a:buChar char="ü"/>
            </a:pPr>
            <a:r>
              <a:rPr lang="en-US" dirty="0"/>
              <a:t>OWASP Top 10 and Defense-in-Depth</a:t>
            </a:r>
          </a:p>
          <a:p>
            <a:pPr lvl="1">
              <a:buFont typeface="Wingdings" panose="05000000000000000000" pitchFamily="2" charset="2"/>
              <a:buChar char="ü"/>
            </a:pPr>
            <a:r>
              <a:rPr lang="en-IN" dirty="0"/>
              <a:t>Conclusion and Key Takeaways</a:t>
            </a:r>
          </a:p>
          <a:p>
            <a:pPr marL="457200" lvl="1" indent="0">
              <a:buNone/>
            </a:pPr>
            <a:endParaRPr lang="en-IN" dirty="0"/>
          </a:p>
          <a:p>
            <a:r>
              <a:rPr lang="en-IN" dirty="0"/>
              <a:t>PART2: Implementing user Authentication</a:t>
            </a:r>
          </a:p>
          <a:p>
            <a:pPr>
              <a:buFont typeface="Wingdings" panose="05000000000000000000" pitchFamily="2" charset="2"/>
              <a:buChar char="ü"/>
            </a:pPr>
            <a:endParaRPr lang="en-GH" dirty="0"/>
          </a:p>
        </p:txBody>
      </p:sp>
    </p:spTree>
    <p:extLst>
      <p:ext uri="{BB962C8B-B14F-4D97-AF65-F5344CB8AC3E}">
        <p14:creationId xmlns:p14="http://schemas.microsoft.com/office/powerpoint/2010/main" val="1455555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1FB0E-A4EF-6AB7-3A83-A0D7F63AD181}"/>
              </a:ext>
            </a:extLst>
          </p:cNvPr>
          <p:cNvSpPr>
            <a:spLocks noGrp="1"/>
          </p:cNvSpPr>
          <p:nvPr>
            <p:ph type="title"/>
          </p:nvPr>
        </p:nvSpPr>
        <p:spPr/>
        <p:txBody>
          <a:bodyPr/>
          <a:lstStyle/>
          <a:p>
            <a:r>
              <a:rPr lang="en-IN" dirty="0"/>
              <a:t>Security Essentials</a:t>
            </a:r>
            <a:endParaRPr lang="en-GH" dirty="0"/>
          </a:p>
        </p:txBody>
      </p:sp>
      <p:sp>
        <p:nvSpPr>
          <p:cNvPr id="3" name="Text Placeholder 2">
            <a:extLst>
              <a:ext uri="{FF2B5EF4-FFF2-40B4-BE49-F238E27FC236}">
                <a16:creationId xmlns:a16="http://schemas.microsoft.com/office/drawing/2014/main" id="{56C30A89-D32A-6873-6A02-2451E79D5CC0}"/>
              </a:ext>
            </a:extLst>
          </p:cNvPr>
          <p:cNvSpPr>
            <a:spLocks noGrp="1"/>
          </p:cNvSpPr>
          <p:nvPr>
            <p:ph type="body" idx="1"/>
          </p:nvPr>
        </p:nvSpPr>
        <p:spPr/>
        <p:txBody>
          <a:bodyPr/>
          <a:lstStyle/>
          <a:p>
            <a:endParaRPr lang="en-GH"/>
          </a:p>
        </p:txBody>
      </p:sp>
    </p:spTree>
    <p:extLst>
      <p:ext uri="{BB962C8B-B14F-4D97-AF65-F5344CB8AC3E}">
        <p14:creationId xmlns:p14="http://schemas.microsoft.com/office/powerpoint/2010/main" val="3845602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EC620-5362-1A56-C1A5-16D26C403B18}"/>
              </a:ext>
            </a:extLst>
          </p:cNvPr>
          <p:cNvSpPr>
            <a:spLocks noGrp="1"/>
          </p:cNvSpPr>
          <p:nvPr>
            <p:ph type="title"/>
          </p:nvPr>
        </p:nvSpPr>
        <p:spPr/>
        <p:txBody>
          <a:bodyPr/>
          <a:lstStyle/>
          <a:p>
            <a:r>
              <a:rPr lang="en-IN" dirty="0"/>
              <a:t>Introduction to Web Security</a:t>
            </a:r>
            <a:endParaRPr lang="en-GH" dirty="0"/>
          </a:p>
        </p:txBody>
      </p:sp>
      <p:sp>
        <p:nvSpPr>
          <p:cNvPr id="3" name="Content Placeholder 2">
            <a:extLst>
              <a:ext uri="{FF2B5EF4-FFF2-40B4-BE49-F238E27FC236}">
                <a16:creationId xmlns:a16="http://schemas.microsoft.com/office/drawing/2014/main" id="{2ED1E127-1575-50D8-7C12-764E57E2CF69}"/>
              </a:ext>
            </a:extLst>
          </p:cNvPr>
          <p:cNvSpPr>
            <a:spLocks noGrp="1"/>
          </p:cNvSpPr>
          <p:nvPr>
            <p:ph idx="1"/>
          </p:nvPr>
        </p:nvSpPr>
        <p:spPr/>
        <p:txBody>
          <a:bodyPr/>
          <a:lstStyle/>
          <a:p>
            <a:pPr>
              <a:buClr>
                <a:schemeClr val="tx1"/>
              </a:buClr>
            </a:pPr>
            <a:r>
              <a:rPr lang="en-US" dirty="0">
                <a:solidFill>
                  <a:srgbClr val="0070C0"/>
                </a:solidFill>
              </a:rPr>
              <a:t>What is Web Security?</a:t>
            </a:r>
            <a:r>
              <a:rPr lang="en-US" dirty="0"/>
              <a:t>: </a:t>
            </a:r>
          </a:p>
          <a:p>
            <a:pPr lvl="1">
              <a:buFont typeface="Wingdings" panose="05000000000000000000" pitchFamily="2" charset="2"/>
              <a:buChar char="ü"/>
            </a:pPr>
            <a:r>
              <a:rPr lang="en-US" dirty="0"/>
              <a:t>Protecting websites, web applications, and their users from cyber threats</a:t>
            </a:r>
          </a:p>
          <a:p>
            <a:pPr lvl="1"/>
            <a:endParaRPr lang="en-US" dirty="0"/>
          </a:p>
          <a:p>
            <a:pPr>
              <a:buClr>
                <a:schemeClr val="tx1"/>
              </a:buClr>
            </a:pPr>
            <a:r>
              <a:rPr lang="en-US" dirty="0">
                <a:solidFill>
                  <a:srgbClr val="0070C0"/>
                </a:solidFill>
              </a:rPr>
              <a:t>Importance of Web Security</a:t>
            </a:r>
            <a:r>
              <a:rPr lang="en-US" dirty="0"/>
              <a:t>: </a:t>
            </a:r>
          </a:p>
          <a:p>
            <a:pPr lvl="1">
              <a:buFont typeface="Wingdings" panose="05000000000000000000" pitchFamily="2" charset="2"/>
              <a:buChar char="ü"/>
            </a:pPr>
            <a:r>
              <a:rPr lang="en-US" dirty="0"/>
              <a:t>The risks of data breaches</a:t>
            </a:r>
          </a:p>
          <a:p>
            <a:pPr lvl="1">
              <a:buFont typeface="Wingdings" panose="05000000000000000000" pitchFamily="2" charset="2"/>
              <a:buChar char="ü"/>
            </a:pPr>
            <a:r>
              <a:rPr lang="en-US" dirty="0"/>
              <a:t>loss of trust, and </a:t>
            </a:r>
          </a:p>
          <a:p>
            <a:pPr lvl="1">
              <a:buFont typeface="Wingdings" panose="05000000000000000000" pitchFamily="2" charset="2"/>
              <a:buChar char="ü"/>
            </a:pPr>
            <a:r>
              <a:rPr lang="en-US" dirty="0"/>
              <a:t>legal implications</a:t>
            </a:r>
          </a:p>
          <a:p>
            <a:pPr lvl="1"/>
            <a:endParaRPr lang="en-US" dirty="0"/>
          </a:p>
          <a:p>
            <a:pPr>
              <a:buClr>
                <a:schemeClr val="tx1"/>
              </a:buClr>
            </a:pPr>
            <a:r>
              <a:rPr lang="en-US" dirty="0">
                <a:solidFill>
                  <a:srgbClr val="0070C0"/>
                </a:solidFill>
              </a:rPr>
              <a:t>Threat Landscape</a:t>
            </a:r>
            <a:r>
              <a:rPr lang="en-US" dirty="0"/>
              <a:t>: </a:t>
            </a:r>
          </a:p>
          <a:p>
            <a:pPr lvl="1">
              <a:buFont typeface="Wingdings" panose="05000000000000000000" pitchFamily="2" charset="2"/>
              <a:buChar char="ü"/>
            </a:pPr>
            <a:r>
              <a:rPr lang="en-US" dirty="0"/>
              <a:t>Attackers target both users and applications</a:t>
            </a:r>
            <a:endParaRPr lang="en-GH" dirty="0"/>
          </a:p>
        </p:txBody>
      </p:sp>
    </p:spTree>
    <p:extLst>
      <p:ext uri="{BB962C8B-B14F-4D97-AF65-F5344CB8AC3E}">
        <p14:creationId xmlns:p14="http://schemas.microsoft.com/office/powerpoint/2010/main" val="2211712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A5DE5C-8976-A380-1493-99F2CEFE336B}"/>
              </a:ext>
            </a:extLst>
          </p:cNvPr>
          <p:cNvPicPr>
            <a:picLocks noChangeAspect="1"/>
          </p:cNvPicPr>
          <p:nvPr/>
        </p:nvPicPr>
        <p:blipFill>
          <a:blip r:embed="rId3"/>
          <a:stretch>
            <a:fillRect/>
          </a:stretch>
        </p:blipFill>
        <p:spPr>
          <a:xfrm>
            <a:off x="4308953" y="2064559"/>
            <a:ext cx="4721864" cy="2833118"/>
          </a:xfrm>
          <a:prstGeom prst="rect">
            <a:avLst/>
          </a:prstGeom>
        </p:spPr>
      </p:pic>
      <p:sp>
        <p:nvSpPr>
          <p:cNvPr id="2" name="Title 1">
            <a:extLst>
              <a:ext uri="{FF2B5EF4-FFF2-40B4-BE49-F238E27FC236}">
                <a16:creationId xmlns:a16="http://schemas.microsoft.com/office/drawing/2014/main" id="{5A9EC620-5362-1A56-C1A5-16D26C403B18}"/>
              </a:ext>
            </a:extLst>
          </p:cNvPr>
          <p:cNvSpPr>
            <a:spLocks noGrp="1"/>
          </p:cNvSpPr>
          <p:nvPr>
            <p:ph type="title"/>
          </p:nvPr>
        </p:nvSpPr>
        <p:spPr/>
        <p:txBody>
          <a:bodyPr/>
          <a:lstStyle/>
          <a:p>
            <a:r>
              <a:rPr lang="en-IN" dirty="0"/>
              <a:t>Common Web Vulnerabilities</a:t>
            </a:r>
            <a:endParaRPr lang="en-GH" dirty="0"/>
          </a:p>
        </p:txBody>
      </p:sp>
      <p:sp>
        <p:nvSpPr>
          <p:cNvPr id="3" name="Content Placeholder 2">
            <a:extLst>
              <a:ext uri="{FF2B5EF4-FFF2-40B4-BE49-F238E27FC236}">
                <a16:creationId xmlns:a16="http://schemas.microsoft.com/office/drawing/2014/main" id="{2ED1E127-1575-50D8-7C12-764E57E2CF69}"/>
              </a:ext>
            </a:extLst>
          </p:cNvPr>
          <p:cNvSpPr>
            <a:spLocks noGrp="1"/>
          </p:cNvSpPr>
          <p:nvPr>
            <p:ph idx="1"/>
          </p:nvPr>
        </p:nvSpPr>
        <p:spPr>
          <a:xfrm>
            <a:off x="241101" y="1189973"/>
            <a:ext cx="4330900" cy="5139207"/>
          </a:xfrm>
        </p:spPr>
        <p:txBody>
          <a:bodyPr/>
          <a:lstStyle/>
          <a:p>
            <a:r>
              <a:rPr lang="en-US" dirty="0">
                <a:solidFill>
                  <a:srgbClr val="FF0000"/>
                </a:solidFill>
              </a:rPr>
              <a:t>SQL Injection (SQLi)</a:t>
            </a:r>
            <a:r>
              <a:rPr lang="en-US" dirty="0"/>
              <a:t>: Injection of malicious SQL queries</a:t>
            </a:r>
          </a:p>
          <a:p>
            <a:r>
              <a:rPr lang="en-US" dirty="0">
                <a:solidFill>
                  <a:srgbClr val="FF0000"/>
                </a:solidFill>
              </a:rPr>
              <a:t>Cross-Site Scripting (</a:t>
            </a:r>
            <a:r>
              <a:rPr lang="en-US" dirty="0" err="1">
                <a:solidFill>
                  <a:srgbClr val="FF0000"/>
                </a:solidFill>
              </a:rPr>
              <a:t>XSS</a:t>
            </a:r>
            <a:r>
              <a:rPr lang="en-US" dirty="0">
                <a:solidFill>
                  <a:srgbClr val="FF0000"/>
                </a:solidFill>
              </a:rPr>
              <a:t>)</a:t>
            </a:r>
            <a:r>
              <a:rPr lang="en-US" dirty="0"/>
              <a:t>: Injection of malicious scripts into a web page</a:t>
            </a:r>
          </a:p>
          <a:p>
            <a:r>
              <a:rPr lang="en-US" dirty="0">
                <a:solidFill>
                  <a:srgbClr val="FF0000"/>
                </a:solidFill>
              </a:rPr>
              <a:t>Cross-Site Request Forgery (</a:t>
            </a:r>
            <a:r>
              <a:rPr lang="en-US" dirty="0" err="1">
                <a:solidFill>
                  <a:srgbClr val="FF0000"/>
                </a:solidFill>
              </a:rPr>
              <a:t>CSRF</a:t>
            </a:r>
            <a:r>
              <a:rPr lang="en-US" dirty="0">
                <a:solidFill>
                  <a:srgbClr val="FF0000"/>
                </a:solidFill>
              </a:rPr>
              <a:t>)</a:t>
            </a:r>
            <a:r>
              <a:rPr lang="en-US" dirty="0"/>
              <a:t>: Unauthorized actions executed by a user’s browser</a:t>
            </a:r>
          </a:p>
          <a:p>
            <a:r>
              <a:rPr lang="en-US" dirty="0">
                <a:solidFill>
                  <a:srgbClr val="FF0000"/>
                </a:solidFill>
              </a:rPr>
              <a:t>Insecure Authentication</a:t>
            </a:r>
            <a:r>
              <a:rPr lang="en-US" dirty="0"/>
              <a:t>: Weak passwords, session hijacking, improper credential storage</a:t>
            </a:r>
          </a:p>
          <a:p>
            <a:r>
              <a:rPr lang="en-US" dirty="0">
                <a:solidFill>
                  <a:srgbClr val="FF0000"/>
                </a:solidFill>
              </a:rPr>
              <a:t>Broken Access Control</a:t>
            </a:r>
            <a:r>
              <a:rPr lang="en-US" dirty="0"/>
              <a:t>: Failure to restrict users' access to specific data or actions</a:t>
            </a:r>
            <a:endParaRPr lang="en-GH" dirty="0"/>
          </a:p>
        </p:txBody>
      </p:sp>
    </p:spTree>
    <p:extLst>
      <p:ext uri="{BB962C8B-B14F-4D97-AF65-F5344CB8AC3E}">
        <p14:creationId xmlns:p14="http://schemas.microsoft.com/office/powerpoint/2010/main" val="3361856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D5AD2-A64C-E468-951D-DFF700CACFF8}"/>
              </a:ext>
            </a:extLst>
          </p:cNvPr>
          <p:cNvSpPr>
            <a:spLocks noGrp="1"/>
          </p:cNvSpPr>
          <p:nvPr>
            <p:ph type="title"/>
          </p:nvPr>
        </p:nvSpPr>
        <p:spPr/>
        <p:txBody>
          <a:bodyPr/>
          <a:lstStyle/>
          <a:p>
            <a:r>
              <a:rPr lang="en-IN" dirty="0"/>
              <a:t>Security Best Practices</a:t>
            </a:r>
            <a:endParaRPr lang="en-GH" dirty="0"/>
          </a:p>
        </p:txBody>
      </p:sp>
      <p:sp>
        <p:nvSpPr>
          <p:cNvPr id="3" name="Content Placeholder 2">
            <a:extLst>
              <a:ext uri="{FF2B5EF4-FFF2-40B4-BE49-F238E27FC236}">
                <a16:creationId xmlns:a16="http://schemas.microsoft.com/office/drawing/2014/main" id="{F0B6DF7B-185D-772C-CCF8-A52F8CA46FB4}"/>
              </a:ext>
            </a:extLst>
          </p:cNvPr>
          <p:cNvSpPr>
            <a:spLocks noGrp="1"/>
          </p:cNvSpPr>
          <p:nvPr>
            <p:ph idx="1"/>
          </p:nvPr>
        </p:nvSpPr>
        <p:spPr>
          <a:xfrm>
            <a:off x="303730" y="914401"/>
            <a:ext cx="8618253" cy="3482236"/>
          </a:xfrm>
        </p:spPr>
        <p:txBody>
          <a:bodyPr/>
          <a:lstStyle/>
          <a:p>
            <a:r>
              <a:rPr lang="en-IN" dirty="0">
                <a:solidFill>
                  <a:srgbClr val="00B050"/>
                </a:solidFill>
              </a:rPr>
              <a:t>Input Validation</a:t>
            </a:r>
            <a:r>
              <a:rPr lang="en-IN" dirty="0"/>
              <a:t>: Sanitizing and validating user input to prevent injection attacks</a:t>
            </a:r>
          </a:p>
          <a:p>
            <a:r>
              <a:rPr lang="en-IN" dirty="0">
                <a:solidFill>
                  <a:srgbClr val="00B050"/>
                </a:solidFill>
              </a:rPr>
              <a:t>Authentication &amp; Authorization</a:t>
            </a:r>
            <a:r>
              <a:rPr lang="en-IN" dirty="0"/>
              <a:t>: Using strong password policies, multi-factor authentication (MFA), and implementing proper role-based access control</a:t>
            </a:r>
          </a:p>
          <a:p>
            <a:r>
              <a:rPr lang="en-IN" dirty="0">
                <a:solidFill>
                  <a:srgbClr val="00B050"/>
                </a:solidFill>
              </a:rPr>
              <a:t>Secure Session Management</a:t>
            </a:r>
            <a:r>
              <a:rPr lang="en-IN" dirty="0"/>
              <a:t>: Proper session handling, avoiding session IDs in URLs, and using secure cookies.</a:t>
            </a:r>
          </a:p>
          <a:p>
            <a:r>
              <a:rPr lang="en-IN" dirty="0">
                <a:solidFill>
                  <a:srgbClr val="00B050"/>
                </a:solidFill>
              </a:rPr>
              <a:t>Encryption</a:t>
            </a:r>
            <a:r>
              <a:rPr lang="en-IN" dirty="0"/>
              <a:t>: Implementing HTTPS/TLS to secure data in transit, using encryption for sensitive data at rest.</a:t>
            </a:r>
            <a:endParaRPr lang="en-GH" dirty="0"/>
          </a:p>
        </p:txBody>
      </p:sp>
      <p:pic>
        <p:nvPicPr>
          <p:cNvPr id="7" name="Picture 6" descr="A diagram of a computer">
            <a:extLst>
              <a:ext uri="{FF2B5EF4-FFF2-40B4-BE49-F238E27FC236}">
                <a16:creationId xmlns:a16="http://schemas.microsoft.com/office/drawing/2014/main" id="{749D13E2-172E-61B8-A89E-D77AF7538EE2}"/>
              </a:ext>
            </a:extLst>
          </p:cNvPr>
          <p:cNvPicPr>
            <a:picLocks noChangeAspect="1"/>
          </p:cNvPicPr>
          <p:nvPr/>
        </p:nvPicPr>
        <p:blipFill>
          <a:blip r:embed="rId3">
            <a:extLst>
              <a:ext uri="{28A0092B-C50C-407E-A947-70E740481C1C}">
                <a14:useLocalDpi xmlns:a14="http://schemas.microsoft.com/office/drawing/2010/main" val="0"/>
              </a:ext>
            </a:extLst>
          </a:blip>
          <a:srcRect t="27068" b="29370"/>
          <a:stretch/>
        </p:blipFill>
        <p:spPr>
          <a:xfrm>
            <a:off x="170412" y="4324363"/>
            <a:ext cx="8760646" cy="1908140"/>
          </a:xfrm>
          <a:prstGeom prst="rect">
            <a:avLst/>
          </a:prstGeom>
        </p:spPr>
      </p:pic>
      <p:sp>
        <p:nvSpPr>
          <p:cNvPr id="8" name="TextBox 7">
            <a:extLst>
              <a:ext uri="{FF2B5EF4-FFF2-40B4-BE49-F238E27FC236}">
                <a16:creationId xmlns:a16="http://schemas.microsoft.com/office/drawing/2014/main" id="{BBB00B25-EE00-DC94-67BD-A1B611441613}"/>
              </a:ext>
            </a:extLst>
          </p:cNvPr>
          <p:cNvSpPr txBox="1"/>
          <p:nvPr/>
        </p:nvSpPr>
        <p:spPr>
          <a:xfrm>
            <a:off x="3979308" y="6232503"/>
            <a:ext cx="1142854" cy="369332"/>
          </a:xfrm>
          <a:prstGeom prst="rect">
            <a:avLst/>
          </a:prstGeom>
          <a:noFill/>
        </p:spPr>
        <p:txBody>
          <a:bodyPr wrap="square" rtlCol="0">
            <a:spAutoFit/>
          </a:bodyPr>
          <a:lstStyle/>
          <a:p>
            <a:pPr algn="ctr"/>
            <a:r>
              <a:rPr lang="en-IN" b="1" dirty="0">
                <a:solidFill>
                  <a:srgbClr val="FF0000"/>
                </a:solidFill>
              </a:rPr>
              <a:t>HTTPS</a:t>
            </a:r>
            <a:endParaRPr lang="en-GH" b="1" dirty="0">
              <a:solidFill>
                <a:srgbClr val="FF0000"/>
              </a:solidFill>
            </a:endParaRPr>
          </a:p>
        </p:txBody>
      </p:sp>
    </p:spTree>
    <p:extLst>
      <p:ext uri="{BB962C8B-B14F-4D97-AF65-F5344CB8AC3E}">
        <p14:creationId xmlns:p14="http://schemas.microsoft.com/office/powerpoint/2010/main" val="928441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ABA2206-E4F6-F2B4-37D2-7B47F1A998B9}"/>
              </a:ext>
            </a:extLst>
          </p:cNvPr>
          <p:cNvPicPr>
            <a:picLocks noChangeAspect="1"/>
          </p:cNvPicPr>
          <p:nvPr/>
        </p:nvPicPr>
        <p:blipFill>
          <a:blip r:embed="rId3"/>
          <a:stretch>
            <a:fillRect/>
          </a:stretch>
        </p:blipFill>
        <p:spPr>
          <a:xfrm>
            <a:off x="3432132" y="1386040"/>
            <a:ext cx="5507114" cy="4085922"/>
          </a:xfrm>
          <a:prstGeom prst="rect">
            <a:avLst/>
          </a:prstGeom>
        </p:spPr>
      </p:pic>
      <p:sp>
        <p:nvSpPr>
          <p:cNvPr id="2" name="Title 1">
            <a:extLst>
              <a:ext uri="{FF2B5EF4-FFF2-40B4-BE49-F238E27FC236}">
                <a16:creationId xmlns:a16="http://schemas.microsoft.com/office/drawing/2014/main" id="{8345DDD5-5DF5-0E83-7376-78903CAFE400}"/>
              </a:ext>
            </a:extLst>
          </p:cNvPr>
          <p:cNvSpPr>
            <a:spLocks noGrp="1"/>
          </p:cNvSpPr>
          <p:nvPr>
            <p:ph type="title"/>
          </p:nvPr>
        </p:nvSpPr>
        <p:spPr/>
        <p:txBody>
          <a:bodyPr/>
          <a:lstStyle/>
          <a:p>
            <a:r>
              <a:rPr lang="en-US" dirty="0"/>
              <a:t>OWASP Top 10 and Defense-in-Depth</a:t>
            </a:r>
            <a:endParaRPr lang="en-GH" dirty="0"/>
          </a:p>
        </p:txBody>
      </p:sp>
      <p:sp>
        <p:nvSpPr>
          <p:cNvPr id="3" name="Content Placeholder 2">
            <a:extLst>
              <a:ext uri="{FF2B5EF4-FFF2-40B4-BE49-F238E27FC236}">
                <a16:creationId xmlns:a16="http://schemas.microsoft.com/office/drawing/2014/main" id="{B0868B01-E34F-C3AF-F42E-ADFF22395184}"/>
              </a:ext>
            </a:extLst>
          </p:cNvPr>
          <p:cNvSpPr>
            <a:spLocks noGrp="1"/>
          </p:cNvSpPr>
          <p:nvPr>
            <p:ph idx="1"/>
          </p:nvPr>
        </p:nvSpPr>
        <p:spPr>
          <a:xfrm>
            <a:off x="241101" y="1386039"/>
            <a:ext cx="3711446" cy="4943141"/>
          </a:xfrm>
        </p:spPr>
        <p:txBody>
          <a:bodyPr/>
          <a:lstStyle/>
          <a:p>
            <a:r>
              <a:rPr lang="en-US" dirty="0">
                <a:solidFill>
                  <a:srgbClr val="FF0000"/>
                </a:solidFill>
                <a:hlinkClick r:id="rId4"/>
              </a:rPr>
              <a:t>OWASP Top 10 web security vulnerabilities </a:t>
            </a:r>
            <a:endParaRPr lang="en-US" dirty="0">
              <a:solidFill>
                <a:srgbClr val="FF0000"/>
              </a:solidFill>
            </a:endParaRPr>
          </a:p>
          <a:p>
            <a:pPr marL="0" indent="0">
              <a:buNone/>
            </a:pPr>
            <a:r>
              <a:rPr lang="en-US" dirty="0"/>
              <a:t>    (SQLi, </a:t>
            </a:r>
            <a:r>
              <a:rPr lang="en-US" dirty="0" err="1"/>
              <a:t>XSS</a:t>
            </a:r>
            <a:r>
              <a:rPr lang="en-US" dirty="0"/>
              <a:t>, </a:t>
            </a:r>
            <a:r>
              <a:rPr lang="en-US" dirty="0" err="1"/>
              <a:t>CSRF</a:t>
            </a:r>
            <a:r>
              <a:rPr lang="en-US" dirty="0"/>
              <a:t>, etc.)</a:t>
            </a:r>
          </a:p>
          <a:p>
            <a:pPr marL="0" indent="0">
              <a:buNone/>
            </a:pPr>
            <a:endParaRPr lang="en-US" dirty="0"/>
          </a:p>
          <a:p>
            <a:r>
              <a:rPr lang="en-US" dirty="0">
                <a:solidFill>
                  <a:srgbClr val="0070C0"/>
                </a:solidFill>
              </a:rPr>
              <a:t>Defense-in-Depth Strategy</a:t>
            </a:r>
            <a:r>
              <a:rPr lang="en-US" dirty="0"/>
              <a:t>: Apply multiple layers of defense at different levels of the system (network, application, and data).</a:t>
            </a:r>
            <a:endParaRPr lang="en-GH" dirty="0"/>
          </a:p>
        </p:txBody>
      </p:sp>
    </p:spTree>
    <p:extLst>
      <p:ext uri="{BB962C8B-B14F-4D97-AF65-F5344CB8AC3E}">
        <p14:creationId xmlns:p14="http://schemas.microsoft.com/office/powerpoint/2010/main" val="2985371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B2D9A-7FE5-ABF8-2821-AC0B68802A00}"/>
              </a:ext>
            </a:extLst>
          </p:cNvPr>
          <p:cNvSpPr>
            <a:spLocks noGrp="1"/>
          </p:cNvSpPr>
          <p:nvPr>
            <p:ph type="title"/>
          </p:nvPr>
        </p:nvSpPr>
        <p:spPr/>
        <p:txBody>
          <a:bodyPr/>
          <a:lstStyle/>
          <a:p>
            <a:r>
              <a:rPr lang="en-IN" dirty="0"/>
              <a:t>Conclusion and Key Takeaways</a:t>
            </a:r>
            <a:endParaRPr lang="en-GH" dirty="0"/>
          </a:p>
        </p:txBody>
      </p:sp>
      <p:sp>
        <p:nvSpPr>
          <p:cNvPr id="3" name="Content Placeholder 2">
            <a:extLst>
              <a:ext uri="{FF2B5EF4-FFF2-40B4-BE49-F238E27FC236}">
                <a16:creationId xmlns:a16="http://schemas.microsoft.com/office/drawing/2014/main" id="{4C3E52E5-8B51-8CA9-A673-5F355ADDDC9A}"/>
              </a:ext>
            </a:extLst>
          </p:cNvPr>
          <p:cNvSpPr>
            <a:spLocks noGrp="1"/>
          </p:cNvSpPr>
          <p:nvPr>
            <p:ph idx="1"/>
          </p:nvPr>
        </p:nvSpPr>
        <p:spPr/>
        <p:txBody>
          <a:bodyPr/>
          <a:lstStyle/>
          <a:p>
            <a:r>
              <a:rPr lang="en-US" dirty="0"/>
              <a:t>Summary of Best Practices: </a:t>
            </a:r>
          </a:p>
          <a:p>
            <a:pPr lvl="1">
              <a:buFont typeface="Courier New" panose="02070309020205020404" pitchFamily="49" charset="0"/>
              <a:buChar char="o"/>
            </a:pPr>
            <a:r>
              <a:rPr lang="en-US" dirty="0"/>
              <a:t>Input validation, encryption, authentication</a:t>
            </a:r>
          </a:p>
          <a:p>
            <a:endParaRPr lang="en-US" dirty="0"/>
          </a:p>
          <a:p>
            <a:r>
              <a:rPr lang="en-US" dirty="0"/>
              <a:t>Tools and Resources: </a:t>
            </a:r>
          </a:p>
          <a:p>
            <a:pPr lvl="1">
              <a:buFont typeface="Courier New" panose="02070309020205020404" pitchFamily="49" charset="0"/>
              <a:buChar char="o"/>
            </a:pPr>
            <a:r>
              <a:rPr lang="en-US" dirty="0"/>
              <a:t>Penetration testing (e.g., OWASP ZAP, Burp Suite) </a:t>
            </a:r>
          </a:p>
          <a:p>
            <a:pPr lvl="1">
              <a:buFont typeface="Courier New" panose="02070309020205020404" pitchFamily="49" charset="0"/>
              <a:buChar char="o"/>
            </a:pPr>
            <a:r>
              <a:rPr lang="en-US" dirty="0"/>
              <a:t>Automated security testing tools</a:t>
            </a:r>
          </a:p>
          <a:p>
            <a:endParaRPr lang="en-US" dirty="0"/>
          </a:p>
          <a:p>
            <a:r>
              <a:rPr lang="en-US" dirty="0"/>
              <a:t>Final Thoughts: </a:t>
            </a:r>
          </a:p>
          <a:p>
            <a:pPr lvl="1">
              <a:buFont typeface="Courier New" panose="02070309020205020404" pitchFamily="49" charset="0"/>
              <a:buChar char="o"/>
            </a:pPr>
            <a:r>
              <a:rPr lang="en-US" dirty="0"/>
              <a:t>Ongoing nature of web security</a:t>
            </a:r>
          </a:p>
          <a:p>
            <a:pPr lvl="1">
              <a:buFont typeface="Courier New" panose="02070309020205020404" pitchFamily="49" charset="0"/>
              <a:buChar char="o"/>
            </a:pPr>
            <a:r>
              <a:rPr lang="en-US" dirty="0"/>
              <a:t>Regular updates</a:t>
            </a:r>
          </a:p>
          <a:p>
            <a:pPr lvl="1">
              <a:buFont typeface="Courier New" panose="02070309020205020404" pitchFamily="49" charset="0"/>
              <a:buChar char="o"/>
            </a:pPr>
            <a:r>
              <a:rPr lang="en-US" dirty="0"/>
              <a:t>Staying informed on security vulnerabilities</a:t>
            </a:r>
            <a:endParaRPr lang="en-GH" dirty="0"/>
          </a:p>
        </p:txBody>
      </p:sp>
    </p:spTree>
    <p:extLst>
      <p:ext uri="{BB962C8B-B14F-4D97-AF65-F5344CB8AC3E}">
        <p14:creationId xmlns:p14="http://schemas.microsoft.com/office/powerpoint/2010/main" val="21085533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28217-F52E-2DC9-9252-93E0CB833271}"/>
              </a:ext>
            </a:extLst>
          </p:cNvPr>
          <p:cNvSpPr>
            <a:spLocks noGrp="1"/>
          </p:cNvSpPr>
          <p:nvPr>
            <p:ph type="title"/>
          </p:nvPr>
        </p:nvSpPr>
        <p:spPr/>
        <p:txBody>
          <a:bodyPr/>
          <a:lstStyle/>
          <a:p>
            <a:r>
              <a:rPr lang="en-IN" dirty="0"/>
              <a:t>References and Further Reading</a:t>
            </a:r>
            <a:endParaRPr lang="en-GH" dirty="0"/>
          </a:p>
        </p:txBody>
      </p:sp>
      <p:sp>
        <p:nvSpPr>
          <p:cNvPr id="3" name="Content Placeholder 2">
            <a:extLst>
              <a:ext uri="{FF2B5EF4-FFF2-40B4-BE49-F238E27FC236}">
                <a16:creationId xmlns:a16="http://schemas.microsoft.com/office/drawing/2014/main" id="{88654520-8BB2-3761-E3B7-DE62C0889D1E}"/>
              </a:ext>
            </a:extLst>
          </p:cNvPr>
          <p:cNvSpPr>
            <a:spLocks noGrp="1"/>
          </p:cNvSpPr>
          <p:nvPr>
            <p:ph idx="1"/>
          </p:nvPr>
        </p:nvSpPr>
        <p:spPr/>
        <p:txBody>
          <a:bodyPr/>
          <a:lstStyle/>
          <a:p>
            <a:r>
              <a:rPr lang="en-IN" dirty="0">
                <a:hlinkClick r:id="rId3"/>
              </a:rPr>
              <a:t>moz://a</a:t>
            </a:r>
            <a:endParaRPr lang="en-IN" dirty="0"/>
          </a:p>
          <a:p>
            <a:r>
              <a:rPr lang="en-IN" dirty="0">
                <a:hlinkClick r:id="rId4"/>
              </a:rPr>
              <a:t>Mozilla Developer Network (</a:t>
            </a:r>
            <a:r>
              <a:rPr lang="en-IN" dirty="0" err="1">
                <a:hlinkClick r:id="rId4"/>
              </a:rPr>
              <a:t>MDN</a:t>
            </a:r>
            <a:r>
              <a:rPr lang="en-IN" dirty="0">
                <a:hlinkClick r:id="rId4"/>
              </a:rPr>
              <a:t>) Web Docs</a:t>
            </a:r>
            <a:endParaRPr lang="en-IN" dirty="0"/>
          </a:p>
          <a:p>
            <a:r>
              <a:rPr lang="en-IN" dirty="0">
                <a:hlinkClick r:id="rId5"/>
              </a:rPr>
              <a:t>Google's Web Security</a:t>
            </a:r>
            <a:endParaRPr lang="en-GH" dirty="0"/>
          </a:p>
        </p:txBody>
      </p:sp>
    </p:spTree>
    <p:extLst>
      <p:ext uri="{BB962C8B-B14F-4D97-AF65-F5344CB8AC3E}">
        <p14:creationId xmlns:p14="http://schemas.microsoft.com/office/powerpoint/2010/main" val="3124594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39E33-445A-46CC-F5F0-2DBD717C7EC5}"/>
              </a:ext>
            </a:extLst>
          </p:cNvPr>
          <p:cNvSpPr>
            <a:spLocks noGrp="1"/>
          </p:cNvSpPr>
          <p:nvPr>
            <p:ph type="title"/>
          </p:nvPr>
        </p:nvSpPr>
        <p:spPr/>
        <p:txBody>
          <a:bodyPr/>
          <a:lstStyle/>
          <a:p>
            <a:r>
              <a:rPr lang="en-IN" dirty="0"/>
              <a:t>Implementing User Authentication </a:t>
            </a:r>
            <a:endParaRPr lang="en-GH" dirty="0"/>
          </a:p>
        </p:txBody>
      </p:sp>
      <p:sp>
        <p:nvSpPr>
          <p:cNvPr id="3" name="Text Placeholder 2">
            <a:extLst>
              <a:ext uri="{FF2B5EF4-FFF2-40B4-BE49-F238E27FC236}">
                <a16:creationId xmlns:a16="http://schemas.microsoft.com/office/drawing/2014/main" id="{B44D3441-A4C3-5291-ACB4-AE61FC3C0B11}"/>
              </a:ext>
            </a:extLst>
          </p:cNvPr>
          <p:cNvSpPr>
            <a:spLocks noGrp="1"/>
          </p:cNvSpPr>
          <p:nvPr>
            <p:ph type="body" idx="1"/>
          </p:nvPr>
        </p:nvSpPr>
        <p:spPr/>
        <p:txBody>
          <a:bodyPr/>
          <a:lstStyle/>
          <a:p>
            <a:endParaRPr lang="en-GH"/>
          </a:p>
        </p:txBody>
      </p:sp>
    </p:spTree>
    <p:extLst>
      <p:ext uri="{BB962C8B-B14F-4D97-AF65-F5344CB8AC3E}">
        <p14:creationId xmlns:p14="http://schemas.microsoft.com/office/powerpoint/2010/main" val="3510377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D8BCF-BF37-92AB-4E5D-23ADA7ACB28C}"/>
              </a:ext>
            </a:extLst>
          </p:cNvPr>
          <p:cNvSpPr>
            <a:spLocks noGrp="1"/>
          </p:cNvSpPr>
          <p:nvPr>
            <p:ph type="title"/>
          </p:nvPr>
        </p:nvSpPr>
        <p:spPr/>
        <p:txBody>
          <a:bodyPr/>
          <a:lstStyle/>
          <a:p>
            <a:r>
              <a:rPr lang="en-IN" dirty="0"/>
              <a:t>Steps for our Example Application</a:t>
            </a:r>
            <a:endParaRPr lang="en-GH" dirty="0"/>
          </a:p>
        </p:txBody>
      </p:sp>
      <p:sp>
        <p:nvSpPr>
          <p:cNvPr id="3" name="Content Placeholder 2">
            <a:extLst>
              <a:ext uri="{FF2B5EF4-FFF2-40B4-BE49-F238E27FC236}">
                <a16:creationId xmlns:a16="http://schemas.microsoft.com/office/drawing/2014/main" id="{CA120E57-D2BA-DE1D-6672-EB7F1B0C3B13}"/>
              </a:ext>
            </a:extLst>
          </p:cNvPr>
          <p:cNvSpPr>
            <a:spLocks noGrp="1"/>
          </p:cNvSpPr>
          <p:nvPr>
            <p:ph idx="1"/>
          </p:nvPr>
        </p:nvSpPr>
        <p:spPr/>
        <p:txBody>
          <a:bodyPr/>
          <a:lstStyle/>
          <a:p>
            <a:pPr marL="457200" indent="-457200">
              <a:buAutoNum type="arabicParenR"/>
            </a:pPr>
            <a:r>
              <a:rPr lang="en-US" dirty="0"/>
              <a:t>Add User Authentication Endpoints:</a:t>
            </a:r>
          </a:p>
          <a:p>
            <a:pPr lvl="1">
              <a:buFont typeface="Wingdings" panose="05000000000000000000" pitchFamily="2" charset="2"/>
              <a:buChar char="ü"/>
            </a:pPr>
            <a:r>
              <a:rPr lang="en-US" dirty="0"/>
              <a:t>Add PHP scripts for </a:t>
            </a:r>
            <a:r>
              <a:rPr lang="en-US" dirty="0" err="1">
                <a:solidFill>
                  <a:srgbClr val="0070C0"/>
                </a:solidFill>
              </a:rPr>
              <a:t>login.php</a:t>
            </a:r>
            <a:r>
              <a:rPr lang="en-US" dirty="0"/>
              <a:t>, </a:t>
            </a:r>
            <a:r>
              <a:rPr lang="en-US" dirty="0" err="1">
                <a:solidFill>
                  <a:srgbClr val="0070C0"/>
                </a:solidFill>
              </a:rPr>
              <a:t>register.php</a:t>
            </a:r>
            <a:r>
              <a:rPr lang="en-US" dirty="0"/>
              <a:t>, and </a:t>
            </a:r>
            <a:r>
              <a:rPr lang="en-US" dirty="0" err="1">
                <a:solidFill>
                  <a:srgbClr val="0070C0"/>
                </a:solidFill>
              </a:rPr>
              <a:t>logout.php</a:t>
            </a:r>
            <a:endParaRPr lang="en-US" dirty="0"/>
          </a:p>
          <a:p>
            <a:pPr marL="457200" indent="-457200">
              <a:buFont typeface="+mj-lt"/>
              <a:buAutoNum type="arabicParenR"/>
            </a:pPr>
            <a:r>
              <a:rPr lang="en-US" dirty="0"/>
              <a:t>Create a </a:t>
            </a:r>
            <a:r>
              <a:rPr lang="en-US" b="1" dirty="0"/>
              <a:t>users</a:t>
            </a:r>
            <a:r>
              <a:rPr lang="en-US" dirty="0"/>
              <a:t> Table with Passwords:</a:t>
            </a:r>
          </a:p>
          <a:p>
            <a:pPr lvl="1">
              <a:buFont typeface="Wingdings" panose="05000000000000000000" pitchFamily="2" charset="2"/>
              <a:buChar char="ü"/>
            </a:pPr>
            <a:r>
              <a:rPr lang="en-US" dirty="0"/>
              <a:t>Modify or create a new users table to include fields for storing usernames and </a:t>
            </a:r>
            <a:r>
              <a:rPr lang="en-US" u="sng" dirty="0"/>
              <a:t>hashed</a:t>
            </a:r>
            <a:r>
              <a:rPr lang="en-US" dirty="0"/>
              <a:t> passwords.</a:t>
            </a:r>
          </a:p>
          <a:p>
            <a:pPr marL="457200" indent="-457200">
              <a:buFont typeface="+mj-lt"/>
              <a:buAutoNum type="arabicParenR"/>
            </a:pPr>
            <a:r>
              <a:rPr lang="en-US" dirty="0"/>
              <a:t>Securely Store Passwords:</a:t>
            </a:r>
          </a:p>
          <a:p>
            <a:pPr lvl="1">
              <a:buFont typeface="Wingdings" panose="05000000000000000000" pitchFamily="2" charset="2"/>
              <a:buChar char="ü"/>
            </a:pPr>
            <a:r>
              <a:rPr lang="en-US" dirty="0"/>
              <a:t>Use a secure hashing algorithm (like </a:t>
            </a:r>
            <a:r>
              <a:rPr lang="en-US" b="1" dirty="0" err="1">
                <a:solidFill>
                  <a:srgbClr val="00B050"/>
                </a:solidFill>
              </a:rPr>
              <a:t>password_hash</a:t>
            </a:r>
            <a:r>
              <a:rPr lang="en-US" b="1" dirty="0">
                <a:solidFill>
                  <a:srgbClr val="00B050"/>
                </a:solidFill>
              </a:rPr>
              <a:t> </a:t>
            </a:r>
            <a:r>
              <a:rPr lang="en-US" dirty="0"/>
              <a:t>in PHP) to store passwords.</a:t>
            </a:r>
          </a:p>
          <a:p>
            <a:pPr marL="457200" indent="-457200">
              <a:buFont typeface="+mj-lt"/>
              <a:buAutoNum type="arabicParenR"/>
            </a:pPr>
            <a:r>
              <a:rPr lang="en-US" dirty="0"/>
              <a:t>Authenticate Users During Login:</a:t>
            </a:r>
          </a:p>
          <a:p>
            <a:pPr lvl="1">
              <a:buFont typeface="Wingdings" panose="05000000000000000000" pitchFamily="2" charset="2"/>
              <a:buChar char="ü"/>
            </a:pPr>
            <a:r>
              <a:rPr lang="en-US" dirty="0"/>
              <a:t>Compare the user-provided password (using </a:t>
            </a:r>
            <a:r>
              <a:rPr lang="en-US" b="1" dirty="0" err="1">
                <a:solidFill>
                  <a:srgbClr val="00B050"/>
                </a:solidFill>
              </a:rPr>
              <a:t>password_verify</a:t>
            </a:r>
            <a:r>
              <a:rPr lang="en-US" dirty="0"/>
              <a:t>) with the hashed password in the database.</a:t>
            </a:r>
          </a:p>
          <a:p>
            <a:pPr marL="457200" indent="-457200">
              <a:buFont typeface="+mj-lt"/>
              <a:buAutoNum type="arabicParenR"/>
            </a:pPr>
            <a:r>
              <a:rPr lang="en-US" dirty="0"/>
              <a:t>Issue and Verify Tokens or Sessions:</a:t>
            </a:r>
          </a:p>
          <a:p>
            <a:pPr lvl="1">
              <a:buFont typeface="Wingdings" panose="05000000000000000000" pitchFamily="2" charset="2"/>
              <a:buChar char="ü"/>
            </a:pPr>
            <a:r>
              <a:rPr lang="en-US" dirty="0"/>
              <a:t>After successful login, issue a </a:t>
            </a:r>
            <a:r>
              <a:rPr lang="en-US" dirty="0" err="1"/>
              <a:t>JWT</a:t>
            </a:r>
            <a:r>
              <a:rPr lang="en-US" dirty="0"/>
              <a:t> (JSON Web Token) or use PHP sessions to maintain the user authentication state.</a:t>
            </a:r>
            <a:endParaRPr lang="en-GH" dirty="0"/>
          </a:p>
        </p:txBody>
      </p:sp>
    </p:spTree>
    <p:extLst>
      <p:ext uri="{BB962C8B-B14F-4D97-AF65-F5344CB8AC3E}">
        <p14:creationId xmlns:p14="http://schemas.microsoft.com/office/powerpoint/2010/main" val="6089254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D27AB-149D-87B1-5578-B4A171405C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1C4F54-71B1-DDFC-969C-0AD12F42B2A0}"/>
              </a:ext>
            </a:extLst>
          </p:cNvPr>
          <p:cNvSpPr>
            <a:spLocks noGrp="1"/>
          </p:cNvSpPr>
          <p:nvPr>
            <p:ph type="title"/>
          </p:nvPr>
        </p:nvSpPr>
        <p:spPr/>
        <p:txBody>
          <a:bodyPr/>
          <a:lstStyle/>
          <a:p>
            <a:r>
              <a:rPr lang="en-IN" dirty="0"/>
              <a:t>Steps for our Example Application</a:t>
            </a:r>
            <a:endParaRPr lang="en-GH" dirty="0"/>
          </a:p>
        </p:txBody>
      </p:sp>
      <p:sp>
        <p:nvSpPr>
          <p:cNvPr id="3" name="Content Placeholder 2">
            <a:extLst>
              <a:ext uri="{FF2B5EF4-FFF2-40B4-BE49-F238E27FC236}">
                <a16:creationId xmlns:a16="http://schemas.microsoft.com/office/drawing/2014/main" id="{FAD93F37-08DC-AF3A-7750-545AB07CE401}"/>
              </a:ext>
            </a:extLst>
          </p:cNvPr>
          <p:cNvSpPr>
            <a:spLocks noGrp="1"/>
          </p:cNvSpPr>
          <p:nvPr>
            <p:ph idx="1"/>
          </p:nvPr>
        </p:nvSpPr>
        <p:spPr/>
        <p:txBody>
          <a:bodyPr/>
          <a:lstStyle/>
          <a:p>
            <a:r>
              <a:rPr lang="en-US" dirty="0">
                <a:solidFill>
                  <a:srgbClr val="0070C0"/>
                </a:solidFill>
              </a:rPr>
              <a:t>Changing the database</a:t>
            </a:r>
            <a:r>
              <a:rPr lang="en-US" dirty="0"/>
              <a:t>:</a:t>
            </a:r>
          </a:p>
          <a:p>
            <a:pPr marL="0" indent="0">
              <a:buNone/>
            </a:pPr>
            <a:r>
              <a:rPr lang="en-US" dirty="0"/>
              <a:t>    Update the </a:t>
            </a:r>
            <a:r>
              <a:rPr lang="en-US" b="1" dirty="0"/>
              <a:t>users</a:t>
            </a:r>
            <a:r>
              <a:rPr lang="en-US" dirty="0"/>
              <a:t> table to include username and password fields:</a:t>
            </a:r>
          </a:p>
          <a:p>
            <a:pPr marL="0" indent="0">
              <a:buNone/>
            </a:pPr>
            <a:endParaRPr lang="en-US" dirty="0"/>
          </a:p>
          <a:p>
            <a:pPr marL="0" indent="0">
              <a:buNone/>
            </a:pPr>
            <a:endParaRPr lang="en-US" dirty="0"/>
          </a:p>
          <a:p>
            <a:pPr marL="0" indent="0">
              <a:buNone/>
            </a:pPr>
            <a:endParaRPr lang="en-US" dirty="0"/>
          </a:p>
          <a:p>
            <a:pPr marL="0" indent="0">
              <a:buNone/>
            </a:pPr>
            <a:r>
              <a:rPr lang="en-US" dirty="0"/>
              <a:t>     </a:t>
            </a:r>
            <a:r>
              <a:rPr lang="en-US" dirty="0">
                <a:solidFill>
                  <a:srgbClr val="FF0000"/>
                </a:solidFill>
              </a:rPr>
              <a:t>OR</a:t>
            </a:r>
            <a:r>
              <a:rPr lang="en-US" dirty="0"/>
              <a:t>      Create a separate table for user authentication:</a:t>
            </a:r>
          </a:p>
          <a:p>
            <a:pPr marL="0" indent="0">
              <a:buNone/>
            </a:pPr>
            <a:endParaRPr lang="en-GH" dirty="0"/>
          </a:p>
        </p:txBody>
      </p:sp>
      <p:pic>
        <p:nvPicPr>
          <p:cNvPr id="5" name="Picture 4">
            <a:extLst>
              <a:ext uri="{FF2B5EF4-FFF2-40B4-BE49-F238E27FC236}">
                <a16:creationId xmlns:a16="http://schemas.microsoft.com/office/drawing/2014/main" id="{C466F3D0-EF3B-05BC-FEEF-87182DD572E4}"/>
              </a:ext>
            </a:extLst>
          </p:cNvPr>
          <p:cNvPicPr>
            <a:picLocks noChangeAspect="1"/>
          </p:cNvPicPr>
          <p:nvPr/>
        </p:nvPicPr>
        <p:blipFill>
          <a:blip r:embed="rId2"/>
          <a:stretch>
            <a:fillRect/>
          </a:stretch>
        </p:blipFill>
        <p:spPr>
          <a:xfrm>
            <a:off x="593076" y="2409683"/>
            <a:ext cx="5371675" cy="1156477"/>
          </a:xfrm>
          <a:prstGeom prst="rect">
            <a:avLst/>
          </a:prstGeom>
        </p:spPr>
      </p:pic>
      <p:pic>
        <p:nvPicPr>
          <p:cNvPr id="7" name="Picture 6">
            <a:extLst>
              <a:ext uri="{FF2B5EF4-FFF2-40B4-BE49-F238E27FC236}">
                <a16:creationId xmlns:a16="http://schemas.microsoft.com/office/drawing/2014/main" id="{5D23C6C5-FB7C-0EF0-5E98-A95FF7379A94}"/>
              </a:ext>
            </a:extLst>
          </p:cNvPr>
          <p:cNvPicPr>
            <a:picLocks noChangeAspect="1"/>
          </p:cNvPicPr>
          <p:nvPr/>
        </p:nvPicPr>
        <p:blipFill>
          <a:blip r:embed="rId3"/>
          <a:stretch>
            <a:fillRect/>
          </a:stretch>
        </p:blipFill>
        <p:spPr>
          <a:xfrm>
            <a:off x="615936" y="4188809"/>
            <a:ext cx="6176407" cy="2231811"/>
          </a:xfrm>
          <a:prstGeom prst="rect">
            <a:avLst/>
          </a:prstGeom>
        </p:spPr>
      </p:pic>
    </p:spTree>
    <p:extLst>
      <p:ext uri="{BB962C8B-B14F-4D97-AF65-F5344CB8AC3E}">
        <p14:creationId xmlns:p14="http://schemas.microsoft.com/office/powerpoint/2010/main" val="9821279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53756-CFA9-D879-1520-79CFD4C19A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7FACFE-48B6-1336-BE08-747730622AF5}"/>
              </a:ext>
            </a:extLst>
          </p:cNvPr>
          <p:cNvSpPr>
            <a:spLocks noGrp="1"/>
          </p:cNvSpPr>
          <p:nvPr>
            <p:ph type="title"/>
          </p:nvPr>
        </p:nvSpPr>
        <p:spPr/>
        <p:txBody>
          <a:bodyPr/>
          <a:lstStyle/>
          <a:p>
            <a:r>
              <a:rPr lang="en-IN" dirty="0"/>
              <a:t>Steps for our Example Application</a:t>
            </a:r>
            <a:endParaRPr lang="en-GH" dirty="0"/>
          </a:p>
        </p:txBody>
      </p:sp>
      <p:sp>
        <p:nvSpPr>
          <p:cNvPr id="3" name="Content Placeholder 2">
            <a:extLst>
              <a:ext uri="{FF2B5EF4-FFF2-40B4-BE49-F238E27FC236}">
                <a16:creationId xmlns:a16="http://schemas.microsoft.com/office/drawing/2014/main" id="{25F8E3E6-22D5-B690-78FC-D3095D44BB32}"/>
              </a:ext>
            </a:extLst>
          </p:cNvPr>
          <p:cNvSpPr>
            <a:spLocks noGrp="1"/>
          </p:cNvSpPr>
          <p:nvPr>
            <p:ph idx="1"/>
          </p:nvPr>
        </p:nvSpPr>
        <p:spPr/>
        <p:txBody>
          <a:bodyPr/>
          <a:lstStyle/>
          <a:p>
            <a:pPr marL="0" indent="0">
              <a:buNone/>
            </a:pPr>
            <a:r>
              <a:rPr lang="en-US" b="1" dirty="0" err="1">
                <a:solidFill>
                  <a:srgbClr val="0070C0"/>
                </a:solidFill>
                <a:latin typeface="Consolas" panose="020B0609020204030204" pitchFamily="49" charset="0"/>
              </a:rPr>
              <a:t>register.php</a:t>
            </a:r>
            <a:r>
              <a:rPr lang="en-US" dirty="0"/>
              <a:t>:</a:t>
            </a:r>
          </a:p>
          <a:p>
            <a:r>
              <a:rPr lang="en-US" dirty="0"/>
              <a:t>Write the script that handles </a:t>
            </a:r>
            <a:r>
              <a:rPr lang="en-US" dirty="0">
                <a:solidFill>
                  <a:srgbClr val="FF0000"/>
                </a:solidFill>
              </a:rPr>
              <a:t>user registration </a:t>
            </a:r>
            <a:r>
              <a:rPr lang="en-US" dirty="0"/>
              <a:t>by saving usernames and hashed passwords. (Check Canvas for the example script)</a:t>
            </a:r>
          </a:p>
          <a:p>
            <a:pPr marL="0" indent="0">
              <a:buNone/>
            </a:pPr>
            <a:r>
              <a:rPr lang="en-US" b="1" dirty="0" err="1">
                <a:solidFill>
                  <a:srgbClr val="0070C0"/>
                </a:solidFill>
                <a:latin typeface="Consolas" panose="020B0609020204030204" pitchFamily="49" charset="0"/>
              </a:rPr>
              <a:t>login.php</a:t>
            </a:r>
            <a:r>
              <a:rPr lang="en-US" dirty="0">
                <a:latin typeface="Consolas" panose="020B0609020204030204" pitchFamily="49" charset="0"/>
              </a:rPr>
              <a:t>:</a:t>
            </a:r>
          </a:p>
          <a:p>
            <a:r>
              <a:rPr lang="en-US" dirty="0"/>
              <a:t>Write the script that verifies a </a:t>
            </a:r>
            <a:r>
              <a:rPr lang="en-US" dirty="0">
                <a:solidFill>
                  <a:srgbClr val="FF0000"/>
                </a:solidFill>
              </a:rPr>
              <a:t>user's credentials </a:t>
            </a:r>
            <a:r>
              <a:rPr lang="en-US" dirty="0"/>
              <a:t>and issues a session or token. (Check Canvas for the example script)</a:t>
            </a:r>
          </a:p>
          <a:p>
            <a:pPr marL="0" indent="0">
              <a:buNone/>
            </a:pPr>
            <a:r>
              <a:rPr lang="en-US" b="1" dirty="0" err="1">
                <a:solidFill>
                  <a:srgbClr val="0070C0"/>
                </a:solidFill>
                <a:latin typeface="Consolas" panose="020B0609020204030204" pitchFamily="49" charset="0"/>
              </a:rPr>
              <a:t>logout.php</a:t>
            </a:r>
            <a:r>
              <a:rPr lang="en-US" dirty="0"/>
              <a:t>:</a:t>
            </a:r>
          </a:p>
          <a:p>
            <a:r>
              <a:rPr lang="en-US" dirty="0"/>
              <a:t>To log out a user, clear their session (Check Canvas for the example script)</a:t>
            </a:r>
          </a:p>
          <a:p>
            <a:pPr marL="0" indent="0">
              <a:buNone/>
            </a:pPr>
            <a:r>
              <a:rPr lang="en-US" dirty="0">
                <a:solidFill>
                  <a:srgbClr val="FF0000"/>
                </a:solidFill>
              </a:rPr>
              <a:t>IMPORTANT</a:t>
            </a:r>
            <a:r>
              <a:rPr lang="en-US" dirty="0"/>
              <a:t>: </a:t>
            </a:r>
            <a:r>
              <a:rPr lang="en-US" dirty="0">
                <a:solidFill>
                  <a:srgbClr val="0070C0"/>
                </a:solidFill>
              </a:rPr>
              <a:t>Securing API Endpoints </a:t>
            </a:r>
            <a:r>
              <a:rPr lang="en-US" dirty="0"/>
              <a:t>(Place it at the top of any script that requires authentication): Add authentication checks to protect sensitive endpoints like </a:t>
            </a:r>
            <a:r>
              <a:rPr lang="en-US" dirty="0" err="1"/>
              <a:t>create.php</a:t>
            </a:r>
            <a:r>
              <a:rPr lang="en-US" dirty="0"/>
              <a:t>, </a:t>
            </a:r>
            <a:r>
              <a:rPr lang="en-US" dirty="0" err="1"/>
              <a:t>update.php</a:t>
            </a:r>
            <a:r>
              <a:rPr lang="en-US" dirty="0"/>
              <a:t>, etc. (Check the next slide for an example script)</a:t>
            </a:r>
          </a:p>
          <a:p>
            <a:pPr marL="0" indent="0">
              <a:buNone/>
            </a:pPr>
            <a:endParaRPr lang="en-GH" dirty="0"/>
          </a:p>
        </p:txBody>
      </p:sp>
    </p:spTree>
    <p:extLst>
      <p:ext uri="{BB962C8B-B14F-4D97-AF65-F5344CB8AC3E}">
        <p14:creationId xmlns:p14="http://schemas.microsoft.com/office/powerpoint/2010/main" val="26383700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B1E84-E0A7-18AC-181F-64C22AC54D49}"/>
              </a:ext>
            </a:extLst>
          </p:cNvPr>
          <p:cNvSpPr>
            <a:spLocks noGrp="1"/>
          </p:cNvSpPr>
          <p:nvPr>
            <p:ph type="title"/>
          </p:nvPr>
        </p:nvSpPr>
        <p:spPr/>
        <p:txBody>
          <a:bodyPr/>
          <a:lstStyle/>
          <a:p>
            <a:r>
              <a:rPr lang="en-IN" dirty="0"/>
              <a:t>Sample Script to Secure Endpoints</a:t>
            </a:r>
            <a:endParaRPr lang="en-GH" dirty="0"/>
          </a:p>
        </p:txBody>
      </p:sp>
      <p:sp>
        <p:nvSpPr>
          <p:cNvPr id="3" name="Content Placeholder 2">
            <a:extLst>
              <a:ext uri="{FF2B5EF4-FFF2-40B4-BE49-F238E27FC236}">
                <a16:creationId xmlns:a16="http://schemas.microsoft.com/office/drawing/2014/main" id="{23B20535-A7EC-43FD-70C7-A99E430F5412}"/>
              </a:ext>
            </a:extLst>
          </p:cNvPr>
          <p:cNvSpPr>
            <a:spLocks noGrp="1"/>
          </p:cNvSpPr>
          <p:nvPr>
            <p:ph idx="1"/>
          </p:nvPr>
        </p:nvSpPr>
        <p:spPr/>
        <p:txBody>
          <a:bodyPr/>
          <a:lstStyle/>
          <a:p>
            <a:pPr marL="0" indent="0">
              <a:buNone/>
            </a:pPr>
            <a:r>
              <a:rPr lang="en-IN" dirty="0"/>
              <a:t>Place the following scripts at the top of the API endpoint scripts like </a:t>
            </a:r>
            <a:r>
              <a:rPr lang="en-IN" dirty="0" err="1"/>
              <a:t>create.php</a:t>
            </a:r>
            <a:r>
              <a:rPr lang="en-IN" dirty="0"/>
              <a:t>, </a:t>
            </a:r>
            <a:r>
              <a:rPr lang="en-IN" dirty="0" err="1"/>
              <a:t>delete.php</a:t>
            </a:r>
            <a:r>
              <a:rPr lang="en-IN" dirty="0"/>
              <a:t>, and </a:t>
            </a:r>
            <a:r>
              <a:rPr lang="en-IN" dirty="0" err="1"/>
              <a:t>update.php</a:t>
            </a: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IN" dirty="0"/>
              <a:t>This is part of the session management and ensures that only authorized users can delete, update, and create users.</a:t>
            </a:r>
          </a:p>
          <a:p>
            <a:pPr marL="0" indent="0">
              <a:buNone/>
            </a:pPr>
            <a:endParaRPr lang="en-IN" dirty="0"/>
          </a:p>
          <a:p>
            <a:pPr marL="0" indent="0">
              <a:buNone/>
            </a:pPr>
            <a:endParaRPr lang="en-IN" dirty="0"/>
          </a:p>
          <a:p>
            <a:pPr marL="0" indent="0">
              <a:buNone/>
            </a:pPr>
            <a:endParaRPr lang="en-IN" dirty="0"/>
          </a:p>
          <a:p>
            <a:pPr marL="0" indent="0">
              <a:buNone/>
            </a:pPr>
            <a:endParaRPr lang="en-GH" dirty="0"/>
          </a:p>
        </p:txBody>
      </p:sp>
      <p:pic>
        <p:nvPicPr>
          <p:cNvPr id="5" name="Picture 4">
            <a:extLst>
              <a:ext uri="{FF2B5EF4-FFF2-40B4-BE49-F238E27FC236}">
                <a16:creationId xmlns:a16="http://schemas.microsoft.com/office/drawing/2014/main" id="{EA2B4C97-3D39-7597-8ADA-2470B57ED08E}"/>
              </a:ext>
            </a:extLst>
          </p:cNvPr>
          <p:cNvPicPr>
            <a:picLocks noChangeAspect="1"/>
          </p:cNvPicPr>
          <p:nvPr/>
        </p:nvPicPr>
        <p:blipFill>
          <a:blip r:embed="rId2"/>
          <a:stretch>
            <a:fillRect/>
          </a:stretch>
        </p:blipFill>
        <p:spPr>
          <a:xfrm>
            <a:off x="231240" y="2413478"/>
            <a:ext cx="8681519" cy="2168203"/>
          </a:xfrm>
          <a:prstGeom prst="rect">
            <a:avLst/>
          </a:prstGeom>
        </p:spPr>
      </p:pic>
    </p:spTree>
    <p:extLst>
      <p:ext uri="{BB962C8B-B14F-4D97-AF65-F5344CB8AC3E}">
        <p14:creationId xmlns:p14="http://schemas.microsoft.com/office/powerpoint/2010/main" val="20839141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FB4E7-4716-8E17-810F-0E13F8A5BDED}"/>
              </a:ext>
            </a:extLst>
          </p:cNvPr>
          <p:cNvSpPr>
            <a:spLocks noGrp="1"/>
          </p:cNvSpPr>
          <p:nvPr>
            <p:ph type="title"/>
          </p:nvPr>
        </p:nvSpPr>
        <p:spPr/>
        <p:txBody>
          <a:bodyPr/>
          <a:lstStyle/>
          <a:p>
            <a:r>
              <a:rPr lang="en-IN" dirty="0"/>
              <a:t>Implementing HTTPS</a:t>
            </a:r>
            <a:endParaRPr lang="en-GH" dirty="0"/>
          </a:p>
        </p:txBody>
      </p:sp>
      <p:sp>
        <p:nvSpPr>
          <p:cNvPr id="3" name="Text Placeholder 2">
            <a:extLst>
              <a:ext uri="{FF2B5EF4-FFF2-40B4-BE49-F238E27FC236}">
                <a16:creationId xmlns:a16="http://schemas.microsoft.com/office/drawing/2014/main" id="{CF54224B-B6FE-6878-9A05-E90EA58FB284}"/>
              </a:ext>
            </a:extLst>
          </p:cNvPr>
          <p:cNvSpPr>
            <a:spLocks noGrp="1"/>
          </p:cNvSpPr>
          <p:nvPr>
            <p:ph type="body" idx="1"/>
          </p:nvPr>
        </p:nvSpPr>
        <p:spPr/>
        <p:txBody>
          <a:bodyPr/>
          <a:lstStyle/>
          <a:p>
            <a:endParaRPr lang="en-GH"/>
          </a:p>
        </p:txBody>
      </p:sp>
    </p:spTree>
    <p:extLst>
      <p:ext uri="{BB962C8B-B14F-4D97-AF65-F5344CB8AC3E}">
        <p14:creationId xmlns:p14="http://schemas.microsoft.com/office/powerpoint/2010/main" val="26420202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6A173-A2D2-50BA-C483-B0F0964A2447}"/>
              </a:ext>
            </a:extLst>
          </p:cNvPr>
          <p:cNvSpPr>
            <a:spLocks noGrp="1"/>
          </p:cNvSpPr>
          <p:nvPr>
            <p:ph type="title"/>
          </p:nvPr>
        </p:nvSpPr>
        <p:spPr/>
        <p:txBody>
          <a:bodyPr/>
          <a:lstStyle/>
          <a:p>
            <a:r>
              <a:rPr lang="en-US" dirty="0"/>
              <a:t>Step 1: Obtain an SSL/TLS Certificate</a:t>
            </a:r>
            <a:endParaRPr lang="en-GH" dirty="0"/>
          </a:p>
        </p:txBody>
      </p:sp>
      <p:sp>
        <p:nvSpPr>
          <p:cNvPr id="3" name="Content Placeholder 2">
            <a:extLst>
              <a:ext uri="{FF2B5EF4-FFF2-40B4-BE49-F238E27FC236}">
                <a16:creationId xmlns:a16="http://schemas.microsoft.com/office/drawing/2014/main" id="{C7AFA339-4052-F28E-95E5-D06B8FB6CC61}"/>
              </a:ext>
            </a:extLst>
          </p:cNvPr>
          <p:cNvSpPr>
            <a:spLocks noGrp="1"/>
          </p:cNvSpPr>
          <p:nvPr>
            <p:ph idx="1"/>
          </p:nvPr>
        </p:nvSpPr>
        <p:spPr/>
        <p:txBody>
          <a:bodyPr/>
          <a:lstStyle/>
          <a:p>
            <a:r>
              <a:rPr lang="en-IN" dirty="0"/>
              <a:t>Referred to as a </a:t>
            </a:r>
            <a:r>
              <a:rPr lang="en-IN" dirty="0">
                <a:solidFill>
                  <a:srgbClr val="0070C0"/>
                </a:solidFill>
              </a:rPr>
              <a:t>digital certificate </a:t>
            </a:r>
            <a:r>
              <a:rPr lang="en-IN" dirty="0"/>
              <a:t>generally </a:t>
            </a:r>
          </a:p>
          <a:p>
            <a:r>
              <a:rPr lang="en-IN" dirty="0"/>
              <a:t>Based on the Public Key Infrastructure and X.509 standard</a:t>
            </a:r>
          </a:p>
          <a:p>
            <a:r>
              <a:rPr lang="en-IN" dirty="0"/>
              <a:t>Usually issued by a trusted </a:t>
            </a:r>
            <a:r>
              <a:rPr lang="en-IN" dirty="0">
                <a:solidFill>
                  <a:srgbClr val="0070C0"/>
                </a:solidFill>
              </a:rPr>
              <a:t>Certificate Authority (CA) </a:t>
            </a:r>
            <a:r>
              <a:rPr lang="en-IN" dirty="0"/>
              <a:t>like DigiCert, Let's Encrypt (Free CA), GoDaddy, GlobalSign, etc. </a:t>
            </a:r>
          </a:p>
          <a:p>
            <a:r>
              <a:rPr lang="en-IN" dirty="0"/>
              <a:t>Contains the </a:t>
            </a:r>
            <a:r>
              <a:rPr lang="en-IN" dirty="0">
                <a:solidFill>
                  <a:srgbClr val="FF0000"/>
                </a:solidFill>
              </a:rPr>
              <a:t>public key </a:t>
            </a:r>
            <a:r>
              <a:rPr lang="en-IN" dirty="0"/>
              <a:t>of the website being registered.</a:t>
            </a:r>
          </a:p>
          <a:p>
            <a:endParaRPr lang="en-IN" dirty="0"/>
          </a:p>
          <a:p>
            <a:endParaRPr lang="en-GH" dirty="0"/>
          </a:p>
        </p:txBody>
      </p:sp>
    </p:spTree>
    <p:extLst>
      <p:ext uri="{BB962C8B-B14F-4D97-AF65-F5344CB8AC3E}">
        <p14:creationId xmlns:p14="http://schemas.microsoft.com/office/powerpoint/2010/main" val="11395200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BBD59-46B3-3DBF-BB56-E04A11FB5E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5A1298-1226-9F0B-7B38-0E3DAF2FAC01}"/>
              </a:ext>
            </a:extLst>
          </p:cNvPr>
          <p:cNvSpPr>
            <a:spLocks noGrp="1"/>
          </p:cNvSpPr>
          <p:nvPr>
            <p:ph type="title"/>
          </p:nvPr>
        </p:nvSpPr>
        <p:spPr/>
        <p:txBody>
          <a:bodyPr/>
          <a:lstStyle/>
          <a:p>
            <a:r>
              <a:rPr lang="en-US" dirty="0"/>
              <a:t>Step 1: Obtain an SSL/TLS Certificate</a:t>
            </a:r>
            <a:endParaRPr lang="en-GH" dirty="0"/>
          </a:p>
        </p:txBody>
      </p:sp>
      <p:sp>
        <p:nvSpPr>
          <p:cNvPr id="3" name="Content Placeholder 2">
            <a:extLst>
              <a:ext uri="{FF2B5EF4-FFF2-40B4-BE49-F238E27FC236}">
                <a16:creationId xmlns:a16="http://schemas.microsoft.com/office/drawing/2014/main" id="{2A1D7969-F740-E64D-887F-16E090CA8343}"/>
              </a:ext>
            </a:extLst>
          </p:cNvPr>
          <p:cNvSpPr>
            <a:spLocks noGrp="1"/>
          </p:cNvSpPr>
          <p:nvPr>
            <p:ph idx="1"/>
          </p:nvPr>
        </p:nvSpPr>
        <p:spPr/>
        <p:txBody>
          <a:bodyPr/>
          <a:lstStyle/>
          <a:p>
            <a:r>
              <a:rPr lang="en-IN" dirty="0"/>
              <a:t>We use a </a:t>
            </a:r>
            <a:r>
              <a:rPr lang="en-IN" b="1" dirty="0">
                <a:solidFill>
                  <a:srgbClr val="7030A0"/>
                </a:solidFill>
              </a:rPr>
              <a:t>self-signed certificate </a:t>
            </a:r>
            <a:r>
              <a:rPr lang="en-IN" dirty="0"/>
              <a:t>for local Web development:</a:t>
            </a:r>
          </a:p>
          <a:p>
            <a:pPr marL="457200" indent="-457200">
              <a:buClr>
                <a:srgbClr val="FF0000"/>
              </a:buClr>
              <a:buFont typeface="+mj-lt"/>
              <a:buAutoNum type="arabicParenR"/>
            </a:pPr>
            <a:r>
              <a:rPr lang="en-US" dirty="0"/>
              <a:t>Open the </a:t>
            </a:r>
            <a:r>
              <a:rPr lang="en-US" dirty="0" err="1"/>
              <a:t>XAMPP</a:t>
            </a:r>
            <a:r>
              <a:rPr lang="en-US" dirty="0"/>
              <a:t> Control Panel and go to the Shell.</a:t>
            </a:r>
          </a:p>
          <a:p>
            <a:pPr marL="457200" indent="-457200">
              <a:buClr>
                <a:srgbClr val="FF0000"/>
              </a:buClr>
              <a:buFont typeface="+mj-lt"/>
              <a:buAutoNum type="arabicParenR"/>
            </a:pPr>
            <a:r>
              <a:rPr lang="en-US" dirty="0"/>
              <a:t>Run the following command to create a self-signed certificate:</a:t>
            </a:r>
          </a:p>
          <a:p>
            <a:pPr marL="0" indent="0">
              <a:buClr>
                <a:srgbClr val="FF0000"/>
              </a:buClr>
              <a:buNone/>
            </a:pPr>
            <a:endParaRPr lang="en-IN" dirty="0"/>
          </a:p>
          <a:p>
            <a:pPr marL="0" indent="0">
              <a:buNone/>
            </a:pPr>
            <a:r>
              <a:rPr lang="en-IN" dirty="0" err="1">
                <a:solidFill>
                  <a:srgbClr val="002060"/>
                </a:solidFill>
                <a:latin typeface="Consolas" panose="020B0609020204030204" pitchFamily="49" charset="0"/>
              </a:rPr>
              <a:t>openssl</a:t>
            </a:r>
            <a:r>
              <a:rPr lang="en-IN" dirty="0">
                <a:solidFill>
                  <a:srgbClr val="002060"/>
                </a:solidFill>
                <a:latin typeface="Consolas" panose="020B0609020204030204" pitchFamily="49" charset="0"/>
              </a:rPr>
              <a:t> </a:t>
            </a:r>
            <a:r>
              <a:rPr lang="en-IN" dirty="0" err="1">
                <a:solidFill>
                  <a:srgbClr val="002060"/>
                </a:solidFill>
                <a:latin typeface="Consolas" panose="020B0609020204030204" pitchFamily="49" charset="0"/>
              </a:rPr>
              <a:t>req</a:t>
            </a:r>
            <a:r>
              <a:rPr lang="en-IN" dirty="0">
                <a:solidFill>
                  <a:srgbClr val="002060"/>
                </a:solidFill>
                <a:latin typeface="Consolas" panose="020B0609020204030204" pitchFamily="49" charset="0"/>
              </a:rPr>
              <a:t> -x509 -nodes -days 365 -</a:t>
            </a:r>
            <a:r>
              <a:rPr lang="en-IN" dirty="0" err="1">
                <a:solidFill>
                  <a:srgbClr val="002060"/>
                </a:solidFill>
                <a:latin typeface="Consolas" panose="020B0609020204030204" pitchFamily="49" charset="0"/>
              </a:rPr>
              <a:t>newkey</a:t>
            </a:r>
            <a:r>
              <a:rPr lang="en-IN" dirty="0">
                <a:solidFill>
                  <a:srgbClr val="002060"/>
                </a:solidFill>
                <a:latin typeface="Consolas" panose="020B0609020204030204" pitchFamily="49" charset="0"/>
              </a:rPr>
              <a:t> rsa:2048 -</a:t>
            </a:r>
            <a:r>
              <a:rPr lang="en-IN" dirty="0" err="1">
                <a:solidFill>
                  <a:srgbClr val="002060"/>
                </a:solidFill>
                <a:latin typeface="Consolas" panose="020B0609020204030204" pitchFamily="49" charset="0"/>
              </a:rPr>
              <a:t>keyout</a:t>
            </a:r>
            <a:r>
              <a:rPr lang="en-IN" dirty="0">
                <a:solidFill>
                  <a:srgbClr val="002060"/>
                </a:solidFill>
                <a:latin typeface="Consolas" panose="020B0609020204030204" pitchFamily="49" charset="0"/>
              </a:rPr>
              <a:t> </a:t>
            </a:r>
            <a:r>
              <a:rPr lang="en-IN" dirty="0" err="1">
                <a:solidFill>
                  <a:srgbClr val="C00000"/>
                </a:solidFill>
                <a:latin typeface="Consolas" panose="020B0609020204030204" pitchFamily="49" charset="0"/>
              </a:rPr>
              <a:t>xampp.key</a:t>
            </a:r>
            <a:r>
              <a:rPr lang="en-IN" dirty="0">
                <a:solidFill>
                  <a:srgbClr val="C00000"/>
                </a:solidFill>
                <a:latin typeface="Consolas" panose="020B0609020204030204" pitchFamily="49" charset="0"/>
              </a:rPr>
              <a:t> </a:t>
            </a:r>
            <a:r>
              <a:rPr lang="en-IN" dirty="0">
                <a:solidFill>
                  <a:srgbClr val="002060"/>
                </a:solidFill>
                <a:latin typeface="Consolas" panose="020B0609020204030204" pitchFamily="49" charset="0"/>
              </a:rPr>
              <a:t>-out </a:t>
            </a:r>
            <a:r>
              <a:rPr lang="en-IN" dirty="0">
                <a:solidFill>
                  <a:srgbClr val="C00000"/>
                </a:solidFill>
                <a:latin typeface="Consolas" panose="020B0609020204030204" pitchFamily="49" charset="0"/>
              </a:rPr>
              <a:t>xampp.crt</a:t>
            </a:r>
          </a:p>
          <a:p>
            <a:pPr marL="0" indent="0">
              <a:buNone/>
            </a:pPr>
            <a:endParaRPr lang="en-IN" dirty="0">
              <a:latin typeface="Consolas" panose="020B0609020204030204" pitchFamily="49" charset="0"/>
            </a:endParaRPr>
          </a:p>
          <a:p>
            <a:pPr marL="457200" indent="-457200">
              <a:buClr>
                <a:srgbClr val="FF0000"/>
              </a:buClr>
              <a:buFont typeface="+mj-lt"/>
              <a:buAutoNum type="arabicParenR" startAt="3"/>
            </a:pPr>
            <a:r>
              <a:rPr lang="en-US" dirty="0"/>
              <a:t>Provide details when prompted (e.g., country, state, organization).</a:t>
            </a:r>
          </a:p>
          <a:p>
            <a:pPr marL="457200" indent="-457200">
              <a:buClr>
                <a:srgbClr val="FF0000"/>
              </a:buClr>
              <a:buFont typeface="+mj-lt"/>
              <a:buAutoNum type="arabicParenR" startAt="3"/>
            </a:pPr>
            <a:endParaRPr lang="en-US" dirty="0"/>
          </a:p>
          <a:p>
            <a:pPr marL="0" indent="0">
              <a:buClr>
                <a:srgbClr val="FF0000"/>
              </a:buClr>
              <a:buNone/>
            </a:pPr>
            <a:r>
              <a:rPr lang="en-US" dirty="0">
                <a:solidFill>
                  <a:srgbClr val="C00000"/>
                </a:solidFill>
              </a:rPr>
              <a:t>Note</a:t>
            </a:r>
            <a:r>
              <a:rPr lang="en-US" dirty="0"/>
              <a:t>: If the website is publicly accessible, use a tool like </a:t>
            </a:r>
            <a:r>
              <a:rPr lang="en-US" dirty="0" err="1">
                <a:solidFill>
                  <a:srgbClr val="0070C0"/>
                </a:solidFill>
              </a:rPr>
              <a:t>Certbot</a:t>
            </a:r>
            <a:r>
              <a:rPr lang="en-US" dirty="0"/>
              <a:t> to obtain a certificate from </a:t>
            </a:r>
            <a:r>
              <a:rPr lang="en-US" dirty="0">
                <a:solidFill>
                  <a:srgbClr val="0070C0"/>
                </a:solidFill>
              </a:rPr>
              <a:t>Let’s Encrypt </a:t>
            </a:r>
            <a:r>
              <a:rPr lang="en-US" dirty="0"/>
              <a:t>(CA)</a:t>
            </a:r>
            <a:endParaRPr lang="en-IN" dirty="0"/>
          </a:p>
          <a:p>
            <a:endParaRPr lang="en-GH" dirty="0"/>
          </a:p>
        </p:txBody>
      </p:sp>
    </p:spTree>
    <p:extLst>
      <p:ext uri="{BB962C8B-B14F-4D97-AF65-F5344CB8AC3E}">
        <p14:creationId xmlns:p14="http://schemas.microsoft.com/office/powerpoint/2010/main" val="11815709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0A2DA-0525-0143-54E6-3809D022062A}"/>
              </a:ext>
            </a:extLst>
          </p:cNvPr>
          <p:cNvSpPr>
            <a:spLocks noGrp="1"/>
          </p:cNvSpPr>
          <p:nvPr>
            <p:ph type="title"/>
          </p:nvPr>
        </p:nvSpPr>
        <p:spPr/>
        <p:txBody>
          <a:bodyPr/>
          <a:lstStyle/>
          <a:p>
            <a:r>
              <a:rPr lang="en-US" dirty="0"/>
              <a:t>Step 2: Configure HTTPS in </a:t>
            </a:r>
            <a:r>
              <a:rPr lang="en-US" dirty="0" err="1"/>
              <a:t>XAMPP</a:t>
            </a:r>
            <a:endParaRPr lang="en-GH" dirty="0"/>
          </a:p>
        </p:txBody>
      </p:sp>
      <p:sp>
        <p:nvSpPr>
          <p:cNvPr id="3" name="Content Placeholder 2">
            <a:extLst>
              <a:ext uri="{FF2B5EF4-FFF2-40B4-BE49-F238E27FC236}">
                <a16:creationId xmlns:a16="http://schemas.microsoft.com/office/drawing/2014/main" id="{B5257626-EC34-2035-AE1F-03407EEFC792}"/>
              </a:ext>
            </a:extLst>
          </p:cNvPr>
          <p:cNvSpPr>
            <a:spLocks noGrp="1"/>
          </p:cNvSpPr>
          <p:nvPr>
            <p:ph idx="1"/>
          </p:nvPr>
        </p:nvSpPr>
        <p:spPr/>
        <p:txBody>
          <a:bodyPr/>
          <a:lstStyle/>
          <a:p>
            <a:pPr marL="457200" indent="-457200">
              <a:buFont typeface="+mj-lt"/>
              <a:buAutoNum type="arabicParenR"/>
            </a:pPr>
            <a:r>
              <a:rPr lang="en-US" dirty="0"/>
              <a:t>Navigate to your Apache configuration files in the </a:t>
            </a:r>
            <a:r>
              <a:rPr lang="en-US" dirty="0" err="1"/>
              <a:t>XAMPP</a:t>
            </a:r>
            <a:r>
              <a:rPr lang="en-US" dirty="0"/>
              <a:t> installation directory, typically:  </a:t>
            </a:r>
            <a:r>
              <a:rPr lang="en-US" dirty="0">
                <a:solidFill>
                  <a:srgbClr val="002060"/>
                </a:solidFill>
              </a:rPr>
              <a:t>C:\xampp\apache\conf\extra</a:t>
            </a:r>
          </a:p>
          <a:p>
            <a:pPr marL="457200" indent="-457200">
              <a:buFont typeface="+mj-lt"/>
              <a:buAutoNum type="arabicParenR"/>
            </a:pPr>
            <a:r>
              <a:rPr lang="en-US" dirty="0"/>
              <a:t>Open </a:t>
            </a:r>
            <a:r>
              <a:rPr lang="en-US" dirty="0">
                <a:solidFill>
                  <a:srgbClr val="002060"/>
                </a:solidFill>
              </a:rPr>
              <a:t>httpd-</a:t>
            </a:r>
            <a:r>
              <a:rPr lang="en-US" dirty="0" err="1">
                <a:solidFill>
                  <a:srgbClr val="002060"/>
                </a:solidFill>
              </a:rPr>
              <a:t>ssl.conf</a:t>
            </a:r>
            <a:r>
              <a:rPr lang="en-US" dirty="0">
                <a:solidFill>
                  <a:srgbClr val="002060"/>
                </a:solidFill>
              </a:rPr>
              <a:t> </a:t>
            </a:r>
            <a:r>
              <a:rPr lang="en-US" dirty="0"/>
              <a:t>in a text editor. Check the settings.</a:t>
            </a:r>
          </a:p>
          <a:p>
            <a:pPr marL="457200" indent="-457200">
              <a:buFont typeface="+mj-lt"/>
              <a:buAutoNum type="arabicParenR"/>
            </a:pPr>
            <a:endParaRPr lang="en-US" dirty="0"/>
          </a:p>
          <a:p>
            <a:endParaRPr lang="en-GH" dirty="0"/>
          </a:p>
        </p:txBody>
      </p:sp>
      <p:pic>
        <p:nvPicPr>
          <p:cNvPr id="5" name="Picture 4">
            <a:extLst>
              <a:ext uri="{FF2B5EF4-FFF2-40B4-BE49-F238E27FC236}">
                <a16:creationId xmlns:a16="http://schemas.microsoft.com/office/drawing/2014/main" id="{FB2E79AE-2CF0-D7F0-9242-D21658B63244}"/>
              </a:ext>
            </a:extLst>
          </p:cNvPr>
          <p:cNvPicPr>
            <a:picLocks noChangeAspect="1"/>
          </p:cNvPicPr>
          <p:nvPr/>
        </p:nvPicPr>
        <p:blipFill>
          <a:blip r:embed="rId2"/>
          <a:stretch>
            <a:fillRect/>
          </a:stretch>
        </p:blipFill>
        <p:spPr>
          <a:xfrm>
            <a:off x="1281891" y="2676550"/>
            <a:ext cx="5820368" cy="3746444"/>
          </a:xfrm>
          <a:prstGeom prst="rect">
            <a:avLst/>
          </a:prstGeom>
        </p:spPr>
      </p:pic>
      <p:cxnSp>
        <p:nvCxnSpPr>
          <p:cNvPr id="7" name="Straight Arrow Connector 6">
            <a:extLst>
              <a:ext uri="{FF2B5EF4-FFF2-40B4-BE49-F238E27FC236}">
                <a16:creationId xmlns:a16="http://schemas.microsoft.com/office/drawing/2014/main" id="{97BF8AFA-6339-70A5-BCAF-869536CF5544}"/>
              </a:ext>
            </a:extLst>
          </p:cNvPr>
          <p:cNvCxnSpPr>
            <a:cxnSpLocks/>
          </p:cNvCxnSpPr>
          <p:nvPr/>
        </p:nvCxnSpPr>
        <p:spPr>
          <a:xfrm>
            <a:off x="6475955" y="4635334"/>
            <a:ext cx="626304" cy="6767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105D3C5-CC97-5663-C022-5633E34C6323}"/>
              </a:ext>
            </a:extLst>
          </p:cNvPr>
          <p:cNvSpPr txBox="1"/>
          <p:nvPr/>
        </p:nvSpPr>
        <p:spPr>
          <a:xfrm>
            <a:off x="6003420" y="5405850"/>
            <a:ext cx="2918564" cy="923330"/>
          </a:xfrm>
          <a:prstGeom prst="rect">
            <a:avLst/>
          </a:prstGeom>
          <a:noFill/>
        </p:spPr>
        <p:txBody>
          <a:bodyPr wrap="square" rtlCol="0">
            <a:spAutoFit/>
          </a:bodyPr>
          <a:lstStyle/>
          <a:p>
            <a:pPr algn="ctr"/>
            <a:r>
              <a:rPr lang="en-IN" dirty="0"/>
              <a:t>This is an example. Your server might default to </a:t>
            </a:r>
            <a:r>
              <a:rPr lang="en-IN" dirty="0" err="1"/>
              <a:t>server.key</a:t>
            </a:r>
            <a:r>
              <a:rPr lang="en-IN" dirty="0"/>
              <a:t> and server.crt</a:t>
            </a:r>
            <a:endParaRPr lang="en-GH" dirty="0"/>
          </a:p>
        </p:txBody>
      </p:sp>
    </p:spTree>
    <p:extLst>
      <p:ext uri="{BB962C8B-B14F-4D97-AF65-F5344CB8AC3E}">
        <p14:creationId xmlns:p14="http://schemas.microsoft.com/office/powerpoint/2010/main" val="10418614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AAFF2-7F50-6C2B-20DA-0EBD77B570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10E670-D4FF-E3E4-87B7-ADD97F6F2252}"/>
              </a:ext>
            </a:extLst>
          </p:cNvPr>
          <p:cNvSpPr>
            <a:spLocks noGrp="1"/>
          </p:cNvSpPr>
          <p:nvPr>
            <p:ph type="title"/>
          </p:nvPr>
        </p:nvSpPr>
        <p:spPr/>
        <p:txBody>
          <a:bodyPr/>
          <a:lstStyle/>
          <a:p>
            <a:r>
              <a:rPr lang="en-US" dirty="0"/>
              <a:t>Step 2: Configure HTTPS in </a:t>
            </a:r>
            <a:r>
              <a:rPr lang="en-US" dirty="0" err="1"/>
              <a:t>XAMPP</a:t>
            </a:r>
            <a:endParaRPr lang="en-GH" dirty="0"/>
          </a:p>
        </p:txBody>
      </p:sp>
      <p:sp>
        <p:nvSpPr>
          <p:cNvPr id="3" name="Content Placeholder 2">
            <a:extLst>
              <a:ext uri="{FF2B5EF4-FFF2-40B4-BE49-F238E27FC236}">
                <a16:creationId xmlns:a16="http://schemas.microsoft.com/office/drawing/2014/main" id="{308C9E6B-101A-27B8-4DE9-AC98F3BA02DD}"/>
              </a:ext>
            </a:extLst>
          </p:cNvPr>
          <p:cNvSpPr>
            <a:spLocks noGrp="1"/>
          </p:cNvSpPr>
          <p:nvPr>
            <p:ph idx="1"/>
          </p:nvPr>
        </p:nvSpPr>
        <p:spPr/>
        <p:txBody>
          <a:bodyPr/>
          <a:lstStyle/>
          <a:p>
            <a:pPr marL="457200" indent="-457200">
              <a:buFont typeface="+mj-lt"/>
              <a:buAutoNum type="arabicParenR" startAt="3"/>
            </a:pPr>
            <a:r>
              <a:rPr lang="en-US" dirty="0"/>
              <a:t>Open the main Apache configuration file (</a:t>
            </a:r>
            <a:r>
              <a:rPr lang="en-US" dirty="0" err="1"/>
              <a:t>httpd.conf</a:t>
            </a:r>
            <a:r>
              <a:rPr lang="en-US" dirty="0"/>
              <a:t>) and ensure the following lines are uncommented:</a:t>
            </a:r>
          </a:p>
          <a:p>
            <a:pPr marL="0" indent="0">
              <a:buNone/>
            </a:pPr>
            <a:endParaRPr lang="en-US" dirty="0"/>
          </a:p>
          <a:p>
            <a:pPr marL="0" indent="0">
              <a:buNone/>
            </a:pPr>
            <a:r>
              <a:rPr lang="en-US" dirty="0" err="1">
                <a:solidFill>
                  <a:srgbClr val="002060"/>
                </a:solidFill>
                <a:latin typeface="Consolas" panose="020B0609020204030204" pitchFamily="49" charset="0"/>
              </a:rPr>
              <a:t>LoadModule</a:t>
            </a:r>
            <a:r>
              <a:rPr lang="en-US" dirty="0">
                <a:solidFill>
                  <a:srgbClr val="002060"/>
                </a:solidFill>
                <a:latin typeface="Consolas" panose="020B0609020204030204" pitchFamily="49" charset="0"/>
              </a:rPr>
              <a:t> </a:t>
            </a:r>
            <a:r>
              <a:rPr lang="en-US" dirty="0" err="1">
                <a:solidFill>
                  <a:srgbClr val="002060"/>
                </a:solidFill>
                <a:latin typeface="Consolas" panose="020B0609020204030204" pitchFamily="49" charset="0"/>
              </a:rPr>
              <a:t>ssl_module</a:t>
            </a:r>
            <a:r>
              <a:rPr lang="en-US" dirty="0">
                <a:solidFill>
                  <a:srgbClr val="002060"/>
                </a:solidFill>
                <a:latin typeface="Consolas" panose="020B0609020204030204" pitchFamily="49" charset="0"/>
              </a:rPr>
              <a:t> modules/mod_ssl.so</a:t>
            </a:r>
          </a:p>
          <a:p>
            <a:pPr marL="0" indent="0">
              <a:buNone/>
            </a:pPr>
            <a:r>
              <a:rPr lang="en-US" dirty="0">
                <a:solidFill>
                  <a:srgbClr val="002060"/>
                </a:solidFill>
                <a:latin typeface="Consolas" panose="020B0609020204030204" pitchFamily="49" charset="0"/>
              </a:rPr>
              <a:t>Include conf/extra/httpd-</a:t>
            </a:r>
            <a:r>
              <a:rPr lang="en-US" dirty="0" err="1">
                <a:solidFill>
                  <a:srgbClr val="002060"/>
                </a:solidFill>
                <a:latin typeface="Consolas" panose="020B0609020204030204" pitchFamily="49" charset="0"/>
              </a:rPr>
              <a:t>ssl.conf</a:t>
            </a:r>
            <a:endParaRPr lang="en-US" dirty="0">
              <a:solidFill>
                <a:srgbClr val="002060"/>
              </a:solidFill>
              <a:latin typeface="Consolas" panose="020B0609020204030204" pitchFamily="49" charset="0"/>
            </a:endParaRPr>
          </a:p>
          <a:p>
            <a:pPr marL="0" indent="0">
              <a:buNone/>
            </a:pPr>
            <a:endParaRPr lang="en-US" dirty="0">
              <a:solidFill>
                <a:srgbClr val="0070C0"/>
              </a:solidFill>
            </a:endParaRPr>
          </a:p>
          <a:p>
            <a:endParaRPr lang="en-GH" dirty="0"/>
          </a:p>
        </p:txBody>
      </p:sp>
    </p:spTree>
    <p:extLst>
      <p:ext uri="{BB962C8B-B14F-4D97-AF65-F5344CB8AC3E}">
        <p14:creationId xmlns:p14="http://schemas.microsoft.com/office/powerpoint/2010/main" val="983244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9D894-A05E-544E-E119-ED6DC053EF90}"/>
              </a:ext>
            </a:extLst>
          </p:cNvPr>
          <p:cNvSpPr>
            <a:spLocks noGrp="1"/>
          </p:cNvSpPr>
          <p:nvPr>
            <p:ph type="title"/>
          </p:nvPr>
        </p:nvSpPr>
        <p:spPr/>
        <p:txBody>
          <a:bodyPr/>
          <a:lstStyle/>
          <a:p>
            <a:r>
              <a:rPr lang="en-US" dirty="0"/>
              <a:t>Step 3: Start Apache with SSL</a:t>
            </a:r>
            <a:endParaRPr lang="en-GH" dirty="0"/>
          </a:p>
        </p:txBody>
      </p:sp>
      <p:sp>
        <p:nvSpPr>
          <p:cNvPr id="3" name="Content Placeholder 2">
            <a:extLst>
              <a:ext uri="{FF2B5EF4-FFF2-40B4-BE49-F238E27FC236}">
                <a16:creationId xmlns:a16="http://schemas.microsoft.com/office/drawing/2014/main" id="{2E525A2E-5137-7B13-40F8-3C80E455C1FD}"/>
              </a:ext>
            </a:extLst>
          </p:cNvPr>
          <p:cNvSpPr>
            <a:spLocks noGrp="1"/>
          </p:cNvSpPr>
          <p:nvPr>
            <p:ph idx="1"/>
          </p:nvPr>
        </p:nvSpPr>
        <p:spPr/>
        <p:txBody>
          <a:bodyPr/>
          <a:lstStyle/>
          <a:p>
            <a:pPr marL="457200" indent="-457200">
              <a:buFont typeface="+mj-lt"/>
              <a:buAutoNum type="arabicParenR"/>
            </a:pPr>
            <a:r>
              <a:rPr lang="en-US" dirty="0"/>
              <a:t>Open the </a:t>
            </a:r>
            <a:r>
              <a:rPr lang="en-US" dirty="0" err="1"/>
              <a:t>XAMPP</a:t>
            </a:r>
            <a:r>
              <a:rPr lang="en-US" dirty="0"/>
              <a:t> Control Panel.</a:t>
            </a:r>
          </a:p>
          <a:p>
            <a:pPr marL="457200" indent="-457200">
              <a:buFont typeface="+mj-lt"/>
              <a:buAutoNum type="arabicParenR"/>
            </a:pPr>
            <a:r>
              <a:rPr lang="en-US" dirty="0"/>
              <a:t>Stop and then restart Apache (If running)</a:t>
            </a:r>
          </a:p>
          <a:p>
            <a:pPr marL="457200" indent="-457200">
              <a:buFont typeface="+mj-lt"/>
              <a:buAutoNum type="arabicParenR"/>
            </a:pPr>
            <a:r>
              <a:rPr lang="en-US" dirty="0"/>
              <a:t>Access your site using https://localhost.</a:t>
            </a:r>
            <a:endParaRPr lang="en-GH" dirty="0"/>
          </a:p>
        </p:txBody>
      </p:sp>
    </p:spTree>
    <p:extLst>
      <p:ext uri="{BB962C8B-B14F-4D97-AF65-F5344CB8AC3E}">
        <p14:creationId xmlns:p14="http://schemas.microsoft.com/office/powerpoint/2010/main" val="7206353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1DE5B-9CE4-C9DA-8914-7EBCC4AA102D}"/>
              </a:ext>
            </a:extLst>
          </p:cNvPr>
          <p:cNvSpPr>
            <a:spLocks noGrp="1"/>
          </p:cNvSpPr>
          <p:nvPr>
            <p:ph type="title"/>
          </p:nvPr>
        </p:nvSpPr>
        <p:spPr/>
        <p:txBody>
          <a:bodyPr/>
          <a:lstStyle/>
          <a:p>
            <a:r>
              <a:rPr lang="en-US" dirty="0"/>
              <a:t>Step 4: Update Frontend Code</a:t>
            </a:r>
            <a:endParaRPr lang="en-GH" dirty="0"/>
          </a:p>
        </p:txBody>
      </p:sp>
      <p:sp>
        <p:nvSpPr>
          <p:cNvPr id="3" name="Content Placeholder 2">
            <a:extLst>
              <a:ext uri="{FF2B5EF4-FFF2-40B4-BE49-F238E27FC236}">
                <a16:creationId xmlns:a16="http://schemas.microsoft.com/office/drawing/2014/main" id="{CF462015-0205-90CF-359D-29A5011D3ABB}"/>
              </a:ext>
            </a:extLst>
          </p:cNvPr>
          <p:cNvSpPr>
            <a:spLocks noGrp="1"/>
          </p:cNvSpPr>
          <p:nvPr>
            <p:ph idx="1"/>
          </p:nvPr>
        </p:nvSpPr>
        <p:spPr/>
        <p:txBody>
          <a:bodyPr/>
          <a:lstStyle/>
          <a:p>
            <a:pPr marL="457200" indent="-457200">
              <a:buFont typeface="+mj-lt"/>
              <a:buAutoNum type="arabicParenR"/>
            </a:pPr>
            <a:r>
              <a:rPr lang="en-US" dirty="0"/>
              <a:t>Change all API URLs in your frontend code to use </a:t>
            </a:r>
            <a:r>
              <a:rPr lang="en-US" dirty="0">
                <a:solidFill>
                  <a:srgbClr val="FF0000"/>
                </a:solidFill>
              </a:rPr>
              <a:t>https://</a:t>
            </a:r>
          </a:p>
          <a:p>
            <a:pPr marL="457200" indent="-457200">
              <a:buFont typeface="+mj-lt"/>
              <a:buAutoNum type="arabicParenR"/>
            </a:pPr>
            <a:r>
              <a:rPr lang="en-US" dirty="0"/>
              <a:t>Ensure JavaScript fetch calls handle self-signed certificates during local testing. (Got to </a:t>
            </a:r>
            <a:r>
              <a:rPr lang="en-US" dirty="0">
                <a:hlinkClick r:id="rId2"/>
              </a:rPr>
              <a:t>https://localhost</a:t>
            </a:r>
            <a:r>
              <a:rPr lang="en-US" dirty="0"/>
              <a:t> to check)</a:t>
            </a:r>
          </a:p>
          <a:p>
            <a:pPr marL="914400" lvl="1" indent="-457200">
              <a:buFont typeface="+mj-lt"/>
              <a:buAutoNum type="alphaLcParenR"/>
            </a:pPr>
            <a:r>
              <a:rPr lang="en-US" dirty="0"/>
              <a:t>Add the Self-Signed Certificate to Your Trusted Root Store (Preferred for Local Testing)</a:t>
            </a:r>
          </a:p>
          <a:p>
            <a:pPr marL="914400" lvl="1" indent="-457200">
              <a:buFont typeface="+mj-lt"/>
              <a:buAutoNum type="alphaLcParenR"/>
            </a:pPr>
            <a:r>
              <a:rPr lang="en-US" dirty="0"/>
              <a:t>Export the Certificate:</a:t>
            </a:r>
          </a:p>
          <a:p>
            <a:pPr marL="457200" lvl="1" indent="0">
              <a:buNone/>
            </a:pPr>
            <a:r>
              <a:rPr lang="en-US" dirty="0"/>
              <a:t>        Locate your .</a:t>
            </a:r>
            <a:r>
              <a:rPr lang="en-US" dirty="0" err="1"/>
              <a:t>crt</a:t>
            </a:r>
            <a:r>
              <a:rPr lang="en-US" dirty="0"/>
              <a:t> file (e.g., xampp.crt).</a:t>
            </a:r>
          </a:p>
          <a:p>
            <a:pPr marL="457200" lvl="1" indent="0">
              <a:buNone/>
            </a:pPr>
            <a:r>
              <a:rPr lang="en-US" dirty="0"/>
              <a:t>       Open the certificate file in a text editor. If generated by </a:t>
            </a:r>
            <a:r>
              <a:rPr lang="en-US" dirty="0" err="1"/>
              <a:t>xampp</a:t>
            </a:r>
            <a:r>
              <a:rPr lang="en-US" dirty="0"/>
              <a:t> it will be </a:t>
            </a:r>
          </a:p>
          <a:p>
            <a:pPr marL="457200" lvl="1" indent="0">
              <a:buNone/>
            </a:pPr>
            <a:r>
              <a:rPr lang="en-US" dirty="0"/>
              <a:t>       at:     C:\xampp\apache\conf\ssl.crt\xampp.crt</a:t>
            </a:r>
          </a:p>
          <a:p>
            <a:pPr marL="457200" indent="-457200">
              <a:buFont typeface="+mj-lt"/>
              <a:buAutoNum type="arabicParenR"/>
            </a:pPr>
            <a:r>
              <a:rPr lang="en-US" dirty="0"/>
              <a:t>Import the Certificate into Your Browser:</a:t>
            </a:r>
          </a:p>
          <a:p>
            <a:pPr marL="0" indent="0">
              <a:buNone/>
            </a:pPr>
            <a:r>
              <a:rPr lang="en-US" dirty="0"/>
              <a:t>       	</a:t>
            </a:r>
            <a:r>
              <a:rPr lang="en-US" sz="2000" dirty="0"/>
              <a:t>For Google Chrome: Open Settings &gt; Privacy and Security &gt; Security &gt; 	Manage certificates.</a:t>
            </a:r>
          </a:p>
          <a:p>
            <a:pPr marL="0" indent="0">
              <a:buNone/>
            </a:pPr>
            <a:r>
              <a:rPr lang="en-US" sz="2000" dirty="0"/>
              <a:t>	Go to the Authorities tab.</a:t>
            </a:r>
          </a:p>
          <a:p>
            <a:pPr marL="457200" lvl="1" indent="0">
              <a:buNone/>
            </a:pPr>
            <a:r>
              <a:rPr lang="en-US" dirty="0"/>
              <a:t>	Click Import and select your </a:t>
            </a:r>
            <a:r>
              <a:rPr lang="en-US" b="1" dirty="0">
                <a:solidFill>
                  <a:srgbClr val="C00000"/>
                </a:solidFill>
              </a:rPr>
              <a:t>.</a:t>
            </a:r>
            <a:r>
              <a:rPr lang="en-US" b="1" dirty="0" err="1">
                <a:solidFill>
                  <a:srgbClr val="C00000"/>
                </a:solidFill>
              </a:rPr>
              <a:t>crt</a:t>
            </a:r>
            <a:r>
              <a:rPr lang="en-US" b="1" dirty="0">
                <a:solidFill>
                  <a:srgbClr val="C00000"/>
                </a:solidFill>
              </a:rPr>
              <a:t> </a:t>
            </a:r>
            <a:r>
              <a:rPr lang="en-US" dirty="0"/>
              <a:t>file. Trust the certificate for all purposes.</a:t>
            </a:r>
          </a:p>
        </p:txBody>
      </p:sp>
      <p:sp>
        <p:nvSpPr>
          <p:cNvPr id="4" name="TextBox 3">
            <a:extLst>
              <a:ext uri="{FF2B5EF4-FFF2-40B4-BE49-F238E27FC236}">
                <a16:creationId xmlns:a16="http://schemas.microsoft.com/office/drawing/2014/main" id="{6AB52485-441C-DF79-FAF7-024209C5A5D2}"/>
              </a:ext>
            </a:extLst>
          </p:cNvPr>
          <p:cNvSpPr txBox="1"/>
          <p:nvPr/>
        </p:nvSpPr>
        <p:spPr>
          <a:xfrm>
            <a:off x="4572000" y="2950038"/>
            <a:ext cx="3544866" cy="369332"/>
          </a:xfrm>
          <a:prstGeom prst="rect">
            <a:avLst/>
          </a:prstGeom>
          <a:noFill/>
        </p:spPr>
        <p:txBody>
          <a:bodyPr wrap="square" rtlCol="0">
            <a:spAutoFit/>
          </a:bodyPr>
          <a:lstStyle/>
          <a:p>
            <a:r>
              <a:rPr lang="en-IN" dirty="0">
                <a:solidFill>
                  <a:srgbClr val="C00000"/>
                </a:solidFill>
              </a:rPr>
              <a:t>Can be server.crt by default</a:t>
            </a:r>
            <a:endParaRPr lang="en-GH" dirty="0">
              <a:solidFill>
                <a:srgbClr val="C00000"/>
              </a:solidFill>
            </a:endParaRPr>
          </a:p>
        </p:txBody>
      </p:sp>
      <p:cxnSp>
        <p:nvCxnSpPr>
          <p:cNvPr id="6" name="Straight Arrow Connector 5">
            <a:extLst>
              <a:ext uri="{FF2B5EF4-FFF2-40B4-BE49-F238E27FC236}">
                <a16:creationId xmlns:a16="http://schemas.microsoft.com/office/drawing/2014/main" id="{D72E5199-1F03-30BE-53E4-40A3558B3AB3}"/>
              </a:ext>
            </a:extLst>
          </p:cNvPr>
          <p:cNvCxnSpPr>
            <a:cxnSpLocks/>
          </p:cNvCxnSpPr>
          <p:nvPr/>
        </p:nvCxnSpPr>
        <p:spPr>
          <a:xfrm flipV="1">
            <a:off x="4171167" y="3181611"/>
            <a:ext cx="400833" cy="369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19954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9603F-AB93-6EA4-8324-0D90CDF7EF03}"/>
              </a:ext>
            </a:extLst>
          </p:cNvPr>
          <p:cNvSpPr>
            <a:spLocks noGrp="1"/>
          </p:cNvSpPr>
          <p:nvPr>
            <p:ph type="title"/>
          </p:nvPr>
        </p:nvSpPr>
        <p:spPr/>
        <p:txBody>
          <a:bodyPr/>
          <a:lstStyle/>
          <a:p>
            <a:r>
              <a:rPr lang="en-US" dirty="0"/>
              <a:t>Step 5: Redirect HTTP to HTTPS</a:t>
            </a:r>
            <a:endParaRPr lang="en-GH" dirty="0"/>
          </a:p>
        </p:txBody>
      </p:sp>
      <p:sp>
        <p:nvSpPr>
          <p:cNvPr id="3" name="Content Placeholder 2">
            <a:extLst>
              <a:ext uri="{FF2B5EF4-FFF2-40B4-BE49-F238E27FC236}">
                <a16:creationId xmlns:a16="http://schemas.microsoft.com/office/drawing/2014/main" id="{97AAB08E-225B-5140-CA29-CD685BB410EB}"/>
              </a:ext>
            </a:extLst>
          </p:cNvPr>
          <p:cNvSpPr>
            <a:spLocks noGrp="1"/>
          </p:cNvSpPr>
          <p:nvPr>
            <p:ph idx="1"/>
          </p:nvPr>
        </p:nvSpPr>
        <p:spPr/>
        <p:txBody>
          <a:bodyPr/>
          <a:lstStyle/>
          <a:p>
            <a:r>
              <a:rPr lang="en-US" dirty="0"/>
              <a:t>Open the </a:t>
            </a:r>
            <a:r>
              <a:rPr lang="en-US" dirty="0" err="1">
                <a:solidFill>
                  <a:srgbClr val="C00000"/>
                </a:solidFill>
              </a:rPr>
              <a:t>httpd.conf</a:t>
            </a:r>
            <a:r>
              <a:rPr lang="en-US" dirty="0"/>
              <a:t> file and add the following configuration</a:t>
            </a:r>
          </a:p>
          <a:p>
            <a:endParaRPr lang="en-US" dirty="0"/>
          </a:p>
          <a:p>
            <a:endParaRPr lang="en-US" dirty="0"/>
          </a:p>
          <a:p>
            <a:endParaRPr lang="en-US" dirty="0"/>
          </a:p>
          <a:p>
            <a:endParaRPr lang="en-US" dirty="0"/>
          </a:p>
          <a:p>
            <a:r>
              <a:rPr lang="en-US" dirty="0"/>
              <a:t>Save and restart Apache</a:t>
            </a:r>
            <a:endParaRPr lang="en-GH" dirty="0"/>
          </a:p>
        </p:txBody>
      </p:sp>
      <p:pic>
        <p:nvPicPr>
          <p:cNvPr id="5" name="Picture 4">
            <a:extLst>
              <a:ext uri="{FF2B5EF4-FFF2-40B4-BE49-F238E27FC236}">
                <a16:creationId xmlns:a16="http://schemas.microsoft.com/office/drawing/2014/main" id="{9EAC4153-26B5-2559-23B5-792691B960BC}"/>
              </a:ext>
            </a:extLst>
          </p:cNvPr>
          <p:cNvPicPr>
            <a:picLocks noChangeAspect="1"/>
          </p:cNvPicPr>
          <p:nvPr/>
        </p:nvPicPr>
        <p:blipFill>
          <a:blip r:embed="rId2"/>
          <a:stretch>
            <a:fillRect/>
          </a:stretch>
        </p:blipFill>
        <p:spPr>
          <a:xfrm>
            <a:off x="514366" y="1937730"/>
            <a:ext cx="4254167" cy="1491270"/>
          </a:xfrm>
          <a:prstGeom prst="rect">
            <a:avLst/>
          </a:prstGeom>
        </p:spPr>
      </p:pic>
    </p:spTree>
    <p:extLst>
      <p:ext uri="{BB962C8B-B14F-4D97-AF65-F5344CB8AC3E}">
        <p14:creationId xmlns:p14="http://schemas.microsoft.com/office/powerpoint/2010/main" val="31089044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EB147-0A93-1254-B229-231F089B24B1}"/>
              </a:ext>
            </a:extLst>
          </p:cNvPr>
          <p:cNvSpPr>
            <a:spLocks noGrp="1"/>
          </p:cNvSpPr>
          <p:nvPr>
            <p:ph type="title"/>
          </p:nvPr>
        </p:nvSpPr>
        <p:spPr/>
        <p:txBody>
          <a:bodyPr/>
          <a:lstStyle/>
          <a:p>
            <a:r>
              <a:rPr lang="en-IN" dirty="0"/>
              <a:t>Step 6: Test HTTPS</a:t>
            </a:r>
            <a:endParaRPr lang="en-GH" dirty="0"/>
          </a:p>
        </p:txBody>
      </p:sp>
      <p:sp>
        <p:nvSpPr>
          <p:cNvPr id="3" name="Content Placeholder 2">
            <a:extLst>
              <a:ext uri="{FF2B5EF4-FFF2-40B4-BE49-F238E27FC236}">
                <a16:creationId xmlns:a16="http://schemas.microsoft.com/office/drawing/2014/main" id="{C3BBBF7E-6313-B676-7968-ECCEC9E6DCCB}"/>
              </a:ext>
            </a:extLst>
          </p:cNvPr>
          <p:cNvSpPr>
            <a:spLocks noGrp="1"/>
          </p:cNvSpPr>
          <p:nvPr>
            <p:ph idx="1"/>
          </p:nvPr>
        </p:nvSpPr>
        <p:spPr/>
        <p:txBody>
          <a:bodyPr/>
          <a:lstStyle/>
          <a:p>
            <a:r>
              <a:rPr lang="en-US" dirty="0"/>
              <a:t>Visit your site at </a:t>
            </a:r>
            <a:r>
              <a:rPr lang="en-US" dirty="0">
                <a:hlinkClick r:id="rId2"/>
              </a:rPr>
              <a:t>https://localhost</a:t>
            </a:r>
            <a:r>
              <a:rPr lang="en-US" dirty="0"/>
              <a:t>.</a:t>
            </a:r>
          </a:p>
          <a:p>
            <a:r>
              <a:rPr lang="en-US" dirty="0"/>
              <a:t>If you see a warning about the certificate, this is expected with a self-signed certificate. You can bypass it for local testing.</a:t>
            </a:r>
            <a:endParaRPr lang="en-GH" dirty="0"/>
          </a:p>
        </p:txBody>
      </p:sp>
    </p:spTree>
    <p:extLst>
      <p:ext uri="{BB962C8B-B14F-4D97-AF65-F5344CB8AC3E}">
        <p14:creationId xmlns:p14="http://schemas.microsoft.com/office/powerpoint/2010/main" val="5397793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6BA49-9AC2-4442-36D8-92D40985D9FF}"/>
              </a:ext>
            </a:extLst>
          </p:cNvPr>
          <p:cNvSpPr>
            <a:spLocks noGrp="1"/>
          </p:cNvSpPr>
          <p:nvPr>
            <p:ph type="title"/>
          </p:nvPr>
        </p:nvSpPr>
        <p:spPr/>
        <p:txBody>
          <a:bodyPr/>
          <a:lstStyle/>
          <a:p>
            <a:r>
              <a:rPr lang="en-US" dirty="0"/>
              <a:t>Optional: Use phpMyAdmin with HTTPS</a:t>
            </a:r>
            <a:endParaRPr lang="en-GH" dirty="0"/>
          </a:p>
        </p:txBody>
      </p:sp>
      <p:sp>
        <p:nvSpPr>
          <p:cNvPr id="3" name="Content Placeholder 2">
            <a:extLst>
              <a:ext uri="{FF2B5EF4-FFF2-40B4-BE49-F238E27FC236}">
                <a16:creationId xmlns:a16="http://schemas.microsoft.com/office/drawing/2014/main" id="{BA0B698C-152C-595B-3531-4E09B28E3DB4}"/>
              </a:ext>
            </a:extLst>
          </p:cNvPr>
          <p:cNvSpPr>
            <a:spLocks noGrp="1"/>
          </p:cNvSpPr>
          <p:nvPr>
            <p:ph idx="1"/>
          </p:nvPr>
        </p:nvSpPr>
        <p:spPr/>
        <p:txBody>
          <a:bodyPr/>
          <a:lstStyle/>
          <a:p>
            <a:r>
              <a:rPr lang="en-US" dirty="0"/>
              <a:t>Open the </a:t>
            </a:r>
            <a:r>
              <a:rPr lang="en-US" dirty="0" err="1">
                <a:solidFill>
                  <a:srgbClr val="C00000"/>
                </a:solidFill>
              </a:rPr>
              <a:t>config.inc.php</a:t>
            </a:r>
            <a:r>
              <a:rPr lang="en-US" dirty="0">
                <a:solidFill>
                  <a:srgbClr val="C00000"/>
                </a:solidFill>
              </a:rPr>
              <a:t> </a:t>
            </a:r>
            <a:r>
              <a:rPr lang="en-US" dirty="0"/>
              <a:t>file located in </a:t>
            </a:r>
            <a:r>
              <a:rPr lang="en-US" dirty="0">
                <a:solidFill>
                  <a:srgbClr val="C00000"/>
                </a:solidFill>
              </a:rPr>
              <a:t>C:\xampp\phpMyAdmin</a:t>
            </a:r>
            <a:r>
              <a:rPr lang="en-US" dirty="0"/>
              <a:t>.</a:t>
            </a:r>
          </a:p>
          <a:p>
            <a:r>
              <a:rPr lang="en-US" dirty="0"/>
              <a:t>Ensure the </a:t>
            </a:r>
            <a:r>
              <a:rPr lang="en-US" dirty="0">
                <a:solidFill>
                  <a:srgbClr val="C00000"/>
                </a:solidFill>
              </a:rPr>
              <a:t>$</a:t>
            </a:r>
            <a:r>
              <a:rPr lang="en-US" dirty="0" err="1">
                <a:solidFill>
                  <a:srgbClr val="C00000"/>
                </a:solidFill>
              </a:rPr>
              <a:t>cfg</a:t>
            </a:r>
            <a:r>
              <a:rPr lang="en-US" dirty="0">
                <a:solidFill>
                  <a:srgbClr val="C00000"/>
                </a:solidFill>
              </a:rPr>
              <a:t>['</a:t>
            </a:r>
            <a:r>
              <a:rPr lang="en-US" dirty="0" err="1">
                <a:solidFill>
                  <a:srgbClr val="C00000"/>
                </a:solidFill>
              </a:rPr>
              <a:t>PmaAbsoluteUri</a:t>
            </a:r>
            <a:r>
              <a:rPr lang="en-US" dirty="0">
                <a:solidFill>
                  <a:srgbClr val="C00000"/>
                </a:solidFill>
              </a:rPr>
              <a:t>'] </a:t>
            </a:r>
            <a:r>
              <a:rPr lang="en-US" dirty="0"/>
              <a:t>variable uses </a:t>
            </a:r>
            <a:r>
              <a:rPr lang="en-US" dirty="0">
                <a:solidFill>
                  <a:srgbClr val="FF0000"/>
                </a:solidFill>
              </a:rPr>
              <a:t>https://</a:t>
            </a:r>
          </a:p>
          <a:p>
            <a:pPr marL="0" indent="0">
              <a:buNone/>
            </a:pPr>
            <a:endParaRPr lang="en-GH" dirty="0">
              <a:solidFill>
                <a:srgbClr val="FF0000"/>
              </a:solidFill>
            </a:endParaRPr>
          </a:p>
        </p:txBody>
      </p:sp>
      <p:pic>
        <p:nvPicPr>
          <p:cNvPr id="5" name="Picture 4">
            <a:extLst>
              <a:ext uri="{FF2B5EF4-FFF2-40B4-BE49-F238E27FC236}">
                <a16:creationId xmlns:a16="http://schemas.microsoft.com/office/drawing/2014/main" id="{C780BA4D-139A-8B80-195C-CF9A81D49EE5}"/>
              </a:ext>
            </a:extLst>
          </p:cNvPr>
          <p:cNvPicPr>
            <a:picLocks noChangeAspect="1"/>
          </p:cNvPicPr>
          <p:nvPr/>
        </p:nvPicPr>
        <p:blipFill>
          <a:blip r:embed="rId2"/>
          <a:stretch>
            <a:fillRect/>
          </a:stretch>
        </p:blipFill>
        <p:spPr>
          <a:xfrm>
            <a:off x="632099" y="2666511"/>
            <a:ext cx="7227391" cy="565203"/>
          </a:xfrm>
          <a:prstGeom prst="rect">
            <a:avLst/>
          </a:prstGeom>
        </p:spPr>
      </p:pic>
    </p:spTree>
    <p:extLst>
      <p:ext uri="{BB962C8B-B14F-4D97-AF65-F5344CB8AC3E}">
        <p14:creationId xmlns:p14="http://schemas.microsoft.com/office/powerpoint/2010/main" val="38116104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5ADBE-0CED-4B5E-AA44-7678FBC8AF24}"/>
              </a:ext>
            </a:extLst>
          </p:cNvPr>
          <p:cNvSpPr>
            <a:spLocks noGrp="1"/>
          </p:cNvSpPr>
          <p:nvPr>
            <p:ph type="title"/>
          </p:nvPr>
        </p:nvSpPr>
        <p:spPr/>
        <p:txBody>
          <a:bodyPr/>
          <a:lstStyle/>
          <a:p>
            <a:r>
              <a:rPr lang="en-IN" dirty="0"/>
              <a:t>Thank you</a:t>
            </a:r>
            <a:endParaRPr lang="en-GH" dirty="0"/>
          </a:p>
        </p:txBody>
      </p:sp>
      <p:sp>
        <p:nvSpPr>
          <p:cNvPr id="3" name="Content Placeholder 2">
            <a:extLst>
              <a:ext uri="{FF2B5EF4-FFF2-40B4-BE49-F238E27FC236}">
                <a16:creationId xmlns:a16="http://schemas.microsoft.com/office/drawing/2014/main" id="{5D162F7F-A8FA-2635-91C2-8FBD1A40C35E}"/>
              </a:ext>
            </a:extLst>
          </p:cNvPr>
          <p:cNvSpPr>
            <a:spLocks noGrp="1"/>
          </p:cNvSpPr>
          <p:nvPr>
            <p:ph idx="1"/>
          </p:nvPr>
        </p:nvSpPr>
        <p:spPr/>
        <p:txBody>
          <a:bodyPr/>
          <a:lstStyle/>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lgn="ctr">
              <a:buNone/>
            </a:pPr>
            <a:r>
              <a:rPr lang="en-IN" dirty="0"/>
              <a:t>Questions???</a:t>
            </a:r>
            <a:endParaRPr lang="en-GH" dirty="0"/>
          </a:p>
        </p:txBody>
      </p:sp>
      <p:sp>
        <p:nvSpPr>
          <p:cNvPr id="4" name="Text Placeholder 3">
            <a:extLst>
              <a:ext uri="{FF2B5EF4-FFF2-40B4-BE49-F238E27FC236}">
                <a16:creationId xmlns:a16="http://schemas.microsoft.com/office/drawing/2014/main" id="{44ED5CE5-C9D7-1978-5960-AF2C70FD652E}"/>
              </a:ext>
            </a:extLst>
          </p:cNvPr>
          <p:cNvSpPr>
            <a:spLocks noGrp="1"/>
          </p:cNvSpPr>
          <p:nvPr>
            <p:ph type="body" sz="half" idx="2"/>
          </p:nvPr>
        </p:nvSpPr>
        <p:spPr/>
        <p:txBody>
          <a:bodyPr/>
          <a:lstStyle/>
          <a:p>
            <a:pPr algn="ctr"/>
            <a:endParaRPr lang="en-GH" dirty="0"/>
          </a:p>
        </p:txBody>
      </p:sp>
    </p:spTree>
    <p:extLst>
      <p:ext uri="{BB962C8B-B14F-4D97-AF65-F5344CB8AC3E}">
        <p14:creationId xmlns:p14="http://schemas.microsoft.com/office/powerpoint/2010/main" val="4277503702"/>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A6F9229A-DD42-46FB-AC7D-2F23A646FBDE}" vid="{29738491-4758-454F-8D61-01C0E30714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Govindha-Ashesi-3-4-Five</Template>
  <TotalTime>780</TotalTime>
  <Words>3034</Words>
  <Application>Microsoft Office PowerPoint</Application>
  <PresentationFormat>On-screen Show (4:3)</PresentationFormat>
  <Paragraphs>225</Paragraphs>
  <Slides>25</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Aptos</vt:lpstr>
      <vt:lpstr>Arial</vt:lpstr>
      <vt:lpstr>Calibri</vt:lpstr>
      <vt:lpstr>Calibri Light</vt:lpstr>
      <vt:lpstr>Consolas</vt:lpstr>
      <vt:lpstr>Courier New</vt:lpstr>
      <vt:lpstr>Wingdings</vt:lpstr>
      <vt:lpstr>1_Office Theme</vt:lpstr>
      <vt:lpstr>Implementing Security</vt:lpstr>
      <vt:lpstr>Outline</vt:lpstr>
      <vt:lpstr>Security Essentials</vt:lpstr>
      <vt:lpstr>Introduction to Web Security</vt:lpstr>
      <vt:lpstr>Common Web Vulnerabilities</vt:lpstr>
      <vt:lpstr>Security Best Practices</vt:lpstr>
      <vt:lpstr>OWASP Top 10 and Defense-in-Depth</vt:lpstr>
      <vt:lpstr>Conclusion and Key Takeaways</vt:lpstr>
      <vt:lpstr>References and Further Reading</vt:lpstr>
      <vt:lpstr>Implementing User Authentication </vt:lpstr>
      <vt:lpstr>Steps for our Example Application</vt:lpstr>
      <vt:lpstr>Steps for our Example Application</vt:lpstr>
      <vt:lpstr>Steps for our Example Application</vt:lpstr>
      <vt:lpstr>Sample Script to Secure Endpoints</vt:lpstr>
      <vt:lpstr>Implementing HTTPS</vt:lpstr>
      <vt:lpstr>Step 1: Obtain an SSL/TLS Certificate</vt:lpstr>
      <vt:lpstr>Step 1: Obtain an SSL/TLS Certificate</vt:lpstr>
      <vt:lpstr>Step 2: Configure HTTPS in XAMPP</vt:lpstr>
      <vt:lpstr>Step 2: Configure HTTPS in XAMPP</vt:lpstr>
      <vt:lpstr>Step 3: Start Apache with SSL</vt:lpstr>
      <vt:lpstr>Step 4: Update Frontend Code</vt:lpstr>
      <vt:lpstr>Step 5: Redirect HTTP to HTTPS</vt:lpstr>
      <vt:lpstr>Step 6: Test HTTPS</vt:lpstr>
      <vt:lpstr>Optional: Use phpMyAdmin with HTTPS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Govindha R Yeluripati</dc:creator>
  <cp:lastModifiedBy>Govindha  Ramaiah Yeluripati</cp:lastModifiedBy>
  <cp:revision>67</cp:revision>
  <dcterms:created xsi:type="dcterms:W3CDTF">2024-09-11T05:06:52Z</dcterms:created>
  <dcterms:modified xsi:type="dcterms:W3CDTF">2024-11-19T20:04:40Z</dcterms:modified>
</cp:coreProperties>
</file>