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00" r:id="rId3"/>
    <p:sldId id="258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9" r:id="rId13"/>
    <p:sldId id="294" r:id="rId14"/>
    <p:sldId id="295" r:id="rId15"/>
    <p:sldId id="296" r:id="rId16"/>
    <p:sldId id="297" r:id="rId17"/>
    <p:sldId id="298" r:id="rId18"/>
    <p:sldId id="28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60" d="100"/>
          <a:sy n="60" d="100"/>
        </p:scale>
        <p:origin x="1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5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>
            <a:extLst>
              <a:ext uri="{FF2B5EF4-FFF2-40B4-BE49-F238E27FC236}">
                <a16:creationId xmlns:a16="http://schemas.microsoft.com/office/drawing/2014/main" id="{ADC1A0AE-A0C7-CD4A-0BAB-8EBC26398050}"/>
              </a:ext>
            </a:extLst>
          </p:cNvPr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>
            <a:extLst>
              <a:ext uri="{FF2B5EF4-FFF2-40B4-BE49-F238E27FC236}">
                <a16:creationId xmlns:a16="http://schemas.microsoft.com/office/drawing/2014/main" id="{E634ECF9-3972-2CC8-4938-4B4BFD28C772}"/>
              </a:ext>
            </a:extLst>
          </p:cNvPr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omla.org/" TargetMode="External"/><Relationship Id="rId2" Type="http://schemas.openxmlformats.org/officeDocument/2006/relationships/hyperlink" Target="https://wordpres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x.com/" TargetMode="External"/><Relationship Id="rId5" Type="http://schemas.openxmlformats.org/officeDocument/2006/relationships/hyperlink" Target="https://www.squarespace.com/" TargetMode="External"/><Relationship Id="rId4" Type="http://schemas.openxmlformats.org/officeDocument/2006/relationships/hyperlink" Target="https://www.drupal.or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Content Management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Govindha Ramaiah Yeluripati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5E9F-2041-D0C2-F344-8CB5B119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1062-57C0-33C2-4D4E-AD28E0B1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Significance of content</a:t>
            </a:r>
          </a:p>
          <a:p>
            <a:r>
              <a:rPr lang="en-IN" dirty="0"/>
              <a:t>Content Management System</a:t>
            </a:r>
          </a:p>
          <a:p>
            <a:r>
              <a:rPr lang="en-IN" dirty="0"/>
              <a:t>Popular CMS</a:t>
            </a:r>
          </a:p>
          <a:p>
            <a:r>
              <a:rPr lang="en-IN" dirty="0"/>
              <a:t>Working with WordPress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39920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8DC9-1F36-91B0-995C-8B69F4F8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Drives the Purpose of the Website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9A4B5-55DB-19F7-86F2-F58751A16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Content</a:t>
            </a:r>
            <a:r>
              <a:rPr lang="en-US" dirty="0"/>
              <a:t> refers to the information presented on a website</a:t>
            </a:r>
          </a:p>
          <a:p>
            <a:pPr lvl="1"/>
            <a:r>
              <a:rPr lang="en-US" dirty="0"/>
              <a:t>includes text, images, videos, and multimedia elements </a:t>
            </a:r>
          </a:p>
          <a:p>
            <a:endParaRPr lang="en-US" dirty="0"/>
          </a:p>
          <a:p>
            <a:r>
              <a:rPr lang="en-US" dirty="0"/>
              <a:t>The purpose of website development is often to create a platform for delivering this content to users effectively.</a:t>
            </a:r>
          </a:p>
          <a:p>
            <a:endParaRPr lang="en-US" dirty="0"/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A blog website is built primarily to present written articles</a:t>
            </a:r>
          </a:p>
          <a:p>
            <a:pPr lvl="1"/>
            <a:r>
              <a:rPr lang="en-US" dirty="0"/>
              <a:t>An e-commerce website is designed to showcase product information. </a:t>
            </a:r>
          </a:p>
          <a:p>
            <a:endParaRPr lang="en-US" dirty="0"/>
          </a:p>
          <a:p>
            <a:r>
              <a:rPr lang="en-US" dirty="0"/>
              <a:t>The development choices, such as layout, design, and functionality, are driven by the type of content to be displayed.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35832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A7E4-56CF-3766-57CE-803FEFED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Dictates Design and Layout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5D43-8840-1345-F7B1-B941F7BE1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type and structure of content heavily influence the website’s design and layout. </a:t>
            </a:r>
          </a:p>
          <a:p>
            <a:r>
              <a:rPr lang="en-US" dirty="0"/>
              <a:t>Developers must consider how to display content in a user-friendly and engaging way.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Text-heavy</a:t>
            </a:r>
            <a:r>
              <a:rPr lang="en-US" dirty="0"/>
              <a:t> content might require typography choices, line spacing, and sections for easy readability.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Visual</a:t>
            </a:r>
            <a:r>
              <a:rPr lang="en-US" dirty="0"/>
              <a:t> content like images or videos might require galleries, sliders, or media players.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Interactive </a:t>
            </a:r>
            <a:r>
              <a:rPr lang="en-US" dirty="0"/>
              <a:t>content (like quizzes or calculators) demands custom forms or interactive elements.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A news website needs a layout that prioritizes headlines, categories, and readability</a:t>
            </a:r>
          </a:p>
          <a:p>
            <a:pPr lvl="1"/>
            <a:r>
              <a:rPr lang="en-US" dirty="0"/>
              <a:t>A portfolio site focuses on visual display and minimalistic design.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56367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2481-111D-D0B0-1129-C65530EA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Affects User Experience (</a:t>
            </a:r>
            <a:r>
              <a:rPr lang="en-IN" dirty="0" err="1"/>
              <a:t>UX</a:t>
            </a:r>
            <a:r>
              <a:rPr lang="en-IN" dirty="0"/>
              <a:t>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8E6E-3139-E49D-1582-E9AED15B0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Well-crafted, informative, and engaging content is essential for good user experience (</a:t>
            </a:r>
            <a:r>
              <a:rPr lang="en-US" dirty="0" err="1"/>
              <a:t>UX</a:t>
            </a:r>
            <a:r>
              <a:rPr lang="en-US" dirty="0"/>
              <a:t>)</a:t>
            </a:r>
          </a:p>
          <a:p>
            <a:r>
              <a:rPr lang="en-US" dirty="0"/>
              <a:t>Web development supports this by providing the structure and functionality to deliver content in an accessible, intuitive, and visually appealing manner.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Responsive design </a:t>
            </a:r>
            <a:r>
              <a:rPr lang="en-US" dirty="0"/>
              <a:t>is an example where development ensures content is accessible and easily readable across devices (desktops, tablets, smartphones). </a:t>
            </a:r>
          </a:p>
          <a:p>
            <a:r>
              <a:rPr lang="en-US" dirty="0"/>
              <a:t>If the content is hard to consume due to poor design choices (e.g., small text or slow-loading images), the overall experience suffers.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9403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74541-8176-7000-E3F1-953BB2387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SEO (Search Engine Optimization)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0F7AE-93A7-228D-06F3-D3229C8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is central to SEO, which determines how well a website ranks on search engines like Google. </a:t>
            </a:r>
          </a:p>
          <a:p>
            <a:r>
              <a:rPr lang="en-US" dirty="0"/>
              <a:t>Development ensures that the website is built with SEO best practices in mind, such as fast loading times, mobile responsiveness, and structured data. </a:t>
            </a:r>
          </a:p>
          <a:p>
            <a:endParaRPr lang="en-US" dirty="0"/>
          </a:p>
          <a:p>
            <a:r>
              <a:rPr lang="en-US" dirty="0"/>
              <a:t>However, content plays the largest role in SEO: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Keywords</a:t>
            </a:r>
            <a:r>
              <a:rPr lang="en-US" dirty="0"/>
              <a:t>: Content must include relevant keywords to help the website rank in search engine results.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Metadata</a:t>
            </a:r>
            <a:r>
              <a:rPr lang="en-US" dirty="0"/>
              <a:t>: Developers ensure the site has proper meta descriptions, title tags, and alt text, which support content visibility.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Clean URLs and sitemaps </a:t>
            </a:r>
            <a:r>
              <a:rPr lang="en-US" dirty="0"/>
              <a:t>are also part of the development process that helps search engines crawl and index the content.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68311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7128-CC65-1494-D841-5AA94BD8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and Content Loading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EEA9-545B-E15B-BA15-545843913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Developers ensure that performance is optimized based on the type and volume of content being loaded. </a:t>
            </a:r>
          </a:p>
          <a:p>
            <a:endParaRPr lang="en-US" dirty="0"/>
          </a:p>
          <a:p>
            <a:r>
              <a:rPr lang="en-US" dirty="0"/>
              <a:t>A media-heavy website with videos and large images may require optimizations such as: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Lazy loading</a:t>
            </a:r>
            <a:r>
              <a:rPr lang="en-US" dirty="0"/>
              <a:t>: Only loading content when it comes into view.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Caching</a:t>
            </a:r>
            <a:r>
              <a:rPr lang="en-US" dirty="0"/>
              <a:t>: Storing parts of the website temporarily for faster access.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</a:rPr>
              <a:t>CDNs</a:t>
            </a:r>
            <a:r>
              <a:rPr lang="en-US" b="1" dirty="0">
                <a:solidFill>
                  <a:srgbClr val="0070C0"/>
                </a:solidFill>
              </a:rPr>
              <a:t> (Content Delivery Networks)</a:t>
            </a:r>
            <a:r>
              <a:rPr lang="en-US" b="1" dirty="0"/>
              <a:t>: </a:t>
            </a:r>
            <a:r>
              <a:rPr lang="en-US" dirty="0"/>
              <a:t>Serving content from servers close to the user to reduce loading times.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702821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599A-CD9D-76AC-617E-E2079CB9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and Branding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6EB9D-41A8-5AB9-7FAB-3B7C40895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is an expression of the website's branding, and developers ensure the website reflects this branding through the use of custom fonts, </a:t>
            </a:r>
            <a:r>
              <a:rPr lang="en-US" dirty="0" err="1"/>
              <a:t>colours</a:t>
            </a:r>
            <a:r>
              <a:rPr lang="en-US" dirty="0"/>
              <a:t>, and design elements that align with the content’s tone and message.</a:t>
            </a:r>
          </a:p>
          <a:p>
            <a:endParaRPr lang="en-US" dirty="0"/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A tech company’s website may use a sleek, modern design with technical language in its content</a:t>
            </a:r>
          </a:p>
          <a:p>
            <a:pPr lvl="1"/>
            <a:r>
              <a:rPr lang="en-US" dirty="0"/>
              <a:t>A children's book site would use playful designs and easy-to-read content.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30619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8965-125E-CE23-7F1B-7068ED29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Updates and Scalability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26C4-03D2-6E4C-BB6E-E85C44FB0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Content is often updated or expanded over time. </a:t>
            </a:r>
          </a:p>
          <a:p>
            <a:endParaRPr lang="en-US" dirty="0"/>
          </a:p>
          <a:p>
            <a:r>
              <a:rPr lang="en-US" dirty="0"/>
              <a:t>The website must be scalable and flexible enough to accommodate these changes. </a:t>
            </a:r>
          </a:p>
          <a:p>
            <a:endParaRPr lang="en-US" dirty="0"/>
          </a:p>
          <a:p>
            <a:r>
              <a:rPr lang="en-US" dirty="0"/>
              <a:t>Developers ensure the site structure and backend can handle frequent content updates and expansions without compromising performance.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79557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565A-9F13-5435-E85A-7E324DB12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Management System (CMS)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1CD6-08F2-4B71-3F8A-42F25D90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Content Management System (CMS) </a:t>
            </a:r>
            <a:r>
              <a:rPr lang="en-US" dirty="0"/>
              <a:t>is a platform that allows users to create, manage, and modify website content without needing extensive technical skills. </a:t>
            </a:r>
          </a:p>
          <a:p>
            <a:endParaRPr lang="en-US" dirty="0"/>
          </a:p>
          <a:p>
            <a:r>
              <a:rPr lang="en-US" dirty="0"/>
              <a:t>In web design, CMS tools streamline the process of building and maintaining websites, making it easier for non-developers to manage their sites.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15862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27E8-5246-A346-082B-39C03317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CMSs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32C6-6DB0-CAD2-589E-2619682DF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WordPress</a:t>
            </a:r>
            <a:r>
              <a:rPr lang="en-IN" dirty="0"/>
              <a:t>: </a:t>
            </a:r>
            <a:r>
              <a:rPr lang="en-US" dirty="0"/>
              <a:t>Most widely used CMS; suitable for blogs, and small to medium-sized websites.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Joomla</a:t>
            </a:r>
            <a:r>
              <a:rPr lang="en-IN" dirty="0"/>
              <a:t>: </a:t>
            </a:r>
            <a:r>
              <a:rPr lang="en-US" dirty="0"/>
              <a:t>More flexibility and control for advanced users</a:t>
            </a:r>
          </a:p>
          <a:p>
            <a:endParaRPr lang="en-IN" dirty="0"/>
          </a:p>
          <a:p>
            <a:r>
              <a:rPr lang="en-IN" dirty="0">
                <a:hlinkClick r:id="rId4"/>
              </a:rPr>
              <a:t>Drupal</a:t>
            </a:r>
            <a:r>
              <a:rPr lang="en-IN" dirty="0"/>
              <a:t>: </a:t>
            </a:r>
            <a:r>
              <a:rPr lang="en-US" dirty="0"/>
              <a:t>Powerful for complex and large-scale sites</a:t>
            </a:r>
          </a:p>
          <a:p>
            <a:endParaRPr lang="en-IN" dirty="0"/>
          </a:p>
          <a:p>
            <a:r>
              <a:rPr lang="en-IN" dirty="0">
                <a:hlinkClick r:id="rId5"/>
              </a:rPr>
              <a:t>Squarespace</a:t>
            </a:r>
            <a:r>
              <a:rPr lang="en-IN" dirty="0"/>
              <a:t>: Small to Medium-sized websites (blogs, portfolios, small e-commerce sites)</a:t>
            </a:r>
          </a:p>
          <a:p>
            <a:endParaRPr lang="en-IN" dirty="0"/>
          </a:p>
          <a:p>
            <a:r>
              <a:rPr lang="en-IN" dirty="0">
                <a:hlinkClick r:id="rId6"/>
              </a:rPr>
              <a:t>Wix</a:t>
            </a:r>
            <a:r>
              <a:rPr lang="en-IN" dirty="0"/>
              <a:t>: Small to Medium-sized websites (blogs, portfolios, small e-commerce sites)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88440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7796-15D8-A9E7-8612-C5B563F8F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WordPress.com (Hosted Version)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7B000-7D4D-850D-DEE7-3FF1FA69B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No download required</a:t>
            </a:r>
            <a:r>
              <a:rPr lang="en-US" dirty="0"/>
              <a:t>: You can create a website on WordPress.com without having to download any software.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Managed hosting</a:t>
            </a:r>
            <a:r>
              <a:rPr lang="en-US" dirty="0"/>
              <a:t>: WordPress.com takes care of hosting, security, backups, and updates.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Limitations</a:t>
            </a:r>
            <a:r>
              <a:rPr lang="en-US" dirty="0"/>
              <a:t>: The free and lower-tier plans come with restrictions on themes, plugins, and overall customization. You can upgrade to paid plans for more features.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Use case</a:t>
            </a:r>
            <a:r>
              <a:rPr lang="en-US" dirty="0"/>
              <a:t>: Ideal for users who want to set up a blog or basic website quickly without worrying about technical aspects.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41742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7257-284B-781F-5A14-401C188D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WordPress (Self-Hosted Version)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91CFD-7357-0DE4-0BC5-5D0C9592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Installing WordPress:</a:t>
            </a:r>
          </a:p>
          <a:p>
            <a:pPr lvl="1"/>
            <a:r>
              <a:rPr lang="en-US" dirty="0"/>
              <a:t>Download from WordPress.org.</a:t>
            </a:r>
          </a:p>
          <a:p>
            <a:pPr lvl="1"/>
            <a:r>
              <a:rPr lang="en-US" dirty="0"/>
              <a:t>Install on a web server (can be done locally using tools like </a:t>
            </a:r>
            <a:r>
              <a:rPr lang="en-US" dirty="0" err="1"/>
              <a:t>XAMPP</a:t>
            </a:r>
            <a:r>
              <a:rPr lang="en-US" dirty="0"/>
              <a:t> or on a live server with hosting providers like Bluehost or </a:t>
            </a:r>
            <a:r>
              <a:rPr lang="en-US" dirty="0" err="1"/>
              <a:t>SiteGround</a:t>
            </a:r>
            <a:r>
              <a:rPr lang="en-US" dirty="0"/>
              <a:t>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778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A758-8900-BF49-5F6F-57913762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Website with a CMS (WordPress)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30B5-EEBD-85A7-B43B-BCE465AF2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Install WordPress</a:t>
            </a:r>
          </a:p>
          <a:p>
            <a:pPr lvl="1"/>
            <a:r>
              <a:rPr lang="en-US" dirty="0"/>
              <a:t>Use a local server (</a:t>
            </a:r>
            <a:r>
              <a:rPr lang="en-US" dirty="0" err="1"/>
              <a:t>XAMPP</a:t>
            </a:r>
            <a:r>
              <a:rPr lang="en-US" dirty="0"/>
              <a:t> or WAMP) or a web hosting platform.</a:t>
            </a:r>
          </a:p>
          <a:p>
            <a:pPr lvl="1"/>
            <a:endParaRPr lang="en-US" dirty="0"/>
          </a:p>
          <a:p>
            <a:r>
              <a:rPr lang="en-US" dirty="0"/>
              <a:t>Step 2: Choosing a Theme</a:t>
            </a:r>
          </a:p>
          <a:p>
            <a:pPr lvl="1"/>
            <a:r>
              <a:rPr lang="en-US" dirty="0"/>
              <a:t>Go to Appearance &gt; Themes and select a theme. </a:t>
            </a:r>
          </a:p>
          <a:p>
            <a:pPr lvl="1"/>
            <a:r>
              <a:rPr lang="en-US" dirty="0"/>
              <a:t>You can install free themes or purchase premium ones.</a:t>
            </a:r>
          </a:p>
          <a:p>
            <a:pPr lvl="1"/>
            <a:endParaRPr lang="en-US" dirty="0"/>
          </a:p>
          <a:p>
            <a:r>
              <a:rPr lang="en-US" dirty="0"/>
              <a:t>Step 3: Installing Plugins</a:t>
            </a:r>
          </a:p>
          <a:p>
            <a:pPr lvl="1"/>
            <a:r>
              <a:rPr lang="en-US" dirty="0"/>
              <a:t>Go to Plugins &gt; Add New to browse and install useful plugins such as Yoast SEO, </a:t>
            </a:r>
            <a:r>
              <a:rPr lang="en-US" dirty="0" err="1"/>
              <a:t>Elementor</a:t>
            </a:r>
            <a:r>
              <a:rPr lang="en-US" dirty="0"/>
              <a:t> (page builder), or WooCommerce (for e-commerce).</a:t>
            </a:r>
          </a:p>
        </p:txBody>
      </p:sp>
    </p:spTree>
    <p:extLst>
      <p:ext uri="{BB962C8B-B14F-4D97-AF65-F5344CB8AC3E}">
        <p14:creationId xmlns:p14="http://schemas.microsoft.com/office/powerpoint/2010/main" val="62322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A758-8900-BF49-5F6F-57913762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Website with a CMS (WordPress)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30B5-EEBD-85A7-B43B-BCE465AF2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4: Creating Pages and Posts</a:t>
            </a:r>
          </a:p>
          <a:p>
            <a:pPr lvl="1"/>
            <a:r>
              <a:rPr lang="en-US" dirty="0"/>
              <a:t>Go to Pages &gt; Add New to create static pages like "About Us" or "Contact".</a:t>
            </a:r>
          </a:p>
          <a:p>
            <a:pPr lvl="1"/>
            <a:r>
              <a:rPr lang="en-US" dirty="0"/>
              <a:t>Go to Posts &gt; Add New to create blog posts.</a:t>
            </a:r>
          </a:p>
          <a:p>
            <a:pPr lvl="1"/>
            <a:endParaRPr lang="en-US" dirty="0"/>
          </a:p>
          <a:p>
            <a:r>
              <a:rPr lang="en-US" dirty="0"/>
              <a:t>Step 5: Adding a Navigation Menu</a:t>
            </a:r>
          </a:p>
          <a:p>
            <a:pPr lvl="1"/>
            <a:r>
              <a:rPr lang="en-US" dirty="0"/>
              <a:t>Go to Appearance &gt; Menus to create and manage your website’s navigation.</a:t>
            </a:r>
          </a:p>
          <a:p>
            <a:pPr lvl="1"/>
            <a:endParaRPr lang="en-US" dirty="0"/>
          </a:p>
          <a:p>
            <a:r>
              <a:rPr lang="en-US" dirty="0"/>
              <a:t>Step 6: Customizing with Widgets</a:t>
            </a:r>
          </a:p>
          <a:p>
            <a:pPr lvl="1"/>
            <a:r>
              <a:rPr lang="en-US" dirty="0"/>
              <a:t>Use widgets to add extra features like search bars, recent posts, or social media links.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7519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4D2E-2422-1EB2-E666-5EBCB1A7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5CE56-8C22-B3A9-DF39-505935672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are working </a:t>
            </a:r>
            <a:r>
              <a:rPr lang="en-US" dirty="0">
                <a:solidFill>
                  <a:srgbClr val="0070C0"/>
                </a:solidFill>
              </a:rPr>
              <a:t>with HTML, CSS, JavaScript, React, PHP, and MySQL </a:t>
            </a:r>
            <a:r>
              <a:rPr lang="en-US" dirty="0"/>
              <a:t>in our web development stack, it is good to explore WordPress as it is a great example of how PHP and MySQL are used to dynamically generate content on the web. </a:t>
            </a:r>
          </a:p>
          <a:p>
            <a:endParaRPr lang="en-US" dirty="0"/>
          </a:p>
          <a:p>
            <a:r>
              <a:rPr lang="en-US" dirty="0"/>
              <a:t>You can experiment with custom WordPress themes and plugins, or even develop a CMS-like project from scratch.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78482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C61F-4CAC-27C8-E671-9B602E6F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1- CV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170F-290C-F3B3-CD68-547E1F908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Check Canvas for the task description.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87899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ADBE-0CED-4B5E-AA44-7678FBC8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62F7F-A8FA-2635-91C2-8FBD1A40C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Questions???</a:t>
            </a:r>
            <a:endParaRPr lang="en-G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D5CE5-C9D7-1978-5960-AF2C70FD6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IN" dirty="0"/>
              <a:t>Govindha Yeluripati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775037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F9229A-DD42-46FB-AC7D-2F23A646FBDE}" vid="{29738491-4758-454F-8D61-01C0E30714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Govindha-Ashesi-3-4-Five</Template>
  <TotalTime>383</TotalTime>
  <Words>1161</Words>
  <Application>Microsoft Office PowerPoint</Application>
  <PresentationFormat>On-screen Show (4:3)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1_Office Theme</vt:lpstr>
      <vt:lpstr>Content Management Systems</vt:lpstr>
      <vt:lpstr>Outline</vt:lpstr>
      <vt:lpstr>Content Drives the Purpose of the Website</vt:lpstr>
      <vt:lpstr>Content Dictates Design and Layout</vt:lpstr>
      <vt:lpstr>Content Affects User Experience (UX)</vt:lpstr>
      <vt:lpstr>SEO (Search Engine Optimization)</vt:lpstr>
      <vt:lpstr>Performance and Content Loading</vt:lpstr>
      <vt:lpstr>Content and Branding</vt:lpstr>
      <vt:lpstr>Content Updates and Scalability</vt:lpstr>
      <vt:lpstr>Content Management System (CMS)</vt:lpstr>
      <vt:lpstr>Popular CMSs</vt:lpstr>
      <vt:lpstr>WordPress.com (Hosted Version)</vt:lpstr>
      <vt:lpstr>Setting up WordPress (Self-Hosted Version)</vt:lpstr>
      <vt:lpstr>Building a Website with a CMS (WordPress)</vt:lpstr>
      <vt:lpstr>Building a Website with a CMS (WordPress)</vt:lpstr>
      <vt:lpstr>Note</vt:lpstr>
      <vt:lpstr>Assignment 1- CV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Govindha R Yeluripati</dc:creator>
  <cp:lastModifiedBy>Govindha  Ramaiah Yeluripati</cp:lastModifiedBy>
  <cp:revision>25</cp:revision>
  <dcterms:created xsi:type="dcterms:W3CDTF">2024-09-11T05:06:52Z</dcterms:created>
  <dcterms:modified xsi:type="dcterms:W3CDTF">2024-09-13T12:03:13Z</dcterms:modified>
</cp:coreProperties>
</file>