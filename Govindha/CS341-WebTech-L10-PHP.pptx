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68"/>
  </p:notesMasterIdLst>
  <p:sldIdLst>
    <p:sldId id="256" r:id="rId3"/>
    <p:sldId id="257" r:id="rId4"/>
    <p:sldId id="289" r:id="rId5"/>
    <p:sldId id="290" r:id="rId6"/>
    <p:sldId id="291" r:id="rId7"/>
    <p:sldId id="292" r:id="rId8"/>
    <p:sldId id="300" r:id="rId9"/>
    <p:sldId id="293" r:id="rId10"/>
    <p:sldId id="294" r:id="rId11"/>
    <p:sldId id="296" r:id="rId12"/>
    <p:sldId id="298" r:id="rId13"/>
    <p:sldId id="325" r:id="rId14"/>
    <p:sldId id="326" r:id="rId15"/>
    <p:sldId id="302" r:id="rId16"/>
    <p:sldId id="299" r:id="rId17"/>
    <p:sldId id="303" r:id="rId18"/>
    <p:sldId id="304" r:id="rId19"/>
    <p:sldId id="305" r:id="rId20"/>
    <p:sldId id="307" r:id="rId21"/>
    <p:sldId id="306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7" r:id="rId37"/>
    <p:sldId id="328" r:id="rId38"/>
    <p:sldId id="322" r:id="rId39"/>
    <p:sldId id="323" r:id="rId40"/>
    <p:sldId id="330" r:id="rId41"/>
    <p:sldId id="329" r:id="rId42"/>
    <p:sldId id="331" r:id="rId43"/>
    <p:sldId id="332" r:id="rId44"/>
    <p:sldId id="333" r:id="rId45"/>
    <p:sldId id="334" r:id="rId46"/>
    <p:sldId id="335" r:id="rId47"/>
    <p:sldId id="336" r:id="rId48"/>
    <p:sldId id="337" r:id="rId49"/>
    <p:sldId id="340" r:id="rId50"/>
    <p:sldId id="341" r:id="rId51"/>
    <p:sldId id="343" r:id="rId52"/>
    <p:sldId id="344" r:id="rId53"/>
    <p:sldId id="342" r:id="rId54"/>
    <p:sldId id="339" r:id="rId55"/>
    <p:sldId id="345" r:id="rId56"/>
    <p:sldId id="346" r:id="rId57"/>
    <p:sldId id="347" r:id="rId58"/>
    <p:sldId id="348" r:id="rId59"/>
    <p:sldId id="349" r:id="rId60"/>
    <p:sldId id="350" r:id="rId61"/>
    <p:sldId id="351" r:id="rId62"/>
    <p:sldId id="352" r:id="rId63"/>
    <p:sldId id="353" r:id="rId64"/>
    <p:sldId id="354" r:id="rId65"/>
    <p:sldId id="367" r:id="rId66"/>
    <p:sldId id="288" r:id="rId6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8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2" autoAdjust="0"/>
    <p:restoredTop sz="93447" autoAdjust="0"/>
  </p:normalViewPr>
  <p:slideViewPr>
    <p:cSldViewPr snapToGrid="0">
      <p:cViewPr varScale="1">
        <p:scale>
          <a:sx n="56" d="100"/>
          <a:sy n="56" d="100"/>
        </p:scale>
        <p:origin x="14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33EEC-B47C-49E8-B84F-34B93CEE99AD}" type="datetimeFigureOut">
              <a:rPr lang="en-GH" smtClean="0"/>
              <a:t>11/11/2024</a:t>
            </a:fld>
            <a:endParaRPr lang="en-G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6FEFE0-2319-461A-A752-96B5F86327A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629123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FEFE0-2319-461A-A752-96B5F86327A5}" type="slidenum">
              <a:rPr lang="en-GH" smtClean="0"/>
              <a:t>24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793685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FEFE0-2319-461A-A752-96B5F86327A5}" type="slidenum">
              <a:rPr lang="en-GH" smtClean="0"/>
              <a:t>56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092363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9DDBD-B055-DB96-53E7-CA2C8EA44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A6847D-457E-1575-1A94-E6F79C135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2A38E-DA83-77F9-FFA5-1F663AA40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C1E2D-2E80-DD69-5049-B9DC29D26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FEFE0-2319-461A-A752-96B5F86327A5}" type="slidenum">
              <a:rPr lang="en-GH" smtClean="0"/>
              <a:t>57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88500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0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9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24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53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59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9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30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76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21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8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6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08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89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13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51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02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5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410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79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403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23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2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9">
            <a:extLst>
              <a:ext uri="{FF2B5EF4-FFF2-40B4-BE49-F238E27FC236}">
                <a16:creationId xmlns:a16="http://schemas.microsoft.com/office/drawing/2014/main" id="{ADC1A0AE-A0C7-CD4A-0BAB-8EBC26398050}"/>
              </a:ext>
            </a:extLst>
          </p:cNvPr>
          <p:cNvSpPr/>
          <p:nvPr/>
        </p:nvSpPr>
        <p:spPr>
          <a:xfrm flipV="1">
            <a:off x="222485" y="6626648"/>
            <a:ext cx="8752840" cy="2206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0465" y="129540"/>
            <a:ext cx="8681519" cy="1162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100" y="1386039"/>
            <a:ext cx="8681519" cy="4943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623601"/>
            <a:ext cx="3086100" cy="2154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0341" y="6615830"/>
            <a:ext cx="2057400" cy="231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of a university&#10;&#10;Description automatically generated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0" y="6355380"/>
            <a:ext cx="588010" cy="485140"/>
          </a:xfrm>
          <a:prstGeom prst="rect">
            <a:avLst/>
          </a:prstGeom>
        </p:spPr>
      </p:pic>
      <p:sp>
        <p:nvSpPr>
          <p:cNvPr id="9" name="Rectangles 9">
            <a:extLst>
              <a:ext uri="{FF2B5EF4-FFF2-40B4-BE49-F238E27FC236}">
                <a16:creationId xmlns:a16="http://schemas.microsoft.com/office/drawing/2014/main" id="{E634ECF9-3972-2CC8-4938-4B4BFD28C772}"/>
              </a:ext>
            </a:extLst>
          </p:cNvPr>
          <p:cNvSpPr/>
          <p:nvPr/>
        </p:nvSpPr>
        <p:spPr>
          <a:xfrm flipV="1">
            <a:off x="14806" y="7014"/>
            <a:ext cx="9108241" cy="390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0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C00000"/>
          </a:solidFill>
          <a:latin typeface="+mj-lt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9"/>
          <p:cNvSpPr/>
          <p:nvPr/>
        </p:nvSpPr>
        <p:spPr>
          <a:xfrm flipV="1">
            <a:off x="222485" y="6626648"/>
            <a:ext cx="8752840" cy="2206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0465" y="129540"/>
            <a:ext cx="8681519" cy="1162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100" y="1386039"/>
            <a:ext cx="8681519" cy="4943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623601"/>
            <a:ext cx="3086100" cy="2154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0341" y="6615830"/>
            <a:ext cx="2057400" cy="231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of a university&#10;&#10;Description automatically generated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0" y="6355380"/>
            <a:ext cx="588010" cy="485140"/>
          </a:xfrm>
          <a:prstGeom prst="rect">
            <a:avLst/>
          </a:prstGeom>
        </p:spPr>
      </p:pic>
      <p:sp>
        <p:nvSpPr>
          <p:cNvPr id="9" name="Rectangles 9"/>
          <p:cNvSpPr/>
          <p:nvPr/>
        </p:nvSpPr>
        <p:spPr>
          <a:xfrm flipV="1">
            <a:off x="14806" y="7014"/>
            <a:ext cx="9108241" cy="390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21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C00000"/>
          </a:solidFill>
          <a:latin typeface="+mj-lt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hp.net/download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index.php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php/php_ref_string.asp" TargetMode="Externa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hyperlink" Target="https://www.w3schools.com/php/php_ref_math.asp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 Govindha Ramaiah Yeluripati</a:t>
            </a:r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768AC-CEEE-2837-35FA-CA657F2BE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B6F12-7C25-291E-A1F2-74995F542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PHP</a:t>
            </a:r>
          </a:p>
          <a:p>
            <a:r>
              <a:rPr lang="en-US" dirty="0"/>
              <a:t>Setting Up a PHP Development Environment</a:t>
            </a:r>
          </a:p>
          <a:p>
            <a:r>
              <a:rPr lang="en-US" dirty="0"/>
              <a:t>Connecting PHP to a Database (MySQL)</a:t>
            </a:r>
          </a:p>
          <a:p>
            <a:r>
              <a:rPr lang="en-IN" dirty="0">
                <a:solidFill>
                  <a:srgbClr val="FF0066"/>
                </a:solidFill>
              </a:rPr>
              <a:t>PHP Syntax and Basics</a:t>
            </a:r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455555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91023-51A2-802A-7E53-D64BC4C5D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What is PHP?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BB83B-1494-6566-5D8A-36FBC76AF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PHP (</a:t>
            </a:r>
            <a:r>
              <a:rPr lang="en-US" b="1" i="1" dirty="0">
                <a:solidFill>
                  <a:srgbClr val="FF0000"/>
                </a:solidFill>
              </a:rPr>
              <a:t>Hypertext Preprocessor</a:t>
            </a:r>
            <a:r>
              <a:rPr lang="en-US" b="1" i="1" dirty="0"/>
              <a:t>)</a:t>
            </a:r>
            <a:r>
              <a:rPr lang="en-US" dirty="0"/>
              <a:t> is a </a:t>
            </a:r>
            <a:r>
              <a:rPr lang="en-US" dirty="0">
                <a:solidFill>
                  <a:srgbClr val="0070C0"/>
                </a:solidFill>
              </a:rPr>
              <a:t>server-side </a:t>
            </a:r>
            <a:r>
              <a:rPr lang="en-US" dirty="0">
                <a:solidFill>
                  <a:srgbClr val="7030A0"/>
                </a:solidFill>
              </a:rPr>
              <a:t>scripting language </a:t>
            </a:r>
            <a:r>
              <a:rPr lang="en-US" dirty="0"/>
              <a:t>embedded in HTML. </a:t>
            </a:r>
          </a:p>
          <a:p>
            <a:endParaRPr lang="en-US" dirty="0"/>
          </a:p>
          <a:p>
            <a:r>
              <a:rPr lang="en-US" dirty="0"/>
              <a:t>Unlike HTML, CSS, or JavaScript, which are processed on the client (user’s browser), </a:t>
            </a:r>
            <a:r>
              <a:rPr lang="en-US" i="1" dirty="0">
                <a:solidFill>
                  <a:srgbClr val="008600"/>
                </a:solidFill>
              </a:rPr>
              <a:t>PHP is executed on the server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This enables PHP to handle sensitive tasks like interacting with databases and creating customized web responses based on user input.</a:t>
            </a:r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4237426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F98FA-E032-801C-D615-997F7A0F4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CD4AF-EC10-9331-23AF-A1E8AA8F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A little history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B7B25-9A07-9020-90BE-0210E6C5E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PHP was created by </a:t>
            </a:r>
            <a:r>
              <a:rPr lang="en-US" b="1" dirty="0">
                <a:solidFill>
                  <a:srgbClr val="008600"/>
                </a:solidFill>
              </a:rPr>
              <a:t>Rasmus </a:t>
            </a:r>
            <a:r>
              <a:rPr lang="en-US" b="1" dirty="0" err="1">
                <a:solidFill>
                  <a:srgbClr val="008600"/>
                </a:solidFill>
              </a:rPr>
              <a:t>Lerdorf</a:t>
            </a:r>
            <a:r>
              <a:rPr lang="en-US" dirty="0"/>
              <a:t> in 1994. </a:t>
            </a:r>
          </a:p>
          <a:p>
            <a:r>
              <a:rPr lang="en-US" dirty="0"/>
              <a:t>Originally developed it as a set of Common Gateway Interface (CGI) scripts in the C programming language to manage his personal homepage, which is why it was initially called "</a:t>
            </a:r>
            <a:r>
              <a:rPr lang="en-US" dirty="0">
                <a:solidFill>
                  <a:srgbClr val="FF0000"/>
                </a:solidFill>
              </a:rPr>
              <a:t>Personal Home Page</a:t>
            </a:r>
            <a:r>
              <a:rPr lang="en-US" dirty="0"/>
              <a:t>" tools (PHP Tools).</a:t>
            </a:r>
          </a:p>
          <a:p>
            <a:r>
              <a:rPr lang="en-US" dirty="0"/>
              <a:t>Over time, as PHP evolved into a more robust programming language for web development, the name was changed to stand for "</a:t>
            </a:r>
            <a:r>
              <a:rPr lang="en-US" dirty="0">
                <a:solidFill>
                  <a:srgbClr val="FF0000"/>
                </a:solidFill>
              </a:rPr>
              <a:t>PHP: Hypertext Preprocessor</a:t>
            </a:r>
            <a:r>
              <a:rPr lang="en-US" dirty="0"/>
              <a:t>." </a:t>
            </a:r>
          </a:p>
          <a:p>
            <a:r>
              <a:rPr lang="en-US" dirty="0"/>
              <a:t>This name reflects its function: PHP processes code on the server to produce HTML content for web pages.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746416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A744C-351F-A63D-A8CB-0725C2E3F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Introduction: Trends and Popularity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6FE7D-67CF-3A44-BBC3-C4A465053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PHP is quite popular and widely used for web development</a:t>
            </a:r>
          </a:p>
          <a:p>
            <a:r>
              <a:rPr lang="en-US" dirty="0"/>
              <a:t>PHP powers around </a:t>
            </a:r>
            <a:r>
              <a:rPr lang="en-US" b="1" dirty="0">
                <a:solidFill>
                  <a:srgbClr val="FF0000"/>
                </a:solidFill>
              </a:rPr>
              <a:t>77% of websites</a:t>
            </a:r>
            <a:r>
              <a:rPr lang="en-US" dirty="0"/>
              <a:t>, including popular platforms like </a:t>
            </a:r>
            <a:r>
              <a:rPr lang="en-US" dirty="0">
                <a:solidFill>
                  <a:srgbClr val="0070C0"/>
                </a:solidFill>
              </a:rPr>
              <a:t>WordPress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Facebook</a:t>
            </a:r>
            <a:r>
              <a:rPr lang="en-US" dirty="0"/>
              <a:t>, and </a:t>
            </a:r>
            <a:r>
              <a:rPr lang="en-US" dirty="0">
                <a:solidFill>
                  <a:srgbClr val="0070C0"/>
                </a:solidFill>
              </a:rPr>
              <a:t>Wikipedia</a:t>
            </a:r>
            <a:r>
              <a:rPr lang="en-US" dirty="0"/>
              <a:t>. </a:t>
            </a:r>
          </a:p>
          <a:p>
            <a:r>
              <a:rPr lang="en-US" dirty="0"/>
              <a:t>It is easy enough to be a beginner's first server-side language</a:t>
            </a:r>
          </a:p>
          <a:p>
            <a:r>
              <a:rPr lang="en-US" dirty="0"/>
              <a:t>The latest stable release of PHP is PHP 8.3.0, which was officially released on November 23, 2023 </a:t>
            </a:r>
          </a:p>
          <a:p>
            <a:pPr lvl="1"/>
            <a:r>
              <a:rPr lang="en-US" dirty="0"/>
              <a:t>See </a:t>
            </a:r>
            <a:r>
              <a:rPr lang="en-US" dirty="0">
                <a:hlinkClick r:id="rId2"/>
              </a:rPr>
              <a:t>https://www.php.net/downloads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IN" b="1" dirty="0"/>
              <a:t>Competition</a:t>
            </a:r>
            <a:r>
              <a:rPr lang="en-IN" dirty="0"/>
              <a:t>: </a:t>
            </a:r>
          </a:p>
          <a:p>
            <a:pPr lvl="1"/>
            <a:r>
              <a:rPr lang="en-US" dirty="0"/>
              <a:t>Rise of JavaScript on Both Frontend and Backend (</a:t>
            </a:r>
            <a:r>
              <a:rPr lang="en-US" dirty="0">
                <a:solidFill>
                  <a:srgbClr val="FF0066"/>
                </a:solidFill>
              </a:rPr>
              <a:t>Node.js</a:t>
            </a:r>
            <a:r>
              <a:rPr lang="en-US" dirty="0"/>
              <a:t>)</a:t>
            </a:r>
          </a:p>
          <a:p>
            <a:pPr lvl="1"/>
            <a:r>
              <a:rPr lang="en-US" i="1" dirty="0"/>
              <a:t>Newer languages and frameworks like </a:t>
            </a:r>
            <a:r>
              <a:rPr lang="en-US" i="1" dirty="0">
                <a:solidFill>
                  <a:srgbClr val="0070C0"/>
                </a:solidFill>
              </a:rPr>
              <a:t>Python with Django or Flask</a:t>
            </a:r>
            <a:r>
              <a:rPr lang="en-US" i="1" dirty="0"/>
              <a:t>, </a:t>
            </a:r>
            <a:r>
              <a:rPr lang="en-US" i="1" dirty="0">
                <a:solidFill>
                  <a:srgbClr val="C00000"/>
                </a:solidFill>
              </a:rPr>
              <a:t>Ruby on Rails</a:t>
            </a:r>
            <a:r>
              <a:rPr lang="en-US" i="1" dirty="0"/>
              <a:t>, and </a:t>
            </a:r>
            <a:r>
              <a:rPr lang="en-US" i="1" dirty="0">
                <a:solidFill>
                  <a:srgbClr val="008600"/>
                </a:solidFill>
              </a:rPr>
              <a:t>Java with Spring Boot</a:t>
            </a:r>
          </a:p>
          <a:p>
            <a:pPr lvl="1"/>
            <a:endParaRPr lang="en-GH" i="1" dirty="0"/>
          </a:p>
        </p:txBody>
      </p:sp>
    </p:spTree>
    <p:extLst>
      <p:ext uri="{BB962C8B-B14F-4D97-AF65-F5344CB8AC3E}">
        <p14:creationId xmlns:p14="http://schemas.microsoft.com/office/powerpoint/2010/main" val="2327570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D030-E9AB-99E1-0001-715C1FECD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How PHP Works in a Web Request Cycle?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1E248-2755-2E1C-C58E-E702C1E5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66"/>
                </a:solidFill>
              </a:rPr>
              <a:t>Request Submission </a:t>
            </a:r>
            <a:r>
              <a:rPr lang="en-US" dirty="0"/>
              <a:t>- A user sends a request to access a </a:t>
            </a:r>
            <a:r>
              <a:rPr lang="en-US" b="1" dirty="0">
                <a:solidFill>
                  <a:srgbClr val="008600"/>
                </a:solidFill>
              </a:rPr>
              <a:t>.</a:t>
            </a:r>
            <a:r>
              <a:rPr lang="en-US" b="1" dirty="0" err="1">
                <a:solidFill>
                  <a:srgbClr val="008600"/>
                </a:solidFill>
              </a:rPr>
              <a:t>php</a:t>
            </a:r>
            <a:r>
              <a:rPr lang="en-US" b="1" dirty="0">
                <a:solidFill>
                  <a:srgbClr val="008600"/>
                </a:solidFill>
              </a:rPr>
              <a:t> file </a:t>
            </a:r>
            <a:r>
              <a:rPr lang="en-US" dirty="0"/>
              <a:t>(e.g., clicking a link or submitting a form)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66"/>
                </a:solidFill>
              </a:rPr>
              <a:t>Server-Side Execution </a:t>
            </a:r>
            <a:r>
              <a:rPr lang="en-US" dirty="0"/>
              <a:t>- The web server (like Apache, </a:t>
            </a:r>
            <a:r>
              <a:rPr lang="en-US" dirty="0" err="1"/>
              <a:t>Nginix</a:t>
            </a:r>
            <a:r>
              <a:rPr lang="en-US" dirty="0"/>
              <a:t>, </a:t>
            </a:r>
            <a:r>
              <a:rPr lang="en-US" dirty="0" err="1"/>
              <a:t>LiteSpeed</a:t>
            </a:r>
            <a:r>
              <a:rPr lang="en-US" dirty="0"/>
              <a:t>) processes the PHP script and performs the necessary operations, such as fetching data from a database or handling form submissions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66"/>
                </a:solidFill>
              </a:rPr>
              <a:t>Response Delivery </a:t>
            </a:r>
            <a:r>
              <a:rPr lang="en-US" dirty="0"/>
              <a:t>- The server sends back an HTML response to the user’s browser, which displays the result of the PHP script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991643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946A2-B478-F095-BF1D-56E91D22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of What PHP can do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89A02-196F-4D5A-909F-506418BC2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PHP can generate dynamic page content</a:t>
            </a:r>
          </a:p>
          <a:p>
            <a:r>
              <a:rPr lang="en-US" dirty="0"/>
              <a:t>PHP can create, open, read, write, delete, and close files on the server</a:t>
            </a:r>
          </a:p>
          <a:p>
            <a:r>
              <a:rPr lang="en-US" dirty="0"/>
              <a:t>PHP can collect form data</a:t>
            </a:r>
          </a:p>
          <a:p>
            <a:r>
              <a:rPr lang="en-US" dirty="0"/>
              <a:t>PHP can send and receive </a:t>
            </a:r>
            <a:r>
              <a:rPr lang="en-US" dirty="0">
                <a:solidFill>
                  <a:srgbClr val="0070C0"/>
                </a:solidFill>
              </a:rPr>
              <a:t>cookies</a:t>
            </a:r>
          </a:p>
          <a:p>
            <a:r>
              <a:rPr lang="en-US" dirty="0"/>
              <a:t>PHP can add, delete, and modify data in your database</a:t>
            </a:r>
          </a:p>
          <a:p>
            <a:r>
              <a:rPr lang="en-US" dirty="0"/>
              <a:t>PHP can be used to control user-access</a:t>
            </a:r>
          </a:p>
          <a:p>
            <a:r>
              <a:rPr lang="en-US" dirty="0"/>
              <a:t>PHP can encrypt data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680895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BBD50-F954-28E7-AA85-77B9A7C8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for PHP Development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218B2-17DC-4B6E-2691-79831FC8B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Install a Local Server (</a:t>
            </a:r>
            <a:r>
              <a:rPr lang="en-IN" dirty="0" err="1"/>
              <a:t>XAMPP</a:t>
            </a:r>
            <a:r>
              <a:rPr lang="en-IN" dirty="0"/>
              <a:t>, WAMP, or </a:t>
            </a:r>
            <a:r>
              <a:rPr lang="en-IN" dirty="0" err="1"/>
              <a:t>MAMP</a:t>
            </a:r>
            <a:r>
              <a:rPr lang="en-IN" dirty="0"/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These server bundles include Apache, MySQL, and PHP, allowing you to test PHP scripts on your computer.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IN" dirty="0"/>
          </a:p>
          <a:p>
            <a:r>
              <a:rPr lang="en-IN" dirty="0"/>
              <a:t>Create Your First PHP File: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In your web server's root directory (usually </a:t>
            </a:r>
            <a:r>
              <a:rPr lang="en-IN" dirty="0" err="1"/>
              <a:t>htdocs</a:t>
            </a:r>
            <a:r>
              <a:rPr lang="en-IN" dirty="0"/>
              <a:t> in </a:t>
            </a:r>
            <a:r>
              <a:rPr lang="en-IN" dirty="0" err="1"/>
              <a:t>XAMPP</a:t>
            </a:r>
            <a:r>
              <a:rPr lang="en-IN" dirty="0"/>
              <a:t>), create a new file named </a:t>
            </a:r>
            <a:r>
              <a:rPr lang="en-IN" dirty="0" err="1"/>
              <a:t>index.php</a:t>
            </a:r>
            <a:r>
              <a:rPr lang="en-IN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IN" dirty="0"/>
          </a:p>
          <a:p>
            <a:r>
              <a:rPr lang="en-IN" dirty="0"/>
              <a:t>Write a Simple PHP Script (</a:t>
            </a:r>
            <a:r>
              <a:rPr lang="en-IN" dirty="0">
                <a:solidFill>
                  <a:srgbClr val="0070C0"/>
                </a:solidFill>
              </a:rPr>
              <a:t>See the next slide </a:t>
            </a:r>
            <a:r>
              <a:rPr lang="en-IN" b="1" dirty="0">
                <a:solidFill>
                  <a:srgbClr val="C00000"/>
                </a:solidFill>
                <a:sym typeface="Wingdings" panose="05000000000000000000" pitchFamily="2" charset="2"/>
              </a:rPr>
              <a:t>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US" dirty="0"/>
              <a:t>Run Your PHP Script:</a:t>
            </a:r>
          </a:p>
          <a:p>
            <a:pPr lvl="1"/>
            <a:r>
              <a:rPr lang="en-US" dirty="0"/>
              <a:t>Open your browser and go to </a:t>
            </a:r>
            <a:r>
              <a:rPr lang="en-US" dirty="0">
                <a:hlinkClick r:id="rId2"/>
              </a:rPr>
              <a:t>http://localhost/index.php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48AE9C-D9F5-9FBE-90BD-76DE2D5F00ED}"/>
              </a:ext>
            </a:extLst>
          </p:cNvPr>
          <p:cNvSpPr txBox="1"/>
          <p:nvPr/>
        </p:nvSpPr>
        <p:spPr>
          <a:xfrm>
            <a:off x="6800850" y="4514850"/>
            <a:ext cx="1760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Use the file name you used.</a:t>
            </a:r>
            <a:endParaRPr lang="en-GH" dirty="0">
              <a:solidFill>
                <a:srgbClr val="C0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900104-E875-2649-C2D8-CBE7E3374F8A}"/>
              </a:ext>
            </a:extLst>
          </p:cNvPr>
          <p:cNvCxnSpPr/>
          <p:nvPr/>
        </p:nvCxnSpPr>
        <p:spPr>
          <a:xfrm flipV="1">
            <a:off x="6172200" y="5040630"/>
            <a:ext cx="720090" cy="44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142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E055C-5880-8B0D-5C18-4539702A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PHP Script</a:t>
            </a:r>
            <a:endParaRPr lang="en-G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5F1638-CEA9-E690-4AD1-D24027DE3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55" y="1292225"/>
            <a:ext cx="7783489" cy="40823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E888BD-D20E-D703-CBF2-90FDC5E51AA3}"/>
              </a:ext>
            </a:extLst>
          </p:cNvPr>
          <p:cNvSpPr txBox="1"/>
          <p:nvPr/>
        </p:nvSpPr>
        <p:spPr>
          <a:xfrm>
            <a:off x="183656" y="3333379"/>
            <a:ext cx="11082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8600"/>
                </a:solidFill>
              </a:rPr>
              <a:t>PHP code is written within &lt;?</a:t>
            </a:r>
            <a:r>
              <a:rPr lang="en-US" dirty="0" err="1">
                <a:solidFill>
                  <a:srgbClr val="008600"/>
                </a:solidFill>
              </a:rPr>
              <a:t>php</a:t>
            </a:r>
            <a:r>
              <a:rPr lang="en-US" dirty="0">
                <a:solidFill>
                  <a:srgbClr val="008600"/>
                </a:solidFill>
              </a:rPr>
              <a:t> ...</a:t>
            </a:r>
          </a:p>
          <a:p>
            <a:r>
              <a:rPr lang="en-US" dirty="0">
                <a:solidFill>
                  <a:srgbClr val="008600"/>
                </a:solidFill>
              </a:rPr>
              <a:t>?&gt; tags.</a:t>
            </a:r>
            <a:endParaRPr lang="en-GH" dirty="0">
              <a:solidFill>
                <a:srgbClr val="0086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2F52BE-CE66-4AC7-946A-29BE2D057620}"/>
              </a:ext>
            </a:extLst>
          </p:cNvPr>
          <p:cNvCxnSpPr>
            <a:cxnSpLocks/>
          </p:cNvCxnSpPr>
          <p:nvPr/>
        </p:nvCxnSpPr>
        <p:spPr>
          <a:xfrm flipV="1">
            <a:off x="1040130" y="3966210"/>
            <a:ext cx="1074420" cy="105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DB4BBB7-C624-A612-5BCE-B61310329E35}"/>
              </a:ext>
            </a:extLst>
          </p:cNvPr>
          <p:cNvSpPr txBox="1"/>
          <p:nvPr/>
        </p:nvSpPr>
        <p:spPr>
          <a:xfrm>
            <a:off x="2999246" y="4827111"/>
            <a:ext cx="2567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8600"/>
                </a:solidFill>
              </a:rPr>
              <a:t>Uses echo to output data</a:t>
            </a:r>
            <a:endParaRPr lang="en-GH" dirty="0">
              <a:solidFill>
                <a:srgbClr val="0086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3B57F68-5D67-8129-D29C-14E958B6179B}"/>
              </a:ext>
            </a:extLst>
          </p:cNvPr>
          <p:cNvCxnSpPr/>
          <p:nvPr/>
        </p:nvCxnSpPr>
        <p:spPr>
          <a:xfrm>
            <a:off x="2999246" y="4400550"/>
            <a:ext cx="612634" cy="426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FB2AB15-2EB2-77E9-7596-CEBDED41FDD2}"/>
              </a:ext>
            </a:extLst>
          </p:cNvPr>
          <p:cNvSpPr txBox="1"/>
          <p:nvPr/>
        </p:nvSpPr>
        <p:spPr>
          <a:xfrm>
            <a:off x="6583680" y="5242609"/>
            <a:ext cx="2205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8600"/>
                </a:solidFill>
              </a:rPr>
              <a:t>PHP statements end with a semicolon</a:t>
            </a:r>
            <a:endParaRPr lang="en-GH" dirty="0">
              <a:solidFill>
                <a:srgbClr val="00860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124E87F-4375-061F-6480-2D82A145D819}"/>
              </a:ext>
            </a:extLst>
          </p:cNvPr>
          <p:cNvCxnSpPr/>
          <p:nvPr/>
        </p:nvCxnSpPr>
        <p:spPr>
          <a:xfrm flipH="1">
            <a:off x="8126730" y="4400550"/>
            <a:ext cx="795254" cy="842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C6B6159-B41E-EBFB-2661-9820E44EEFB4}"/>
              </a:ext>
            </a:extLst>
          </p:cNvPr>
          <p:cNvSpPr txBox="1"/>
          <p:nvPr/>
        </p:nvSpPr>
        <p:spPr>
          <a:xfrm>
            <a:off x="4392024" y="1257041"/>
            <a:ext cx="4549140" cy="584775"/>
          </a:xfrm>
          <a:prstGeom prst="rect">
            <a:avLst/>
          </a:prstGeom>
          <a:noFill/>
          <a:ln>
            <a:solidFill>
              <a:srgbClr val="0086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0" i="0" dirty="0">
                <a:solidFill>
                  <a:srgbClr val="FF0066"/>
                </a:solidFill>
                <a:effectLst/>
                <a:latin typeface="Verdana" panose="020B0604030504040204" pitchFamily="34" charset="0"/>
              </a:rPr>
              <a:t>A PHP script can be placed anywhere (head, body, footer etc.) in the document.</a:t>
            </a:r>
            <a:endParaRPr lang="en-GH" sz="1600" dirty="0">
              <a:solidFill>
                <a:srgbClr val="FF006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155C34-6060-C312-42D8-C8F9EC0C46E0}"/>
              </a:ext>
            </a:extLst>
          </p:cNvPr>
          <p:cNvSpPr txBox="1"/>
          <p:nvPr/>
        </p:nvSpPr>
        <p:spPr>
          <a:xfrm>
            <a:off x="747017" y="6216593"/>
            <a:ext cx="8042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 PHP file may contain HTML tags, CSS, JavaScript, and some PHP code or PHP only</a:t>
            </a:r>
            <a:endParaRPr lang="en-G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316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50291-029F-5F0F-4DD2-863E9700A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Exercise 1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CAE78-910E-DFCD-FE5F-0F1EC3C43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PHP, create a small script that outputs "Good Morning," "Good Afternoon," or "Good Evening" based on the current time.</a:t>
            </a:r>
            <a:endParaRPr lang="en-GH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8310588-2B18-3932-A6CC-0B551A4FC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351533"/>
            <a:ext cx="4266860" cy="425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597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0A06-FC60-4CE1-F3BF-C707C5CA1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Exercise 2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9A8DC-EDA5-79B6-ABDF-2E0AD748A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66"/>
                </a:solidFill>
              </a:rPr>
              <a:t>Test Database Connection: </a:t>
            </a:r>
            <a:r>
              <a:rPr lang="en-US" dirty="0"/>
              <a:t>In a new PHP file, try connecting to your database using the sample script: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616688-946F-D1BF-91D5-7D8B9E874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114" y="2125980"/>
            <a:ext cx="6564121" cy="4456888"/>
          </a:xfrm>
          <a:prstGeom prst="rect">
            <a:avLst/>
          </a:prstGeom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58FD3B78-BA23-C62F-0460-5E2FD7325698}"/>
              </a:ext>
            </a:extLst>
          </p:cNvPr>
          <p:cNvSpPr/>
          <p:nvPr/>
        </p:nvSpPr>
        <p:spPr>
          <a:xfrm>
            <a:off x="3863340" y="2663190"/>
            <a:ext cx="160020" cy="6400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3FEAC99-98CD-B49D-686D-3E89B71D0341}"/>
              </a:ext>
            </a:extLst>
          </p:cNvPr>
          <p:cNvCxnSpPr/>
          <p:nvPr/>
        </p:nvCxnSpPr>
        <p:spPr>
          <a:xfrm flipV="1">
            <a:off x="4171950" y="2663190"/>
            <a:ext cx="994410" cy="308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DB2630-2A02-72C8-0D31-0566C2D58549}"/>
              </a:ext>
            </a:extLst>
          </p:cNvPr>
          <p:cNvSpPr txBox="1"/>
          <p:nvPr/>
        </p:nvSpPr>
        <p:spPr>
          <a:xfrm>
            <a:off x="5166360" y="2354580"/>
            <a:ext cx="2251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You can change them in '</a:t>
            </a:r>
            <a:r>
              <a:rPr lang="en-IN" dirty="0" err="1"/>
              <a:t>phpmyadmin</a:t>
            </a:r>
            <a:r>
              <a:rPr lang="en-IN" dirty="0"/>
              <a:t>'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661849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61727-588C-822B-42BD-DE40A3BE7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Practical Exercise: Database connection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DC44D-E630-2E69-9825-574997CAB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Three ways to connect to the database in PHP: </a:t>
            </a:r>
          </a:p>
          <a:p>
            <a:pPr lvl="1"/>
            <a:r>
              <a:rPr lang="en-IN" dirty="0"/>
              <a:t>Procedural (supports MySQL only)</a:t>
            </a:r>
          </a:p>
          <a:p>
            <a:pPr lvl="1"/>
            <a:r>
              <a:rPr lang="en-IN" dirty="0"/>
              <a:t>Object-Oriented (supports MySQL only)</a:t>
            </a:r>
          </a:p>
          <a:p>
            <a:pPr lvl="1"/>
            <a:r>
              <a:rPr lang="en-IN" dirty="0" err="1"/>
              <a:t>PDO</a:t>
            </a:r>
            <a:r>
              <a:rPr lang="en-IN" dirty="0"/>
              <a:t> (PHP Data Objects; Supports several </a:t>
            </a:r>
            <a:r>
              <a:rPr lang="en-IN" dirty="0">
                <a:solidFill>
                  <a:srgbClr val="008600"/>
                </a:solidFill>
              </a:rPr>
              <a:t>relational</a:t>
            </a:r>
            <a:r>
              <a:rPr lang="en-IN" dirty="0"/>
              <a:t> database types like MySQL, PostgreSQL, SQLite)</a:t>
            </a:r>
          </a:p>
          <a:p>
            <a:pPr lvl="1"/>
            <a:endParaRPr lang="en-IN" dirty="0"/>
          </a:p>
          <a:p>
            <a:r>
              <a:rPr lang="en-IN" dirty="0"/>
              <a:t>Procedural :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$connection = </a:t>
            </a:r>
            <a:r>
              <a:rPr lang="en-US" dirty="0" err="1">
                <a:solidFill>
                  <a:srgbClr val="C00000"/>
                </a:solidFill>
              </a:rPr>
              <a:t>mysqli_connect</a:t>
            </a:r>
            <a:r>
              <a:rPr lang="en-US" dirty="0">
                <a:solidFill>
                  <a:srgbClr val="0070C0"/>
                </a:solidFill>
              </a:rPr>
              <a:t>($host, $username, $password, $database);</a:t>
            </a:r>
          </a:p>
          <a:p>
            <a:pPr lvl="1"/>
            <a:r>
              <a:rPr lang="en-US" dirty="0"/>
              <a:t>Then use </a:t>
            </a:r>
            <a:r>
              <a:rPr lang="en-US" dirty="0" err="1">
                <a:solidFill>
                  <a:srgbClr val="0070C0"/>
                </a:solidFill>
              </a:rPr>
              <a:t>mysqli_query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mysqli_fetch_assoc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/>
              <a:t>and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mysqli_close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functions to </a:t>
            </a:r>
            <a:r>
              <a:rPr lang="en-US" dirty="0">
                <a:solidFill>
                  <a:srgbClr val="C00000"/>
                </a:solidFill>
              </a:rPr>
              <a:t>query the database </a:t>
            </a:r>
            <a:r>
              <a:rPr lang="en-US" dirty="0"/>
              <a:t>(e.g. SQL commands)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>
                <a:solidFill>
                  <a:srgbClr val="C00000"/>
                </a:solidFill>
              </a:rPr>
              <a:t>fetch records </a:t>
            </a:r>
            <a:r>
              <a:rPr lang="en-US" dirty="0"/>
              <a:t>(as an associative array), and </a:t>
            </a:r>
            <a:r>
              <a:rPr lang="en-US" dirty="0">
                <a:solidFill>
                  <a:srgbClr val="FF0066"/>
                </a:solidFill>
              </a:rPr>
              <a:t>close</a:t>
            </a:r>
            <a:r>
              <a:rPr lang="en-US" dirty="0"/>
              <a:t> the connection.</a:t>
            </a:r>
            <a:endParaRPr lang="en-IN" dirty="0"/>
          </a:p>
          <a:p>
            <a:pPr marL="0" indent="0">
              <a:buNone/>
            </a:pPr>
            <a:endParaRPr lang="en-IN" dirty="0">
              <a:solidFill>
                <a:srgbClr val="0070C0"/>
              </a:solidFill>
            </a:endParaRPr>
          </a:p>
          <a:p>
            <a:r>
              <a:rPr lang="en-IN" dirty="0"/>
              <a:t>Check the file posted on Canvas named: </a:t>
            </a:r>
            <a:r>
              <a:rPr lang="en-IN" dirty="0" err="1">
                <a:solidFill>
                  <a:srgbClr val="008600"/>
                </a:solidFill>
              </a:rPr>
              <a:t>dbconnectprocedural.php</a:t>
            </a:r>
            <a:endParaRPr lang="en-GH" dirty="0">
              <a:solidFill>
                <a:srgbClr val="008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196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7EC4E-BDDE-A6DC-D09F-A5454435C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1C741-082F-DD6B-7C79-B55D01EF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Practical Exercise: Database connection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6D533-DF9E-CFB7-56E1-C8C6A42ED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Object-Oriented approach: 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$connection = </a:t>
            </a:r>
            <a:r>
              <a:rPr lang="en-US" dirty="0">
                <a:solidFill>
                  <a:srgbClr val="FF0066"/>
                </a:solidFill>
              </a:rPr>
              <a:t>new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mysqli</a:t>
            </a:r>
            <a:r>
              <a:rPr lang="en-US" dirty="0">
                <a:solidFill>
                  <a:srgbClr val="00B0F0"/>
                </a:solidFill>
              </a:rPr>
              <a:t>($</a:t>
            </a:r>
            <a:r>
              <a:rPr lang="en-US" dirty="0" err="1">
                <a:solidFill>
                  <a:srgbClr val="00B0F0"/>
                </a:solidFill>
              </a:rPr>
              <a:t>servername</a:t>
            </a:r>
            <a:r>
              <a:rPr lang="en-US" dirty="0">
                <a:solidFill>
                  <a:srgbClr val="00B0F0"/>
                </a:solidFill>
              </a:rPr>
              <a:t>, $username, $password, $</a:t>
            </a:r>
            <a:r>
              <a:rPr lang="en-US" dirty="0" err="1">
                <a:solidFill>
                  <a:srgbClr val="00B0F0"/>
                </a:solidFill>
              </a:rPr>
              <a:t>dbname</a:t>
            </a:r>
            <a:r>
              <a:rPr lang="en-US" dirty="0">
                <a:solidFill>
                  <a:srgbClr val="00B0F0"/>
                </a:solidFill>
              </a:rPr>
              <a:t>);</a:t>
            </a:r>
          </a:p>
          <a:p>
            <a:pPr lvl="1"/>
            <a:r>
              <a:rPr lang="en-US" dirty="0"/>
              <a:t>Then </a:t>
            </a:r>
            <a:r>
              <a:rPr lang="en-US" dirty="0">
                <a:solidFill>
                  <a:srgbClr val="0070C0"/>
                </a:solidFill>
              </a:rPr>
              <a:t>$connection-&gt;</a:t>
            </a:r>
            <a:r>
              <a:rPr lang="en-US" dirty="0" err="1">
                <a:solidFill>
                  <a:srgbClr val="0070C0"/>
                </a:solidFill>
              </a:rPr>
              <a:t>connect</a:t>
            </a:r>
            <a:r>
              <a:rPr lang="en-US" dirty="0" err="1"/>
              <a:t>_error</a:t>
            </a:r>
            <a:r>
              <a:rPr lang="en-US" dirty="0"/>
              <a:t> is used to check for a connection error,       </a:t>
            </a:r>
          </a:p>
          <a:p>
            <a:pPr marL="457200" lvl="1" indent="0">
              <a:buNone/>
            </a:pPr>
            <a:r>
              <a:rPr lang="en-US" dirty="0"/>
              <a:t>              </a:t>
            </a:r>
            <a:r>
              <a:rPr lang="en-US" dirty="0">
                <a:solidFill>
                  <a:srgbClr val="0070C0"/>
                </a:solidFill>
              </a:rPr>
              <a:t>$connection-&gt;query($</a:t>
            </a:r>
            <a:r>
              <a:rPr lang="en-US" dirty="0" err="1">
                <a:solidFill>
                  <a:srgbClr val="0070C0"/>
                </a:solidFill>
              </a:rPr>
              <a:t>sql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dirty="0"/>
              <a:t>is used to perform a query.</a:t>
            </a:r>
          </a:p>
          <a:p>
            <a:pPr marL="457200" lvl="1" indent="0">
              <a:buNone/>
            </a:pPr>
            <a:r>
              <a:rPr lang="en-US" dirty="0"/>
              <a:t>              </a:t>
            </a:r>
            <a:r>
              <a:rPr lang="en-US" dirty="0">
                <a:solidFill>
                  <a:srgbClr val="0070C0"/>
                </a:solidFill>
              </a:rPr>
              <a:t>$result-&gt;</a:t>
            </a:r>
            <a:r>
              <a:rPr lang="en-US" dirty="0" err="1">
                <a:solidFill>
                  <a:srgbClr val="0070C0"/>
                </a:solidFill>
              </a:rPr>
              <a:t>fetch_assoc</a:t>
            </a:r>
            <a:r>
              <a:rPr lang="en-US" dirty="0">
                <a:solidFill>
                  <a:srgbClr val="0070C0"/>
                </a:solidFill>
              </a:rPr>
              <a:t>() </a:t>
            </a:r>
            <a:r>
              <a:rPr lang="en-US" dirty="0"/>
              <a:t>fetches the results row by row in an associative 			array format.</a:t>
            </a:r>
          </a:p>
          <a:p>
            <a:pPr marL="457200" lvl="1" indent="0">
              <a:buNone/>
            </a:pPr>
            <a:r>
              <a:rPr lang="en-US" dirty="0"/>
              <a:t>              </a:t>
            </a:r>
            <a:r>
              <a:rPr lang="en-US" dirty="0">
                <a:solidFill>
                  <a:srgbClr val="0070C0"/>
                </a:solidFill>
              </a:rPr>
              <a:t>$connection-&gt;close() </a:t>
            </a:r>
            <a:r>
              <a:rPr lang="en-US" dirty="0"/>
              <a:t>is used to release the connection.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Check the file posted on Canvas named:     </a:t>
            </a:r>
            <a:r>
              <a:rPr lang="en-IN" dirty="0" err="1">
                <a:solidFill>
                  <a:srgbClr val="008600"/>
                </a:solidFill>
              </a:rPr>
              <a:t>dbconnectobject.php</a:t>
            </a:r>
            <a:endParaRPr lang="en-GH" dirty="0">
              <a:solidFill>
                <a:srgbClr val="008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373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BA9D-EBFF-D65A-363E-A0066902E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PHP more</a:t>
            </a:r>
            <a:endParaRPr lang="en-G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B2BD-C669-7688-EE2F-927FCB4AF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102575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5108-A074-EB35-ABE5-BB305273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PHP Case Sensitivity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F9BE0-750E-D325-394D-B4EA0102B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01" y="1386039"/>
            <a:ext cx="4490920" cy="4943141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Keywords (e.g. if, else, while, echo, etc.), classes, functions, and user-defined functions are </a:t>
            </a:r>
            <a:r>
              <a:rPr lang="en-US" b="1" dirty="0">
                <a:solidFill>
                  <a:srgbClr val="FF0066"/>
                </a:solidFill>
              </a:rPr>
              <a:t>not</a:t>
            </a:r>
            <a:r>
              <a:rPr lang="en-US" dirty="0">
                <a:solidFill>
                  <a:srgbClr val="FF0066"/>
                </a:solidFill>
              </a:rPr>
              <a:t> </a:t>
            </a:r>
            <a:r>
              <a:rPr lang="en-US" dirty="0">
                <a:solidFill>
                  <a:srgbClr val="008600"/>
                </a:solidFill>
              </a:rPr>
              <a:t>case-sensitive</a:t>
            </a:r>
            <a:r>
              <a:rPr lang="en-US" dirty="0"/>
              <a:t>.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AC558A-DDE4-EE3F-66A4-55BE66C56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779" y="1486535"/>
            <a:ext cx="3827646" cy="484264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63589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C0DC7-6B7F-2A31-3852-A000FE6AE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39A3A-533F-F888-BBFD-3B0D8B11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PHP Case Sensitivity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ABF24-1CD8-E2CD-14FF-339F2CB8F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01" y="1386039"/>
            <a:ext cx="2582109" cy="4943141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However, all </a:t>
            </a:r>
            <a:r>
              <a:rPr lang="en-US" dirty="0">
                <a:solidFill>
                  <a:srgbClr val="FF0000"/>
                </a:solidFill>
              </a:rPr>
              <a:t>variable names are case-sensitive!</a:t>
            </a:r>
          </a:p>
          <a:p>
            <a:endParaRPr lang="en-G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1CC332-9EE7-A063-C2E6-002A7525C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660" y="1125110"/>
            <a:ext cx="5908239" cy="529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25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906E5-409E-DF7D-F948-084D9E303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PHP Comments</a:t>
            </a:r>
            <a:endParaRPr lang="en-G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F18C25-682A-E9F3-975E-D8610C6AE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7288" y="2009016"/>
            <a:ext cx="6969424" cy="3005840"/>
          </a:xfrm>
        </p:spPr>
      </p:pic>
    </p:spTree>
    <p:extLst>
      <p:ext uri="{BB962C8B-B14F-4D97-AF65-F5344CB8AC3E}">
        <p14:creationId xmlns:p14="http://schemas.microsoft.com/office/powerpoint/2010/main" val="652670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002F9-AC76-20B0-18D2-0879DB5C5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PHP Variables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596BD-291C-8B5B-F740-8ECB3AD5E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variable creation starts with the </a:t>
            </a:r>
            <a:r>
              <a:rPr lang="en-US" b="1" dirty="0">
                <a:solidFill>
                  <a:srgbClr val="FF0000"/>
                </a:solidFill>
              </a:rPr>
              <a:t>$</a:t>
            </a:r>
            <a:r>
              <a:rPr lang="en-US" dirty="0"/>
              <a:t> sign, followed by the name of the variable.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Rules for writing variable names:</a:t>
            </a:r>
          </a:p>
          <a:p>
            <a:pPr lvl="1"/>
            <a:r>
              <a:rPr lang="en-US" dirty="0"/>
              <a:t>A variable name must start with a letter or the underscore character</a:t>
            </a:r>
          </a:p>
          <a:p>
            <a:pPr lvl="1"/>
            <a:r>
              <a:rPr lang="en-US" dirty="0"/>
              <a:t>A variable name cannot start with a number</a:t>
            </a:r>
          </a:p>
          <a:p>
            <a:pPr lvl="1"/>
            <a:r>
              <a:rPr lang="en-US" dirty="0"/>
              <a:t>A variable name can only contain alpha-numeric characters and underscores (A-z, 0-9, and _ )</a:t>
            </a:r>
          </a:p>
          <a:p>
            <a:pPr lvl="1"/>
            <a:r>
              <a:rPr lang="en-US" dirty="0"/>
              <a:t>Variable names are </a:t>
            </a:r>
            <a:r>
              <a:rPr lang="en-US" b="1" dirty="0">
                <a:solidFill>
                  <a:srgbClr val="FF0000"/>
                </a:solidFill>
              </a:rPr>
              <a:t>case-sensitive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$age </a:t>
            </a:r>
            <a:r>
              <a:rPr lang="en-US" dirty="0"/>
              <a:t>and </a:t>
            </a:r>
            <a:r>
              <a:rPr lang="en-US" dirty="0">
                <a:solidFill>
                  <a:srgbClr val="0070C0"/>
                </a:solidFill>
              </a:rPr>
              <a:t>$AGE</a:t>
            </a:r>
            <a:r>
              <a:rPr lang="en-US" dirty="0"/>
              <a:t> are two different variables)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3D3BCE-5311-9C47-2F2D-D87194E8C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53" y="2278337"/>
            <a:ext cx="1940829" cy="76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11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B81E9-0B72-88FC-87F3-0B25E45A2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96F1F-3289-B16B-F6E2-E52F04A29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 Scope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B7AB8-21B5-E193-3856-8A8B1CA15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scope of a variable is the part of the script where the variable can be referenced/used</a:t>
            </a:r>
          </a:p>
          <a:p>
            <a:r>
              <a:rPr lang="en-US" dirty="0"/>
              <a:t>PHP has three different variable scopes: </a:t>
            </a:r>
            <a:r>
              <a:rPr lang="en-US" dirty="0">
                <a:solidFill>
                  <a:srgbClr val="008600"/>
                </a:solidFill>
              </a:rPr>
              <a:t>local</a:t>
            </a:r>
            <a:r>
              <a:rPr lang="en-US" dirty="0"/>
              <a:t>, </a:t>
            </a:r>
            <a:r>
              <a:rPr lang="en-US" dirty="0">
                <a:solidFill>
                  <a:srgbClr val="FF0066"/>
                </a:solidFill>
              </a:rPr>
              <a:t>global</a:t>
            </a:r>
            <a:r>
              <a:rPr lang="en-US" dirty="0"/>
              <a:t>, and </a:t>
            </a:r>
            <a:r>
              <a:rPr lang="en-US" dirty="0">
                <a:solidFill>
                  <a:srgbClr val="FF0066"/>
                </a:solidFill>
              </a:rPr>
              <a:t>static</a:t>
            </a:r>
          </a:p>
          <a:p>
            <a:endParaRPr lang="en-US" dirty="0"/>
          </a:p>
          <a:p>
            <a:r>
              <a:rPr lang="en-US" dirty="0"/>
              <a:t>A variable declared outside a function has a GLOBAL SCOPE and can </a:t>
            </a:r>
            <a:r>
              <a:rPr lang="en-US" u="sng" dirty="0"/>
              <a:t>only be accessed outside </a:t>
            </a:r>
            <a:r>
              <a:rPr lang="en-US" dirty="0"/>
              <a:t>a function                                                (example on the next slide </a:t>
            </a:r>
            <a:r>
              <a:rPr lang="en-US" dirty="0">
                <a:sym typeface="Wingdings" panose="05000000000000000000" pitchFamily="2" charset="2"/>
              </a:rPr>
              <a:t></a:t>
            </a:r>
            <a:r>
              <a:rPr lang="en-US" dirty="0"/>
              <a:t>)</a:t>
            </a:r>
          </a:p>
          <a:p>
            <a:r>
              <a:rPr lang="en-US" dirty="0"/>
              <a:t>A variable declared within a function has a LOCAL SCOPE and can </a:t>
            </a:r>
            <a:r>
              <a:rPr lang="en-US" u="sng" dirty="0"/>
              <a:t>only be accessed within </a:t>
            </a:r>
            <a:r>
              <a:rPr lang="en-US" dirty="0"/>
              <a:t>that function: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367682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4614D-292E-A306-A942-6E4C0D3E1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 Scope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6FB36-51F7-1C29-EC65-28701C5B4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Variable-Example: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46DB13-C9A1-FD5D-E307-9E1F77C0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07" y="2044499"/>
            <a:ext cx="8390077" cy="362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161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2BDDA-051E-03E5-691E-6BFA4350E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0309-7F55-C112-5814-8CA9B165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 Scope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60B6-AC09-5110-09D1-45F8D336D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Variable-Example:</a:t>
            </a:r>
            <a:endParaRPr lang="en-G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B09698-3CA5-F8D2-A778-502FBD4E3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16" y="1944820"/>
            <a:ext cx="7945193" cy="318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325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7A393-FFD7-B997-430E-B165FDCA5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Scope: The </a:t>
            </a:r>
            <a:r>
              <a:rPr lang="en-IN" dirty="0">
                <a:solidFill>
                  <a:srgbClr val="008600"/>
                </a:solidFill>
              </a:rPr>
              <a:t>global</a:t>
            </a:r>
            <a:r>
              <a:rPr lang="en-IN" dirty="0"/>
              <a:t> Keyword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27F74-4983-B801-D56F-91181B5A1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40" y="1397469"/>
            <a:ext cx="8681519" cy="4943141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global</a:t>
            </a:r>
            <a:r>
              <a:rPr lang="en-US" dirty="0"/>
              <a:t> keyword is used to access a global variable from within a function.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B9B83-D346-8697-D238-2B4A7492F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02" y="2202406"/>
            <a:ext cx="3781928" cy="420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603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65748-0FC6-6BAC-D792-F67AFB089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C1D17-3A7D-773D-6CF0-25B147E32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Scope: The </a:t>
            </a:r>
            <a:r>
              <a:rPr lang="en-IN" dirty="0">
                <a:solidFill>
                  <a:srgbClr val="008600"/>
                </a:solidFill>
              </a:rPr>
              <a:t>$</a:t>
            </a:r>
            <a:r>
              <a:rPr lang="en-IN" dirty="0" err="1">
                <a:solidFill>
                  <a:srgbClr val="008600"/>
                </a:solidFill>
              </a:rPr>
              <a:t>GLOBALS</a:t>
            </a:r>
            <a:r>
              <a:rPr lang="en-IN" dirty="0"/>
              <a:t> Array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7BB4D-E180-61A0-D17C-5C9EFB366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40" y="1397469"/>
            <a:ext cx="8681519" cy="4943141"/>
          </a:xfrm>
        </p:spPr>
        <p:txBody>
          <a:bodyPr/>
          <a:lstStyle/>
          <a:p>
            <a:r>
              <a:rPr lang="en-US" dirty="0"/>
              <a:t>PHP stores all global variables in an array called </a:t>
            </a:r>
            <a:r>
              <a:rPr lang="en-US" b="1" dirty="0">
                <a:solidFill>
                  <a:srgbClr val="FF0000"/>
                </a:solidFill>
              </a:rPr>
              <a:t>$</a:t>
            </a:r>
            <a:r>
              <a:rPr lang="en-US" b="1" dirty="0" err="1">
                <a:solidFill>
                  <a:srgbClr val="FF0000"/>
                </a:solidFill>
              </a:rPr>
              <a:t>GLOBALS</a:t>
            </a:r>
            <a:r>
              <a:rPr lang="en-US" b="1" dirty="0">
                <a:solidFill>
                  <a:srgbClr val="FF0000"/>
                </a:solidFill>
              </a:rPr>
              <a:t>[</a:t>
            </a:r>
            <a:r>
              <a:rPr lang="en-US" b="1" dirty="0">
                <a:solidFill>
                  <a:srgbClr val="008600"/>
                </a:solidFill>
              </a:rPr>
              <a:t>index</a:t>
            </a:r>
            <a:r>
              <a:rPr lang="en-US" b="1" dirty="0">
                <a:solidFill>
                  <a:srgbClr val="FF0000"/>
                </a:solidFill>
              </a:rPr>
              <a:t>]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008600"/>
                </a:solidFill>
              </a:rPr>
              <a:t>index </a:t>
            </a:r>
            <a:r>
              <a:rPr lang="en-US" dirty="0"/>
              <a:t>holds the name of the variable. </a:t>
            </a:r>
          </a:p>
          <a:p>
            <a:r>
              <a:rPr lang="en-US" dirty="0"/>
              <a:t>This array is also accessible from within functions and can be used to update global variables directly.</a:t>
            </a:r>
            <a:endParaRPr lang="en-G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DA5B31-73E8-F3EF-5335-F7D42407E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37" y="3084014"/>
            <a:ext cx="6988893" cy="346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904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00C07-5FB8-F8B6-9FBE-1CF5E21C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7CB85-BDE9-E34C-D536-4401DC3C9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Scope: The </a:t>
            </a:r>
            <a:r>
              <a:rPr lang="en-IN" dirty="0">
                <a:solidFill>
                  <a:srgbClr val="008600"/>
                </a:solidFill>
              </a:rPr>
              <a:t>static</a:t>
            </a:r>
            <a:r>
              <a:rPr lang="en-IN" dirty="0"/>
              <a:t> Keyword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297C4-535F-640A-9A80-A8FCD1C08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40" y="1397469"/>
            <a:ext cx="8681519" cy="4943141"/>
          </a:xfrm>
        </p:spPr>
        <p:txBody>
          <a:bodyPr/>
          <a:lstStyle/>
          <a:p>
            <a:r>
              <a:rPr lang="en-US" dirty="0"/>
              <a:t>Normally, when a function is completed/executed, all of its variables are deleted. </a:t>
            </a:r>
          </a:p>
          <a:p>
            <a:r>
              <a:rPr lang="en-US" dirty="0"/>
              <a:t>However, if we want a local variable NOT to be deleted and need it for a further job, we can use the </a:t>
            </a:r>
            <a:r>
              <a:rPr lang="en-US" b="1" dirty="0">
                <a:solidFill>
                  <a:srgbClr val="FF0000"/>
                </a:solidFill>
              </a:rPr>
              <a:t>static</a:t>
            </a:r>
            <a:r>
              <a:rPr lang="en-US" dirty="0"/>
              <a:t> keyword when we first declare the variable.</a:t>
            </a:r>
            <a:endParaRPr lang="en-G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163859-2101-E0A6-5F53-BD7AC1024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35" y="3196855"/>
            <a:ext cx="2956085" cy="341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63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7AECB-804C-1341-6E85-868204AB2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Scope: Exercise</a:t>
            </a:r>
            <a:endParaRPr lang="en-G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6A821C-7049-4031-24F8-09B4830C0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333" y="1375180"/>
            <a:ext cx="3543795" cy="329611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834324-1DA4-D05F-D330-100489194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619" y="1375180"/>
            <a:ext cx="3524742" cy="37152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ECC5A8-6F3E-9ECE-7E8B-6C0F0B421956}"/>
              </a:ext>
            </a:extLst>
          </p:cNvPr>
          <p:cNvSpPr txBox="1"/>
          <p:nvPr/>
        </p:nvSpPr>
        <p:spPr>
          <a:xfrm>
            <a:off x="1611630" y="4821674"/>
            <a:ext cx="114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Linus</a:t>
            </a:r>
            <a:endParaRPr lang="en-GH" sz="20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2441CD-8BDF-1139-2B97-F1F8D5F633B0}"/>
              </a:ext>
            </a:extLst>
          </p:cNvPr>
          <p:cNvSpPr txBox="1"/>
          <p:nvPr/>
        </p:nvSpPr>
        <p:spPr>
          <a:xfrm>
            <a:off x="6435090" y="5181253"/>
            <a:ext cx="114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Tobias</a:t>
            </a:r>
            <a:endParaRPr lang="en-GH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446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C24C1-405C-415D-F94D-8FEAE540B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73BBD-8A13-7167-D648-66D5EB2B6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Scope: Exercise</a:t>
            </a:r>
            <a:endParaRPr lang="en-G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16FF85-B66D-0198-629B-7C0821706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826" y="1817893"/>
            <a:ext cx="4995385" cy="32222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0ABC6F-45E0-12C0-EBBD-EF95868F8C95}"/>
              </a:ext>
            </a:extLst>
          </p:cNvPr>
          <p:cNvSpPr txBox="1"/>
          <p:nvPr/>
        </p:nvSpPr>
        <p:spPr>
          <a:xfrm>
            <a:off x="3806190" y="5365720"/>
            <a:ext cx="114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Tobias</a:t>
            </a:r>
            <a:endParaRPr lang="en-GH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78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534FB-5D93-DE16-CBEB-B1E44919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PHP Output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1C270-AF50-E722-BA0C-7E63FDD1D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00" y="1386039"/>
            <a:ext cx="8681519" cy="5083341"/>
          </a:xfrm>
        </p:spPr>
        <p:txBody>
          <a:bodyPr/>
          <a:lstStyle/>
          <a:p>
            <a:r>
              <a:rPr lang="en-US" dirty="0"/>
              <a:t>Two basic ways to get output: </a:t>
            </a:r>
            <a:r>
              <a:rPr lang="en-US" b="1" dirty="0">
                <a:solidFill>
                  <a:srgbClr val="FF0066"/>
                </a:solidFill>
              </a:rPr>
              <a:t>echo</a:t>
            </a:r>
            <a:r>
              <a:rPr lang="en-US" dirty="0"/>
              <a:t> and </a:t>
            </a:r>
            <a:r>
              <a:rPr lang="en-US" b="1" dirty="0">
                <a:solidFill>
                  <a:srgbClr val="FF0066"/>
                </a:solidFill>
              </a:rPr>
              <a:t>print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More or less, they do the same</a:t>
            </a:r>
          </a:p>
          <a:p>
            <a:r>
              <a:rPr lang="en-US" b="1" dirty="0"/>
              <a:t>Differences</a:t>
            </a:r>
            <a:r>
              <a:rPr lang="en-US" dirty="0"/>
              <a:t>: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dirty="0">
                <a:solidFill>
                  <a:srgbClr val="FF0066"/>
                </a:solidFill>
              </a:rPr>
              <a:t>echo</a:t>
            </a:r>
            <a:r>
              <a:rPr lang="en-US" dirty="0"/>
              <a:t> has </a:t>
            </a:r>
            <a:r>
              <a:rPr lang="en-US" u="sng" dirty="0"/>
              <a:t>no return value </a:t>
            </a:r>
            <a:r>
              <a:rPr lang="en-US" dirty="0"/>
              <a:t>while </a:t>
            </a:r>
            <a:r>
              <a:rPr lang="en-US" dirty="0">
                <a:solidFill>
                  <a:srgbClr val="FF0066"/>
                </a:solidFill>
              </a:rPr>
              <a:t>print</a:t>
            </a:r>
            <a:r>
              <a:rPr lang="en-US" dirty="0"/>
              <a:t> has a </a:t>
            </a:r>
            <a:r>
              <a:rPr lang="en-US" u="sng" dirty="0"/>
              <a:t>return value of 1 </a:t>
            </a:r>
            <a:r>
              <a:rPr lang="en-US" dirty="0"/>
              <a:t>so it can be used in expressions.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dirty="0">
                <a:solidFill>
                  <a:srgbClr val="FF0066"/>
                </a:solidFill>
              </a:rPr>
              <a:t>echo</a:t>
            </a:r>
            <a:r>
              <a:rPr lang="en-US" dirty="0"/>
              <a:t> can take multiple parameters (although such usage is rare) while </a:t>
            </a:r>
            <a:r>
              <a:rPr lang="en-US" dirty="0">
                <a:solidFill>
                  <a:srgbClr val="FF0066"/>
                </a:solidFill>
              </a:rPr>
              <a:t>print</a:t>
            </a:r>
            <a:r>
              <a:rPr lang="en-US" dirty="0"/>
              <a:t> can take one argument.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dirty="0">
                <a:solidFill>
                  <a:srgbClr val="FF0066"/>
                </a:solidFill>
              </a:rPr>
              <a:t>echo </a:t>
            </a:r>
            <a:r>
              <a:rPr lang="en-US" dirty="0"/>
              <a:t>is marginally faster than </a:t>
            </a:r>
            <a:r>
              <a:rPr lang="en-US" dirty="0">
                <a:solidFill>
                  <a:srgbClr val="FF0066"/>
                </a:solidFill>
              </a:rPr>
              <a:t>print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11F1F-97F6-B60E-9D28-728AF688D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907790"/>
            <a:ext cx="2470038" cy="12926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B4A72B-DCB6-4B69-F265-32113B112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666" y="1907790"/>
            <a:ext cx="2585219" cy="129261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762D76-05E1-367B-6BE1-152E3503C047}"/>
              </a:ext>
            </a:extLst>
          </p:cNvPr>
          <p:cNvCxnSpPr/>
          <p:nvPr/>
        </p:nvCxnSpPr>
        <p:spPr>
          <a:xfrm>
            <a:off x="4263390" y="1907790"/>
            <a:ext cx="0" cy="12926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24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56B0-6EA5-23AA-C1BC-4AB160F0D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PHP Output: </a:t>
            </a:r>
            <a:r>
              <a:rPr lang="en-IN" dirty="0">
                <a:solidFill>
                  <a:srgbClr val="FF0066"/>
                </a:solidFill>
              </a:rPr>
              <a:t>echo</a:t>
            </a:r>
            <a:r>
              <a:rPr lang="en-IN" dirty="0"/>
              <a:t> – more examples</a:t>
            </a:r>
            <a:endParaRPr lang="en-G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69677F-D035-E95D-7F27-46FDABEE6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81" y="1386039"/>
            <a:ext cx="8785460" cy="14195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039638-F196-970E-0D3E-D82908290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108848"/>
            <a:ext cx="4010585" cy="16004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883CB6-4F23-2461-8682-9C91CDD30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79" y="4894883"/>
            <a:ext cx="5029902" cy="165758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06C576B-14D8-9FA9-B5F4-9E5814FABA3E}"/>
              </a:ext>
            </a:extLst>
          </p:cNvPr>
          <p:cNvCxnSpPr/>
          <p:nvPr/>
        </p:nvCxnSpPr>
        <p:spPr>
          <a:xfrm>
            <a:off x="240465" y="2917493"/>
            <a:ext cx="876637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2AA0A0-0B3E-3517-4D05-A3B16CE91D21}"/>
              </a:ext>
            </a:extLst>
          </p:cNvPr>
          <p:cNvCxnSpPr/>
          <p:nvPr/>
        </p:nvCxnSpPr>
        <p:spPr>
          <a:xfrm>
            <a:off x="198036" y="4863436"/>
            <a:ext cx="876637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67B030-2BF1-EACE-DE77-B2CC5D766D4B}"/>
              </a:ext>
            </a:extLst>
          </p:cNvPr>
          <p:cNvSpPr txBox="1"/>
          <p:nvPr/>
        </p:nvSpPr>
        <p:spPr>
          <a:xfrm>
            <a:off x="4856679" y="5323563"/>
            <a:ext cx="4046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Did you notice any difference here?</a:t>
            </a:r>
            <a:endParaRPr lang="en-GH" sz="2000" dirty="0">
              <a:solidFill>
                <a:srgbClr val="FF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0A18F1C-97F4-8C4C-DDE2-F2E5CCEB1EB7}"/>
              </a:ext>
            </a:extLst>
          </p:cNvPr>
          <p:cNvCxnSpPr>
            <a:cxnSpLocks/>
          </p:cNvCxnSpPr>
          <p:nvPr/>
        </p:nvCxnSpPr>
        <p:spPr>
          <a:xfrm flipH="1">
            <a:off x="6577292" y="4709271"/>
            <a:ext cx="511469" cy="728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D0F263-32F3-7BB4-18DB-4D635A0C2E9B}"/>
              </a:ext>
            </a:extLst>
          </p:cNvPr>
          <p:cNvCxnSpPr/>
          <p:nvPr/>
        </p:nvCxnSpPr>
        <p:spPr>
          <a:xfrm flipV="1">
            <a:off x="4423410" y="5723673"/>
            <a:ext cx="713298" cy="428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445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B941-B854-1738-6ECF-C826A4920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Output: </a:t>
            </a:r>
            <a:r>
              <a:rPr lang="en-US" dirty="0">
                <a:solidFill>
                  <a:srgbClr val="FF0066"/>
                </a:solidFill>
              </a:rPr>
              <a:t>print</a:t>
            </a:r>
            <a:r>
              <a:rPr lang="en-US" dirty="0"/>
              <a:t> – more examples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E5A147-B45D-2871-DDD2-789FCBBDC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81" y="1386039"/>
            <a:ext cx="4553843" cy="11626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FEC51E-0998-9968-BD06-E20510223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719" y="2587124"/>
            <a:ext cx="4553843" cy="1786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F26D6A-2712-5639-7489-5BE26AC6B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33" y="4662223"/>
            <a:ext cx="5106113" cy="161947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A7BFB7C-2107-FADD-01D3-081FEA8BD922}"/>
              </a:ext>
            </a:extLst>
          </p:cNvPr>
          <p:cNvCxnSpPr/>
          <p:nvPr/>
        </p:nvCxnSpPr>
        <p:spPr>
          <a:xfrm>
            <a:off x="240465" y="2548723"/>
            <a:ext cx="876637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73B93D-E78E-4647-58CB-707426C1B3AB}"/>
              </a:ext>
            </a:extLst>
          </p:cNvPr>
          <p:cNvCxnSpPr/>
          <p:nvPr/>
        </p:nvCxnSpPr>
        <p:spPr>
          <a:xfrm>
            <a:off x="188812" y="4551816"/>
            <a:ext cx="876637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626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E79E3-49E3-3FDD-1ACF-E6C35A7F6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Types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D32CE-3EEE-8686-9B0E-6F08615D5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PHP supports the following data types: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String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Integer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Float (floating point numbers - also called double)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Boolean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Array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Object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NULL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Resource</a:t>
            </a:r>
          </a:p>
          <a:p>
            <a:r>
              <a:rPr lang="en-US" dirty="0"/>
              <a:t>The </a:t>
            </a:r>
            <a:r>
              <a:rPr lang="en-US" b="1" dirty="0" err="1">
                <a:solidFill>
                  <a:srgbClr val="FF0000"/>
                </a:solidFill>
              </a:rPr>
              <a:t>var_dump</a:t>
            </a:r>
            <a:r>
              <a:rPr lang="en-US" b="1" dirty="0">
                <a:solidFill>
                  <a:srgbClr val="FF0000"/>
                </a:solidFill>
              </a:rPr>
              <a:t>() </a:t>
            </a:r>
            <a:r>
              <a:rPr lang="en-US" dirty="0"/>
              <a:t>function can be used to know the data type and the value of a variable.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4341E-58CD-08E2-A0DC-C567345F0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59" y="5335858"/>
            <a:ext cx="2203251" cy="87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528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139F9-8E07-08CE-3762-04810B68A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B834F-8D38-2820-23C5-ECEEA4B2C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Types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D7DBA-4443-8A33-DF0E-77C859958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String</a:t>
            </a:r>
            <a:r>
              <a:rPr lang="en-US" dirty="0"/>
              <a:t>:				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r>
              <a:rPr lang="en-US" b="1" dirty="0"/>
              <a:t>Integer</a:t>
            </a:r>
            <a:r>
              <a:rPr lang="en-US" dirty="0"/>
              <a:t>: </a:t>
            </a:r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r>
              <a:rPr lang="en-US" b="1" dirty="0"/>
              <a:t>Float</a:t>
            </a:r>
            <a:r>
              <a:rPr lang="en-US" dirty="0"/>
              <a:t>:</a:t>
            </a:r>
            <a:endParaRPr lang="en-G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D2BABE-7F15-F688-893D-189F376D1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257" y="1408899"/>
            <a:ext cx="2476846" cy="19433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11B27F-16AF-C467-C71F-655124AC7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276" y="3709939"/>
            <a:ext cx="1676634" cy="695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023973-67C7-859E-6553-3777F24E9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276" y="4681374"/>
            <a:ext cx="1657581" cy="6858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645676-728A-4ACC-BD2B-34490CBD2A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758"/>
          <a:stretch/>
        </p:blipFill>
        <p:spPr>
          <a:xfrm>
            <a:off x="1866556" y="5480382"/>
            <a:ext cx="6953168" cy="8487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902653-4DE0-14DC-DD83-A40BB2EF3BFC}"/>
              </a:ext>
            </a:extLst>
          </p:cNvPr>
          <p:cNvSpPr txBox="1"/>
          <p:nvPr/>
        </p:nvSpPr>
        <p:spPr>
          <a:xfrm>
            <a:off x="4750899" y="1734253"/>
            <a:ext cx="3421551" cy="646331"/>
          </a:xfrm>
          <a:prstGeom prst="rect">
            <a:avLst/>
          </a:prstGeom>
          <a:noFill/>
          <a:ln>
            <a:solidFill>
              <a:srgbClr val="FF0066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Double quotes process special characters, single quotes do not.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40362016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93FB0-2D5D-8F5E-1E91-A57723C1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BECFB-575C-62EA-D0B3-4E52585BE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Note on Integers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2637-A69C-88E7-3BB9-BFEC8771E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Integers can be in decimal, hexadecimal (prefixed with 0x), octal (prefixed with 0), or binary (prefixed with 0b)</a:t>
            </a:r>
          </a:p>
          <a:p>
            <a:endParaRPr lang="en-US" dirty="0"/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520305-12EE-8803-27FA-7DB6B2619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71" y="2213333"/>
            <a:ext cx="8773749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3304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51C4C-44B5-FB70-93AF-A848453E0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Types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CB74A-7560-C884-5936-D11188669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4"/>
            </a:pPr>
            <a:r>
              <a:rPr lang="en-US" b="1" dirty="0"/>
              <a:t>Boolean</a:t>
            </a:r>
            <a:r>
              <a:rPr lang="en-US" dirty="0"/>
              <a:t>:</a:t>
            </a:r>
          </a:p>
          <a:p>
            <a:pPr marL="457200" indent="-457200">
              <a:buAutoNum type="arabicPeriod" startAt="4"/>
            </a:pPr>
            <a:endParaRPr lang="en-US" dirty="0"/>
          </a:p>
          <a:p>
            <a:pPr marL="457200" indent="-457200">
              <a:buAutoNum type="arabicPeriod" startAt="4"/>
            </a:pPr>
            <a:r>
              <a:rPr lang="en-US" b="1" dirty="0"/>
              <a:t>Array</a:t>
            </a:r>
            <a:r>
              <a:rPr lang="en-US" dirty="0"/>
              <a:t>:</a:t>
            </a:r>
          </a:p>
          <a:p>
            <a:pPr marL="457200" indent="-457200">
              <a:buAutoNum type="arabicPeriod" startAt="4"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OR from PHP 5.4+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640E9A-2C02-E8C2-A5A9-A361DBD3B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454" y="1477479"/>
            <a:ext cx="1907026" cy="660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AABCCD-F306-B4C6-0B00-E98AC2666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454" y="2382045"/>
            <a:ext cx="4919995" cy="660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44B029-CC2E-C61B-193E-A042C3914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715" y="4532599"/>
            <a:ext cx="4744734" cy="4619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117C02-10BC-C0DB-E25E-9BCFBA6B4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4874" y="3042170"/>
            <a:ext cx="6055138" cy="435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08D177-7A05-0BA3-65B5-2FE1EF219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714" y="5088400"/>
            <a:ext cx="5879877" cy="7787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807E14-F486-4931-C852-F9F86A50C31C}"/>
              </a:ext>
            </a:extLst>
          </p:cNvPr>
          <p:cNvSpPr txBox="1"/>
          <p:nvPr/>
        </p:nvSpPr>
        <p:spPr>
          <a:xfrm>
            <a:off x="320475" y="3612337"/>
            <a:ext cx="13368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Associative arrays                        (i.e., key-value pairs)</a:t>
            </a:r>
            <a:endParaRPr lang="en-GH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F8B9985-C5F6-5091-ED10-E9E2DEA02C78}"/>
              </a:ext>
            </a:extLst>
          </p:cNvPr>
          <p:cNvCxnSpPr/>
          <p:nvPr/>
        </p:nvCxnSpPr>
        <p:spPr>
          <a:xfrm flipV="1">
            <a:off x="1657350" y="3429000"/>
            <a:ext cx="451364" cy="594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A56B7C-407A-BD60-5C34-DF4ED2F12DFC}"/>
              </a:ext>
            </a:extLst>
          </p:cNvPr>
          <p:cNvCxnSpPr>
            <a:cxnSpLocks/>
          </p:cNvCxnSpPr>
          <p:nvPr/>
        </p:nvCxnSpPr>
        <p:spPr>
          <a:xfrm>
            <a:off x="1552454" y="4477445"/>
            <a:ext cx="451364" cy="1056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83B416A-9F07-D490-B74B-5D3D45554339}"/>
              </a:ext>
            </a:extLst>
          </p:cNvPr>
          <p:cNvSpPr txBox="1"/>
          <p:nvPr/>
        </p:nvSpPr>
        <p:spPr>
          <a:xfrm>
            <a:off x="5610025" y="3577432"/>
            <a:ext cx="3051810" cy="923330"/>
          </a:xfrm>
          <a:prstGeom prst="rect">
            <a:avLst/>
          </a:prstGeom>
          <a:noFill/>
          <a:ln>
            <a:solidFill>
              <a:srgbClr val="FF006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b="1" dirty="0" err="1">
                <a:solidFill>
                  <a:srgbClr val="0070C0"/>
                </a:solidFill>
              </a:rPr>
              <a:t>print_r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()</a:t>
            </a:r>
            <a:r>
              <a:rPr lang="en-GB" dirty="0"/>
              <a:t>, </a:t>
            </a:r>
            <a:r>
              <a:rPr lang="en-GB" b="1" dirty="0" err="1">
                <a:solidFill>
                  <a:srgbClr val="0070C0"/>
                </a:solidFill>
              </a:rPr>
              <a:t>var_dump</a:t>
            </a:r>
            <a:r>
              <a:rPr lang="en-GB" b="1" dirty="0">
                <a:solidFill>
                  <a:srgbClr val="0070C0"/>
                </a:solidFill>
              </a:rPr>
              <a:t>()</a:t>
            </a:r>
            <a:r>
              <a:rPr lang="en-GB" dirty="0"/>
              <a:t>, and </a:t>
            </a:r>
            <a:r>
              <a:rPr lang="en-GB" b="1" dirty="0" err="1">
                <a:solidFill>
                  <a:srgbClr val="0070C0"/>
                </a:solidFill>
              </a:rPr>
              <a:t>json_encode</a:t>
            </a:r>
            <a:r>
              <a:rPr lang="en-GB" b="1" dirty="0">
                <a:solidFill>
                  <a:srgbClr val="0070C0"/>
                </a:solidFill>
              </a:rPr>
              <a:t>() </a:t>
            </a:r>
            <a:r>
              <a:rPr lang="en-GB" dirty="0"/>
              <a:t>can be used to display an array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53236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F6CC-358A-1D89-027C-A8481194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Types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36C0E-715A-080A-4907-651307791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</a:t>
            </a:r>
            <a:r>
              <a:rPr lang="en-US" dirty="0"/>
              <a:t>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An instance of a class that allows for storing data and methods together.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66"/>
                </a:solidFill>
              </a:rPr>
              <a:t>PHP is an object-oriented language </a:t>
            </a:r>
            <a:r>
              <a:rPr lang="en-US" dirty="0"/>
              <a:t>and supports creating classes and objects to model real-world entities.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92BF2-8C03-FE65-52BA-ED31C1786E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472"/>
          <a:stretch/>
        </p:blipFill>
        <p:spPr>
          <a:xfrm>
            <a:off x="561774" y="3422823"/>
            <a:ext cx="3518736" cy="30132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594AFB-D39D-B71E-B7EF-74C9E8B093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444"/>
          <a:stretch/>
        </p:blipFill>
        <p:spPr>
          <a:xfrm>
            <a:off x="5214308" y="4034790"/>
            <a:ext cx="3538114" cy="75438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A999847-7718-51FC-5184-6A62592CF104}"/>
              </a:ext>
            </a:extLst>
          </p:cNvPr>
          <p:cNvCxnSpPr/>
          <p:nvPr/>
        </p:nvCxnSpPr>
        <p:spPr>
          <a:xfrm>
            <a:off x="4080510" y="4411980"/>
            <a:ext cx="963602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4383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D8437-EFE0-4346-6E4D-C932D612A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2F38-2DE1-DC48-F704-83916AFB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Types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BBA23-BF57-085C-AB63-348FF4B0A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</a:t>
            </a:r>
            <a:r>
              <a:rPr lang="en-US" dirty="0"/>
              <a:t>: We can write optional </a:t>
            </a:r>
            <a:r>
              <a:rPr lang="en-US" u="sng" dirty="0"/>
              <a:t>constructor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3EA238-55FD-8DAA-AF98-F1F63D610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142" y="2285760"/>
            <a:ext cx="6125405" cy="413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08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64C60-5678-1377-5F1A-8865E7DA7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8C0E7-7F1D-C33D-C73D-E0759F588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Types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DFF5A-AE28-83DD-4EE9-8E7B4B0DB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</a:t>
            </a:r>
            <a:r>
              <a:rPr lang="en-US" dirty="0"/>
              <a:t>: Though PHP supports automatic garbage collection, we can write an optional </a:t>
            </a:r>
            <a:r>
              <a:rPr lang="en-US" u="sng" dirty="0"/>
              <a:t>destructor</a:t>
            </a:r>
            <a:r>
              <a:rPr lang="en-US" dirty="0"/>
              <a:t>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2406D0-90F2-A50C-0A4B-4FDFEA480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087" y="2196134"/>
            <a:ext cx="7388358" cy="434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6486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450D-B9C4-4D0F-1F89-66B88690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Types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D7950-E993-261A-A860-FCD02DE7C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NULL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 special data type that can have only one value: </a:t>
            </a:r>
            <a:r>
              <a:rPr lang="en-US" dirty="0">
                <a:solidFill>
                  <a:srgbClr val="FF0066"/>
                </a:solidFill>
              </a:rPr>
              <a:t>NULL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 variable of data type NULL is a variable that has no value assigned to it.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If a variable is created without a value, it is automatically assigned a value of NULL.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Variables can also be emptied by setting the value to NULL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07DECF-0D9E-2D54-254D-0AAE739CD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18" y="4462170"/>
            <a:ext cx="3564887" cy="1298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B5EA2C-4A02-F860-373E-FFA622571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698" y="4855774"/>
            <a:ext cx="2172003" cy="10097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B29F67-8989-03B2-642E-E49C90BAFD2C}"/>
              </a:ext>
            </a:extLst>
          </p:cNvPr>
          <p:cNvSpPr txBox="1"/>
          <p:nvPr/>
        </p:nvSpPr>
        <p:spPr>
          <a:xfrm>
            <a:off x="5680558" y="4555984"/>
            <a:ext cx="254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Type Casting: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1A6A446-B603-59D0-83B4-4D5F4D792805}"/>
              </a:ext>
            </a:extLst>
          </p:cNvPr>
          <p:cNvSpPr/>
          <p:nvPr/>
        </p:nvSpPr>
        <p:spPr>
          <a:xfrm>
            <a:off x="5492038" y="4559745"/>
            <a:ext cx="2434742" cy="138583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8308423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250E-F4E4-E12D-E98D-EE117D18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Types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BF9E1-4E5B-32D6-CD9F-D41224EEB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Resource</a:t>
            </a:r>
            <a:r>
              <a:rPr lang="en-IN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 resource is a special type that </a:t>
            </a:r>
            <a:r>
              <a:rPr lang="en-US" dirty="0">
                <a:solidFill>
                  <a:srgbClr val="FF0066"/>
                </a:solidFill>
              </a:rPr>
              <a:t>holds a reference to an external resource</a:t>
            </a:r>
            <a:r>
              <a:rPr lang="en-US" dirty="0"/>
              <a:t>, such as a database connection or file handle.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Resources are not actual data but references to functions or resources outside of PHP.</a:t>
            </a:r>
            <a:endParaRPr lang="en-IN" dirty="0"/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24DF26-52C1-224F-C7E8-09B91A932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38" y="3789029"/>
            <a:ext cx="7438710" cy="513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127F45-9846-024A-AF3F-01DABBE75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" y="4918618"/>
            <a:ext cx="8811460" cy="21312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BED6C2-1114-085D-1EDB-4A0F151590F7}"/>
              </a:ext>
            </a:extLst>
          </p:cNvPr>
          <p:cNvCxnSpPr/>
          <p:nvPr/>
        </p:nvCxnSpPr>
        <p:spPr>
          <a:xfrm flipV="1">
            <a:off x="1908810" y="5225554"/>
            <a:ext cx="685800" cy="720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0AE582F-9A58-5C85-AEF0-3C4B16632EB4}"/>
              </a:ext>
            </a:extLst>
          </p:cNvPr>
          <p:cNvSpPr txBox="1"/>
          <p:nvPr/>
        </p:nvSpPr>
        <p:spPr>
          <a:xfrm>
            <a:off x="1127426" y="5854792"/>
            <a:ext cx="265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Database object</a:t>
            </a:r>
            <a:endParaRPr lang="en-GH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5047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63F1C-E481-8C92-5784-14786883C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AF1BC-302F-32E2-8D93-A741641ED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Commonly Used String Functions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68DA5-713D-2249-4C8A-FA55B3F1A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solidFill>
                  <a:srgbClr val="FF0000"/>
                </a:solidFill>
              </a:rPr>
              <a:t>strlen</a:t>
            </a:r>
            <a:r>
              <a:rPr lang="en-GB" dirty="0">
                <a:solidFill>
                  <a:srgbClr val="FF0000"/>
                </a:solidFill>
              </a:rPr>
              <a:t>()</a:t>
            </a:r>
            <a:r>
              <a:rPr lang="en-GB" dirty="0"/>
              <a:t>: Returns the length of the string</a:t>
            </a:r>
          </a:p>
          <a:p>
            <a:endParaRPr lang="en-GB" dirty="0"/>
          </a:p>
          <a:p>
            <a:r>
              <a:rPr lang="en-GB" dirty="0" err="1">
                <a:solidFill>
                  <a:srgbClr val="FF0000"/>
                </a:solidFill>
              </a:rPr>
              <a:t>str_word_count</a:t>
            </a:r>
            <a:r>
              <a:rPr lang="en-GB" dirty="0">
                <a:solidFill>
                  <a:srgbClr val="FF0000"/>
                </a:solidFill>
              </a:rPr>
              <a:t>()</a:t>
            </a:r>
            <a:r>
              <a:rPr lang="en-GB" dirty="0"/>
              <a:t>: C</a:t>
            </a:r>
            <a:r>
              <a:rPr lang="en-US" dirty="0" err="1"/>
              <a:t>ounts</a:t>
            </a:r>
            <a:r>
              <a:rPr lang="en-US" dirty="0"/>
              <a:t> and returns the number of words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//output: 2</a:t>
            </a:r>
          </a:p>
          <a:p>
            <a:r>
              <a:rPr lang="en-US" dirty="0" err="1">
                <a:solidFill>
                  <a:srgbClr val="FF0000"/>
                </a:solidFill>
              </a:rPr>
              <a:t>strpos</a:t>
            </a:r>
            <a:r>
              <a:rPr lang="en-US" dirty="0">
                <a:solidFill>
                  <a:srgbClr val="FF0000"/>
                </a:solidFill>
              </a:rPr>
              <a:t>()</a:t>
            </a:r>
            <a:r>
              <a:rPr lang="en-US" dirty="0"/>
              <a:t>: Searches for a specific text within a string. If a match is found, the function returns the character position of the first match. If no match is found, it will return FALSE.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//output: 6</a:t>
            </a:r>
          </a:p>
          <a:p>
            <a:r>
              <a:rPr lang="en-US" dirty="0" err="1">
                <a:solidFill>
                  <a:srgbClr val="FF0000"/>
                </a:solidFill>
              </a:rPr>
              <a:t>strtoupper</a:t>
            </a:r>
            <a:r>
              <a:rPr lang="en-US" dirty="0">
                <a:solidFill>
                  <a:srgbClr val="FF0000"/>
                </a:solidFill>
              </a:rPr>
              <a:t>() </a:t>
            </a:r>
            <a:r>
              <a:rPr lang="en-US" dirty="0"/>
              <a:t>and </a:t>
            </a:r>
            <a:r>
              <a:rPr lang="en-US" dirty="0" err="1">
                <a:solidFill>
                  <a:srgbClr val="FF0000"/>
                </a:solidFill>
              </a:rPr>
              <a:t>strtolower</a:t>
            </a:r>
            <a:r>
              <a:rPr lang="en-US" dirty="0">
                <a:solidFill>
                  <a:srgbClr val="FF0000"/>
                </a:solidFill>
              </a:rPr>
              <a:t>(): </a:t>
            </a:r>
            <a:r>
              <a:rPr lang="en-US" dirty="0"/>
              <a:t>returns the string in upper case and lower case respectively.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F83DBF-CF80-F8CA-9EB2-A99AB88BC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44" y="1786871"/>
            <a:ext cx="3847386" cy="3000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555478-F19C-3DA7-1A6E-0F878CCC3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73" y="4306226"/>
            <a:ext cx="4898947" cy="4091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44550F-DDCA-3734-F40D-F5294FD3C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74" y="2779427"/>
            <a:ext cx="4651200" cy="3577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4ABB7E-E2BD-CCD9-CAB2-4F029F0540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50" y="5648966"/>
            <a:ext cx="2670096" cy="68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6078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33DEB-DD7C-CE90-E2D1-02B5722CB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Commonly Used String Functions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F136F-5E1B-E3C0-F689-D5A820902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str_replace</a:t>
            </a:r>
            <a:r>
              <a:rPr lang="en-US" dirty="0">
                <a:solidFill>
                  <a:srgbClr val="FF0000"/>
                </a:solidFill>
              </a:rPr>
              <a:t>()</a:t>
            </a:r>
            <a:r>
              <a:rPr lang="en-US" dirty="0"/>
              <a:t>: replaces some characters with the given characters in a string.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>
                <a:solidFill>
                  <a:srgbClr val="FF0000"/>
                </a:solidFill>
              </a:rPr>
              <a:t>strrev</a:t>
            </a:r>
            <a:r>
              <a:rPr lang="en-US" dirty="0">
                <a:solidFill>
                  <a:srgbClr val="FF0000"/>
                </a:solidFill>
              </a:rPr>
              <a:t>() </a:t>
            </a:r>
            <a:r>
              <a:rPr lang="en-US" dirty="0"/>
              <a:t>function reverses a string.</a:t>
            </a:r>
          </a:p>
          <a:p>
            <a:endParaRPr lang="en-US" dirty="0"/>
          </a:p>
          <a:p>
            <a:endParaRPr lang="en-US" dirty="0"/>
          </a:p>
          <a:p>
            <a:r>
              <a:rPr lang="en-IN" dirty="0" err="1">
                <a:solidFill>
                  <a:srgbClr val="FF0000"/>
                </a:solidFill>
              </a:rPr>
              <a:t>substr</a:t>
            </a:r>
            <a:r>
              <a:rPr lang="en-IN" dirty="0">
                <a:solidFill>
                  <a:srgbClr val="FF0000"/>
                </a:solidFill>
              </a:rPr>
              <a:t>() </a:t>
            </a:r>
            <a:r>
              <a:rPr lang="en-IN" dirty="0"/>
              <a:t>slices and extracts substring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Accessing individual characters</a:t>
            </a:r>
            <a:endParaRPr lang="en-GH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0B36AA4-03A5-0ADD-4AB3-170E4AC19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90" y="2231661"/>
            <a:ext cx="4909600" cy="6829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643FFFE-3E83-2BAC-9474-8E4FA09C0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90" y="5006142"/>
            <a:ext cx="2753109" cy="61921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457C116-9AE8-66D5-7501-448BF3440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90" y="3707387"/>
            <a:ext cx="2505425" cy="60968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CA48E92-46C8-AF5D-6A03-BA6A1CDD9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263" y="4457700"/>
            <a:ext cx="3707721" cy="1965294"/>
          </a:xfrm>
          <a:prstGeom prst="rect">
            <a:avLst/>
          </a:prstGeom>
          <a:ln>
            <a:solidFill>
              <a:srgbClr val="FF0066"/>
            </a:solidFill>
          </a:ln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89AF94-F159-DB93-5DED-B4800A5E0CA5}"/>
              </a:ext>
            </a:extLst>
          </p:cNvPr>
          <p:cNvCxnSpPr>
            <a:cxnSpLocks/>
          </p:cNvCxnSpPr>
          <p:nvPr/>
        </p:nvCxnSpPr>
        <p:spPr>
          <a:xfrm flipV="1">
            <a:off x="4366260" y="5486400"/>
            <a:ext cx="765810" cy="354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BB6489D-D9E3-691E-4F40-5E2BE2BD7B25}"/>
              </a:ext>
            </a:extLst>
          </p:cNvPr>
          <p:cNvSpPr txBox="1"/>
          <p:nvPr/>
        </p:nvSpPr>
        <p:spPr>
          <a:xfrm>
            <a:off x="3213005" y="718339"/>
            <a:ext cx="5164115" cy="646331"/>
          </a:xfrm>
          <a:prstGeom prst="rect">
            <a:avLst/>
          </a:prstGeom>
          <a:noFill/>
          <a:ln>
            <a:solidFill>
              <a:srgbClr val="00860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String functions Reference:</a:t>
            </a:r>
          </a:p>
          <a:p>
            <a:r>
              <a:rPr lang="en-IN" dirty="0">
                <a:hlinkClick r:id="rId6"/>
              </a:rPr>
              <a:t>https://www.w3schools.com/php/php_ref_string.asp</a:t>
            </a:r>
            <a:r>
              <a:rPr lang="en-IN" dirty="0"/>
              <a:t> 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323569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727B-2070-CEE9-719E-FF825D6D9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Escape Characters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71CC6-2B32-3E88-67B2-52F6F436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564" y="826345"/>
            <a:ext cx="4310942" cy="554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866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ED089-234B-5548-7206-4BBC2BD27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 Casting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9A436-D04B-3648-9C1C-3CA4B4D7D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737A92-0274-F5E8-C40A-98245111C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91" y="2481082"/>
            <a:ext cx="4667901" cy="25816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13CB00-BE6D-5919-2BD0-FFD252F67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83" y="1526636"/>
            <a:ext cx="3356426" cy="44638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1AD8D8-1111-88D7-D0C2-754113319FE4}"/>
              </a:ext>
            </a:extLst>
          </p:cNvPr>
          <p:cNvSpPr txBox="1"/>
          <p:nvPr/>
        </p:nvSpPr>
        <p:spPr>
          <a:xfrm>
            <a:off x="5333982" y="1165742"/>
            <a:ext cx="2747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Example with (int):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0149074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C0A38-7563-7BBC-1B54-12DE403BF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C46E7-848E-BD85-ACF9-F2969F6CC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 Casting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3A630-3E7D-7F47-9F37-69FF9AEF7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Note 1</a:t>
            </a:r>
            <a:r>
              <a:rPr lang="en-US" dirty="0"/>
              <a:t>: When casting a string that starts with a number, the (int) and (float) functions use that number. If it does not start with a number, these functions convert strings into the number 0.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Note 2</a:t>
            </a:r>
            <a:r>
              <a:rPr lang="en-US" dirty="0"/>
              <a:t>: If a value is 0, NULL, false, or empty, the (bool) converts it into false, otherwise true. Even -1 converts to true.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Note 3</a:t>
            </a:r>
            <a:r>
              <a:rPr lang="en-US" dirty="0"/>
              <a:t>: When converting into arrays, most data types convert into an indexed array with one element. NULL values convert to an empty array object.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Note 4</a:t>
            </a:r>
            <a:r>
              <a:rPr lang="en-US" dirty="0"/>
              <a:t>: Objects convert into associative arrays where the property names become the keys and the property values become the values.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Note 5</a:t>
            </a:r>
            <a:r>
              <a:rPr lang="en-US" dirty="0"/>
              <a:t>: most data types convert into an object with one property, named "scalar", with the associated value.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9121556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C7AF7-80C3-D03B-2516-30D0DAA3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Math Functions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C9F5F-801E-59BB-F6EE-B0E191F55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973" y="1386039"/>
            <a:ext cx="8681519" cy="4943141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endParaRPr lang="en-G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F42B7E-4A37-56C9-C3AE-6C449CB3A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59" y="1509615"/>
            <a:ext cx="1711375" cy="4142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C605CF-D5C1-026C-7F6A-EECD16596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03" y="2095638"/>
            <a:ext cx="4678890" cy="7327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13E4EA-380F-C10A-DF7E-2B894ABC5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059" y="2922163"/>
            <a:ext cx="2250691" cy="5653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825024-7059-FC89-CC90-61D7689400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059" y="3545838"/>
            <a:ext cx="2250691" cy="4478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BC912D7-A5B8-2CA3-6778-B1B92705A7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184" y="4086703"/>
            <a:ext cx="2625984" cy="8199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57FFF9C-FFAB-DB5C-1172-085BD1E23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674" y="4964902"/>
            <a:ext cx="2024009" cy="5320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E40CDB7-4AE0-86CE-CDD5-8BC6074879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1363" y="4964902"/>
            <a:ext cx="2782130" cy="438211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CC07AAF-5B6C-8733-EBFF-E29641B87E1B}"/>
              </a:ext>
            </a:extLst>
          </p:cNvPr>
          <p:cNvCxnSpPr/>
          <p:nvPr/>
        </p:nvCxnSpPr>
        <p:spPr>
          <a:xfrm>
            <a:off x="2388870" y="4964903"/>
            <a:ext cx="0" cy="4382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38D1302-4622-B1CF-A76A-B16AC31ECDB3}"/>
              </a:ext>
            </a:extLst>
          </p:cNvPr>
          <p:cNvSpPr txBox="1"/>
          <p:nvPr/>
        </p:nvSpPr>
        <p:spPr>
          <a:xfrm>
            <a:off x="3742428" y="5682849"/>
            <a:ext cx="5474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Math Reference: </a:t>
            </a:r>
            <a:r>
              <a:rPr lang="en-GH" dirty="0">
                <a:hlinkClick r:id="rId9"/>
              </a:rPr>
              <a:t>https://www.w3schools.com/php/php_ref_math.asp</a:t>
            </a:r>
            <a:r>
              <a:rPr lang="en-IN" dirty="0"/>
              <a:t> 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4417075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52B55-EA7A-F1AA-1B6A-0C04CA05C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Defining Constants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69EAF-DD16-5631-8010-37B42D5B5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constant is an identifier (name) for a simple value. The value cannot be changed during the script.</a:t>
            </a:r>
          </a:p>
          <a:p>
            <a:r>
              <a:rPr lang="en-US" u="sng" dirty="0"/>
              <a:t>Starts with a letter or underscore </a:t>
            </a:r>
            <a:r>
              <a:rPr lang="en-US" dirty="0"/>
              <a:t>(no $ sign before) </a:t>
            </a:r>
          </a:p>
          <a:p>
            <a:r>
              <a:rPr lang="en-US" dirty="0"/>
              <a:t>To create a constant, use the </a:t>
            </a:r>
            <a:r>
              <a:rPr lang="en-US" dirty="0">
                <a:solidFill>
                  <a:srgbClr val="FF0000"/>
                </a:solidFill>
              </a:rPr>
              <a:t>define()</a:t>
            </a:r>
            <a:r>
              <a:rPr lang="en-US" dirty="0"/>
              <a:t> function or </a:t>
            </a:r>
            <a:r>
              <a:rPr lang="en-US" dirty="0">
                <a:solidFill>
                  <a:srgbClr val="FF0000"/>
                </a:solidFill>
              </a:rPr>
              <a:t>const</a:t>
            </a:r>
            <a:r>
              <a:rPr lang="en-US" dirty="0"/>
              <a:t> keyword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Difference: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const</a:t>
            </a:r>
            <a:r>
              <a:rPr lang="en-US" dirty="0"/>
              <a:t> is allowed at the global or class level. It cannot be used inside another block scope, (e.g., inside a function or if statement), but </a:t>
            </a:r>
            <a:r>
              <a:rPr lang="en-US" dirty="0">
                <a:solidFill>
                  <a:srgbClr val="FF0000"/>
                </a:solidFill>
              </a:rPr>
              <a:t>define()</a:t>
            </a:r>
            <a:r>
              <a:rPr lang="en-US" dirty="0"/>
              <a:t> can be used inside another block scope.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232E7-BE78-3FCE-ACAD-BE95F5804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54" y="3139394"/>
            <a:ext cx="6915001" cy="7810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DEFF45-2E80-E283-D6A8-5F22F8F5A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78" y="4014304"/>
            <a:ext cx="3412792" cy="7810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EEA9F4-A513-BA10-6F90-152593B95BCE}"/>
              </a:ext>
            </a:extLst>
          </p:cNvPr>
          <p:cNvCxnSpPr/>
          <p:nvPr/>
        </p:nvCxnSpPr>
        <p:spPr>
          <a:xfrm>
            <a:off x="515854" y="3991444"/>
            <a:ext cx="40561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3116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E9A3D-26FF-0F23-7B2C-99A1A5686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140E1-FB21-37EC-879A-AC3D93EBD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Defining Constants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1282F-379C-FB71-9379-FF85A209C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Constant Arrays: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const</a:t>
            </a:r>
            <a:r>
              <a:rPr lang="en-US" dirty="0"/>
              <a:t> imposes strict immutability, but  </a:t>
            </a:r>
            <a:r>
              <a:rPr lang="en-US" dirty="0">
                <a:solidFill>
                  <a:srgbClr val="FF0000"/>
                </a:solidFill>
              </a:rPr>
              <a:t>define() </a:t>
            </a:r>
            <a:r>
              <a:rPr lang="en-US" dirty="0"/>
              <a:t>does not.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66"/>
                </a:solidFill>
              </a:rPr>
              <a:t>NOTE</a:t>
            </a:r>
            <a:r>
              <a:rPr lang="en-US" dirty="0"/>
              <a:t>: All constants are </a:t>
            </a:r>
            <a:r>
              <a:rPr lang="en-US" dirty="0" err="1"/>
              <a:t>automatical</a:t>
            </a:r>
            <a:r>
              <a:rPr lang="en-US" dirty="0"/>
              <a:t> </a:t>
            </a:r>
            <a:r>
              <a:rPr lang="en-US" b="1" dirty="0">
                <a:solidFill>
                  <a:srgbClr val="008600"/>
                </a:solidFill>
              </a:rPr>
              <a:t>global</a:t>
            </a:r>
            <a:r>
              <a:rPr lang="en-US" dirty="0"/>
              <a:t> except those defined in a class with </a:t>
            </a:r>
            <a:r>
              <a:rPr lang="en-US" dirty="0">
                <a:solidFill>
                  <a:srgbClr val="FF0000"/>
                </a:solidFill>
              </a:rPr>
              <a:t>const</a:t>
            </a:r>
            <a:r>
              <a:rPr lang="en-US" dirty="0"/>
              <a:t>. (See the example in the next slide)</a:t>
            </a:r>
          </a:p>
          <a:p>
            <a:endParaRPr lang="en-US" dirty="0"/>
          </a:p>
          <a:p>
            <a:endParaRPr lang="en-G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069C01-0793-C91B-75F0-A15E03D64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90" y="1843997"/>
            <a:ext cx="3900730" cy="6934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518344-C9B2-44BF-B038-FB40DFEC4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67" y="3063998"/>
            <a:ext cx="4341740" cy="7764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C9AD31-EDE2-6001-A0C1-841C62454971}"/>
              </a:ext>
            </a:extLst>
          </p:cNvPr>
          <p:cNvSpPr txBox="1"/>
          <p:nvPr/>
        </p:nvSpPr>
        <p:spPr>
          <a:xfrm>
            <a:off x="4558465" y="1611630"/>
            <a:ext cx="243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Using </a:t>
            </a:r>
            <a:r>
              <a:rPr lang="en-IN" dirty="0" err="1">
                <a:solidFill>
                  <a:srgbClr val="7030A0"/>
                </a:solidFill>
              </a:rPr>
              <a:t>const</a:t>
            </a:r>
            <a:endParaRPr lang="en-GH" dirty="0">
              <a:solidFill>
                <a:srgbClr val="7030A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F7C820-016F-DD0D-1DA9-656D673C7943}"/>
              </a:ext>
            </a:extLst>
          </p:cNvPr>
          <p:cNvSpPr txBox="1"/>
          <p:nvPr/>
        </p:nvSpPr>
        <p:spPr>
          <a:xfrm>
            <a:off x="5371084" y="2833358"/>
            <a:ext cx="243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Using </a:t>
            </a:r>
            <a:r>
              <a:rPr lang="en-IN" dirty="0">
                <a:solidFill>
                  <a:srgbClr val="7030A0"/>
                </a:solidFill>
              </a:rPr>
              <a:t>define</a:t>
            </a:r>
            <a:endParaRPr lang="en-GH" dirty="0">
              <a:solidFill>
                <a:srgbClr val="7030A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E63672-D6C8-3208-8087-2248B40A5FA7}"/>
              </a:ext>
            </a:extLst>
          </p:cNvPr>
          <p:cNvCxnSpPr>
            <a:endCxn id="11" idx="1"/>
          </p:cNvCxnSpPr>
          <p:nvPr/>
        </p:nvCxnSpPr>
        <p:spPr>
          <a:xfrm flipV="1">
            <a:off x="3851910" y="1796296"/>
            <a:ext cx="706555" cy="394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6B6518-E05E-EC9E-5159-9332F6B62229}"/>
              </a:ext>
            </a:extLst>
          </p:cNvPr>
          <p:cNvCxnSpPr/>
          <p:nvPr/>
        </p:nvCxnSpPr>
        <p:spPr>
          <a:xfrm flipV="1">
            <a:off x="4695209" y="3071902"/>
            <a:ext cx="706555" cy="394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5504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1EDA5-A547-B48C-8B39-EDE8EEDBB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7C86-CAF4-483F-4F00-C4A62F42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Defining Constants</a:t>
            </a:r>
            <a:endParaRPr lang="en-G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F3EFF1-57EA-B4DF-051F-B0D04185EB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960" y="581334"/>
            <a:ext cx="8011592" cy="5968055"/>
          </a:xfrm>
        </p:spPr>
      </p:pic>
    </p:spTree>
    <p:extLst>
      <p:ext uri="{BB962C8B-B14F-4D97-AF65-F5344CB8AC3E}">
        <p14:creationId xmlns:p14="http://schemas.microsoft.com/office/powerpoint/2010/main" val="38220289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3EA73-FD08-06BF-BAB9-26EF301BE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B81DB-9021-4707-34F2-7EBB2CB96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34AA4-B227-EA4B-A0FA-A8DC9F81F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01" y="1386039"/>
            <a:ext cx="4022290" cy="4943141"/>
          </a:xfrm>
        </p:spPr>
        <p:txBody>
          <a:bodyPr/>
          <a:lstStyle/>
          <a:p>
            <a:pPr marL="457200" indent="-457200" algn="l">
              <a:buFont typeface="+mj-lt"/>
              <a:buAutoNum type="arabicParenR"/>
            </a:pPr>
            <a:r>
              <a:rPr lang="en-US" b="0" i="0" dirty="0">
                <a:solidFill>
                  <a:srgbClr val="000000"/>
                </a:solidFill>
                <a:effectLst/>
              </a:rPr>
              <a:t>Arithmetic operators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0B51E-9B34-A98E-469A-DA8D64DDF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75" y="1975199"/>
            <a:ext cx="3324689" cy="409632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42571C-244F-AB5A-8756-2861B0C8F5EE}"/>
              </a:ext>
            </a:extLst>
          </p:cNvPr>
          <p:cNvSpPr txBox="1">
            <a:spLocks/>
          </p:cNvSpPr>
          <p:nvPr/>
        </p:nvSpPr>
        <p:spPr>
          <a:xfrm>
            <a:off x="4721662" y="1386039"/>
            <a:ext cx="4022290" cy="4943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arenR" startAt="2"/>
            </a:pPr>
            <a:r>
              <a:rPr lang="en-US" dirty="0">
                <a:solidFill>
                  <a:srgbClr val="000000"/>
                </a:solidFill>
              </a:rPr>
              <a:t>Assignment operators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5D37E3-F235-5175-12B0-614EB4111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08" y="2021830"/>
            <a:ext cx="3077004" cy="440116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341EDA-94A3-3E43-1716-CE38377247E6}"/>
              </a:ext>
            </a:extLst>
          </p:cNvPr>
          <p:cNvCxnSpPr/>
          <p:nvPr/>
        </p:nvCxnSpPr>
        <p:spPr>
          <a:xfrm>
            <a:off x="4366260" y="1386039"/>
            <a:ext cx="0" cy="49431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6921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E56DB-2DC0-15A4-F699-B97C83544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6904-737D-1569-AB7D-F0C95519D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ABEF6-D2A7-6C6B-033C-4A212DEFF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01" y="1386039"/>
            <a:ext cx="4022290" cy="4943141"/>
          </a:xfrm>
        </p:spPr>
        <p:txBody>
          <a:bodyPr/>
          <a:lstStyle/>
          <a:p>
            <a:pPr marL="457200" indent="-457200" algn="l">
              <a:buFont typeface="+mj-lt"/>
              <a:buAutoNum type="arabicParenR" startAt="3"/>
            </a:pPr>
            <a:r>
              <a:rPr lang="en-US" b="0" i="0" dirty="0">
                <a:solidFill>
                  <a:srgbClr val="000000"/>
                </a:solidFill>
                <a:effectLst/>
              </a:rPr>
              <a:t>Relational operators</a:t>
            </a:r>
          </a:p>
          <a:p>
            <a:pPr marL="0" indent="0">
              <a:buNone/>
            </a:pPr>
            <a:endParaRPr lang="en-GH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339ACA-D61C-EC0C-BC00-A45FDA9E943D}"/>
              </a:ext>
            </a:extLst>
          </p:cNvPr>
          <p:cNvSpPr txBox="1">
            <a:spLocks/>
          </p:cNvSpPr>
          <p:nvPr/>
        </p:nvSpPr>
        <p:spPr>
          <a:xfrm>
            <a:off x="4721662" y="1386039"/>
            <a:ext cx="4022290" cy="4943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H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732DF0-BAA5-4D1B-E130-1049E79116C9}"/>
              </a:ext>
            </a:extLst>
          </p:cNvPr>
          <p:cNvCxnSpPr/>
          <p:nvPr/>
        </p:nvCxnSpPr>
        <p:spPr>
          <a:xfrm>
            <a:off x="4366260" y="1386039"/>
            <a:ext cx="0" cy="49431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2ADC7AD-5001-B1FD-5038-724499A386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620"/>
          <a:stretch/>
        </p:blipFill>
        <p:spPr>
          <a:xfrm>
            <a:off x="644903" y="1810830"/>
            <a:ext cx="3365955" cy="42517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E1DA4B-EAB8-12BA-6D7A-DEA52024B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792" y="1386039"/>
            <a:ext cx="3801005" cy="36581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41283F-F5D4-B346-8118-C5F07D731362}"/>
              </a:ext>
            </a:extLst>
          </p:cNvPr>
          <p:cNvSpPr txBox="1"/>
          <p:nvPr/>
        </p:nvSpPr>
        <p:spPr>
          <a:xfrm>
            <a:off x="4667193" y="5405850"/>
            <a:ext cx="4022289" cy="923330"/>
          </a:xfrm>
          <a:prstGeom prst="rect">
            <a:avLst/>
          </a:prstGeom>
          <a:noFill/>
          <a:ln>
            <a:solidFill>
              <a:srgbClr val="FF0066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Returns -1 if the left side is less than the right side, 0 if both sides are equal, 1 if the left side is greater than the right side</a:t>
            </a:r>
            <a:endParaRPr lang="en-GH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553F75-2398-E867-9966-29AC15C06684}"/>
              </a:ext>
            </a:extLst>
          </p:cNvPr>
          <p:cNvCxnSpPr/>
          <p:nvPr/>
        </p:nvCxnSpPr>
        <p:spPr>
          <a:xfrm>
            <a:off x="5303520" y="5044150"/>
            <a:ext cx="388620" cy="427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0147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AB78-D974-1239-0BC5-A34E6CB7C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38152-3ECD-9720-CDF8-D21E9D677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6B76B-36F9-D9C6-EF9E-D4CA29067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01" y="1386039"/>
            <a:ext cx="4022290" cy="4943141"/>
          </a:xfrm>
        </p:spPr>
        <p:txBody>
          <a:bodyPr/>
          <a:lstStyle/>
          <a:p>
            <a:pPr marL="457200" indent="-457200" algn="l">
              <a:buFont typeface="+mj-lt"/>
              <a:buAutoNum type="arabicParenR" startAt="4"/>
            </a:pPr>
            <a:r>
              <a:rPr lang="en-US" b="0" i="0" dirty="0">
                <a:solidFill>
                  <a:srgbClr val="000000"/>
                </a:solidFill>
                <a:effectLst/>
              </a:rPr>
              <a:t>Increment/Decre</a:t>
            </a:r>
            <a:r>
              <a:rPr lang="en-US" dirty="0">
                <a:solidFill>
                  <a:srgbClr val="000000"/>
                </a:solidFill>
              </a:rPr>
              <a:t>ment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GH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DFE190-A36A-7F5B-3DCC-F2C7F3213635}"/>
              </a:ext>
            </a:extLst>
          </p:cNvPr>
          <p:cNvSpPr txBox="1">
            <a:spLocks/>
          </p:cNvSpPr>
          <p:nvPr/>
        </p:nvSpPr>
        <p:spPr>
          <a:xfrm>
            <a:off x="4721662" y="1386039"/>
            <a:ext cx="4022290" cy="4943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/>
              <a:t>5)   Logical Operators</a:t>
            </a:r>
            <a:endParaRPr lang="en-GH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5A3BE7-476C-256F-0AE3-12E624C21FD4}"/>
              </a:ext>
            </a:extLst>
          </p:cNvPr>
          <p:cNvCxnSpPr>
            <a:cxnSpLocks/>
          </p:cNvCxnSpPr>
          <p:nvPr/>
        </p:nvCxnSpPr>
        <p:spPr>
          <a:xfrm>
            <a:off x="4366260" y="1386039"/>
            <a:ext cx="0" cy="34488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302D920-B383-DE5F-5F66-B7A697DE6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59" y="2041955"/>
            <a:ext cx="3391373" cy="29341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972602-E8EE-61AA-C79D-D1A206620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087" y="1945619"/>
            <a:ext cx="2686425" cy="44773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A42ABF-B70D-E21D-7A0A-D6F018455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85" y="5593098"/>
            <a:ext cx="5163271" cy="7240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9DBC0B4-18F0-0A8F-DFC8-38B11F8367D2}"/>
              </a:ext>
            </a:extLst>
          </p:cNvPr>
          <p:cNvSpPr txBox="1"/>
          <p:nvPr/>
        </p:nvSpPr>
        <p:spPr>
          <a:xfrm>
            <a:off x="328705" y="4976064"/>
            <a:ext cx="5445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Note: </a:t>
            </a:r>
            <a:r>
              <a:rPr lang="en-IN" sz="2800" dirty="0">
                <a:solidFill>
                  <a:srgbClr val="FF0000"/>
                </a:solidFill>
                <a:sym typeface="Wingdings" panose="05000000000000000000" pitchFamily="2" charset="2"/>
              </a:rPr>
              <a:t> 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'</a:t>
            </a:r>
            <a:r>
              <a:rPr lang="en-IN" b="1" dirty="0">
                <a:solidFill>
                  <a:srgbClr val="FF0000"/>
                </a:solidFill>
                <a:sym typeface="Wingdings" panose="05000000000000000000" pitchFamily="2" charset="2"/>
              </a:rPr>
              <a:t>and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' has lower precedence in '</a:t>
            </a:r>
            <a:r>
              <a:rPr lang="en-IN" b="1" dirty="0">
                <a:solidFill>
                  <a:srgbClr val="FF0000"/>
                </a:solidFill>
                <a:sym typeface="Wingdings" panose="05000000000000000000" pitchFamily="2" charset="2"/>
              </a:rPr>
              <a:t>=' 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endParaRPr lang="en-GH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34BDA3A-6AF5-E409-8A66-94C773B01F01}"/>
              </a:ext>
            </a:extLst>
          </p:cNvPr>
          <p:cNvCxnSpPr>
            <a:cxnSpLocks/>
          </p:cNvCxnSpPr>
          <p:nvPr/>
        </p:nvCxnSpPr>
        <p:spPr>
          <a:xfrm flipH="1">
            <a:off x="4157763" y="1908737"/>
            <a:ext cx="1155865" cy="31547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5910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4E3B0-8115-4ABC-448B-FDAE19CBA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0492-C222-A2B8-C921-3E34265F4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00447-A2DB-551B-799D-0E0F2BEC3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01" y="1386039"/>
            <a:ext cx="4022290" cy="4943141"/>
          </a:xfrm>
        </p:spPr>
        <p:txBody>
          <a:bodyPr/>
          <a:lstStyle/>
          <a:p>
            <a:pPr marL="457200" indent="-457200" algn="l">
              <a:buFont typeface="+mj-lt"/>
              <a:buAutoNum type="arabicParenR" startAt="6"/>
            </a:pPr>
            <a:r>
              <a:rPr lang="en-US" b="0" i="0" dirty="0">
                <a:solidFill>
                  <a:srgbClr val="000000"/>
                </a:solidFill>
                <a:effectLst/>
              </a:rPr>
              <a:t>String Operators</a:t>
            </a:r>
          </a:p>
          <a:p>
            <a:pPr marL="0" indent="0">
              <a:buNone/>
            </a:pPr>
            <a:endParaRPr lang="en-GH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AAF25F6-2C1C-08BB-FB9F-613A35365352}"/>
              </a:ext>
            </a:extLst>
          </p:cNvPr>
          <p:cNvSpPr txBox="1">
            <a:spLocks/>
          </p:cNvSpPr>
          <p:nvPr/>
        </p:nvSpPr>
        <p:spPr>
          <a:xfrm>
            <a:off x="4721662" y="1386039"/>
            <a:ext cx="4022290" cy="4943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/>
              <a:t>7)   Conditional Assignment</a:t>
            </a:r>
            <a:endParaRPr lang="en-GH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96E148-9573-7418-236F-8B0D7FE29278}"/>
              </a:ext>
            </a:extLst>
          </p:cNvPr>
          <p:cNvCxnSpPr>
            <a:cxnSpLocks/>
          </p:cNvCxnSpPr>
          <p:nvPr/>
        </p:nvCxnSpPr>
        <p:spPr>
          <a:xfrm>
            <a:off x="4366260" y="1386039"/>
            <a:ext cx="0" cy="34488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851A5C1-9B2D-328D-6E14-91E11D63E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75" y="1933962"/>
            <a:ext cx="3343742" cy="23530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CFA3DF-C883-73C4-25A3-FFEA48200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476" y="1933962"/>
            <a:ext cx="3381847" cy="30579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8824CC-2D4F-293C-BD9B-54B51085284F}"/>
              </a:ext>
            </a:extLst>
          </p:cNvPr>
          <p:cNvSpPr txBox="1"/>
          <p:nvPr/>
        </p:nvSpPr>
        <p:spPr>
          <a:xfrm>
            <a:off x="2463522" y="5337381"/>
            <a:ext cx="5856801" cy="923330"/>
          </a:xfrm>
          <a:prstGeom prst="rect">
            <a:avLst/>
          </a:prstGeom>
          <a:noFill/>
          <a:ln>
            <a:solidFill>
              <a:srgbClr val="FF0066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Usage: </a:t>
            </a:r>
            <a:r>
              <a:rPr lang="en-US" b="1" dirty="0">
                <a:solidFill>
                  <a:srgbClr val="008600"/>
                </a:solidFill>
              </a:rPr>
              <a:t>$x = expr1 ?? expr2</a:t>
            </a:r>
          </a:p>
          <a:p>
            <a:pPr algn="ctr"/>
            <a:r>
              <a:rPr lang="en-US" dirty="0"/>
              <a:t>The value of $x is expr1 if expr1 exists, and is not NULL.</a:t>
            </a:r>
          </a:p>
          <a:p>
            <a:pPr algn="ctr"/>
            <a:r>
              <a:rPr lang="en-US" dirty="0"/>
              <a:t>If expr1 does not exist or is NULL, the value of $x is expr2.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ED247C-CC2A-E569-5581-F9DF8659E712}"/>
              </a:ext>
            </a:extLst>
          </p:cNvPr>
          <p:cNvCxnSpPr/>
          <p:nvPr/>
        </p:nvCxnSpPr>
        <p:spPr>
          <a:xfrm flipH="1">
            <a:off x="4938476" y="4834890"/>
            <a:ext cx="250744" cy="502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1940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A4CC2-FAFE-9AC1-E775-484EB85F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049F1-4C6F-3CF9-E25F-C9EB99232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 startAt="8"/>
            </a:pPr>
            <a:r>
              <a:rPr lang="en-IN" dirty="0"/>
              <a:t>Array Operators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74AEB-D316-32A6-5267-4D9906845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02" y="1890689"/>
            <a:ext cx="7465996" cy="463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588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99CFE-D468-E5D0-5B66-CB5E5C631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5792E-E2E4-8727-34E0-A0785D3FC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 startAt="9"/>
            </a:pPr>
            <a:r>
              <a:rPr lang="en-IN" dirty="0"/>
              <a:t>Bitwise Operators</a:t>
            </a:r>
            <a:endParaRPr lang="en-G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1A87B1-CDE2-FA4B-CB8D-6A2AD31F7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65" y="1960033"/>
            <a:ext cx="8682080" cy="326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881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B331-2783-832A-4A3E-1A8DC3B75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Conditional Statements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59D4A2-764C-525D-77E4-38A3608F7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64" y="1292224"/>
            <a:ext cx="5630673" cy="1759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85EABB-179B-701C-7937-570ED70EF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63" y="3394708"/>
            <a:ext cx="6377787" cy="28460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A9882A-A138-A5A9-6D5A-FB8EE74FA896}"/>
              </a:ext>
            </a:extLst>
          </p:cNvPr>
          <p:cNvCxnSpPr/>
          <p:nvPr/>
        </p:nvCxnSpPr>
        <p:spPr>
          <a:xfrm>
            <a:off x="240463" y="3394708"/>
            <a:ext cx="59888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9352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78050-8F45-9DE7-7B4A-288DECFE4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74EB3-7C47-9003-B285-7F62F50AB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Conditional Statements</a:t>
            </a:r>
            <a:endParaRPr lang="en-G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3B0D0-A7C7-9B48-2970-A2E6BF6C3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65" y="1379055"/>
            <a:ext cx="3761595" cy="34740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74BACE-A3EF-7574-E6AB-88A59B37B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222" y="1455888"/>
            <a:ext cx="4990762" cy="441913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7B159E-3D91-9974-6D87-49EAFBF3F8CD}"/>
              </a:ext>
            </a:extLst>
          </p:cNvPr>
          <p:cNvCxnSpPr/>
          <p:nvPr/>
        </p:nvCxnSpPr>
        <p:spPr>
          <a:xfrm>
            <a:off x="3931222" y="1455888"/>
            <a:ext cx="0" cy="4624872"/>
          </a:xfrm>
          <a:prstGeom prst="line">
            <a:avLst/>
          </a:prstGeom>
          <a:ln>
            <a:solidFill>
              <a:srgbClr val="FF006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5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23DAC-6F96-AA43-610A-55D60B13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Looping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DB6DEA-1791-6B20-B126-FB2200DB8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85" y="1326515"/>
            <a:ext cx="4664144" cy="2136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B52F42-4047-6274-8038-60BF3D661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485" y="3856545"/>
            <a:ext cx="4704622" cy="222421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58F259-21EE-7BD6-AF07-77614B0EEA35}"/>
              </a:ext>
            </a:extLst>
          </p:cNvPr>
          <p:cNvCxnSpPr/>
          <p:nvPr/>
        </p:nvCxnSpPr>
        <p:spPr>
          <a:xfrm>
            <a:off x="491490" y="3726180"/>
            <a:ext cx="73266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0430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C77CE-D92C-DFFA-895C-46F230F67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FB177-AD81-79DB-133A-2EB2CD56F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Looping</a:t>
            </a:r>
            <a:endParaRPr lang="en-G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7F5243-48BE-B82D-5FD7-F84C3FDAA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16" y="1292224"/>
            <a:ext cx="4486659" cy="14281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1DD601-4D6E-75D5-5C39-E92EEA8FA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16" y="3486150"/>
            <a:ext cx="5796660" cy="207962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8746C4-8519-F119-F2F0-88E877EDA556}"/>
              </a:ext>
            </a:extLst>
          </p:cNvPr>
          <p:cNvCxnSpPr>
            <a:cxnSpLocks/>
          </p:cNvCxnSpPr>
          <p:nvPr/>
        </p:nvCxnSpPr>
        <p:spPr>
          <a:xfrm flipV="1">
            <a:off x="387416" y="3120390"/>
            <a:ext cx="5796660" cy="91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2184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B4B7-E6B3-A1B9-4611-A40979B73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Looping: break, continue</a:t>
            </a:r>
            <a:endParaRPr lang="en-G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4F1FDA-1C09-B361-8D0D-F5B6448AD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64" y="1292225"/>
            <a:ext cx="5637971" cy="24453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DE37EF-0E0D-0299-D9E9-60C97FA57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10" y="3819056"/>
            <a:ext cx="6531357" cy="254745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CD69F8-9712-29AD-37B9-4C175639880E}"/>
              </a:ext>
            </a:extLst>
          </p:cNvPr>
          <p:cNvCxnSpPr/>
          <p:nvPr/>
        </p:nvCxnSpPr>
        <p:spPr>
          <a:xfrm>
            <a:off x="334110" y="3819056"/>
            <a:ext cx="72668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9561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3CBE9-ECEA-F903-51CD-33ECBE816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 in PHP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1184E-C818-EF27-D7BE-9CCD0C046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PHP has over 1000 built-in functions that can be called directly, from within a script, to perform a specific task.</a:t>
            </a:r>
          </a:p>
          <a:p>
            <a:r>
              <a:rPr lang="en-US" dirty="0"/>
              <a:t>User-defined functions can be created using the </a:t>
            </a:r>
            <a:r>
              <a:rPr lang="en-US" b="1" dirty="0">
                <a:solidFill>
                  <a:srgbClr val="0070C0"/>
                </a:solidFill>
              </a:rPr>
              <a:t>function</a:t>
            </a:r>
            <a:r>
              <a:rPr lang="en-US" dirty="0"/>
              <a:t> keyword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CBE69-19B5-1273-EDB3-87597F6B2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00" y="4550913"/>
            <a:ext cx="3170117" cy="1842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91B709-3AB1-EC20-41FB-8703C55B1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308" y="3007707"/>
            <a:ext cx="3842686" cy="308641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16E3DB-ECCC-8D3D-2E69-EEA68CBEF1C8}"/>
              </a:ext>
            </a:extLst>
          </p:cNvPr>
          <p:cNvCxnSpPr/>
          <p:nvPr/>
        </p:nvCxnSpPr>
        <p:spPr>
          <a:xfrm>
            <a:off x="4864101" y="3091724"/>
            <a:ext cx="0" cy="30023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B57D0D2-9819-13C9-6161-689F397DC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42" y="2767380"/>
            <a:ext cx="4464330" cy="115310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985F36F-3005-FA39-E133-117B3743C847}"/>
              </a:ext>
            </a:extLst>
          </p:cNvPr>
          <p:cNvCxnSpPr/>
          <p:nvPr/>
        </p:nvCxnSpPr>
        <p:spPr>
          <a:xfrm>
            <a:off x="360342" y="4091940"/>
            <a:ext cx="43716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2332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6C4EB-F9AE-FDFC-0958-776DC4C93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FCF5A-3038-0BA5-AD60-5E56B4E3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 in PHP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F9DBC-6758-B7B9-314F-B4E5D3CF0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Default parameters:			    Returning values:</a:t>
            </a:r>
          </a:p>
          <a:p>
            <a:endParaRPr lang="en-G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E63329-F979-E10C-DE04-BBDAC7480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87" y="2063416"/>
            <a:ext cx="4830276" cy="23714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F52D87-BE13-2426-B512-B580A22B2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645" y="1890099"/>
            <a:ext cx="3878768" cy="254474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FBE816-EB10-BAB5-D6A5-0F7B6FBCFEC7}"/>
              </a:ext>
            </a:extLst>
          </p:cNvPr>
          <p:cNvCxnSpPr/>
          <p:nvPr/>
        </p:nvCxnSpPr>
        <p:spPr>
          <a:xfrm>
            <a:off x="4846320" y="1386039"/>
            <a:ext cx="0" cy="3321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8680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41617-EA61-7B25-71D3-EAD206126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 in PHP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A3975-9EDB-6BD7-A6C2-A341555F7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PHP allows you to specify data types for parameters and return values, helping to prevent type-related errors.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754A42-35C1-04E0-9112-08E31F92A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72" y="2270634"/>
            <a:ext cx="5932983" cy="2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377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E169A-324B-9522-71DE-3A426BFF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 in PHP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8952D-D28C-D66D-BC0F-0161E9640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Anonymous Functions (often used as arguments to other functions)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4D91BF-1444-F417-E85D-15C4FB18F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60" y="2225870"/>
            <a:ext cx="7894352" cy="220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0502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4025-17C7-B4C3-F508-A3FF4CE76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 in PHP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C2472-6B5B-FA25-DCAB-00CE2DD88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Arrow functions </a:t>
            </a:r>
            <a:r>
              <a:rPr lang="en-US" dirty="0"/>
              <a:t>(PHP 7.4+) provide a more concise syntax, especially useful for single-line expressions.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B3FA76-FCE5-E597-D0AA-FECB8EDD8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23" y="2447788"/>
            <a:ext cx="4666587" cy="1104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6F6F32-9E39-E250-25DA-7D9F130A2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078" y="3957124"/>
            <a:ext cx="6667822" cy="251178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A7D506-2A78-8894-F709-9FD1533AA4A0}"/>
              </a:ext>
            </a:extLst>
          </p:cNvPr>
          <p:cNvCxnSpPr/>
          <p:nvPr/>
        </p:nvCxnSpPr>
        <p:spPr>
          <a:xfrm>
            <a:off x="1188720" y="3817398"/>
            <a:ext cx="74180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DAFF30-DBBD-96F9-10D9-F1F21BA818D0}"/>
              </a:ext>
            </a:extLst>
          </p:cNvPr>
          <p:cNvCxnSpPr/>
          <p:nvPr/>
        </p:nvCxnSpPr>
        <p:spPr>
          <a:xfrm flipV="1">
            <a:off x="3966210" y="4617720"/>
            <a:ext cx="1805940" cy="73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A352B04-D89C-1C35-AAC3-AF0B8A91955D}"/>
              </a:ext>
            </a:extLst>
          </p:cNvPr>
          <p:cNvSpPr txBox="1"/>
          <p:nvPr/>
        </p:nvSpPr>
        <p:spPr>
          <a:xfrm>
            <a:off x="5606348" y="4293328"/>
            <a:ext cx="242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Note the keyword used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42472400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387A-AD0C-A712-47E4-07CE33135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Practice Exercise: </a:t>
            </a:r>
            <a:r>
              <a:rPr lang="en-US" dirty="0"/>
              <a:t>Working with Arrays and Functions in PHP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3EC29-4FBB-03AF-FA87-8AAB4A35B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Define an array named </a:t>
            </a:r>
            <a:r>
              <a:rPr lang="en-US" dirty="0">
                <a:solidFill>
                  <a:srgbClr val="FF0066"/>
                </a:solidFill>
              </a:rPr>
              <a:t>$students </a:t>
            </a:r>
            <a:r>
              <a:rPr lang="en-US" dirty="0"/>
              <a:t>containing the names of five students.  Write a function </a:t>
            </a:r>
            <a:r>
              <a:rPr lang="en-US" dirty="0" err="1">
                <a:solidFill>
                  <a:srgbClr val="FF0066"/>
                </a:solidFill>
              </a:rPr>
              <a:t>displayStudents</a:t>
            </a:r>
            <a:r>
              <a:rPr lang="en-US" dirty="0"/>
              <a:t> that 1) accepts an array as an argument, 2) loops through the array, and 3) prints each student's name on a new line. 			</a:t>
            </a:r>
          </a:p>
          <a:p>
            <a:pPr marL="0" indent="0">
              <a:buNone/>
            </a:pPr>
            <a:r>
              <a:rPr lang="en-US" dirty="0"/>
              <a:t>Write another function </a:t>
            </a:r>
            <a:r>
              <a:rPr lang="en-US" dirty="0" err="1">
                <a:solidFill>
                  <a:srgbClr val="FF0066"/>
                </a:solidFill>
              </a:rPr>
              <a:t>addStudent</a:t>
            </a:r>
            <a:r>
              <a:rPr lang="en-US" dirty="0">
                <a:solidFill>
                  <a:srgbClr val="FF0066"/>
                </a:solidFill>
              </a:rPr>
              <a:t> </a:t>
            </a:r>
            <a:r>
              <a:rPr lang="en-US" dirty="0"/>
              <a:t>that 1) accepts an array and a name as arguments, 2) adds the new student name to the array, and 3) returns the updated array. </a:t>
            </a:r>
          </a:p>
          <a:p>
            <a:pPr marL="0" indent="0">
              <a:buNone/>
            </a:pPr>
            <a:r>
              <a:rPr lang="en-US" dirty="0"/>
              <a:t>Call </a:t>
            </a:r>
            <a:r>
              <a:rPr lang="en-US" dirty="0" err="1">
                <a:solidFill>
                  <a:srgbClr val="FF0066"/>
                </a:solidFill>
              </a:rPr>
              <a:t>displayStudents</a:t>
            </a:r>
            <a:r>
              <a:rPr lang="en-US" dirty="0"/>
              <a:t> and </a:t>
            </a:r>
            <a:r>
              <a:rPr lang="en-US" dirty="0" err="1">
                <a:solidFill>
                  <a:srgbClr val="FF0066"/>
                </a:solidFill>
              </a:rPr>
              <a:t>addStudent</a:t>
            </a:r>
            <a:r>
              <a:rPr lang="en-US" dirty="0"/>
              <a:t> functions to show the initial list of students, add a new student, and display the updated list.</a:t>
            </a:r>
          </a:p>
          <a:p>
            <a:pPr marL="0" indent="0">
              <a:buNone/>
            </a:pPr>
            <a:r>
              <a:rPr lang="en-US" u="sng" dirty="0"/>
              <a:t>Expected Output</a:t>
            </a:r>
            <a:r>
              <a:rPr lang="en-US" dirty="0"/>
              <a:t>: The list of students before and after adding a new student.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0492629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Questions???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IN" dirty="0"/>
              <a:t>Dr Govindha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F9229A-DD42-46FB-AC7D-2F23A646FBDE}" vid="{29738491-4758-454F-8D61-01C0E3071440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Govindha-Ashesi-3-4-Five</Template>
  <TotalTime>2589</TotalTime>
  <Words>2531</Words>
  <Application>Microsoft Office PowerPoint</Application>
  <PresentationFormat>On-screen Show (4:3)</PresentationFormat>
  <Paragraphs>318</Paragraphs>
  <Slides>65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73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2_Office Theme</vt:lpstr>
      <vt:lpstr>PHP</vt:lpstr>
      <vt:lpstr>Outline</vt:lpstr>
      <vt:lpstr>Introduction: What is PHP?</vt:lpstr>
      <vt:lpstr>Introduction: A little history</vt:lpstr>
      <vt:lpstr>Introduction: Trends and Popularity</vt:lpstr>
      <vt:lpstr>Introduction: How PHP Works in a Web Request Cycle?</vt:lpstr>
      <vt:lpstr>Summary of What PHP can do</vt:lpstr>
      <vt:lpstr>Setting Up for PHP Development</vt:lpstr>
      <vt:lpstr>Sample PHP Script</vt:lpstr>
      <vt:lpstr>Practice Exercise 1</vt:lpstr>
      <vt:lpstr>Practice Exercise 2</vt:lpstr>
      <vt:lpstr>Practical Exercise: Database connection</vt:lpstr>
      <vt:lpstr>Practical Exercise: Database connection</vt:lpstr>
      <vt:lpstr>Understanding PHP more</vt:lpstr>
      <vt:lpstr>PHP Case Sensitivity</vt:lpstr>
      <vt:lpstr>PHP Case Sensitivity</vt:lpstr>
      <vt:lpstr>PHP Comments</vt:lpstr>
      <vt:lpstr>PHP Variables</vt:lpstr>
      <vt:lpstr>Variables Scope</vt:lpstr>
      <vt:lpstr>Variables Scope</vt:lpstr>
      <vt:lpstr>Variables Scope</vt:lpstr>
      <vt:lpstr>Variable Scope: The global Keyword</vt:lpstr>
      <vt:lpstr>Variable Scope: The $GLOBALS Array</vt:lpstr>
      <vt:lpstr>Variable Scope: The static Keyword</vt:lpstr>
      <vt:lpstr>Variable Scope: Exercise</vt:lpstr>
      <vt:lpstr>Variable Scope: Exercise</vt:lpstr>
      <vt:lpstr>PHP Output</vt:lpstr>
      <vt:lpstr>PHP Output: echo – more examples</vt:lpstr>
      <vt:lpstr>PHP Output: print – more examples</vt:lpstr>
      <vt:lpstr>Data Types</vt:lpstr>
      <vt:lpstr>Data Types</vt:lpstr>
      <vt:lpstr>Note on Integers</vt:lpstr>
      <vt:lpstr>Data Types</vt:lpstr>
      <vt:lpstr>Data Types</vt:lpstr>
      <vt:lpstr>Data Types</vt:lpstr>
      <vt:lpstr>Data Types</vt:lpstr>
      <vt:lpstr>Data Types</vt:lpstr>
      <vt:lpstr>Data Types</vt:lpstr>
      <vt:lpstr>Commonly Used String Functions</vt:lpstr>
      <vt:lpstr>Commonly Used String Functions</vt:lpstr>
      <vt:lpstr>Escape Characters</vt:lpstr>
      <vt:lpstr>Type Casting</vt:lpstr>
      <vt:lpstr>Type Casting</vt:lpstr>
      <vt:lpstr>Some Math Functions</vt:lpstr>
      <vt:lpstr>Defining Constants</vt:lpstr>
      <vt:lpstr>Defining Constants</vt:lpstr>
      <vt:lpstr>Defining Constants</vt:lpstr>
      <vt:lpstr>Operators</vt:lpstr>
      <vt:lpstr>Operators</vt:lpstr>
      <vt:lpstr>Operators</vt:lpstr>
      <vt:lpstr>Operators</vt:lpstr>
      <vt:lpstr>Operators</vt:lpstr>
      <vt:lpstr>Operators</vt:lpstr>
      <vt:lpstr>Conditional Statements</vt:lpstr>
      <vt:lpstr>Conditional Statements</vt:lpstr>
      <vt:lpstr>Looping</vt:lpstr>
      <vt:lpstr>Looping</vt:lpstr>
      <vt:lpstr>Looping: break, continue</vt:lpstr>
      <vt:lpstr>Functions in PHP</vt:lpstr>
      <vt:lpstr>Functions in PHP</vt:lpstr>
      <vt:lpstr>Functions in PHP</vt:lpstr>
      <vt:lpstr>Functions in PHP</vt:lpstr>
      <vt:lpstr>Functions in PHP</vt:lpstr>
      <vt:lpstr>Practice Exercise: Working with Arrays and Functions in PHP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Govindha R Yeluripati</dc:creator>
  <cp:lastModifiedBy>Govindha  Ramaiah Yeluripati</cp:lastModifiedBy>
  <cp:revision>168</cp:revision>
  <dcterms:created xsi:type="dcterms:W3CDTF">2024-09-11T05:06:52Z</dcterms:created>
  <dcterms:modified xsi:type="dcterms:W3CDTF">2024-11-11T05:40:47Z</dcterms:modified>
</cp:coreProperties>
</file>