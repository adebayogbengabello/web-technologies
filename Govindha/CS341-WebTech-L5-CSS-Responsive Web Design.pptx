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300" r:id="rId3"/>
    <p:sldId id="301" r:id="rId4"/>
    <p:sldId id="302" r:id="rId5"/>
    <p:sldId id="303" r:id="rId6"/>
    <p:sldId id="304" r:id="rId7"/>
    <p:sldId id="305" r:id="rId8"/>
    <p:sldId id="306" r:id="rId9"/>
    <p:sldId id="307" r:id="rId10"/>
    <p:sldId id="308" r:id="rId11"/>
    <p:sldId id="309" r:id="rId12"/>
    <p:sldId id="310" r:id="rId13"/>
    <p:sldId id="311" r:id="rId14"/>
    <p:sldId id="312" r:id="rId15"/>
    <p:sldId id="314" r:id="rId16"/>
    <p:sldId id="315" r:id="rId17"/>
    <p:sldId id="313" r:id="rId18"/>
    <p:sldId id="316" r:id="rId19"/>
    <p:sldId id="317" r:id="rId20"/>
    <p:sldId id="318" r:id="rId21"/>
    <p:sldId id="321" r:id="rId22"/>
    <p:sldId id="320" r:id="rId23"/>
    <p:sldId id="322" r:id="rId24"/>
    <p:sldId id="323" r:id="rId25"/>
    <p:sldId id="324" r:id="rId26"/>
    <p:sldId id="325" r:id="rId27"/>
    <p:sldId id="326" r:id="rId28"/>
    <p:sldId id="327" r:id="rId29"/>
    <p:sldId id="328" r:id="rId30"/>
    <p:sldId id="329" r:id="rId31"/>
    <p:sldId id="330" r:id="rId32"/>
    <p:sldId id="28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143C"/>
    <a:srgbClr val="226C47"/>
    <a:srgbClr val="2D8F5E"/>
    <a:srgbClr val="188C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66" d="100"/>
          <a:sy n="66" d="100"/>
        </p:scale>
        <p:origin x="119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9220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06192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4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06852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01853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4365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9609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229530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1957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39121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500187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7759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s 9">
            <a:extLst>
              <a:ext uri="{FF2B5EF4-FFF2-40B4-BE49-F238E27FC236}">
                <a16:creationId xmlns:a16="http://schemas.microsoft.com/office/drawing/2014/main" id="{ADC1A0AE-A0C7-CD4A-0BAB-8EBC26398050}"/>
              </a:ext>
            </a:extLst>
          </p:cNvPr>
          <p:cNvSpPr/>
          <p:nvPr/>
        </p:nvSpPr>
        <p:spPr>
          <a:xfrm flipV="1">
            <a:off x="222485" y="6626648"/>
            <a:ext cx="8752840" cy="220630"/>
          </a:xfrm>
          <a:prstGeom prst="rect">
            <a:avLst/>
          </a:prstGeom>
          <a:solidFill>
            <a:schemeClr val="accent2">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40465" y="129540"/>
            <a:ext cx="8681519" cy="116268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41100" y="1386039"/>
            <a:ext cx="8681519" cy="49431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028950" y="6623601"/>
            <a:ext cx="3086100" cy="21548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10341" y="6615830"/>
            <a:ext cx="2057400" cy="231027"/>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8" name="Picture 7" descr="A logo of a university&#10;&#10;Description automatically generat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820" y="6355380"/>
            <a:ext cx="588010" cy="485140"/>
          </a:xfrm>
          <a:prstGeom prst="rect">
            <a:avLst/>
          </a:prstGeom>
        </p:spPr>
      </p:pic>
      <p:sp>
        <p:nvSpPr>
          <p:cNvPr id="9" name="Rectangles 9">
            <a:extLst>
              <a:ext uri="{FF2B5EF4-FFF2-40B4-BE49-F238E27FC236}">
                <a16:creationId xmlns:a16="http://schemas.microsoft.com/office/drawing/2014/main" id="{E634ECF9-3972-2CC8-4938-4B4BFD28C772}"/>
              </a:ext>
            </a:extLst>
          </p:cNvPr>
          <p:cNvSpPr/>
          <p:nvPr/>
        </p:nvSpPr>
        <p:spPr>
          <a:xfrm flipV="1">
            <a:off x="14806" y="7014"/>
            <a:ext cx="9108241" cy="39062"/>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81026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3600" b="1" kern="1200">
          <a:solidFill>
            <a:srgbClr val="C00000"/>
          </a:solidFill>
          <a:latin typeface="+mj-lt"/>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w3schools.com/css/tryresponsive_grid.ht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CSS-Responsive Web Design</a:t>
            </a:r>
          </a:p>
        </p:txBody>
      </p:sp>
      <p:sp>
        <p:nvSpPr>
          <p:cNvPr id="3" name="Subtitle 2"/>
          <p:cNvSpPr>
            <a:spLocks noGrp="1"/>
          </p:cNvSpPr>
          <p:nvPr>
            <p:ph type="subTitle" idx="1"/>
          </p:nvPr>
        </p:nvSpPr>
        <p:spPr/>
        <p:txBody>
          <a:bodyPr/>
          <a:lstStyle/>
          <a:p>
            <a:r>
              <a:rPr lang="en-US" dirty="0"/>
              <a:t>Dr Govindha Ramaiah Yeluripati</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65E9F-2041-D0C2-F344-8CB5B1197F99}"/>
              </a:ext>
            </a:extLst>
          </p:cNvPr>
          <p:cNvSpPr>
            <a:spLocks noGrp="1"/>
          </p:cNvSpPr>
          <p:nvPr>
            <p:ph type="title"/>
          </p:nvPr>
        </p:nvSpPr>
        <p:spPr/>
        <p:txBody>
          <a:bodyPr/>
          <a:lstStyle/>
          <a:p>
            <a:r>
              <a:rPr lang="en-IN" dirty="0"/>
              <a:t>Outline</a:t>
            </a:r>
            <a:endParaRPr lang="en-GH" dirty="0"/>
          </a:p>
        </p:txBody>
      </p:sp>
      <p:sp>
        <p:nvSpPr>
          <p:cNvPr id="3" name="Content Placeholder 2">
            <a:extLst>
              <a:ext uri="{FF2B5EF4-FFF2-40B4-BE49-F238E27FC236}">
                <a16:creationId xmlns:a16="http://schemas.microsoft.com/office/drawing/2014/main" id="{74371062-57C0-33C2-4D4E-AD28E0B16E61}"/>
              </a:ext>
            </a:extLst>
          </p:cNvPr>
          <p:cNvSpPr>
            <a:spLocks noGrp="1"/>
          </p:cNvSpPr>
          <p:nvPr>
            <p:ph idx="1"/>
          </p:nvPr>
        </p:nvSpPr>
        <p:spPr/>
        <p:txBody>
          <a:bodyPr/>
          <a:lstStyle/>
          <a:p>
            <a:r>
              <a:rPr lang="en-IN" dirty="0" err="1"/>
              <a:t>RWD</a:t>
            </a:r>
            <a:r>
              <a:rPr lang="en-IN" dirty="0"/>
              <a:t> Introduction</a:t>
            </a:r>
          </a:p>
          <a:p>
            <a:r>
              <a:rPr lang="en-IN" dirty="0"/>
              <a:t>Viewport Meta Tag</a:t>
            </a:r>
          </a:p>
          <a:p>
            <a:r>
              <a:rPr lang="en-IN" dirty="0"/>
              <a:t>Need for </a:t>
            </a:r>
            <a:r>
              <a:rPr lang="en-IN" dirty="0" err="1"/>
              <a:t>RWD</a:t>
            </a:r>
            <a:endParaRPr lang="en-IN" dirty="0"/>
          </a:p>
          <a:p>
            <a:r>
              <a:rPr lang="en-IN" dirty="0" err="1"/>
              <a:t>Gridview</a:t>
            </a:r>
            <a:endParaRPr lang="en-IN" dirty="0"/>
          </a:p>
          <a:p>
            <a:r>
              <a:rPr lang="en-IN" dirty="0"/>
              <a:t>Media Queries</a:t>
            </a:r>
          </a:p>
          <a:p>
            <a:r>
              <a:rPr lang="en-IN" dirty="0"/>
              <a:t>Responsive Images </a:t>
            </a:r>
          </a:p>
          <a:p>
            <a:r>
              <a:rPr lang="en-IN" dirty="0"/>
              <a:t>HTML &lt;picture&gt; element</a:t>
            </a:r>
          </a:p>
          <a:p>
            <a:r>
              <a:rPr lang="en-IN" dirty="0"/>
              <a:t>Responsive Videos</a:t>
            </a:r>
          </a:p>
          <a:p>
            <a:endParaRPr lang="en-IN" dirty="0"/>
          </a:p>
          <a:p>
            <a:endParaRPr lang="en-IN" dirty="0"/>
          </a:p>
          <a:p>
            <a:endParaRPr lang="en-GH" dirty="0"/>
          </a:p>
        </p:txBody>
      </p:sp>
    </p:spTree>
    <p:extLst>
      <p:ext uri="{BB962C8B-B14F-4D97-AF65-F5344CB8AC3E}">
        <p14:creationId xmlns:p14="http://schemas.microsoft.com/office/powerpoint/2010/main" val="1399202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473AC-97D2-0738-98AA-D1AE7E4D7750}"/>
              </a:ext>
            </a:extLst>
          </p:cNvPr>
          <p:cNvSpPr>
            <a:spLocks noGrp="1"/>
          </p:cNvSpPr>
          <p:nvPr>
            <p:ph type="title"/>
          </p:nvPr>
        </p:nvSpPr>
        <p:spPr/>
        <p:txBody>
          <a:bodyPr/>
          <a:lstStyle/>
          <a:p>
            <a:r>
              <a:rPr lang="en-US" dirty="0"/>
              <a:t>Responsive Web Design-What is it?</a:t>
            </a:r>
            <a:endParaRPr lang="en-GH" dirty="0"/>
          </a:p>
        </p:txBody>
      </p:sp>
      <p:sp>
        <p:nvSpPr>
          <p:cNvPr id="3" name="Content Placeholder 2">
            <a:extLst>
              <a:ext uri="{FF2B5EF4-FFF2-40B4-BE49-F238E27FC236}">
                <a16:creationId xmlns:a16="http://schemas.microsoft.com/office/drawing/2014/main" id="{C03FCAC6-E56A-3267-0D3A-EC107CBB726D}"/>
              </a:ext>
            </a:extLst>
          </p:cNvPr>
          <p:cNvSpPr>
            <a:spLocks noGrp="1"/>
          </p:cNvSpPr>
          <p:nvPr>
            <p:ph idx="1"/>
          </p:nvPr>
        </p:nvSpPr>
        <p:spPr/>
        <p:txBody>
          <a:bodyPr/>
          <a:lstStyle/>
          <a:p>
            <a:pPr>
              <a:lnSpc>
                <a:spcPct val="100000"/>
              </a:lnSpc>
            </a:pPr>
            <a:r>
              <a:rPr lang="en-US" b="1" dirty="0">
                <a:solidFill>
                  <a:srgbClr val="FF0000"/>
                </a:solidFill>
              </a:rPr>
              <a:t>Responsive Web Design (</a:t>
            </a:r>
            <a:r>
              <a:rPr lang="en-US" b="1" dirty="0" err="1">
                <a:solidFill>
                  <a:srgbClr val="FF0000"/>
                </a:solidFill>
              </a:rPr>
              <a:t>RWD</a:t>
            </a:r>
            <a:r>
              <a:rPr lang="en-US" dirty="0"/>
              <a:t>) is an approach to web development where websites are designed to </a:t>
            </a:r>
            <a:r>
              <a:rPr lang="en-US" b="1" dirty="0"/>
              <a:t>respond and adapt to different screen sizes</a:t>
            </a:r>
            <a:r>
              <a:rPr lang="en-US" dirty="0"/>
              <a:t> </a:t>
            </a:r>
            <a:r>
              <a:rPr lang="en-US" b="1" dirty="0"/>
              <a:t>and device types </a:t>
            </a:r>
            <a:r>
              <a:rPr lang="en-US" dirty="0"/>
              <a:t>(such as desktops, tablets, and smartphones) to provide an optimal viewing experience. </a:t>
            </a:r>
          </a:p>
        </p:txBody>
      </p:sp>
      <p:pic>
        <p:nvPicPr>
          <p:cNvPr id="5" name="Picture 4">
            <a:extLst>
              <a:ext uri="{FF2B5EF4-FFF2-40B4-BE49-F238E27FC236}">
                <a16:creationId xmlns:a16="http://schemas.microsoft.com/office/drawing/2014/main" id="{41EB91C8-E928-8A57-8670-D8A93567F2E6}"/>
              </a:ext>
            </a:extLst>
          </p:cNvPr>
          <p:cNvPicPr>
            <a:picLocks noChangeAspect="1"/>
          </p:cNvPicPr>
          <p:nvPr/>
        </p:nvPicPr>
        <p:blipFill>
          <a:blip r:embed="rId2"/>
          <a:stretch>
            <a:fillRect/>
          </a:stretch>
        </p:blipFill>
        <p:spPr>
          <a:xfrm>
            <a:off x="314048" y="3599121"/>
            <a:ext cx="8534352" cy="2137461"/>
          </a:xfrm>
          <a:prstGeom prst="rect">
            <a:avLst/>
          </a:prstGeom>
        </p:spPr>
      </p:pic>
    </p:spTree>
    <p:extLst>
      <p:ext uri="{BB962C8B-B14F-4D97-AF65-F5344CB8AC3E}">
        <p14:creationId xmlns:p14="http://schemas.microsoft.com/office/powerpoint/2010/main" val="1645820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473AC-97D2-0738-98AA-D1AE7E4D7750}"/>
              </a:ext>
            </a:extLst>
          </p:cNvPr>
          <p:cNvSpPr>
            <a:spLocks noGrp="1"/>
          </p:cNvSpPr>
          <p:nvPr>
            <p:ph type="title"/>
          </p:nvPr>
        </p:nvSpPr>
        <p:spPr/>
        <p:txBody>
          <a:bodyPr/>
          <a:lstStyle/>
          <a:p>
            <a:r>
              <a:rPr lang="en-US" dirty="0"/>
              <a:t>Responsive Web Design </a:t>
            </a:r>
            <a:endParaRPr lang="en-GH" dirty="0"/>
          </a:p>
        </p:txBody>
      </p:sp>
      <p:sp>
        <p:nvSpPr>
          <p:cNvPr id="3" name="Content Placeholder 2">
            <a:extLst>
              <a:ext uri="{FF2B5EF4-FFF2-40B4-BE49-F238E27FC236}">
                <a16:creationId xmlns:a16="http://schemas.microsoft.com/office/drawing/2014/main" id="{C03FCAC6-E56A-3267-0D3A-EC107CBB726D}"/>
              </a:ext>
            </a:extLst>
          </p:cNvPr>
          <p:cNvSpPr>
            <a:spLocks noGrp="1"/>
          </p:cNvSpPr>
          <p:nvPr>
            <p:ph idx="1"/>
          </p:nvPr>
        </p:nvSpPr>
        <p:spPr/>
        <p:txBody>
          <a:bodyPr/>
          <a:lstStyle/>
          <a:p>
            <a:r>
              <a:rPr lang="en-US" dirty="0"/>
              <a:t>Makes web pages look good on </a:t>
            </a:r>
            <a:r>
              <a:rPr lang="en-US" dirty="0">
                <a:solidFill>
                  <a:srgbClr val="FF0000"/>
                </a:solidFill>
              </a:rPr>
              <a:t>all devices</a:t>
            </a:r>
            <a:r>
              <a:rPr lang="en-US" dirty="0"/>
              <a:t>.</a:t>
            </a:r>
          </a:p>
          <a:p>
            <a:endParaRPr lang="en-US" dirty="0"/>
          </a:p>
          <a:p>
            <a:r>
              <a:rPr lang="en-US" dirty="0"/>
              <a:t>Uses only HTML and CSS.</a:t>
            </a:r>
          </a:p>
          <a:p>
            <a:endParaRPr lang="en-US" dirty="0"/>
          </a:p>
          <a:p>
            <a:r>
              <a:rPr lang="en-US" dirty="0"/>
              <a:t>Not a program or a JavaScript.</a:t>
            </a:r>
            <a:endParaRPr lang="en-GH" dirty="0"/>
          </a:p>
        </p:txBody>
      </p:sp>
    </p:spTree>
    <p:extLst>
      <p:ext uri="{BB962C8B-B14F-4D97-AF65-F5344CB8AC3E}">
        <p14:creationId xmlns:p14="http://schemas.microsoft.com/office/powerpoint/2010/main" val="225272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473AC-97D2-0738-98AA-D1AE7E4D7750}"/>
              </a:ext>
            </a:extLst>
          </p:cNvPr>
          <p:cNvSpPr>
            <a:spLocks noGrp="1"/>
          </p:cNvSpPr>
          <p:nvPr>
            <p:ph type="title"/>
          </p:nvPr>
        </p:nvSpPr>
        <p:spPr/>
        <p:txBody>
          <a:bodyPr/>
          <a:lstStyle/>
          <a:p>
            <a:r>
              <a:rPr lang="en-US" dirty="0"/>
              <a:t>Responsive Web Design </a:t>
            </a:r>
            <a:endParaRPr lang="en-GH" dirty="0"/>
          </a:p>
        </p:txBody>
      </p:sp>
      <p:sp>
        <p:nvSpPr>
          <p:cNvPr id="3" name="Content Placeholder 2">
            <a:extLst>
              <a:ext uri="{FF2B5EF4-FFF2-40B4-BE49-F238E27FC236}">
                <a16:creationId xmlns:a16="http://schemas.microsoft.com/office/drawing/2014/main" id="{C03FCAC6-E56A-3267-0D3A-EC107CBB726D}"/>
              </a:ext>
            </a:extLst>
          </p:cNvPr>
          <p:cNvSpPr>
            <a:spLocks noGrp="1"/>
          </p:cNvSpPr>
          <p:nvPr>
            <p:ph idx="1"/>
          </p:nvPr>
        </p:nvSpPr>
        <p:spPr/>
        <p:txBody>
          <a:bodyPr/>
          <a:lstStyle/>
          <a:p>
            <a:r>
              <a:rPr lang="en-US" dirty="0"/>
              <a:t>Makes web pages look good on </a:t>
            </a:r>
            <a:r>
              <a:rPr lang="en-US" dirty="0">
                <a:solidFill>
                  <a:srgbClr val="FF0000"/>
                </a:solidFill>
              </a:rPr>
              <a:t>all devices</a:t>
            </a:r>
            <a:r>
              <a:rPr lang="en-US" dirty="0"/>
              <a:t>.</a:t>
            </a:r>
          </a:p>
          <a:p>
            <a:endParaRPr lang="en-US" dirty="0"/>
          </a:p>
          <a:p>
            <a:r>
              <a:rPr lang="en-US" dirty="0"/>
              <a:t>Uses only HTML and CSS.</a:t>
            </a:r>
          </a:p>
          <a:p>
            <a:endParaRPr lang="en-US" dirty="0"/>
          </a:p>
          <a:p>
            <a:r>
              <a:rPr lang="en-US" dirty="0"/>
              <a:t>Not a program or a JavaScript.</a:t>
            </a:r>
            <a:endParaRPr lang="en-GH" dirty="0"/>
          </a:p>
        </p:txBody>
      </p:sp>
    </p:spTree>
    <p:extLst>
      <p:ext uri="{BB962C8B-B14F-4D97-AF65-F5344CB8AC3E}">
        <p14:creationId xmlns:p14="http://schemas.microsoft.com/office/powerpoint/2010/main" val="1901134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B99F8-E210-5383-4D59-D4FB0A20D278}"/>
              </a:ext>
            </a:extLst>
          </p:cNvPr>
          <p:cNvSpPr>
            <a:spLocks noGrp="1"/>
          </p:cNvSpPr>
          <p:nvPr>
            <p:ph type="title"/>
          </p:nvPr>
        </p:nvSpPr>
        <p:spPr/>
        <p:txBody>
          <a:bodyPr/>
          <a:lstStyle/>
          <a:p>
            <a:r>
              <a:rPr lang="en-IN" dirty="0"/>
              <a:t>Viewport and Early Web Design</a:t>
            </a:r>
            <a:endParaRPr lang="en-GH" dirty="0"/>
          </a:p>
        </p:txBody>
      </p:sp>
      <p:sp>
        <p:nvSpPr>
          <p:cNvPr id="3" name="Content Placeholder 2">
            <a:extLst>
              <a:ext uri="{FF2B5EF4-FFF2-40B4-BE49-F238E27FC236}">
                <a16:creationId xmlns:a16="http://schemas.microsoft.com/office/drawing/2014/main" id="{D5D5DD16-C95D-4C6C-4F58-D20A0ACFF465}"/>
              </a:ext>
            </a:extLst>
          </p:cNvPr>
          <p:cNvSpPr>
            <a:spLocks noGrp="1"/>
          </p:cNvSpPr>
          <p:nvPr>
            <p:ph idx="1"/>
          </p:nvPr>
        </p:nvSpPr>
        <p:spPr/>
        <p:txBody>
          <a:bodyPr/>
          <a:lstStyle/>
          <a:p>
            <a:r>
              <a:rPr lang="en-US" dirty="0"/>
              <a:t>The viewport is the user's </a:t>
            </a:r>
            <a:r>
              <a:rPr lang="en-US" dirty="0">
                <a:solidFill>
                  <a:srgbClr val="FF0000"/>
                </a:solidFill>
              </a:rPr>
              <a:t>visible area </a:t>
            </a:r>
            <a:r>
              <a:rPr lang="en-US" dirty="0"/>
              <a:t>of a web page.</a:t>
            </a:r>
          </a:p>
          <a:p>
            <a:endParaRPr lang="en-US" dirty="0"/>
          </a:p>
          <a:p>
            <a:r>
              <a:rPr lang="en-US" dirty="0"/>
              <a:t>Early web designs used fixed-size layouts (typically set in pixels) designed for desktop monitors and didn’t adapt well to smaller devices like tablets and smartphones. </a:t>
            </a:r>
          </a:p>
          <a:p>
            <a:endParaRPr lang="en-US" dirty="0"/>
          </a:p>
          <a:p>
            <a:r>
              <a:rPr lang="en-US" dirty="0"/>
              <a:t>When users accessed these websites on mobile devices, the pages appeared too large, leading to a poor user experience.</a:t>
            </a:r>
          </a:p>
          <a:p>
            <a:r>
              <a:rPr lang="en-US" dirty="0"/>
              <a:t>To handle fixed-size web pages on smaller screens, </a:t>
            </a:r>
            <a:r>
              <a:rPr lang="en-US" b="1" dirty="0">
                <a:solidFill>
                  <a:srgbClr val="188C73"/>
                </a:solidFill>
              </a:rPr>
              <a:t>mobile browsers </a:t>
            </a:r>
            <a:r>
              <a:rPr lang="en-US" dirty="0"/>
              <a:t>automatically scaled down the entire page to fit the viewport. This process is called </a:t>
            </a:r>
            <a:r>
              <a:rPr lang="en-US" b="1" dirty="0">
                <a:solidFill>
                  <a:srgbClr val="188C73"/>
                </a:solidFill>
              </a:rPr>
              <a:t>viewport scaling</a:t>
            </a:r>
            <a:r>
              <a:rPr lang="en-US" dirty="0"/>
              <a:t>. </a:t>
            </a:r>
          </a:p>
        </p:txBody>
      </p:sp>
    </p:spTree>
    <p:extLst>
      <p:ext uri="{BB962C8B-B14F-4D97-AF65-F5344CB8AC3E}">
        <p14:creationId xmlns:p14="http://schemas.microsoft.com/office/powerpoint/2010/main" val="2368207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EBF53-F5A5-8E39-59F7-FBA33E4F6418}"/>
              </a:ext>
            </a:extLst>
          </p:cNvPr>
          <p:cNvSpPr>
            <a:spLocks noGrp="1"/>
          </p:cNvSpPr>
          <p:nvPr>
            <p:ph type="title"/>
          </p:nvPr>
        </p:nvSpPr>
        <p:spPr/>
        <p:txBody>
          <a:bodyPr/>
          <a:lstStyle/>
          <a:p>
            <a:r>
              <a:rPr lang="en-US" dirty="0"/>
              <a:t>The Solution: </a:t>
            </a:r>
            <a:r>
              <a:rPr lang="en-US" dirty="0" err="1"/>
              <a:t>RWD</a:t>
            </a:r>
            <a:r>
              <a:rPr lang="en-US" dirty="0"/>
              <a:t> and Viewport Meta Tag</a:t>
            </a:r>
            <a:endParaRPr lang="en-GH" dirty="0"/>
          </a:p>
        </p:txBody>
      </p:sp>
      <p:sp>
        <p:nvSpPr>
          <p:cNvPr id="3" name="Content Placeholder 2">
            <a:extLst>
              <a:ext uri="{FF2B5EF4-FFF2-40B4-BE49-F238E27FC236}">
                <a16:creationId xmlns:a16="http://schemas.microsoft.com/office/drawing/2014/main" id="{3738929D-6596-9448-F51A-7C43F99CAEF3}"/>
              </a:ext>
            </a:extLst>
          </p:cNvPr>
          <p:cNvSpPr>
            <a:spLocks noGrp="1"/>
          </p:cNvSpPr>
          <p:nvPr>
            <p:ph idx="1"/>
          </p:nvPr>
        </p:nvSpPr>
        <p:spPr/>
        <p:txBody>
          <a:bodyPr/>
          <a:lstStyle/>
          <a:p>
            <a:r>
              <a:rPr lang="en-US" dirty="0"/>
              <a:t>HTML5 introduced a method to let web designers take control over the viewport, through the </a:t>
            </a:r>
            <a:r>
              <a:rPr lang="en-US" b="1" dirty="0">
                <a:solidFill>
                  <a:srgbClr val="C00000"/>
                </a:solidFill>
              </a:rPr>
              <a:t>&lt;meta&gt; </a:t>
            </a:r>
            <a:r>
              <a:rPr lang="en-US" dirty="0"/>
              <a:t>tag.</a:t>
            </a:r>
          </a:p>
          <a:p>
            <a:r>
              <a:rPr lang="en-US" dirty="0"/>
              <a:t>Commonly used viewport meta tag in HTML:</a:t>
            </a:r>
          </a:p>
          <a:p>
            <a:endParaRPr lang="en-US" dirty="0"/>
          </a:p>
          <a:p>
            <a:endParaRPr lang="en-US" dirty="0"/>
          </a:p>
          <a:p>
            <a:r>
              <a:rPr lang="en-US" dirty="0"/>
              <a:t>This gives the browser instructions on controlling the page's dimensions and scaling.</a:t>
            </a:r>
          </a:p>
          <a:p>
            <a:r>
              <a:rPr lang="en-US" dirty="0"/>
              <a:t>The </a:t>
            </a:r>
            <a:r>
              <a:rPr lang="en-US" b="1" dirty="0">
                <a:solidFill>
                  <a:srgbClr val="226C47"/>
                </a:solidFill>
                <a:highlight>
                  <a:srgbClr val="FFFF00"/>
                </a:highlight>
              </a:rPr>
              <a:t>width=device-width </a:t>
            </a:r>
            <a:r>
              <a:rPr lang="en-US" dirty="0"/>
              <a:t>part sets the page's width to follow the device's screen-width (which will vary depending on the device).</a:t>
            </a:r>
          </a:p>
          <a:p>
            <a:r>
              <a:rPr lang="en-US" dirty="0"/>
              <a:t>The </a:t>
            </a:r>
            <a:r>
              <a:rPr lang="en-US" b="1" dirty="0">
                <a:solidFill>
                  <a:srgbClr val="2D8F5E"/>
                </a:solidFill>
                <a:highlight>
                  <a:srgbClr val="FFFF00"/>
                </a:highlight>
              </a:rPr>
              <a:t>initial-scale=1.0 </a:t>
            </a:r>
            <a:r>
              <a:rPr lang="en-US" dirty="0"/>
              <a:t>part sets the initial zoom level when the browser first loads the page.</a:t>
            </a:r>
            <a:endParaRPr lang="en-GH" dirty="0"/>
          </a:p>
        </p:txBody>
      </p:sp>
      <p:pic>
        <p:nvPicPr>
          <p:cNvPr id="5" name="Picture 4">
            <a:extLst>
              <a:ext uri="{FF2B5EF4-FFF2-40B4-BE49-F238E27FC236}">
                <a16:creationId xmlns:a16="http://schemas.microsoft.com/office/drawing/2014/main" id="{C8579475-5B63-0FD6-6643-70D27F23B367}"/>
              </a:ext>
            </a:extLst>
          </p:cNvPr>
          <p:cNvPicPr>
            <a:picLocks noChangeAspect="1"/>
          </p:cNvPicPr>
          <p:nvPr/>
        </p:nvPicPr>
        <p:blipFill>
          <a:blip r:embed="rId2"/>
          <a:stretch>
            <a:fillRect/>
          </a:stretch>
        </p:blipFill>
        <p:spPr>
          <a:xfrm>
            <a:off x="138913" y="2634970"/>
            <a:ext cx="8847997" cy="471195"/>
          </a:xfrm>
          <a:prstGeom prst="rect">
            <a:avLst/>
          </a:prstGeom>
        </p:spPr>
      </p:pic>
    </p:spTree>
    <p:extLst>
      <p:ext uri="{BB962C8B-B14F-4D97-AF65-F5344CB8AC3E}">
        <p14:creationId xmlns:p14="http://schemas.microsoft.com/office/powerpoint/2010/main" val="3581445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9106D-F294-668A-B21A-B7B3834C9C2C}"/>
              </a:ext>
            </a:extLst>
          </p:cNvPr>
          <p:cNvSpPr>
            <a:spLocks noGrp="1"/>
          </p:cNvSpPr>
          <p:nvPr>
            <p:ph type="title"/>
          </p:nvPr>
        </p:nvSpPr>
        <p:spPr/>
        <p:txBody>
          <a:bodyPr/>
          <a:lstStyle/>
          <a:p>
            <a:r>
              <a:rPr lang="en-IN" dirty="0"/>
              <a:t>Viewport meta tag effect: Example</a:t>
            </a:r>
            <a:endParaRPr lang="en-GH" dirty="0"/>
          </a:p>
        </p:txBody>
      </p:sp>
      <p:sp>
        <p:nvSpPr>
          <p:cNvPr id="3" name="Content Placeholder 2">
            <a:extLst>
              <a:ext uri="{FF2B5EF4-FFF2-40B4-BE49-F238E27FC236}">
                <a16:creationId xmlns:a16="http://schemas.microsoft.com/office/drawing/2014/main" id="{9514E175-2A4C-B4AE-627B-FEBB91187D14}"/>
              </a:ext>
            </a:extLst>
          </p:cNvPr>
          <p:cNvSpPr>
            <a:spLocks noGrp="1"/>
          </p:cNvSpPr>
          <p:nvPr>
            <p:ph idx="1"/>
          </p:nvPr>
        </p:nvSpPr>
        <p:spPr/>
        <p:txBody>
          <a:bodyPr/>
          <a:lstStyle/>
          <a:p>
            <a:endParaRPr lang="en-GH"/>
          </a:p>
        </p:txBody>
      </p:sp>
      <p:pic>
        <p:nvPicPr>
          <p:cNvPr id="1026" name="Picture 2">
            <a:extLst>
              <a:ext uri="{FF2B5EF4-FFF2-40B4-BE49-F238E27FC236}">
                <a16:creationId xmlns:a16="http://schemas.microsoft.com/office/drawing/2014/main" id="{C98564D5-AA53-5919-8868-454F928D2B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156" y="1386039"/>
            <a:ext cx="2784868" cy="49431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B47BF89-90B4-0AD5-4435-F048DC5EC2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8058" y="1386039"/>
            <a:ext cx="2784868" cy="4943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8167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1465A-1C0F-0315-B506-F944BC2AB023}"/>
              </a:ext>
            </a:extLst>
          </p:cNvPr>
          <p:cNvSpPr>
            <a:spLocks noGrp="1"/>
          </p:cNvSpPr>
          <p:nvPr>
            <p:ph type="title"/>
          </p:nvPr>
        </p:nvSpPr>
        <p:spPr/>
        <p:txBody>
          <a:bodyPr/>
          <a:lstStyle/>
          <a:p>
            <a:r>
              <a:rPr lang="en-IN" dirty="0"/>
              <a:t>Is the meta tag alone sufficient for </a:t>
            </a:r>
            <a:r>
              <a:rPr lang="en-IN" dirty="0" err="1"/>
              <a:t>RWD</a:t>
            </a:r>
            <a:r>
              <a:rPr lang="en-IN" dirty="0"/>
              <a:t>?</a:t>
            </a:r>
            <a:endParaRPr lang="en-GH" dirty="0"/>
          </a:p>
        </p:txBody>
      </p:sp>
      <p:sp>
        <p:nvSpPr>
          <p:cNvPr id="3" name="Content Placeholder 2">
            <a:extLst>
              <a:ext uri="{FF2B5EF4-FFF2-40B4-BE49-F238E27FC236}">
                <a16:creationId xmlns:a16="http://schemas.microsoft.com/office/drawing/2014/main" id="{E3D4873F-891A-D843-AB7E-AEC130740A15}"/>
              </a:ext>
            </a:extLst>
          </p:cNvPr>
          <p:cNvSpPr>
            <a:spLocks noGrp="1"/>
          </p:cNvSpPr>
          <p:nvPr>
            <p:ph idx="1"/>
          </p:nvPr>
        </p:nvSpPr>
        <p:spPr/>
        <p:txBody>
          <a:bodyPr/>
          <a:lstStyle/>
          <a:p>
            <a:r>
              <a:rPr lang="en-US" dirty="0"/>
              <a:t>The viewport meta tag (like </a:t>
            </a:r>
            <a:r>
              <a:rPr lang="en-US" b="1" dirty="0">
                <a:solidFill>
                  <a:srgbClr val="226C47"/>
                </a:solidFill>
              </a:rPr>
              <a:t>width=device-width</a:t>
            </a:r>
            <a:r>
              <a:rPr lang="en-US" dirty="0"/>
              <a:t>) primarily tells the browser:</a:t>
            </a:r>
          </a:p>
          <a:p>
            <a:pPr marL="914400" lvl="1" indent="-457200">
              <a:buFont typeface="+mj-lt"/>
              <a:buAutoNum type="arabicPeriod"/>
            </a:pPr>
            <a:r>
              <a:rPr lang="en-US" dirty="0"/>
              <a:t>To stop automatically scaling down the page to fit small devices.</a:t>
            </a:r>
          </a:p>
          <a:p>
            <a:pPr marL="914400" lvl="1" indent="-457200">
              <a:buFont typeface="+mj-lt"/>
              <a:buAutoNum type="arabicPeriod"/>
            </a:pPr>
            <a:r>
              <a:rPr lang="en-US" dirty="0"/>
              <a:t>To set the viewport width to the device's actual width and maintain an initial scale (zoom level).</a:t>
            </a:r>
          </a:p>
          <a:p>
            <a:endParaRPr lang="en-US" dirty="0"/>
          </a:p>
          <a:p>
            <a:r>
              <a:rPr lang="en-US" dirty="0"/>
              <a:t>However, the </a:t>
            </a:r>
            <a:r>
              <a:rPr lang="en-US" dirty="0">
                <a:solidFill>
                  <a:srgbClr val="0070C0"/>
                </a:solidFill>
              </a:rPr>
              <a:t>meta tag alone doesn’t make the content flexible</a:t>
            </a:r>
            <a:r>
              <a:rPr lang="en-US" dirty="0"/>
              <a:t>—it just stops the browser from doing any automatic resizing.</a:t>
            </a:r>
            <a:endParaRPr lang="en-GH" dirty="0"/>
          </a:p>
        </p:txBody>
      </p:sp>
    </p:spTree>
    <p:extLst>
      <p:ext uri="{BB962C8B-B14F-4D97-AF65-F5344CB8AC3E}">
        <p14:creationId xmlns:p14="http://schemas.microsoft.com/office/powerpoint/2010/main" val="3769291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6FB93-5F15-34C3-381A-8AFE3156F46E}"/>
              </a:ext>
            </a:extLst>
          </p:cNvPr>
          <p:cNvSpPr>
            <a:spLocks noGrp="1"/>
          </p:cNvSpPr>
          <p:nvPr>
            <p:ph type="title"/>
          </p:nvPr>
        </p:nvSpPr>
        <p:spPr/>
        <p:txBody>
          <a:bodyPr/>
          <a:lstStyle/>
          <a:p>
            <a:r>
              <a:rPr lang="en-IN" dirty="0"/>
              <a:t>Need of CSS for </a:t>
            </a:r>
            <a:r>
              <a:rPr lang="en-IN" dirty="0" err="1"/>
              <a:t>RWD</a:t>
            </a:r>
            <a:endParaRPr lang="en-GH" dirty="0"/>
          </a:p>
        </p:txBody>
      </p:sp>
      <p:sp>
        <p:nvSpPr>
          <p:cNvPr id="3" name="Content Placeholder 2">
            <a:extLst>
              <a:ext uri="{FF2B5EF4-FFF2-40B4-BE49-F238E27FC236}">
                <a16:creationId xmlns:a16="http://schemas.microsoft.com/office/drawing/2014/main" id="{65D54493-3DD1-9BB2-8732-3CD8129F45C7}"/>
              </a:ext>
            </a:extLst>
          </p:cNvPr>
          <p:cNvSpPr>
            <a:spLocks noGrp="1"/>
          </p:cNvSpPr>
          <p:nvPr>
            <p:ph idx="1"/>
          </p:nvPr>
        </p:nvSpPr>
        <p:spPr/>
        <p:txBody>
          <a:bodyPr/>
          <a:lstStyle/>
          <a:p>
            <a:r>
              <a:rPr lang="en-US" dirty="0"/>
              <a:t>While the </a:t>
            </a:r>
            <a:r>
              <a:rPr lang="en-US" b="1" dirty="0">
                <a:solidFill>
                  <a:srgbClr val="C00000"/>
                </a:solidFill>
              </a:rPr>
              <a:t>&lt;meta&gt;</a:t>
            </a:r>
            <a:r>
              <a:rPr lang="en-US" dirty="0"/>
              <a:t> tag sets the correct initial scale, it </a:t>
            </a:r>
            <a:r>
              <a:rPr lang="en-US" dirty="0">
                <a:solidFill>
                  <a:srgbClr val="0070C0"/>
                </a:solidFill>
              </a:rPr>
              <a:t>doesn't adjust the layout, fonts, images, etc. </a:t>
            </a:r>
            <a:r>
              <a:rPr lang="en-US" dirty="0"/>
              <a:t>for different screen sizes. </a:t>
            </a:r>
          </a:p>
          <a:p>
            <a:r>
              <a:rPr lang="en-US" dirty="0"/>
              <a:t>For true responsive web design, CSS is essential because it:</a:t>
            </a:r>
          </a:p>
          <a:p>
            <a:pPr lvl="1"/>
            <a:r>
              <a:rPr lang="en-US" dirty="0">
                <a:solidFill>
                  <a:srgbClr val="FF0000"/>
                </a:solidFill>
              </a:rPr>
              <a:t>Controls the layout</a:t>
            </a:r>
            <a:r>
              <a:rPr lang="en-US" dirty="0"/>
              <a:t>, ensuring content rearranges or resizes smoothly on various screen sizes (using </a:t>
            </a:r>
            <a:r>
              <a:rPr lang="en-US" b="1" dirty="0">
                <a:solidFill>
                  <a:srgbClr val="0070C0"/>
                </a:solidFill>
              </a:rPr>
              <a:t>flexible grids </a:t>
            </a:r>
            <a:r>
              <a:rPr lang="en-US" dirty="0"/>
              <a:t>and </a:t>
            </a:r>
            <a:r>
              <a:rPr lang="en-US" b="1" dirty="0">
                <a:solidFill>
                  <a:srgbClr val="0070C0"/>
                </a:solidFill>
              </a:rPr>
              <a:t>flexboxes</a:t>
            </a:r>
            <a:r>
              <a:rPr lang="en-US" dirty="0"/>
              <a:t>)</a:t>
            </a:r>
          </a:p>
          <a:p>
            <a:pPr lvl="1"/>
            <a:r>
              <a:rPr lang="en-US" dirty="0">
                <a:solidFill>
                  <a:srgbClr val="FF0000"/>
                </a:solidFill>
              </a:rPr>
              <a:t>Adapts styles</a:t>
            </a:r>
            <a:r>
              <a:rPr lang="en-US" dirty="0"/>
              <a:t> using </a:t>
            </a:r>
            <a:r>
              <a:rPr lang="en-US" b="1" dirty="0">
                <a:solidFill>
                  <a:srgbClr val="0070C0"/>
                </a:solidFill>
              </a:rPr>
              <a:t>media queries</a:t>
            </a:r>
            <a:r>
              <a:rPr lang="en-US" dirty="0"/>
              <a:t>, which apply different styles (text size, hide/show elements, change layout, or adjust margin)  based on the screen size or orientation. </a:t>
            </a:r>
          </a:p>
          <a:p>
            <a:pPr lvl="1"/>
            <a:r>
              <a:rPr lang="en-US" dirty="0">
                <a:solidFill>
                  <a:srgbClr val="FF0000"/>
                </a:solidFill>
              </a:rPr>
              <a:t>Improves usability </a:t>
            </a:r>
            <a:r>
              <a:rPr lang="en-US" dirty="0"/>
              <a:t>by adjusting text (</a:t>
            </a:r>
            <a:r>
              <a:rPr lang="en-US" dirty="0">
                <a:solidFill>
                  <a:srgbClr val="0070C0"/>
                </a:solidFill>
              </a:rPr>
              <a:t>typography scaling</a:t>
            </a:r>
            <a:r>
              <a:rPr lang="en-US" dirty="0"/>
              <a:t>), images (</a:t>
            </a:r>
            <a:r>
              <a:rPr lang="en-US" dirty="0">
                <a:solidFill>
                  <a:srgbClr val="0070C0"/>
                </a:solidFill>
              </a:rPr>
              <a:t>fluid </a:t>
            </a:r>
            <a:r>
              <a:rPr lang="en-US" dirty="0"/>
              <a:t>image), spacing and padding for readability and interactivity.</a:t>
            </a:r>
            <a:endParaRPr lang="en-GH" dirty="0"/>
          </a:p>
        </p:txBody>
      </p:sp>
    </p:spTree>
    <p:extLst>
      <p:ext uri="{BB962C8B-B14F-4D97-AF65-F5344CB8AC3E}">
        <p14:creationId xmlns:p14="http://schemas.microsoft.com/office/powerpoint/2010/main" val="1113037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55C3B-F851-12E6-EDE1-9616D7EE74FB}"/>
              </a:ext>
            </a:extLst>
          </p:cNvPr>
          <p:cNvSpPr>
            <a:spLocks noGrp="1"/>
          </p:cNvSpPr>
          <p:nvPr>
            <p:ph type="title"/>
          </p:nvPr>
        </p:nvSpPr>
        <p:spPr/>
        <p:txBody>
          <a:bodyPr/>
          <a:lstStyle/>
          <a:p>
            <a:r>
              <a:rPr lang="en-IN" dirty="0"/>
              <a:t>A note on modern browsers </a:t>
            </a:r>
            <a:r>
              <a:rPr lang="en-IN" dirty="0" err="1"/>
              <a:t>behavior</a:t>
            </a:r>
            <a:endParaRPr lang="en-GH" dirty="0"/>
          </a:p>
        </p:txBody>
      </p:sp>
      <p:sp>
        <p:nvSpPr>
          <p:cNvPr id="3" name="Content Placeholder 2">
            <a:extLst>
              <a:ext uri="{FF2B5EF4-FFF2-40B4-BE49-F238E27FC236}">
                <a16:creationId xmlns:a16="http://schemas.microsoft.com/office/drawing/2014/main" id="{8F68F272-7171-41F6-0BAE-5611A3883E0D}"/>
              </a:ext>
            </a:extLst>
          </p:cNvPr>
          <p:cNvSpPr>
            <a:spLocks noGrp="1"/>
          </p:cNvSpPr>
          <p:nvPr>
            <p:ph idx="1"/>
          </p:nvPr>
        </p:nvSpPr>
        <p:spPr/>
        <p:txBody>
          <a:bodyPr/>
          <a:lstStyle/>
          <a:p>
            <a:pPr>
              <a:buFont typeface="Arial" panose="020B0604020202020204" pitchFamily="34" charset="0"/>
              <a:buChar char="•"/>
            </a:pPr>
            <a:r>
              <a:rPr lang="en-US" dirty="0"/>
              <a:t>Modern mobile browsers are designed to provide a decent user experience even for non-responsive web pages (e.g., no meta tag)</a:t>
            </a:r>
          </a:p>
          <a:p>
            <a:pPr>
              <a:buFont typeface="Arial" panose="020B0604020202020204" pitchFamily="34" charset="0"/>
              <a:buChar char="•"/>
            </a:pPr>
            <a:r>
              <a:rPr lang="en-US" dirty="0"/>
              <a:t>They do this by:</a:t>
            </a:r>
          </a:p>
          <a:p>
            <a:pPr lvl="1"/>
            <a:r>
              <a:rPr lang="en-US" dirty="0"/>
              <a:t>Automatically zooming out and scaling the page to fit the device’s screen width.</a:t>
            </a:r>
          </a:p>
          <a:p>
            <a:pPr lvl="1"/>
            <a:r>
              <a:rPr lang="en-US" dirty="0"/>
              <a:t>Applying </a:t>
            </a:r>
            <a:r>
              <a:rPr lang="en-US" b="1" dirty="0"/>
              <a:t>default behavior </a:t>
            </a:r>
            <a:r>
              <a:rPr lang="en-US" dirty="0"/>
              <a:t>to scale or adjust layouts to prevent content overflow.</a:t>
            </a:r>
          </a:p>
          <a:p>
            <a:endParaRPr lang="en-US" dirty="0"/>
          </a:p>
          <a:p>
            <a:r>
              <a:rPr lang="en-US" b="1" dirty="0"/>
              <a:t>Automatic/default behavior is not a substitute for proper responsive design</a:t>
            </a:r>
            <a:r>
              <a:rPr lang="en-US" dirty="0"/>
              <a:t>.</a:t>
            </a:r>
            <a:endParaRPr lang="en-GH" dirty="0"/>
          </a:p>
        </p:txBody>
      </p:sp>
    </p:spTree>
    <p:extLst>
      <p:ext uri="{BB962C8B-B14F-4D97-AF65-F5344CB8AC3E}">
        <p14:creationId xmlns:p14="http://schemas.microsoft.com/office/powerpoint/2010/main" val="3730516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9CECD-2F3D-6FD9-D651-C9CCEA7DB0AB}"/>
              </a:ext>
            </a:extLst>
          </p:cNvPr>
          <p:cNvSpPr>
            <a:spLocks noGrp="1"/>
          </p:cNvSpPr>
          <p:nvPr>
            <p:ph type="title"/>
          </p:nvPr>
        </p:nvSpPr>
        <p:spPr/>
        <p:txBody>
          <a:bodyPr/>
          <a:lstStyle/>
          <a:p>
            <a:r>
              <a:rPr lang="en-IN" dirty="0" err="1"/>
              <a:t>RWD</a:t>
            </a:r>
            <a:r>
              <a:rPr lang="en-IN" dirty="0"/>
              <a:t>: Grid-View</a:t>
            </a:r>
            <a:endParaRPr lang="en-GH" dirty="0"/>
          </a:p>
        </p:txBody>
      </p:sp>
      <p:sp>
        <p:nvSpPr>
          <p:cNvPr id="3" name="Content Placeholder 2">
            <a:extLst>
              <a:ext uri="{FF2B5EF4-FFF2-40B4-BE49-F238E27FC236}">
                <a16:creationId xmlns:a16="http://schemas.microsoft.com/office/drawing/2014/main" id="{DC3AC254-64A3-E98B-FD09-4B38A306E580}"/>
              </a:ext>
            </a:extLst>
          </p:cNvPr>
          <p:cNvSpPr>
            <a:spLocks noGrp="1"/>
          </p:cNvSpPr>
          <p:nvPr>
            <p:ph idx="1"/>
          </p:nvPr>
        </p:nvSpPr>
        <p:spPr/>
        <p:txBody>
          <a:bodyPr/>
          <a:lstStyle/>
          <a:p>
            <a:r>
              <a:rPr lang="en-US" dirty="0"/>
              <a:t>Many web pages are based on a </a:t>
            </a:r>
            <a:r>
              <a:rPr lang="en-US" b="1" dirty="0">
                <a:solidFill>
                  <a:srgbClr val="DC143C"/>
                </a:solidFill>
              </a:rPr>
              <a:t>grid-view</a:t>
            </a:r>
            <a:r>
              <a:rPr lang="en-US" dirty="0"/>
              <a:t>, which means that the page is divided into columns.</a:t>
            </a:r>
          </a:p>
          <a:p>
            <a:endParaRPr lang="en-US" dirty="0"/>
          </a:p>
          <a:p>
            <a:endParaRPr lang="en-US" dirty="0"/>
          </a:p>
          <a:p>
            <a:endParaRPr lang="en-US" dirty="0"/>
          </a:p>
          <a:p>
            <a:endParaRPr lang="en-US" dirty="0"/>
          </a:p>
          <a:p>
            <a:endParaRPr lang="en-US" dirty="0"/>
          </a:p>
          <a:p>
            <a:endParaRPr lang="en-US" dirty="0"/>
          </a:p>
          <a:p>
            <a:r>
              <a:rPr lang="en-US" dirty="0"/>
              <a:t>A responsive grid-view often has </a:t>
            </a:r>
            <a:r>
              <a:rPr lang="en-US" dirty="0">
                <a:solidFill>
                  <a:srgbClr val="FF0000"/>
                </a:solidFill>
              </a:rPr>
              <a:t>12 columns</a:t>
            </a:r>
            <a:r>
              <a:rPr lang="en-US" dirty="0"/>
              <a:t>, and has a </a:t>
            </a:r>
            <a:r>
              <a:rPr lang="en-US" dirty="0">
                <a:solidFill>
                  <a:srgbClr val="FF0000"/>
                </a:solidFill>
              </a:rPr>
              <a:t>total width of 100%</a:t>
            </a:r>
            <a:r>
              <a:rPr lang="en-US" dirty="0"/>
              <a:t>, and will shrink and expand </a:t>
            </a:r>
            <a:r>
              <a:rPr lang="en-US" dirty="0">
                <a:solidFill>
                  <a:srgbClr val="002060"/>
                </a:solidFill>
              </a:rPr>
              <a:t>as the browser window is resized</a:t>
            </a:r>
            <a:r>
              <a:rPr lang="en-US" dirty="0"/>
              <a:t>.</a:t>
            </a:r>
          </a:p>
          <a:p>
            <a:endParaRPr lang="en-US" dirty="0"/>
          </a:p>
          <a:p>
            <a:endParaRPr lang="en-US" dirty="0"/>
          </a:p>
          <a:p>
            <a:endParaRPr lang="en-US" dirty="0"/>
          </a:p>
          <a:p>
            <a:endParaRPr lang="en-US" dirty="0"/>
          </a:p>
          <a:p>
            <a:endParaRPr lang="en-US" dirty="0"/>
          </a:p>
          <a:p>
            <a:endParaRPr lang="en-GH" dirty="0"/>
          </a:p>
        </p:txBody>
      </p:sp>
      <p:pic>
        <p:nvPicPr>
          <p:cNvPr id="5" name="Picture 4">
            <a:extLst>
              <a:ext uri="{FF2B5EF4-FFF2-40B4-BE49-F238E27FC236}">
                <a16:creationId xmlns:a16="http://schemas.microsoft.com/office/drawing/2014/main" id="{3B1D7E74-C6B4-4C33-6EEE-E9CAC791B3A8}"/>
              </a:ext>
            </a:extLst>
          </p:cNvPr>
          <p:cNvPicPr>
            <a:picLocks noChangeAspect="1"/>
          </p:cNvPicPr>
          <p:nvPr/>
        </p:nvPicPr>
        <p:blipFill>
          <a:blip r:embed="rId2"/>
          <a:stretch>
            <a:fillRect/>
          </a:stretch>
        </p:blipFill>
        <p:spPr>
          <a:xfrm>
            <a:off x="280354" y="2226631"/>
            <a:ext cx="8601740" cy="2162113"/>
          </a:xfrm>
          <a:prstGeom prst="rect">
            <a:avLst/>
          </a:prstGeom>
        </p:spPr>
      </p:pic>
    </p:spTree>
    <p:extLst>
      <p:ext uri="{BB962C8B-B14F-4D97-AF65-F5344CB8AC3E}">
        <p14:creationId xmlns:p14="http://schemas.microsoft.com/office/powerpoint/2010/main" val="2198292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9CECD-2F3D-6FD9-D651-C9CCEA7DB0AB}"/>
              </a:ext>
            </a:extLst>
          </p:cNvPr>
          <p:cNvSpPr>
            <a:spLocks noGrp="1"/>
          </p:cNvSpPr>
          <p:nvPr>
            <p:ph type="title"/>
          </p:nvPr>
        </p:nvSpPr>
        <p:spPr/>
        <p:txBody>
          <a:bodyPr/>
          <a:lstStyle/>
          <a:p>
            <a:r>
              <a:rPr lang="en-IN" dirty="0" err="1"/>
              <a:t>RWD</a:t>
            </a:r>
            <a:r>
              <a:rPr lang="en-IN" dirty="0"/>
              <a:t>: Grid-View</a:t>
            </a:r>
            <a:endParaRPr lang="en-GH" dirty="0"/>
          </a:p>
        </p:txBody>
      </p:sp>
      <p:sp>
        <p:nvSpPr>
          <p:cNvPr id="3" name="Content Placeholder 2">
            <a:extLst>
              <a:ext uri="{FF2B5EF4-FFF2-40B4-BE49-F238E27FC236}">
                <a16:creationId xmlns:a16="http://schemas.microsoft.com/office/drawing/2014/main" id="{DC3AC254-64A3-E98B-FD09-4B38A306E580}"/>
              </a:ext>
            </a:extLst>
          </p:cNvPr>
          <p:cNvSpPr>
            <a:spLocks noGrp="1"/>
          </p:cNvSpPr>
          <p:nvPr>
            <p:ph idx="1"/>
          </p:nvPr>
        </p:nvSpPr>
        <p:spPr/>
        <p:txBody>
          <a:bodyPr/>
          <a:lstStyle/>
          <a:p>
            <a:r>
              <a:rPr lang="en-US" b="1" dirty="0">
                <a:solidFill>
                  <a:srgbClr val="DC143C"/>
                </a:solidFill>
              </a:rPr>
              <a:t>Grid-view</a:t>
            </a:r>
            <a:r>
              <a:rPr lang="en-US" dirty="0"/>
              <a:t> makes it easier to place elements on the page.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lgn="ctr">
              <a:buNone/>
            </a:pPr>
            <a:r>
              <a:rPr lang="en-US" sz="2000" dirty="0">
                <a:hlinkClick r:id="rId2"/>
              </a:rPr>
              <a:t>Example from the w3Schools</a:t>
            </a:r>
            <a:endParaRPr lang="en-US" sz="2000" dirty="0"/>
          </a:p>
          <a:p>
            <a:endParaRPr lang="en-US" dirty="0"/>
          </a:p>
          <a:p>
            <a:endParaRPr lang="en-US" dirty="0"/>
          </a:p>
          <a:p>
            <a:endParaRPr lang="en-US" dirty="0"/>
          </a:p>
          <a:p>
            <a:endParaRPr lang="en-GH" dirty="0"/>
          </a:p>
        </p:txBody>
      </p:sp>
      <p:pic>
        <p:nvPicPr>
          <p:cNvPr id="6" name="Picture 5">
            <a:extLst>
              <a:ext uri="{FF2B5EF4-FFF2-40B4-BE49-F238E27FC236}">
                <a16:creationId xmlns:a16="http://schemas.microsoft.com/office/drawing/2014/main" id="{626A89FB-31F6-5E86-A944-D0B63596B47F}"/>
              </a:ext>
            </a:extLst>
          </p:cNvPr>
          <p:cNvPicPr>
            <a:picLocks noChangeAspect="1"/>
          </p:cNvPicPr>
          <p:nvPr/>
        </p:nvPicPr>
        <p:blipFill>
          <a:blip r:embed="rId3"/>
          <a:stretch>
            <a:fillRect/>
          </a:stretch>
        </p:blipFill>
        <p:spPr>
          <a:xfrm>
            <a:off x="221381" y="1943509"/>
            <a:ext cx="8803758" cy="3228964"/>
          </a:xfrm>
          <a:prstGeom prst="rect">
            <a:avLst/>
          </a:prstGeom>
        </p:spPr>
      </p:pic>
    </p:spTree>
    <p:extLst>
      <p:ext uri="{BB962C8B-B14F-4D97-AF65-F5344CB8AC3E}">
        <p14:creationId xmlns:p14="http://schemas.microsoft.com/office/powerpoint/2010/main" val="2473512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530DA-A37B-F5D8-10D9-80444D66F484}"/>
              </a:ext>
            </a:extLst>
          </p:cNvPr>
          <p:cNvSpPr>
            <a:spLocks noGrp="1"/>
          </p:cNvSpPr>
          <p:nvPr>
            <p:ph type="title"/>
          </p:nvPr>
        </p:nvSpPr>
        <p:spPr/>
        <p:txBody>
          <a:bodyPr/>
          <a:lstStyle/>
          <a:p>
            <a:r>
              <a:rPr lang="en-IN" dirty="0"/>
              <a:t>Building a Responsive Grid-View</a:t>
            </a:r>
            <a:endParaRPr lang="en-GH" dirty="0"/>
          </a:p>
        </p:txBody>
      </p:sp>
      <p:sp>
        <p:nvSpPr>
          <p:cNvPr id="3" name="Content Placeholder 2">
            <a:extLst>
              <a:ext uri="{FF2B5EF4-FFF2-40B4-BE49-F238E27FC236}">
                <a16:creationId xmlns:a16="http://schemas.microsoft.com/office/drawing/2014/main" id="{A23D0C79-8ACA-C7CD-B73C-5907A6D58A79}"/>
              </a:ext>
            </a:extLst>
          </p:cNvPr>
          <p:cNvSpPr>
            <a:spLocks noGrp="1"/>
          </p:cNvSpPr>
          <p:nvPr>
            <p:ph idx="1"/>
          </p:nvPr>
        </p:nvSpPr>
        <p:spPr/>
        <p:txBody>
          <a:bodyPr/>
          <a:lstStyle/>
          <a:p>
            <a:r>
              <a:rPr lang="en-US" dirty="0"/>
              <a:t>First ensure that all HTML elements have the </a:t>
            </a:r>
            <a:r>
              <a:rPr lang="en-US" b="1" dirty="0">
                <a:solidFill>
                  <a:srgbClr val="C00000"/>
                </a:solidFill>
              </a:rPr>
              <a:t>box-sizing</a:t>
            </a:r>
            <a:r>
              <a:rPr lang="en-US" dirty="0"/>
              <a:t> property set to </a:t>
            </a:r>
            <a:r>
              <a:rPr lang="en-US" b="1" dirty="0">
                <a:solidFill>
                  <a:srgbClr val="C00000"/>
                </a:solidFill>
              </a:rPr>
              <a:t>border-box</a:t>
            </a:r>
            <a:r>
              <a:rPr lang="en-US" dirty="0"/>
              <a:t>. This makes sure that the </a:t>
            </a:r>
            <a:r>
              <a:rPr lang="en-US" dirty="0">
                <a:solidFill>
                  <a:srgbClr val="0070C0"/>
                </a:solidFill>
              </a:rPr>
              <a:t>padding</a:t>
            </a:r>
            <a:r>
              <a:rPr lang="en-US" dirty="0"/>
              <a:t> and </a:t>
            </a:r>
            <a:r>
              <a:rPr lang="en-US" dirty="0">
                <a:solidFill>
                  <a:srgbClr val="0070C0"/>
                </a:solidFill>
              </a:rPr>
              <a:t>border </a:t>
            </a:r>
            <a:r>
              <a:rPr lang="en-US" dirty="0"/>
              <a:t>are included in the total width and height of the elements.</a:t>
            </a:r>
          </a:p>
          <a:p>
            <a:r>
              <a:rPr lang="en-US" dirty="0"/>
              <a:t>Add the following code in the CSS:</a:t>
            </a:r>
          </a:p>
          <a:p>
            <a:endParaRPr lang="en-US" dirty="0"/>
          </a:p>
          <a:p>
            <a:endParaRPr lang="en-GH" dirty="0"/>
          </a:p>
        </p:txBody>
      </p:sp>
      <p:pic>
        <p:nvPicPr>
          <p:cNvPr id="5" name="Picture 4">
            <a:extLst>
              <a:ext uri="{FF2B5EF4-FFF2-40B4-BE49-F238E27FC236}">
                <a16:creationId xmlns:a16="http://schemas.microsoft.com/office/drawing/2014/main" id="{339989E7-8F35-E7DE-DEF9-DFD499C56821}"/>
              </a:ext>
            </a:extLst>
          </p:cNvPr>
          <p:cNvPicPr>
            <a:picLocks noChangeAspect="1"/>
          </p:cNvPicPr>
          <p:nvPr/>
        </p:nvPicPr>
        <p:blipFill>
          <a:blip r:embed="rId2"/>
          <a:stretch>
            <a:fillRect/>
          </a:stretch>
        </p:blipFill>
        <p:spPr>
          <a:xfrm>
            <a:off x="512292" y="2949703"/>
            <a:ext cx="3581243" cy="1157436"/>
          </a:xfrm>
          <a:prstGeom prst="rect">
            <a:avLst/>
          </a:prstGeom>
        </p:spPr>
      </p:pic>
    </p:spTree>
    <p:extLst>
      <p:ext uri="{BB962C8B-B14F-4D97-AF65-F5344CB8AC3E}">
        <p14:creationId xmlns:p14="http://schemas.microsoft.com/office/powerpoint/2010/main" val="1292709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530DA-A37B-F5D8-10D9-80444D66F484}"/>
              </a:ext>
            </a:extLst>
          </p:cNvPr>
          <p:cNvSpPr>
            <a:spLocks noGrp="1"/>
          </p:cNvSpPr>
          <p:nvPr>
            <p:ph type="title"/>
          </p:nvPr>
        </p:nvSpPr>
        <p:spPr/>
        <p:txBody>
          <a:bodyPr/>
          <a:lstStyle/>
          <a:p>
            <a:r>
              <a:rPr lang="en-IN" dirty="0"/>
              <a:t>Building a Responsive Grid-View</a:t>
            </a:r>
            <a:endParaRPr lang="en-GH" dirty="0"/>
          </a:p>
        </p:txBody>
      </p:sp>
      <p:sp>
        <p:nvSpPr>
          <p:cNvPr id="3" name="Content Placeholder 2">
            <a:extLst>
              <a:ext uri="{FF2B5EF4-FFF2-40B4-BE49-F238E27FC236}">
                <a16:creationId xmlns:a16="http://schemas.microsoft.com/office/drawing/2014/main" id="{A23D0C79-8ACA-C7CD-B73C-5907A6D58A79}"/>
              </a:ext>
            </a:extLst>
          </p:cNvPr>
          <p:cNvSpPr>
            <a:spLocks noGrp="1"/>
          </p:cNvSpPr>
          <p:nvPr>
            <p:ph idx="1"/>
          </p:nvPr>
        </p:nvSpPr>
        <p:spPr/>
        <p:txBody>
          <a:bodyPr/>
          <a:lstStyle/>
          <a:p>
            <a:r>
              <a:rPr lang="en-US" dirty="0"/>
              <a:t>An example with two columns:</a:t>
            </a:r>
          </a:p>
          <a:p>
            <a:endParaRPr lang="en-US" dirty="0"/>
          </a:p>
          <a:p>
            <a:endParaRPr lang="en-GH" dirty="0"/>
          </a:p>
        </p:txBody>
      </p:sp>
      <p:pic>
        <p:nvPicPr>
          <p:cNvPr id="8" name="Picture 7">
            <a:extLst>
              <a:ext uri="{FF2B5EF4-FFF2-40B4-BE49-F238E27FC236}">
                <a16:creationId xmlns:a16="http://schemas.microsoft.com/office/drawing/2014/main" id="{EA6A37BA-6EF7-8D47-908F-CC5CE95112BC}"/>
              </a:ext>
            </a:extLst>
          </p:cNvPr>
          <p:cNvPicPr>
            <a:picLocks noChangeAspect="1"/>
          </p:cNvPicPr>
          <p:nvPr/>
        </p:nvPicPr>
        <p:blipFill>
          <a:blip r:embed="rId2"/>
          <a:stretch>
            <a:fillRect/>
          </a:stretch>
        </p:blipFill>
        <p:spPr>
          <a:xfrm>
            <a:off x="241100" y="2052967"/>
            <a:ext cx="8902900" cy="795401"/>
          </a:xfrm>
          <a:prstGeom prst="rect">
            <a:avLst/>
          </a:prstGeom>
        </p:spPr>
      </p:pic>
      <p:pic>
        <p:nvPicPr>
          <p:cNvPr id="10" name="Picture 9">
            <a:extLst>
              <a:ext uri="{FF2B5EF4-FFF2-40B4-BE49-F238E27FC236}">
                <a16:creationId xmlns:a16="http://schemas.microsoft.com/office/drawing/2014/main" id="{DDC72188-5686-BF95-04DF-D77D4414ABAB}"/>
              </a:ext>
            </a:extLst>
          </p:cNvPr>
          <p:cNvPicPr>
            <a:picLocks noChangeAspect="1"/>
          </p:cNvPicPr>
          <p:nvPr/>
        </p:nvPicPr>
        <p:blipFill>
          <a:blip r:embed="rId3"/>
          <a:stretch>
            <a:fillRect/>
          </a:stretch>
        </p:blipFill>
        <p:spPr>
          <a:xfrm>
            <a:off x="3159525" y="3245737"/>
            <a:ext cx="2188652" cy="2686073"/>
          </a:xfrm>
          <a:prstGeom prst="rect">
            <a:avLst/>
          </a:prstGeom>
        </p:spPr>
      </p:pic>
    </p:spTree>
    <p:extLst>
      <p:ext uri="{BB962C8B-B14F-4D97-AF65-F5344CB8AC3E}">
        <p14:creationId xmlns:p14="http://schemas.microsoft.com/office/powerpoint/2010/main" val="1145724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530DA-A37B-F5D8-10D9-80444D66F484}"/>
              </a:ext>
            </a:extLst>
          </p:cNvPr>
          <p:cNvSpPr>
            <a:spLocks noGrp="1"/>
          </p:cNvSpPr>
          <p:nvPr>
            <p:ph type="title"/>
          </p:nvPr>
        </p:nvSpPr>
        <p:spPr/>
        <p:txBody>
          <a:bodyPr/>
          <a:lstStyle/>
          <a:p>
            <a:r>
              <a:rPr lang="en-IN" dirty="0"/>
              <a:t>Responsive Grid-View</a:t>
            </a:r>
            <a:endParaRPr lang="en-GH" dirty="0"/>
          </a:p>
        </p:txBody>
      </p:sp>
      <p:sp>
        <p:nvSpPr>
          <p:cNvPr id="3" name="Content Placeholder 2">
            <a:extLst>
              <a:ext uri="{FF2B5EF4-FFF2-40B4-BE49-F238E27FC236}">
                <a16:creationId xmlns:a16="http://schemas.microsoft.com/office/drawing/2014/main" id="{A23D0C79-8ACA-C7CD-B73C-5907A6D58A79}"/>
              </a:ext>
            </a:extLst>
          </p:cNvPr>
          <p:cNvSpPr>
            <a:spLocks noGrp="1"/>
          </p:cNvSpPr>
          <p:nvPr>
            <p:ph idx="1"/>
          </p:nvPr>
        </p:nvSpPr>
        <p:spPr>
          <a:xfrm>
            <a:off x="241100" y="1386039"/>
            <a:ext cx="4001291" cy="4943141"/>
          </a:xfrm>
        </p:spPr>
        <p:txBody>
          <a:bodyPr/>
          <a:lstStyle/>
          <a:p>
            <a:r>
              <a:rPr lang="en-US" dirty="0"/>
              <a:t>To have more control over the web page, we may want to use a responsive grid-view with 12 columns.</a:t>
            </a:r>
          </a:p>
          <a:p>
            <a:r>
              <a:rPr lang="en-US" dirty="0"/>
              <a:t>The percentage for one column: 100% / 12 columns = 8.33%.</a:t>
            </a:r>
          </a:p>
          <a:p>
            <a:r>
              <a:rPr lang="en-US" dirty="0"/>
              <a:t>Make one </a:t>
            </a:r>
            <a:r>
              <a:rPr lang="en-US" b="1" dirty="0">
                <a:solidFill>
                  <a:srgbClr val="0070C0"/>
                </a:solidFill>
              </a:rPr>
              <a:t>class</a:t>
            </a:r>
            <a:r>
              <a:rPr lang="en-US" dirty="0"/>
              <a:t> for each of the 12 columns, using </a:t>
            </a:r>
            <a:r>
              <a:rPr lang="en-US" b="1" dirty="0">
                <a:solidFill>
                  <a:srgbClr val="C00000"/>
                </a:solidFill>
              </a:rPr>
              <a:t>class="col-" </a:t>
            </a:r>
            <a:r>
              <a:rPr lang="en-US" dirty="0"/>
              <a:t>and a number defining how many columns the section should span.</a:t>
            </a:r>
          </a:p>
          <a:p>
            <a:endParaRPr lang="en-US" dirty="0"/>
          </a:p>
          <a:p>
            <a:endParaRPr lang="en-GH" dirty="0"/>
          </a:p>
        </p:txBody>
      </p:sp>
      <p:pic>
        <p:nvPicPr>
          <p:cNvPr id="9" name="Picture 8">
            <a:extLst>
              <a:ext uri="{FF2B5EF4-FFF2-40B4-BE49-F238E27FC236}">
                <a16:creationId xmlns:a16="http://schemas.microsoft.com/office/drawing/2014/main" id="{AA9099C5-0370-6029-86CC-3B7ACF8FD3C7}"/>
              </a:ext>
            </a:extLst>
          </p:cNvPr>
          <p:cNvPicPr>
            <a:picLocks noChangeAspect="1"/>
          </p:cNvPicPr>
          <p:nvPr/>
        </p:nvPicPr>
        <p:blipFill>
          <a:blip r:embed="rId2"/>
          <a:srcRect b="14448"/>
          <a:stretch/>
        </p:blipFill>
        <p:spPr>
          <a:xfrm>
            <a:off x="5092997" y="1090750"/>
            <a:ext cx="3110265" cy="4943142"/>
          </a:xfrm>
          <a:prstGeom prst="rect">
            <a:avLst/>
          </a:prstGeom>
        </p:spPr>
      </p:pic>
      <p:sp>
        <p:nvSpPr>
          <p:cNvPr id="12" name="TextBox 11">
            <a:extLst>
              <a:ext uri="{FF2B5EF4-FFF2-40B4-BE49-F238E27FC236}">
                <a16:creationId xmlns:a16="http://schemas.microsoft.com/office/drawing/2014/main" id="{50A5DEB6-5816-63E1-BA43-9263E47A142E}"/>
              </a:ext>
            </a:extLst>
          </p:cNvPr>
          <p:cNvSpPr txBox="1"/>
          <p:nvPr/>
        </p:nvSpPr>
        <p:spPr>
          <a:xfrm>
            <a:off x="1153634" y="6164835"/>
            <a:ext cx="7495953" cy="369332"/>
          </a:xfrm>
          <a:prstGeom prst="rect">
            <a:avLst/>
          </a:prstGeom>
          <a:noFill/>
        </p:spPr>
        <p:txBody>
          <a:bodyPr wrap="square">
            <a:spAutoFit/>
          </a:bodyPr>
          <a:lstStyle/>
          <a:p>
            <a:r>
              <a:rPr lang="en-US" dirty="0"/>
              <a:t>All these columns should be floating to the left, and have a padding of 15px</a:t>
            </a:r>
            <a:endParaRPr lang="en-GH" dirty="0"/>
          </a:p>
        </p:txBody>
      </p:sp>
      <p:cxnSp>
        <p:nvCxnSpPr>
          <p:cNvPr id="14" name="Straight Arrow Connector 13">
            <a:extLst>
              <a:ext uri="{FF2B5EF4-FFF2-40B4-BE49-F238E27FC236}">
                <a16:creationId xmlns:a16="http://schemas.microsoft.com/office/drawing/2014/main" id="{EFFCEA58-9743-5F26-BE30-E09EDCFE2649}"/>
              </a:ext>
            </a:extLst>
          </p:cNvPr>
          <p:cNvCxnSpPr/>
          <p:nvPr/>
        </p:nvCxnSpPr>
        <p:spPr>
          <a:xfrm flipV="1">
            <a:off x="3880884" y="5326912"/>
            <a:ext cx="1212113" cy="706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191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7CDE-0BBC-FEB4-B651-786AB5AA5738}"/>
              </a:ext>
            </a:extLst>
          </p:cNvPr>
          <p:cNvSpPr>
            <a:spLocks noGrp="1"/>
          </p:cNvSpPr>
          <p:nvPr>
            <p:ph type="title"/>
          </p:nvPr>
        </p:nvSpPr>
        <p:spPr/>
        <p:txBody>
          <a:bodyPr/>
          <a:lstStyle/>
          <a:p>
            <a:r>
              <a:rPr lang="en-IN" dirty="0"/>
              <a:t>Responsive grid-view</a:t>
            </a:r>
            <a:endParaRPr lang="en-GH" dirty="0"/>
          </a:p>
        </p:txBody>
      </p:sp>
      <p:sp>
        <p:nvSpPr>
          <p:cNvPr id="3" name="Content Placeholder 2">
            <a:extLst>
              <a:ext uri="{FF2B5EF4-FFF2-40B4-BE49-F238E27FC236}">
                <a16:creationId xmlns:a16="http://schemas.microsoft.com/office/drawing/2014/main" id="{0F66E653-D938-F65E-7FDD-A596859F81A4}"/>
              </a:ext>
            </a:extLst>
          </p:cNvPr>
          <p:cNvSpPr>
            <a:spLocks noGrp="1"/>
          </p:cNvSpPr>
          <p:nvPr>
            <p:ph idx="1"/>
          </p:nvPr>
        </p:nvSpPr>
        <p:spPr/>
        <p:txBody>
          <a:bodyPr/>
          <a:lstStyle/>
          <a:p>
            <a:r>
              <a:rPr lang="en-US" dirty="0"/>
              <a:t>Each row should be wrapped in a </a:t>
            </a:r>
            <a:r>
              <a:rPr lang="en-US" b="1" dirty="0">
                <a:solidFill>
                  <a:srgbClr val="C00000"/>
                </a:solidFill>
              </a:rPr>
              <a:t>&lt;div&gt;</a:t>
            </a:r>
            <a:r>
              <a:rPr lang="en-US" dirty="0"/>
              <a:t>. </a:t>
            </a:r>
          </a:p>
          <a:p>
            <a:r>
              <a:rPr lang="en-US" dirty="0"/>
              <a:t>The number of columns inside a row should always add up to 12</a:t>
            </a: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8724D4A4-D8C3-E8DC-1E0C-FF640388CEEA}"/>
              </a:ext>
            </a:extLst>
          </p:cNvPr>
          <p:cNvPicPr>
            <a:picLocks noChangeAspect="1"/>
          </p:cNvPicPr>
          <p:nvPr/>
        </p:nvPicPr>
        <p:blipFill>
          <a:blip r:embed="rId2"/>
          <a:stretch>
            <a:fillRect/>
          </a:stretch>
        </p:blipFill>
        <p:spPr>
          <a:xfrm>
            <a:off x="572302" y="2477740"/>
            <a:ext cx="5745274" cy="1379869"/>
          </a:xfrm>
          <a:prstGeom prst="rect">
            <a:avLst/>
          </a:prstGeom>
        </p:spPr>
      </p:pic>
    </p:spTree>
    <p:extLst>
      <p:ext uri="{BB962C8B-B14F-4D97-AF65-F5344CB8AC3E}">
        <p14:creationId xmlns:p14="http://schemas.microsoft.com/office/powerpoint/2010/main" val="2333383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7CDE-0BBC-FEB4-B651-786AB5AA5738}"/>
              </a:ext>
            </a:extLst>
          </p:cNvPr>
          <p:cNvSpPr>
            <a:spLocks noGrp="1"/>
          </p:cNvSpPr>
          <p:nvPr>
            <p:ph type="title"/>
          </p:nvPr>
        </p:nvSpPr>
        <p:spPr/>
        <p:txBody>
          <a:bodyPr/>
          <a:lstStyle/>
          <a:p>
            <a:r>
              <a:rPr lang="en-IN" dirty="0"/>
              <a:t>Responsive grid-view</a:t>
            </a:r>
            <a:endParaRPr lang="en-GH" dirty="0"/>
          </a:p>
        </p:txBody>
      </p:sp>
      <p:sp>
        <p:nvSpPr>
          <p:cNvPr id="3" name="Content Placeholder 2">
            <a:extLst>
              <a:ext uri="{FF2B5EF4-FFF2-40B4-BE49-F238E27FC236}">
                <a16:creationId xmlns:a16="http://schemas.microsoft.com/office/drawing/2014/main" id="{0F66E653-D938-F65E-7FDD-A596859F81A4}"/>
              </a:ext>
            </a:extLst>
          </p:cNvPr>
          <p:cNvSpPr>
            <a:spLocks noGrp="1"/>
          </p:cNvSpPr>
          <p:nvPr>
            <p:ph idx="1"/>
          </p:nvPr>
        </p:nvSpPr>
        <p:spPr/>
        <p:txBody>
          <a:bodyPr/>
          <a:lstStyle/>
          <a:p>
            <a:r>
              <a:rPr lang="en-US" dirty="0"/>
              <a:t>The columns inside a row are all floating to the left and are therefore taken out of the flow of the page, and other elements will be placed as if the columns do not exist. </a:t>
            </a:r>
          </a:p>
          <a:p>
            <a:r>
              <a:rPr lang="en-US" dirty="0"/>
              <a:t>To prevent this, we will add </a:t>
            </a:r>
            <a:r>
              <a:rPr lang="en-US" b="1" dirty="0"/>
              <a:t>a style that clears the flow</a:t>
            </a:r>
            <a:r>
              <a:rPr lang="en-US" dirty="0"/>
              <a:t>:</a:t>
            </a:r>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2BC67F31-F663-CFC2-501C-5C9F8A99927F}"/>
              </a:ext>
            </a:extLst>
          </p:cNvPr>
          <p:cNvPicPr>
            <a:picLocks noChangeAspect="1"/>
          </p:cNvPicPr>
          <p:nvPr/>
        </p:nvPicPr>
        <p:blipFill>
          <a:blip r:embed="rId2"/>
          <a:stretch>
            <a:fillRect/>
          </a:stretch>
        </p:blipFill>
        <p:spPr>
          <a:xfrm>
            <a:off x="630379" y="3162426"/>
            <a:ext cx="2194860" cy="1610358"/>
          </a:xfrm>
          <a:prstGeom prst="rect">
            <a:avLst/>
          </a:prstGeom>
        </p:spPr>
      </p:pic>
      <p:sp>
        <p:nvSpPr>
          <p:cNvPr id="5" name="TextBox 4">
            <a:extLst>
              <a:ext uri="{FF2B5EF4-FFF2-40B4-BE49-F238E27FC236}">
                <a16:creationId xmlns:a16="http://schemas.microsoft.com/office/drawing/2014/main" id="{903A16DF-EE71-8E0B-840F-8F1765348421}"/>
              </a:ext>
            </a:extLst>
          </p:cNvPr>
          <p:cNvSpPr txBox="1"/>
          <p:nvPr/>
        </p:nvSpPr>
        <p:spPr>
          <a:xfrm>
            <a:off x="3732308" y="3429000"/>
            <a:ext cx="4572000" cy="1754326"/>
          </a:xfrm>
          <a:prstGeom prst="rect">
            <a:avLst/>
          </a:prstGeom>
          <a:noFill/>
        </p:spPr>
        <p:txBody>
          <a:bodyPr wrap="square">
            <a:spAutoFit/>
          </a:bodyPr>
          <a:lstStyle/>
          <a:p>
            <a:r>
              <a:rPr lang="en-US" dirty="0"/>
              <a:t>This is called, </a:t>
            </a:r>
            <a:r>
              <a:rPr lang="en-US" b="1" dirty="0" err="1"/>
              <a:t>clearfix</a:t>
            </a:r>
            <a:r>
              <a:rPr lang="en-US" dirty="0"/>
              <a:t> </a:t>
            </a:r>
          </a:p>
          <a:p>
            <a:r>
              <a:rPr lang="en-US" dirty="0"/>
              <a:t>This ensures that:</a:t>
            </a:r>
          </a:p>
          <a:p>
            <a:pPr marL="285750" indent="-285750">
              <a:buFont typeface="Wingdings" panose="05000000000000000000" pitchFamily="2" charset="2"/>
              <a:buChar char="ü"/>
            </a:pPr>
            <a:r>
              <a:rPr lang="en-US" dirty="0"/>
              <a:t>The .</a:t>
            </a:r>
            <a:r>
              <a:rPr lang="en-US" b="1" dirty="0">
                <a:solidFill>
                  <a:srgbClr val="FF0000"/>
                </a:solidFill>
              </a:rPr>
              <a:t>row</a:t>
            </a:r>
            <a:r>
              <a:rPr lang="en-US" dirty="0"/>
              <a:t> expands its height to contain its floated columns, wrapping around them.</a:t>
            </a:r>
          </a:p>
          <a:p>
            <a:pPr marL="285750" indent="-285750">
              <a:buFont typeface="Wingdings" panose="05000000000000000000" pitchFamily="2" charset="2"/>
              <a:buChar char="ü"/>
            </a:pPr>
            <a:r>
              <a:rPr lang="en-US" dirty="0"/>
              <a:t>The layout behaves as expected, preventing overlapping or layout issues.</a:t>
            </a:r>
            <a:endParaRPr lang="en-GH" dirty="0"/>
          </a:p>
        </p:txBody>
      </p:sp>
      <p:cxnSp>
        <p:nvCxnSpPr>
          <p:cNvPr id="8" name="Straight Arrow Connector 7">
            <a:extLst>
              <a:ext uri="{FF2B5EF4-FFF2-40B4-BE49-F238E27FC236}">
                <a16:creationId xmlns:a16="http://schemas.microsoft.com/office/drawing/2014/main" id="{AC9232D3-0349-0F2B-E22D-1907DA2A0D55}"/>
              </a:ext>
            </a:extLst>
          </p:cNvPr>
          <p:cNvCxnSpPr/>
          <p:nvPr/>
        </p:nvCxnSpPr>
        <p:spPr>
          <a:xfrm>
            <a:off x="2483318" y="3429000"/>
            <a:ext cx="1058779" cy="428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2108A77-9C8C-777B-7290-E9CFE32E9143}"/>
              </a:ext>
            </a:extLst>
          </p:cNvPr>
          <p:cNvCxnSpPr/>
          <p:nvPr/>
        </p:nvCxnSpPr>
        <p:spPr>
          <a:xfrm>
            <a:off x="5245768" y="2906829"/>
            <a:ext cx="77003" cy="522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2993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640D4-382D-CC22-B595-42E8E7B063F3}"/>
              </a:ext>
            </a:extLst>
          </p:cNvPr>
          <p:cNvSpPr>
            <a:spLocks noGrp="1"/>
          </p:cNvSpPr>
          <p:nvPr>
            <p:ph type="title"/>
          </p:nvPr>
        </p:nvSpPr>
        <p:spPr/>
        <p:txBody>
          <a:bodyPr/>
          <a:lstStyle/>
          <a:p>
            <a:r>
              <a:rPr lang="en-IN" dirty="0" err="1"/>
              <a:t>RWD</a:t>
            </a:r>
            <a:r>
              <a:rPr lang="en-IN" dirty="0"/>
              <a:t>-Media Queries</a:t>
            </a:r>
            <a:endParaRPr lang="en-GH" dirty="0"/>
          </a:p>
        </p:txBody>
      </p:sp>
      <p:sp>
        <p:nvSpPr>
          <p:cNvPr id="3" name="Content Placeholder 2">
            <a:extLst>
              <a:ext uri="{FF2B5EF4-FFF2-40B4-BE49-F238E27FC236}">
                <a16:creationId xmlns:a16="http://schemas.microsoft.com/office/drawing/2014/main" id="{7E3FF0C2-1287-74C2-6E7D-B34E1A1B0020}"/>
              </a:ext>
            </a:extLst>
          </p:cNvPr>
          <p:cNvSpPr>
            <a:spLocks noGrp="1"/>
          </p:cNvSpPr>
          <p:nvPr>
            <p:ph idx="1"/>
          </p:nvPr>
        </p:nvSpPr>
        <p:spPr>
          <a:xfrm>
            <a:off x="222016" y="1292225"/>
            <a:ext cx="8680884" cy="4943141"/>
          </a:xfrm>
        </p:spPr>
        <p:txBody>
          <a:bodyPr/>
          <a:lstStyle/>
          <a:p>
            <a:r>
              <a:rPr lang="en-US" dirty="0"/>
              <a:t>Media query is a CSS technique introduced in CSS3.</a:t>
            </a:r>
          </a:p>
          <a:p>
            <a:r>
              <a:rPr lang="en-US" dirty="0"/>
              <a:t>It uses the </a:t>
            </a:r>
            <a:r>
              <a:rPr lang="en-US" b="1" i="1" dirty="0">
                <a:solidFill>
                  <a:srgbClr val="FF0000"/>
                </a:solidFill>
              </a:rPr>
              <a:t>@media </a:t>
            </a:r>
            <a:r>
              <a:rPr lang="en-US" dirty="0"/>
              <a:t>rule to include a block of CSS properties </a:t>
            </a:r>
            <a:r>
              <a:rPr lang="en-US" u="sng" dirty="0"/>
              <a:t>only if a certain condition is true</a:t>
            </a:r>
            <a:r>
              <a:rPr lang="en-US" dirty="0"/>
              <a:t>.</a:t>
            </a:r>
          </a:p>
          <a:p>
            <a:r>
              <a:rPr lang="en-US" dirty="0"/>
              <a:t>The conditions are based on the characteristics of the device such as screen size, resolution, or orientation. </a:t>
            </a:r>
          </a:p>
          <a:p>
            <a:r>
              <a:rPr lang="en-US" dirty="0"/>
              <a:t>Media queries allow the layout of the web pages to adjust looking good on different devices like phones, tablets, and desktops.</a:t>
            </a:r>
          </a:p>
          <a:p>
            <a:r>
              <a:rPr lang="en-US" dirty="0"/>
              <a:t>Syntax:</a:t>
            </a:r>
          </a:p>
          <a:p>
            <a:pPr marL="0" indent="0">
              <a:buNone/>
            </a:pPr>
            <a:endParaRPr lang="en-US" dirty="0"/>
          </a:p>
        </p:txBody>
      </p:sp>
      <p:pic>
        <p:nvPicPr>
          <p:cNvPr id="7" name="Picture 6">
            <a:extLst>
              <a:ext uri="{FF2B5EF4-FFF2-40B4-BE49-F238E27FC236}">
                <a16:creationId xmlns:a16="http://schemas.microsoft.com/office/drawing/2014/main" id="{0B7DA941-FED8-9AB0-0CFC-5883212C2FF6}"/>
              </a:ext>
            </a:extLst>
          </p:cNvPr>
          <p:cNvPicPr>
            <a:picLocks noChangeAspect="1"/>
          </p:cNvPicPr>
          <p:nvPr/>
        </p:nvPicPr>
        <p:blipFill>
          <a:blip r:embed="rId2"/>
          <a:stretch>
            <a:fillRect/>
          </a:stretch>
        </p:blipFill>
        <p:spPr>
          <a:xfrm>
            <a:off x="1473710" y="4685626"/>
            <a:ext cx="3810559" cy="1314826"/>
          </a:xfrm>
          <a:prstGeom prst="rect">
            <a:avLst/>
          </a:prstGeom>
        </p:spPr>
      </p:pic>
    </p:spTree>
    <p:extLst>
      <p:ext uri="{BB962C8B-B14F-4D97-AF65-F5344CB8AC3E}">
        <p14:creationId xmlns:p14="http://schemas.microsoft.com/office/powerpoint/2010/main" val="3858058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36240-34B8-1DA2-D137-9B696016B3CD}"/>
              </a:ext>
            </a:extLst>
          </p:cNvPr>
          <p:cNvSpPr>
            <a:spLocks noGrp="1"/>
          </p:cNvSpPr>
          <p:nvPr>
            <p:ph type="title"/>
          </p:nvPr>
        </p:nvSpPr>
        <p:spPr/>
        <p:txBody>
          <a:bodyPr/>
          <a:lstStyle/>
          <a:p>
            <a:r>
              <a:rPr lang="en-US" dirty="0"/>
              <a:t>Most Common Conditions: Screen Width</a:t>
            </a:r>
            <a:endParaRPr lang="en-GH" dirty="0"/>
          </a:p>
        </p:txBody>
      </p:sp>
      <p:pic>
        <p:nvPicPr>
          <p:cNvPr id="5" name="Content Placeholder 4">
            <a:extLst>
              <a:ext uri="{FF2B5EF4-FFF2-40B4-BE49-F238E27FC236}">
                <a16:creationId xmlns:a16="http://schemas.microsoft.com/office/drawing/2014/main" id="{CFF7DE77-0DBF-FC22-9F07-A2F11375A4F5}"/>
              </a:ext>
            </a:extLst>
          </p:cNvPr>
          <p:cNvPicPr>
            <a:picLocks noGrp="1" noChangeAspect="1"/>
          </p:cNvPicPr>
          <p:nvPr>
            <p:ph idx="1"/>
          </p:nvPr>
        </p:nvPicPr>
        <p:blipFill>
          <a:blip r:embed="rId2"/>
          <a:srcRect l="54880"/>
          <a:stretch/>
        </p:blipFill>
        <p:spPr>
          <a:xfrm>
            <a:off x="5005137" y="1139772"/>
            <a:ext cx="3917366" cy="2432625"/>
          </a:xfrm>
        </p:spPr>
      </p:pic>
      <p:pic>
        <p:nvPicPr>
          <p:cNvPr id="7" name="Picture 6">
            <a:extLst>
              <a:ext uri="{FF2B5EF4-FFF2-40B4-BE49-F238E27FC236}">
                <a16:creationId xmlns:a16="http://schemas.microsoft.com/office/drawing/2014/main" id="{FD23B980-24B3-BF77-8B49-768F9AB9EA00}"/>
              </a:ext>
            </a:extLst>
          </p:cNvPr>
          <p:cNvPicPr>
            <a:picLocks noChangeAspect="1"/>
          </p:cNvPicPr>
          <p:nvPr/>
        </p:nvPicPr>
        <p:blipFill>
          <a:blip r:embed="rId3"/>
          <a:srcRect l="64874"/>
          <a:stretch/>
        </p:blipFill>
        <p:spPr>
          <a:xfrm>
            <a:off x="5929162" y="3978211"/>
            <a:ext cx="3080084" cy="2400810"/>
          </a:xfrm>
          <a:prstGeom prst="rect">
            <a:avLst/>
          </a:prstGeom>
        </p:spPr>
      </p:pic>
      <p:pic>
        <p:nvPicPr>
          <p:cNvPr id="13" name="Picture 12">
            <a:extLst>
              <a:ext uri="{FF2B5EF4-FFF2-40B4-BE49-F238E27FC236}">
                <a16:creationId xmlns:a16="http://schemas.microsoft.com/office/drawing/2014/main" id="{D68B8F81-396C-4E74-1D26-F53A02192B14}"/>
              </a:ext>
            </a:extLst>
          </p:cNvPr>
          <p:cNvPicPr>
            <a:picLocks noChangeAspect="1"/>
          </p:cNvPicPr>
          <p:nvPr/>
        </p:nvPicPr>
        <p:blipFill>
          <a:blip r:embed="rId4"/>
          <a:stretch>
            <a:fillRect/>
          </a:stretch>
        </p:blipFill>
        <p:spPr>
          <a:xfrm>
            <a:off x="251153" y="2232067"/>
            <a:ext cx="4757591" cy="2532437"/>
          </a:xfrm>
          <a:prstGeom prst="rect">
            <a:avLst/>
          </a:prstGeom>
          <a:ln>
            <a:solidFill>
              <a:srgbClr val="FFC000"/>
            </a:solidFill>
          </a:ln>
        </p:spPr>
      </p:pic>
      <p:cxnSp>
        <p:nvCxnSpPr>
          <p:cNvPr id="15" name="Straight Arrow Connector 14">
            <a:extLst>
              <a:ext uri="{FF2B5EF4-FFF2-40B4-BE49-F238E27FC236}">
                <a16:creationId xmlns:a16="http://schemas.microsoft.com/office/drawing/2014/main" id="{53DE5D59-8711-8C98-58E3-EC9D0B79373B}"/>
              </a:ext>
            </a:extLst>
          </p:cNvPr>
          <p:cNvCxnSpPr/>
          <p:nvPr/>
        </p:nvCxnSpPr>
        <p:spPr>
          <a:xfrm flipV="1">
            <a:off x="3474720" y="2079057"/>
            <a:ext cx="1453415" cy="539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E2E720D-C68C-A89A-CC9A-40F0C00E6E8C}"/>
              </a:ext>
            </a:extLst>
          </p:cNvPr>
          <p:cNvCxnSpPr/>
          <p:nvPr/>
        </p:nvCxnSpPr>
        <p:spPr>
          <a:xfrm>
            <a:off x="3773103" y="4100362"/>
            <a:ext cx="1915428" cy="664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10D9A79-F7FD-4470-8E52-57D51584F7DA}"/>
              </a:ext>
            </a:extLst>
          </p:cNvPr>
          <p:cNvSpPr txBox="1"/>
          <p:nvPr/>
        </p:nvSpPr>
        <p:spPr>
          <a:xfrm>
            <a:off x="1246471" y="1155727"/>
            <a:ext cx="3161900" cy="923330"/>
          </a:xfrm>
          <a:prstGeom prst="rect">
            <a:avLst/>
          </a:prstGeom>
          <a:noFill/>
        </p:spPr>
        <p:txBody>
          <a:bodyPr wrap="square">
            <a:spAutoFit/>
          </a:bodyPr>
          <a:lstStyle/>
          <a:p>
            <a:r>
              <a:rPr lang="en-IN" dirty="0"/>
              <a:t>In this example, the style is applied when the size of the screen is less than 600px wide </a:t>
            </a:r>
            <a:endParaRPr lang="en-GH" dirty="0"/>
          </a:p>
        </p:txBody>
      </p:sp>
      <p:sp>
        <p:nvSpPr>
          <p:cNvPr id="20" name="TextBox 19">
            <a:extLst>
              <a:ext uri="{FF2B5EF4-FFF2-40B4-BE49-F238E27FC236}">
                <a16:creationId xmlns:a16="http://schemas.microsoft.com/office/drawing/2014/main" id="{5B6D18C6-DA27-C3E9-A29A-5EF8D8939397}"/>
              </a:ext>
            </a:extLst>
          </p:cNvPr>
          <p:cNvSpPr txBox="1"/>
          <p:nvPr/>
        </p:nvSpPr>
        <p:spPr>
          <a:xfrm>
            <a:off x="1854068" y="5046465"/>
            <a:ext cx="2900812" cy="923330"/>
          </a:xfrm>
          <a:prstGeom prst="rect">
            <a:avLst/>
          </a:prstGeom>
          <a:noFill/>
        </p:spPr>
        <p:txBody>
          <a:bodyPr wrap="square" rtlCol="0">
            <a:spAutoFit/>
          </a:bodyPr>
          <a:lstStyle/>
          <a:p>
            <a:r>
              <a:rPr lang="en-IN" dirty="0">
                <a:solidFill>
                  <a:srgbClr val="FF0000"/>
                </a:solidFill>
              </a:rPr>
              <a:t>'</a:t>
            </a:r>
            <a:r>
              <a:rPr lang="en-IN" dirty="0">
                <a:solidFill>
                  <a:srgbClr val="0070C0"/>
                </a:solidFill>
              </a:rPr>
              <a:t>only</a:t>
            </a:r>
            <a:r>
              <a:rPr lang="en-IN" dirty="0">
                <a:solidFill>
                  <a:srgbClr val="FF0000"/>
                </a:solidFill>
              </a:rPr>
              <a:t> screen</a:t>
            </a:r>
            <a:r>
              <a:rPr lang="en-IN" dirty="0"/>
              <a:t>' is optional and is for backward compatibility with older browsers</a:t>
            </a:r>
            <a:endParaRPr lang="en-GH" dirty="0"/>
          </a:p>
        </p:txBody>
      </p:sp>
    </p:spTree>
    <p:extLst>
      <p:ext uri="{BB962C8B-B14F-4D97-AF65-F5344CB8AC3E}">
        <p14:creationId xmlns:p14="http://schemas.microsoft.com/office/powerpoint/2010/main" val="573693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52C94-848B-82F3-59D6-7327437CD863}"/>
              </a:ext>
            </a:extLst>
          </p:cNvPr>
          <p:cNvSpPr>
            <a:spLocks noGrp="1"/>
          </p:cNvSpPr>
          <p:nvPr>
            <p:ph type="title"/>
          </p:nvPr>
        </p:nvSpPr>
        <p:spPr/>
        <p:txBody>
          <a:bodyPr/>
          <a:lstStyle/>
          <a:p>
            <a:r>
              <a:rPr lang="en-US" dirty="0"/>
              <a:t>Other Common Media Query Conditions</a:t>
            </a:r>
            <a:endParaRPr lang="en-GH" dirty="0"/>
          </a:p>
        </p:txBody>
      </p:sp>
      <p:pic>
        <p:nvPicPr>
          <p:cNvPr id="5" name="Picture 4">
            <a:extLst>
              <a:ext uri="{FF2B5EF4-FFF2-40B4-BE49-F238E27FC236}">
                <a16:creationId xmlns:a16="http://schemas.microsoft.com/office/drawing/2014/main" id="{66DF13DA-FD36-66E6-13A6-DFD7A235475B}"/>
              </a:ext>
            </a:extLst>
          </p:cNvPr>
          <p:cNvPicPr>
            <a:picLocks noChangeAspect="1"/>
          </p:cNvPicPr>
          <p:nvPr/>
        </p:nvPicPr>
        <p:blipFill>
          <a:blip r:embed="rId2"/>
          <a:stretch>
            <a:fillRect/>
          </a:stretch>
        </p:blipFill>
        <p:spPr>
          <a:xfrm>
            <a:off x="684029" y="915426"/>
            <a:ext cx="3105583" cy="1705213"/>
          </a:xfrm>
          <a:prstGeom prst="rect">
            <a:avLst/>
          </a:prstGeom>
        </p:spPr>
      </p:pic>
      <p:sp>
        <p:nvSpPr>
          <p:cNvPr id="7" name="TextBox 6">
            <a:extLst>
              <a:ext uri="{FF2B5EF4-FFF2-40B4-BE49-F238E27FC236}">
                <a16:creationId xmlns:a16="http://schemas.microsoft.com/office/drawing/2014/main" id="{46E1AB22-7E9F-424F-0036-5F17F80287D3}"/>
              </a:ext>
            </a:extLst>
          </p:cNvPr>
          <p:cNvSpPr txBox="1"/>
          <p:nvPr/>
        </p:nvSpPr>
        <p:spPr>
          <a:xfrm>
            <a:off x="4419729" y="887300"/>
            <a:ext cx="3887971" cy="646331"/>
          </a:xfrm>
          <a:prstGeom prst="rect">
            <a:avLst/>
          </a:prstGeom>
          <a:noFill/>
        </p:spPr>
        <p:txBody>
          <a:bodyPr wrap="square">
            <a:spAutoFit/>
          </a:bodyPr>
          <a:lstStyle/>
          <a:p>
            <a:r>
              <a:rPr lang="en-US" dirty="0"/>
              <a:t>Styles apply when the screen width is at least 768px</a:t>
            </a:r>
            <a:endParaRPr lang="en-GH" dirty="0"/>
          </a:p>
        </p:txBody>
      </p:sp>
      <p:sp>
        <p:nvSpPr>
          <p:cNvPr id="11" name="TextBox 10">
            <a:extLst>
              <a:ext uri="{FF2B5EF4-FFF2-40B4-BE49-F238E27FC236}">
                <a16:creationId xmlns:a16="http://schemas.microsoft.com/office/drawing/2014/main" id="{E0B37A15-295D-9106-B54B-A148607D6416}"/>
              </a:ext>
            </a:extLst>
          </p:cNvPr>
          <p:cNvSpPr txBox="1"/>
          <p:nvPr/>
        </p:nvSpPr>
        <p:spPr>
          <a:xfrm>
            <a:off x="4419730" y="1536809"/>
            <a:ext cx="3446900" cy="923330"/>
          </a:xfrm>
          <a:prstGeom prst="rect">
            <a:avLst/>
          </a:prstGeom>
          <a:noFill/>
        </p:spPr>
        <p:txBody>
          <a:bodyPr wrap="square">
            <a:spAutoFit/>
          </a:bodyPr>
          <a:lstStyle/>
          <a:p>
            <a:r>
              <a:rPr lang="en-US" dirty="0"/>
              <a:t>The text size will be larger for screens wider than 768px (such as tablets or desktops).</a:t>
            </a:r>
            <a:endParaRPr lang="en-GH" dirty="0"/>
          </a:p>
        </p:txBody>
      </p:sp>
      <p:pic>
        <p:nvPicPr>
          <p:cNvPr id="13" name="Picture 12">
            <a:extLst>
              <a:ext uri="{FF2B5EF4-FFF2-40B4-BE49-F238E27FC236}">
                <a16:creationId xmlns:a16="http://schemas.microsoft.com/office/drawing/2014/main" id="{745B5E0B-C56F-D19C-B283-CCB12C606B28}"/>
              </a:ext>
            </a:extLst>
          </p:cNvPr>
          <p:cNvPicPr>
            <a:picLocks noChangeAspect="1"/>
          </p:cNvPicPr>
          <p:nvPr/>
        </p:nvPicPr>
        <p:blipFill>
          <a:blip r:embed="rId3"/>
          <a:stretch>
            <a:fillRect/>
          </a:stretch>
        </p:blipFill>
        <p:spPr>
          <a:xfrm>
            <a:off x="634822" y="2849658"/>
            <a:ext cx="3905795" cy="1714739"/>
          </a:xfrm>
          <a:prstGeom prst="rect">
            <a:avLst/>
          </a:prstGeom>
        </p:spPr>
      </p:pic>
      <p:cxnSp>
        <p:nvCxnSpPr>
          <p:cNvPr id="15" name="Straight Arrow Connector 14">
            <a:extLst>
              <a:ext uri="{FF2B5EF4-FFF2-40B4-BE49-F238E27FC236}">
                <a16:creationId xmlns:a16="http://schemas.microsoft.com/office/drawing/2014/main" id="{F9130459-A402-C195-3DE5-B40BCD575162}"/>
              </a:ext>
            </a:extLst>
          </p:cNvPr>
          <p:cNvCxnSpPr>
            <a:cxnSpLocks/>
          </p:cNvCxnSpPr>
          <p:nvPr/>
        </p:nvCxnSpPr>
        <p:spPr>
          <a:xfrm flipV="1">
            <a:off x="3549779" y="1182268"/>
            <a:ext cx="904775" cy="398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7C92E1F-32B9-B2DD-DF64-4E8B72200A64}"/>
              </a:ext>
            </a:extLst>
          </p:cNvPr>
          <p:cNvCxnSpPr>
            <a:cxnSpLocks/>
          </p:cNvCxnSpPr>
          <p:nvPr/>
        </p:nvCxnSpPr>
        <p:spPr>
          <a:xfrm>
            <a:off x="3544000" y="1850570"/>
            <a:ext cx="855088" cy="306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720F395-5574-4087-8EC4-340E324056B2}"/>
              </a:ext>
            </a:extLst>
          </p:cNvPr>
          <p:cNvSpPr txBox="1"/>
          <p:nvPr/>
        </p:nvSpPr>
        <p:spPr>
          <a:xfrm>
            <a:off x="4836594" y="3144513"/>
            <a:ext cx="3887970" cy="646331"/>
          </a:xfrm>
          <a:prstGeom prst="rect">
            <a:avLst/>
          </a:prstGeom>
          <a:noFill/>
        </p:spPr>
        <p:txBody>
          <a:bodyPr wrap="square">
            <a:spAutoFit/>
          </a:bodyPr>
          <a:lstStyle/>
          <a:p>
            <a:r>
              <a:rPr lang="en-US" dirty="0"/>
              <a:t>This changes the background to light coral if the device is in landscape mode.</a:t>
            </a:r>
            <a:endParaRPr lang="en-GH" dirty="0"/>
          </a:p>
        </p:txBody>
      </p:sp>
      <p:cxnSp>
        <p:nvCxnSpPr>
          <p:cNvPr id="21" name="Straight Arrow Connector 20">
            <a:extLst>
              <a:ext uri="{FF2B5EF4-FFF2-40B4-BE49-F238E27FC236}">
                <a16:creationId xmlns:a16="http://schemas.microsoft.com/office/drawing/2014/main" id="{03E9ACCE-9FBE-A008-ACDE-89721A5E4A44}"/>
              </a:ext>
            </a:extLst>
          </p:cNvPr>
          <p:cNvCxnSpPr>
            <a:cxnSpLocks/>
          </p:cNvCxnSpPr>
          <p:nvPr/>
        </p:nvCxnSpPr>
        <p:spPr>
          <a:xfrm>
            <a:off x="4244639" y="3347877"/>
            <a:ext cx="591955" cy="239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214D41B8-7576-670C-B990-BC9C76C492E5}"/>
              </a:ext>
            </a:extLst>
          </p:cNvPr>
          <p:cNvPicPr>
            <a:picLocks noChangeAspect="1"/>
          </p:cNvPicPr>
          <p:nvPr/>
        </p:nvPicPr>
        <p:blipFill>
          <a:blip r:embed="rId4"/>
          <a:stretch>
            <a:fillRect/>
          </a:stretch>
        </p:blipFill>
        <p:spPr>
          <a:xfrm>
            <a:off x="634822" y="4753199"/>
            <a:ext cx="5849166" cy="1771897"/>
          </a:xfrm>
          <a:prstGeom prst="rect">
            <a:avLst/>
          </a:prstGeom>
        </p:spPr>
      </p:pic>
      <p:sp>
        <p:nvSpPr>
          <p:cNvPr id="25" name="TextBox 24">
            <a:extLst>
              <a:ext uri="{FF2B5EF4-FFF2-40B4-BE49-F238E27FC236}">
                <a16:creationId xmlns:a16="http://schemas.microsoft.com/office/drawing/2014/main" id="{2D5A5994-6CED-70F7-C058-44E64E882FD6}"/>
              </a:ext>
            </a:extLst>
          </p:cNvPr>
          <p:cNvSpPr txBox="1"/>
          <p:nvPr/>
        </p:nvSpPr>
        <p:spPr>
          <a:xfrm>
            <a:off x="6723630" y="4637695"/>
            <a:ext cx="2286000" cy="1754326"/>
          </a:xfrm>
          <a:prstGeom prst="rect">
            <a:avLst/>
          </a:prstGeom>
          <a:noFill/>
        </p:spPr>
        <p:txBody>
          <a:bodyPr wrap="square">
            <a:spAutoFit/>
          </a:bodyPr>
          <a:lstStyle/>
          <a:p>
            <a:r>
              <a:rPr lang="en-US" dirty="0"/>
              <a:t>This will apply the background color of yellow only when the screen is between 600px and 1200px wide.</a:t>
            </a:r>
            <a:endParaRPr lang="en-GH" dirty="0"/>
          </a:p>
        </p:txBody>
      </p:sp>
    </p:spTree>
    <p:extLst>
      <p:ext uri="{BB962C8B-B14F-4D97-AF65-F5344CB8AC3E}">
        <p14:creationId xmlns:p14="http://schemas.microsoft.com/office/powerpoint/2010/main" val="1858712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28D89-B41B-B928-AF9F-03DA4A96B335}"/>
              </a:ext>
            </a:extLst>
          </p:cNvPr>
          <p:cNvSpPr>
            <a:spLocks noGrp="1"/>
          </p:cNvSpPr>
          <p:nvPr>
            <p:ph type="title"/>
          </p:nvPr>
        </p:nvSpPr>
        <p:spPr/>
        <p:txBody>
          <a:bodyPr/>
          <a:lstStyle/>
          <a:p>
            <a:r>
              <a:rPr lang="en-IN" dirty="0"/>
              <a:t>Logical Operators in Media Queries</a:t>
            </a:r>
            <a:endParaRPr lang="en-GH" dirty="0"/>
          </a:p>
        </p:txBody>
      </p:sp>
      <p:sp>
        <p:nvSpPr>
          <p:cNvPr id="6" name="Rectangle 1">
            <a:extLst>
              <a:ext uri="{FF2B5EF4-FFF2-40B4-BE49-F238E27FC236}">
                <a16:creationId xmlns:a16="http://schemas.microsoft.com/office/drawing/2014/main" id="{638AB895-473B-C969-4683-5E4548F2CDA8}"/>
              </a:ext>
            </a:extLst>
          </p:cNvPr>
          <p:cNvSpPr>
            <a:spLocks noGrp="1" noChangeArrowheads="1"/>
          </p:cNvSpPr>
          <p:nvPr>
            <p:ph idx="1"/>
          </p:nvPr>
        </p:nvSpPr>
        <p:spPr bwMode="auto">
          <a:xfrm>
            <a:off x="356603" y="1517759"/>
            <a:ext cx="856538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H" altLang="en-GH" b="1" i="0" u="none" strike="noStrike" cap="none" normalizeH="0" baseline="0" dirty="0">
                <a:ln>
                  <a:noFill/>
                </a:ln>
                <a:solidFill>
                  <a:schemeClr val="tx1"/>
                </a:solidFill>
                <a:effectLst/>
              </a:rPr>
              <a:t>and</a:t>
            </a:r>
            <a:r>
              <a:rPr kumimoji="0" lang="en-GH" altLang="en-GH" b="0" i="0" u="none" strike="noStrike" cap="none" normalizeH="0" baseline="0" dirty="0">
                <a:ln>
                  <a:noFill/>
                </a:ln>
                <a:solidFill>
                  <a:schemeClr val="tx1"/>
                </a:solidFill>
                <a:effectLst/>
              </a:rPr>
              <a:t>: All conditions must be true</a:t>
            </a:r>
            <a:endParaRPr kumimoji="0" lang="en-IN" altLang="en-GH"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GH" altLang="en-GH"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H" altLang="en-GH" b="1" i="0" u="none" strike="noStrike" cap="none" normalizeH="0" baseline="0" dirty="0">
                <a:ln>
                  <a:noFill/>
                </a:ln>
                <a:solidFill>
                  <a:schemeClr val="tx1"/>
                </a:solidFill>
                <a:effectLst/>
              </a:rPr>
              <a:t>not</a:t>
            </a:r>
            <a:r>
              <a:rPr kumimoji="0" lang="en-GH" altLang="en-GH" b="0" i="0" u="none" strike="noStrike" cap="none" normalizeH="0" baseline="0" dirty="0">
                <a:ln>
                  <a:noFill/>
                </a:ln>
                <a:solidFill>
                  <a:schemeClr val="tx1"/>
                </a:solidFill>
                <a:effectLst/>
              </a:rPr>
              <a:t>: Applies styles when the condition is false</a:t>
            </a:r>
            <a:endParaRPr kumimoji="0" lang="en-IN" altLang="en-GH"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GH" altLang="en-GH"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H" altLang="en-GH" b="1" i="0" u="none" strike="noStrike" cap="none" normalizeH="0" baseline="0" dirty="0">
                <a:ln>
                  <a:noFill/>
                </a:ln>
                <a:solidFill>
                  <a:schemeClr val="tx1"/>
                </a:solidFill>
                <a:effectLst/>
              </a:rPr>
              <a:t>only</a:t>
            </a:r>
            <a:r>
              <a:rPr kumimoji="0" lang="en-GH" altLang="en-GH" b="0" i="0" u="none" strike="noStrike" cap="none" normalizeH="0" baseline="0" dirty="0">
                <a:ln>
                  <a:noFill/>
                </a:ln>
                <a:solidFill>
                  <a:schemeClr val="tx1"/>
                </a:solidFill>
                <a:effectLst/>
              </a:rPr>
              <a:t>: Targets specific devices and prevents older browsers from applying styles</a:t>
            </a:r>
            <a:endParaRPr kumimoji="0" lang="en-IN" altLang="en-GH"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GH" altLang="en-GH"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H" altLang="en-GH" b="1" i="0" u="none" strike="noStrike" cap="none" normalizeH="0" baseline="0" dirty="0">
                <a:ln>
                  <a:noFill/>
                </a:ln>
                <a:solidFill>
                  <a:schemeClr val="tx1"/>
                </a:solidFill>
                <a:effectLst/>
              </a:rPr>
              <a:t>Comma (,</a:t>
            </a:r>
            <a:r>
              <a:rPr kumimoji="0" lang="en-IN" altLang="en-GH" b="1" i="0" u="none" strike="noStrike" cap="none" normalizeH="0" baseline="0" dirty="0">
                <a:ln>
                  <a:noFill/>
                </a:ln>
                <a:solidFill>
                  <a:schemeClr val="tx1"/>
                </a:solidFill>
                <a:effectLst/>
              </a:rPr>
              <a:t>)</a:t>
            </a:r>
            <a:r>
              <a:rPr kumimoji="0" lang="en-IN" altLang="en-GH" i="0" u="none" strike="noStrike" cap="none" normalizeH="0" baseline="0" dirty="0">
                <a:ln>
                  <a:noFill/>
                </a:ln>
                <a:solidFill>
                  <a:schemeClr val="tx1"/>
                </a:solidFill>
                <a:effectLst/>
              </a:rPr>
              <a:t>: Works like "</a:t>
            </a:r>
            <a:r>
              <a:rPr kumimoji="0" lang="en-GH" altLang="en-GH" i="0" u="none" strike="noStrike" cap="none" normalizeH="0" baseline="0" dirty="0">
                <a:ln>
                  <a:noFill/>
                </a:ln>
                <a:solidFill>
                  <a:schemeClr val="tx1"/>
                </a:solidFill>
                <a:effectLst/>
              </a:rPr>
              <a:t>or</a:t>
            </a:r>
            <a:r>
              <a:rPr lang="en-IN" altLang="en-GH" dirty="0"/>
              <a:t>"</a:t>
            </a:r>
            <a:r>
              <a:rPr kumimoji="0" lang="en-GH" altLang="en-GH" i="0" u="none" strike="noStrike" cap="none" normalizeH="0" baseline="0" dirty="0">
                <a:ln>
                  <a:noFill/>
                </a:ln>
                <a:solidFill>
                  <a:schemeClr val="tx1"/>
                </a:solidFill>
                <a:effectLst/>
              </a:rPr>
              <a:t> logic</a:t>
            </a:r>
            <a:r>
              <a:rPr kumimoji="0" lang="en-IN" altLang="en-GH" i="0" u="none" strike="noStrike" cap="none" normalizeH="0" baseline="0" dirty="0">
                <a:ln>
                  <a:noFill/>
                </a:ln>
                <a:solidFill>
                  <a:schemeClr val="tx1"/>
                </a:solidFill>
                <a:effectLst/>
              </a:rPr>
              <a:t>-a</a:t>
            </a:r>
            <a:r>
              <a:rPr kumimoji="0" lang="en-GH" altLang="en-GH" i="0" u="none" strike="noStrike" cap="none" normalizeH="0" baseline="0" dirty="0" err="1">
                <a:ln>
                  <a:noFill/>
                </a:ln>
                <a:solidFill>
                  <a:schemeClr val="tx1"/>
                </a:solidFill>
                <a:effectLst/>
              </a:rPr>
              <a:t>p</a:t>
            </a:r>
            <a:r>
              <a:rPr kumimoji="0" lang="en-GH" altLang="en-GH" b="0" i="0" u="none" strike="noStrike" cap="none" normalizeH="0" baseline="0" dirty="0" err="1">
                <a:ln>
                  <a:noFill/>
                </a:ln>
                <a:solidFill>
                  <a:schemeClr val="tx1"/>
                </a:solidFill>
                <a:effectLst/>
              </a:rPr>
              <a:t>plies</a:t>
            </a:r>
            <a:r>
              <a:rPr kumimoji="0" lang="en-GH" altLang="en-GH" b="0" i="0" u="none" strike="noStrike" cap="none" normalizeH="0" baseline="0" dirty="0">
                <a:ln>
                  <a:noFill/>
                </a:ln>
                <a:solidFill>
                  <a:schemeClr val="tx1"/>
                </a:solidFill>
                <a:effectLst/>
              </a:rPr>
              <a:t> styles if </a:t>
            </a:r>
            <a:r>
              <a:rPr kumimoji="0" lang="en-GH" altLang="en-GH" b="1" i="0" u="none" strike="noStrike" cap="none" normalizeH="0" baseline="0" dirty="0">
                <a:ln>
                  <a:noFill/>
                </a:ln>
                <a:solidFill>
                  <a:schemeClr val="tx1"/>
                </a:solidFill>
                <a:effectLst/>
              </a:rPr>
              <a:t>any</a:t>
            </a:r>
            <a:r>
              <a:rPr kumimoji="0" lang="en-GH" altLang="en-GH" b="0" i="0" u="none" strike="noStrike" cap="none" normalizeH="0" baseline="0" dirty="0">
                <a:ln>
                  <a:noFill/>
                </a:ln>
                <a:solidFill>
                  <a:schemeClr val="tx1"/>
                </a:solidFill>
                <a:effectLst/>
              </a:rPr>
              <a:t> condition is true.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H" altLang="en-GH"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438241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69FCE-14EA-D230-860D-479FC5E09539}"/>
              </a:ext>
            </a:extLst>
          </p:cNvPr>
          <p:cNvSpPr>
            <a:spLocks noGrp="1"/>
          </p:cNvSpPr>
          <p:nvPr>
            <p:ph type="title"/>
          </p:nvPr>
        </p:nvSpPr>
        <p:spPr/>
        <p:txBody>
          <a:bodyPr/>
          <a:lstStyle/>
          <a:p>
            <a:r>
              <a:rPr lang="en-IN" dirty="0"/>
              <a:t>Typical device breakpoints</a:t>
            </a:r>
            <a:endParaRPr lang="en-GH" dirty="0"/>
          </a:p>
        </p:txBody>
      </p:sp>
      <p:sp>
        <p:nvSpPr>
          <p:cNvPr id="3" name="Content Placeholder 2">
            <a:extLst>
              <a:ext uri="{FF2B5EF4-FFF2-40B4-BE49-F238E27FC236}">
                <a16:creationId xmlns:a16="http://schemas.microsoft.com/office/drawing/2014/main" id="{24AD5644-6C1A-B803-2D23-A34AF75710E9}"/>
              </a:ext>
            </a:extLst>
          </p:cNvPr>
          <p:cNvSpPr>
            <a:spLocks noGrp="1"/>
          </p:cNvSpPr>
          <p:nvPr>
            <p:ph idx="1"/>
          </p:nvPr>
        </p:nvSpPr>
        <p:spPr/>
        <p:txBody>
          <a:bodyPr>
            <a:normAutofit/>
          </a:bodyPr>
          <a:lstStyle/>
          <a:p>
            <a:r>
              <a:rPr lang="en-US" b="0" i="0" dirty="0">
                <a:effectLst/>
              </a:rPr>
              <a:t>There are tons of screens and devices with different heights and widths, so it is hard to create an exact breakpoint for each device. To keep things simple, we could target five groups:</a:t>
            </a:r>
            <a:endParaRPr lang="en-IN" b="0" i="0" dirty="0">
              <a:effectLst/>
            </a:endParaRPr>
          </a:p>
          <a:p>
            <a:endParaRPr lang="en-IN" sz="1600" dirty="0">
              <a:solidFill>
                <a:srgbClr val="008000"/>
              </a:solidFill>
              <a:latin typeface="Consolas" panose="020B0609020204030204" pitchFamily="49" charset="0"/>
            </a:endParaRPr>
          </a:p>
          <a:p>
            <a:r>
              <a:rPr lang="en-IN" sz="1700" b="0" i="0" dirty="0">
                <a:solidFill>
                  <a:srgbClr val="008000"/>
                </a:solidFill>
                <a:effectLst/>
                <a:latin typeface="Consolas" panose="020B0609020204030204" pitchFamily="49" charset="0"/>
              </a:rPr>
              <a:t>/* Extra small devices (phones, 600px and down) */</a:t>
            </a:r>
            <a:br>
              <a:rPr lang="en-IN" sz="1700" dirty="0"/>
            </a:br>
            <a:r>
              <a:rPr lang="en-IN" sz="1700" b="0" i="0" dirty="0">
                <a:solidFill>
                  <a:srgbClr val="A52A2A"/>
                </a:solidFill>
                <a:effectLst/>
                <a:latin typeface="Consolas" panose="020B0609020204030204" pitchFamily="49" charset="0"/>
              </a:rPr>
              <a:t>@media only screen and (max-width: 600px) </a:t>
            </a:r>
            <a:r>
              <a:rPr lang="en-IN" sz="1700" b="0" i="0" dirty="0">
                <a:solidFill>
                  <a:srgbClr val="000000"/>
                </a:solidFill>
                <a:effectLst/>
                <a:latin typeface="Consolas" panose="020B0609020204030204" pitchFamily="49" charset="0"/>
              </a:rPr>
              <a:t>{</a:t>
            </a:r>
            <a:r>
              <a:rPr lang="en-IN" sz="1700" b="0" i="0" dirty="0">
                <a:solidFill>
                  <a:srgbClr val="FF0000"/>
                </a:solidFill>
                <a:effectLst/>
                <a:latin typeface="Consolas" panose="020B0609020204030204" pitchFamily="49" charset="0"/>
              </a:rPr>
              <a:t>...</a:t>
            </a:r>
            <a:r>
              <a:rPr lang="en-IN" sz="1700" b="0" i="0" dirty="0">
                <a:solidFill>
                  <a:srgbClr val="000000"/>
                </a:solidFill>
                <a:effectLst/>
                <a:latin typeface="Consolas" panose="020B0609020204030204" pitchFamily="49" charset="0"/>
              </a:rPr>
              <a:t>}</a:t>
            </a:r>
            <a:br>
              <a:rPr lang="en-IN" sz="1700" dirty="0"/>
            </a:br>
            <a:br>
              <a:rPr lang="en-IN" sz="1700" dirty="0"/>
            </a:br>
            <a:r>
              <a:rPr lang="en-IN" sz="1700" b="0" i="0" dirty="0">
                <a:solidFill>
                  <a:srgbClr val="008000"/>
                </a:solidFill>
                <a:effectLst/>
                <a:latin typeface="Consolas" panose="020B0609020204030204" pitchFamily="49" charset="0"/>
              </a:rPr>
              <a:t>/* Small devices (portrait tablets and large phones, 600px and up) */</a:t>
            </a:r>
            <a:br>
              <a:rPr lang="en-IN" sz="1700" dirty="0"/>
            </a:br>
            <a:r>
              <a:rPr lang="en-IN" sz="1700" b="0" i="0" dirty="0">
                <a:solidFill>
                  <a:srgbClr val="A52A2A"/>
                </a:solidFill>
                <a:effectLst/>
                <a:latin typeface="Consolas" panose="020B0609020204030204" pitchFamily="49" charset="0"/>
              </a:rPr>
              <a:t>@media only screen and (min-width: 600px) </a:t>
            </a:r>
            <a:r>
              <a:rPr lang="en-IN" sz="1700" b="0" i="0" dirty="0">
                <a:solidFill>
                  <a:srgbClr val="000000"/>
                </a:solidFill>
                <a:effectLst/>
                <a:latin typeface="Consolas" panose="020B0609020204030204" pitchFamily="49" charset="0"/>
              </a:rPr>
              <a:t>{</a:t>
            </a:r>
            <a:r>
              <a:rPr lang="en-IN" sz="1700" b="0" i="0" dirty="0">
                <a:solidFill>
                  <a:srgbClr val="FF0000"/>
                </a:solidFill>
                <a:effectLst/>
                <a:latin typeface="Consolas" panose="020B0609020204030204" pitchFamily="49" charset="0"/>
              </a:rPr>
              <a:t>...</a:t>
            </a:r>
            <a:r>
              <a:rPr lang="en-IN" sz="1700" b="0" i="0" dirty="0">
                <a:solidFill>
                  <a:srgbClr val="000000"/>
                </a:solidFill>
                <a:effectLst/>
                <a:latin typeface="Consolas" panose="020B0609020204030204" pitchFamily="49" charset="0"/>
              </a:rPr>
              <a:t>}</a:t>
            </a:r>
            <a:br>
              <a:rPr lang="en-IN" sz="1700" dirty="0"/>
            </a:br>
            <a:br>
              <a:rPr lang="en-IN" sz="1700" dirty="0"/>
            </a:br>
            <a:r>
              <a:rPr lang="en-IN" sz="1700" b="0" i="0" dirty="0">
                <a:solidFill>
                  <a:srgbClr val="008000"/>
                </a:solidFill>
                <a:effectLst/>
                <a:latin typeface="Consolas" panose="020B0609020204030204" pitchFamily="49" charset="0"/>
              </a:rPr>
              <a:t>/* Medium devices (landscape tablets, 768px and up) */</a:t>
            </a:r>
            <a:br>
              <a:rPr lang="en-IN" sz="1700" dirty="0"/>
            </a:br>
            <a:r>
              <a:rPr lang="en-IN" sz="1700" b="0" i="0" dirty="0">
                <a:solidFill>
                  <a:srgbClr val="A52A2A"/>
                </a:solidFill>
                <a:effectLst/>
                <a:latin typeface="Consolas" panose="020B0609020204030204" pitchFamily="49" charset="0"/>
              </a:rPr>
              <a:t>@media only screen and (min-width: 768px) </a:t>
            </a:r>
            <a:r>
              <a:rPr lang="en-IN" sz="1700" b="0" i="0" dirty="0">
                <a:solidFill>
                  <a:srgbClr val="000000"/>
                </a:solidFill>
                <a:effectLst/>
                <a:latin typeface="Consolas" panose="020B0609020204030204" pitchFamily="49" charset="0"/>
              </a:rPr>
              <a:t>{</a:t>
            </a:r>
            <a:r>
              <a:rPr lang="en-IN" sz="1700" b="0" i="0" dirty="0">
                <a:solidFill>
                  <a:srgbClr val="FF0000"/>
                </a:solidFill>
                <a:effectLst/>
                <a:latin typeface="Consolas" panose="020B0609020204030204" pitchFamily="49" charset="0"/>
              </a:rPr>
              <a:t>...</a:t>
            </a:r>
            <a:r>
              <a:rPr lang="en-IN" sz="1700" b="0" i="0" dirty="0">
                <a:solidFill>
                  <a:srgbClr val="000000"/>
                </a:solidFill>
                <a:effectLst/>
                <a:latin typeface="Consolas" panose="020B0609020204030204" pitchFamily="49" charset="0"/>
              </a:rPr>
              <a:t>}</a:t>
            </a:r>
            <a:br>
              <a:rPr lang="en-IN" sz="1700" dirty="0"/>
            </a:br>
            <a:br>
              <a:rPr lang="en-IN" sz="1700" dirty="0"/>
            </a:br>
            <a:r>
              <a:rPr lang="en-IN" sz="1700" b="0" i="0" dirty="0">
                <a:solidFill>
                  <a:srgbClr val="008000"/>
                </a:solidFill>
                <a:effectLst/>
                <a:latin typeface="Consolas" panose="020B0609020204030204" pitchFamily="49" charset="0"/>
              </a:rPr>
              <a:t>/* Large devices (laptops/desktops, 992px and up) */</a:t>
            </a:r>
            <a:br>
              <a:rPr lang="en-IN" sz="1700" dirty="0"/>
            </a:br>
            <a:r>
              <a:rPr lang="en-IN" sz="1700" b="0" i="0" dirty="0">
                <a:solidFill>
                  <a:srgbClr val="A52A2A"/>
                </a:solidFill>
                <a:effectLst/>
                <a:latin typeface="Consolas" panose="020B0609020204030204" pitchFamily="49" charset="0"/>
              </a:rPr>
              <a:t>@media only screen and (min-width: 992px) </a:t>
            </a:r>
            <a:r>
              <a:rPr lang="en-IN" sz="1700" b="0" i="0" dirty="0">
                <a:solidFill>
                  <a:srgbClr val="000000"/>
                </a:solidFill>
                <a:effectLst/>
                <a:latin typeface="Consolas" panose="020B0609020204030204" pitchFamily="49" charset="0"/>
              </a:rPr>
              <a:t>{</a:t>
            </a:r>
            <a:r>
              <a:rPr lang="en-IN" sz="1700" b="0" i="0" dirty="0">
                <a:solidFill>
                  <a:srgbClr val="FF0000"/>
                </a:solidFill>
                <a:effectLst/>
                <a:latin typeface="Consolas" panose="020B0609020204030204" pitchFamily="49" charset="0"/>
              </a:rPr>
              <a:t>...</a:t>
            </a:r>
            <a:r>
              <a:rPr lang="en-IN" sz="1700" b="0" i="0" dirty="0">
                <a:solidFill>
                  <a:srgbClr val="000000"/>
                </a:solidFill>
                <a:effectLst/>
                <a:latin typeface="Consolas" panose="020B0609020204030204" pitchFamily="49" charset="0"/>
              </a:rPr>
              <a:t>}</a:t>
            </a:r>
            <a:br>
              <a:rPr lang="en-IN" sz="1700" dirty="0"/>
            </a:br>
            <a:br>
              <a:rPr lang="en-IN" sz="1700" dirty="0"/>
            </a:br>
            <a:r>
              <a:rPr lang="en-IN" sz="1700" b="0" i="0" dirty="0">
                <a:solidFill>
                  <a:srgbClr val="008000"/>
                </a:solidFill>
                <a:effectLst/>
                <a:latin typeface="Consolas" panose="020B0609020204030204" pitchFamily="49" charset="0"/>
              </a:rPr>
              <a:t>/* Extra large devices (large laptops and desktops, 1200px and up) */</a:t>
            </a:r>
            <a:br>
              <a:rPr lang="en-IN" sz="1700" dirty="0"/>
            </a:br>
            <a:r>
              <a:rPr lang="en-IN" sz="1700" b="0" i="0" dirty="0">
                <a:solidFill>
                  <a:srgbClr val="A52A2A"/>
                </a:solidFill>
                <a:effectLst/>
                <a:latin typeface="Consolas" panose="020B0609020204030204" pitchFamily="49" charset="0"/>
              </a:rPr>
              <a:t>@media only screen and (min-width: 1200px) </a:t>
            </a:r>
            <a:r>
              <a:rPr lang="en-IN" sz="1700" b="0" i="0" dirty="0">
                <a:solidFill>
                  <a:srgbClr val="000000"/>
                </a:solidFill>
                <a:effectLst/>
                <a:latin typeface="Consolas" panose="020B0609020204030204" pitchFamily="49" charset="0"/>
              </a:rPr>
              <a:t>{</a:t>
            </a:r>
            <a:r>
              <a:rPr lang="en-IN" sz="1700" b="0" i="0" dirty="0">
                <a:solidFill>
                  <a:srgbClr val="FF0000"/>
                </a:solidFill>
                <a:effectLst/>
                <a:latin typeface="Consolas" panose="020B0609020204030204" pitchFamily="49" charset="0"/>
              </a:rPr>
              <a:t>...</a:t>
            </a:r>
            <a:r>
              <a:rPr lang="en-IN" sz="1700" b="0" i="0" dirty="0">
                <a:solidFill>
                  <a:srgbClr val="000000"/>
                </a:solidFill>
                <a:effectLst/>
                <a:latin typeface="Consolas" panose="020B0609020204030204" pitchFamily="49" charset="0"/>
              </a:rPr>
              <a:t>}</a:t>
            </a:r>
            <a:endParaRPr lang="en-GH" sz="1700" dirty="0"/>
          </a:p>
        </p:txBody>
      </p:sp>
    </p:spTree>
    <p:extLst>
      <p:ext uri="{BB962C8B-B14F-4D97-AF65-F5344CB8AC3E}">
        <p14:creationId xmlns:p14="http://schemas.microsoft.com/office/powerpoint/2010/main" val="3398204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40232-CAA3-4AF8-D315-690CC1A14EA7}"/>
              </a:ext>
            </a:extLst>
          </p:cNvPr>
          <p:cNvSpPr>
            <a:spLocks noGrp="1"/>
          </p:cNvSpPr>
          <p:nvPr>
            <p:ph type="title"/>
          </p:nvPr>
        </p:nvSpPr>
        <p:spPr/>
        <p:txBody>
          <a:bodyPr/>
          <a:lstStyle/>
          <a:p>
            <a:r>
              <a:rPr lang="en-IN" dirty="0" err="1"/>
              <a:t>RWD</a:t>
            </a:r>
            <a:r>
              <a:rPr lang="en-IN" dirty="0"/>
              <a:t>-Images</a:t>
            </a:r>
            <a:endParaRPr lang="en-GH" dirty="0"/>
          </a:p>
        </p:txBody>
      </p:sp>
      <p:sp>
        <p:nvSpPr>
          <p:cNvPr id="3" name="Content Placeholder 2">
            <a:extLst>
              <a:ext uri="{FF2B5EF4-FFF2-40B4-BE49-F238E27FC236}">
                <a16:creationId xmlns:a16="http://schemas.microsoft.com/office/drawing/2014/main" id="{CAB9D1C2-FECF-CF4D-B39A-BD0F90A7C036}"/>
              </a:ext>
            </a:extLst>
          </p:cNvPr>
          <p:cNvSpPr>
            <a:spLocks noGrp="1"/>
          </p:cNvSpPr>
          <p:nvPr>
            <p:ph idx="1"/>
          </p:nvPr>
        </p:nvSpPr>
        <p:spPr/>
        <p:txBody>
          <a:bodyPr/>
          <a:lstStyle/>
          <a:p>
            <a:r>
              <a:rPr lang="en-US" dirty="0"/>
              <a:t>If the </a:t>
            </a:r>
            <a:r>
              <a:rPr lang="en-US" b="1" dirty="0">
                <a:solidFill>
                  <a:srgbClr val="DC143C"/>
                </a:solidFill>
              </a:rPr>
              <a:t>width</a:t>
            </a:r>
            <a:r>
              <a:rPr lang="en-US" dirty="0"/>
              <a:t> property is set to a percentage and the </a:t>
            </a:r>
            <a:r>
              <a:rPr lang="en-US" b="1" dirty="0">
                <a:solidFill>
                  <a:srgbClr val="DC143C"/>
                </a:solidFill>
              </a:rPr>
              <a:t>height </a:t>
            </a:r>
            <a:r>
              <a:rPr lang="en-US" dirty="0"/>
              <a:t>property is set to </a:t>
            </a:r>
            <a:r>
              <a:rPr lang="en-US" dirty="0">
                <a:solidFill>
                  <a:srgbClr val="0070C0"/>
                </a:solidFill>
              </a:rPr>
              <a:t>"auto"</a:t>
            </a:r>
            <a:r>
              <a:rPr lang="en-US" dirty="0"/>
              <a:t>, the image will be responsive and </a:t>
            </a:r>
            <a:r>
              <a:rPr lang="en-US" u="sng" dirty="0"/>
              <a:t>scale up and down</a:t>
            </a:r>
          </a:p>
          <a:p>
            <a:r>
              <a:rPr lang="en-US" sz="2000" b="0" i="0" dirty="0">
                <a:effectLst/>
              </a:rPr>
              <a:t>Example:</a:t>
            </a:r>
            <a:r>
              <a:rPr lang="en-US" sz="1800" b="0" i="0" dirty="0">
                <a:solidFill>
                  <a:srgbClr val="A52A2A"/>
                </a:solidFill>
                <a:effectLst/>
                <a:latin typeface="Consolas" panose="020B0609020204030204" pitchFamily="49" charset="0"/>
              </a:rPr>
              <a:t> 	</a:t>
            </a:r>
            <a:r>
              <a:rPr lang="en-US" sz="1800" b="0" i="0" dirty="0" err="1">
                <a:solidFill>
                  <a:srgbClr val="A52A2A"/>
                </a:solidFill>
                <a:effectLst/>
                <a:latin typeface="Consolas" panose="020B0609020204030204" pitchFamily="49" charset="0"/>
              </a:rPr>
              <a:t>img</a:t>
            </a:r>
            <a:r>
              <a:rPr lang="en-US" sz="1800" b="0" i="0" dirty="0">
                <a:solidFill>
                  <a:srgbClr val="A52A2A"/>
                </a:solidFill>
                <a:effectLst/>
                <a:latin typeface="Consolas" panose="020B0609020204030204" pitchFamily="49" charset="0"/>
              </a:rPr>
              <a:t> </a:t>
            </a:r>
            <a:r>
              <a:rPr lang="en-US" sz="1800" b="0" i="0" dirty="0">
                <a:solidFill>
                  <a:srgbClr val="000000"/>
                </a:solidFill>
                <a:effectLst/>
                <a:latin typeface="Consolas" panose="020B0609020204030204" pitchFamily="49" charset="0"/>
              </a:rPr>
              <a:t>{</a:t>
            </a:r>
            <a:br>
              <a:rPr lang="en-US" sz="1800" b="0" i="0" dirty="0">
                <a:solidFill>
                  <a:srgbClr val="FF0000"/>
                </a:solidFill>
                <a:effectLst/>
                <a:latin typeface="Consolas" panose="020B0609020204030204" pitchFamily="49" charset="0"/>
              </a:rPr>
            </a:br>
            <a:r>
              <a:rPr lang="en-US" sz="1800" b="0" i="0" dirty="0">
                <a:solidFill>
                  <a:srgbClr val="FF0000"/>
                </a:solidFill>
                <a:effectLst/>
                <a:latin typeface="Consolas" panose="020B0609020204030204" pitchFamily="49" charset="0"/>
              </a:rPr>
              <a:t>  		   width</a:t>
            </a:r>
            <a:r>
              <a:rPr lang="en-US" sz="1800" b="0" i="0" dirty="0">
                <a:solidFill>
                  <a:srgbClr val="000000"/>
                </a:solidFill>
                <a:effectLst/>
                <a:latin typeface="Consolas" panose="020B0609020204030204" pitchFamily="49" charset="0"/>
              </a:rPr>
              <a:t>:</a:t>
            </a:r>
            <a:r>
              <a:rPr lang="en-US" sz="1800" b="0" i="0" dirty="0">
                <a:solidFill>
                  <a:srgbClr val="0000CD"/>
                </a:solidFill>
                <a:effectLst/>
                <a:latin typeface="Consolas" panose="020B0609020204030204" pitchFamily="49" charset="0"/>
              </a:rPr>
              <a:t> 100%</a:t>
            </a:r>
            <a:r>
              <a:rPr lang="en-US" sz="1800" b="0" i="0" dirty="0">
                <a:solidFill>
                  <a:srgbClr val="000000"/>
                </a:solidFill>
                <a:effectLst/>
                <a:latin typeface="Consolas" panose="020B0609020204030204" pitchFamily="49" charset="0"/>
              </a:rPr>
              <a:t>;</a:t>
            </a:r>
            <a:br>
              <a:rPr lang="en-US" sz="1800" b="0" i="0" dirty="0">
                <a:solidFill>
                  <a:srgbClr val="FF0000"/>
                </a:solidFill>
                <a:effectLst/>
                <a:latin typeface="Consolas" panose="020B0609020204030204" pitchFamily="49" charset="0"/>
              </a:rPr>
            </a:br>
            <a:r>
              <a:rPr lang="en-US" sz="1800" b="0" i="0" dirty="0">
                <a:solidFill>
                  <a:srgbClr val="FF0000"/>
                </a:solidFill>
                <a:effectLst/>
                <a:latin typeface="Consolas" panose="020B0609020204030204" pitchFamily="49" charset="0"/>
              </a:rPr>
              <a:t>  		   height</a:t>
            </a:r>
            <a:r>
              <a:rPr lang="en-US" sz="1800" b="0" i="0" dirty="0">
                <a:solidFill>
                  <a:srgbClr val="000000"/>
                </a:solidFill>
                <a:effectLst/>
                <a:latin typeface="Consolas" panose="020B0609020204030204" pitchFamily="49" charset="0"/>
              </a:rPr>
              <a:t>:</a:t>
            </a:r>
            <a:r>
              <a:rPr lang="en-US" sz="1800" b="0" i="0" dirty="0">
                <a:solidFill>
                  <a:srgbClr val="0000CD"/>
                </a:solidFill>
                <a:effectLst/>
                <a:latin typeface="Consolas" panose="020B0609020204030204" pitchFamily="49" charset="0"/>
              </a:rPr>
              <a:t> auto</a:t>
            </a:r>
            <a:r>
              <a:rPr lang="en-US" sz="1800" b="0" i="0" dirty="0">
                <a:solidFill>
                  <a:srgbClr val="000000"/>
                </a:solidFill>
                <a:effectLst/>
                <a:latin typeface="Consolas" panose="020B0609020204030204" pitchFamily="49" charset="0"/>
              </a:rPr>
              <a:t>;</a:t>
            </a:r>
            <a:br>
              <a:rPr lang="en-US" sz="1800" b="0" i="0" dirty="0">
                <a:solidFill>
                  <a:srgbClr val="FF0000"/>
                </a:solidFill>
                <a:effectLst/>
                <a:latin typeface="Consolas" panose="020B0609020204030204" pitchFamily="49" charset="0"/>
              </a:rPr>
            </a:br>
            <a:r>
              <a:rPr lang="en-US" sz="1800" b="0" i="0" dirty="0">
                <a:solidFill>
                  <a:srgbClr val="FF0000"/>
                </a:solidFill>
                <a:effectLst/>
                <a:latin typeface="Consolas" panose="020B0609020204030204" pitchFamily="49" charset="0"/>
              </a:rPr>
              <a:t>		</a:t>
            </a:r>
            <a:r>
              <a:rPr lang="en-US" sz="1800" b="0" i="0" dirty="0">
                <a:solidFill>
                  <a:srgbClr val="000000"/>
                </a:solidFill>
                <a:effectLst/>
                <a:latin typeface="Consolas" panose="020B0609020204030204" pitchFamily="49" charset="0"/>
              </a:rPr>
              <a:t>}</a:t>
            </a:r>
          </a:p>
          <a:p>
            <a:pPr marL="0" indent="0">
              <a:buNone/>
            </a:pPr>
            <a:endParaRPr lang="en-US" sz="1800" b="0" i="0" dirty="0">
              <a:solidFill>
                <a:srgbClr val="000000"/>
              </a:solidFill>
              <a:effectLst/>
              <a:latin typeface="Consolas" panose="020B0609020204030204" pitchFamily="49" charset="0"/>
            </a:endParaRPr>
          </a:p>
          <a:p>
            <a:r>
              <a:rPr lang="en-US" dirty="0"/>
              <a:t>If the </a:t>
            </a:r>
            <a:r>
              <a:rPr lang="en-US" b="1" dirty="0">
                <a:solidFill>
                  <a:srgbClr val="DC143C"/>
                </a:solidFill>
              </a:rPr>
              <a:t>max-width</a:t>
            </a:r>
            <a:r>
              <a:rPr lang="en-US" dirty="0"/>
              <a:t> property is set to </a:t>
            </a:r>
            <a:r>
              <a:rPr lang="en-US" dirty="0">
                <a:solidFill>
                  <a:srgbClr val="0070C0"/>
                </a:solidFill>
              </a:rPr>
              <a:t>100%</a:t>
            </a:r>
            <a:r>
              <a:rPr lang="en-US" dirty="0"/>
              <a:t>, the image will scale down if it has to but never scale up larger than its original size.</a:t>
            </a:r>
          </a:p>
          <a:p>
            <a:r>
              <a:rPr lang="en-US" sz="2000" dirty="0"/>
              <a:t>Example: </a:t>
            </a:r>
            <a:r>
              <a:rPr lang="en-US" dirty="0"/>
              <a:t>	</a:t>
            </a:r>
            <a:r>
              <a:rPr kumimoji="0" lang="en-US" sz="1800" b="0" i="0" u="none" strike="noStrike" kern="1200" cap="none" spc="0" normalizeH="0" baseline="0" noProof="0" dirty="0" err="1">
                <a:ln>
                  <a:noFill/>
                </a:ln>
                <a:solidFill>
                  <a:srgbClr val="A52A2A"/>
                </a:solidFill>
                <a:effectLst/>
                <a:uLnTx/>
                <a:uFillTx/>
                <a:latin typeface="Consolas" panose="020B0609020204030204" pitchFamily="49" charset="0"/>
                <a:ea typeface="Verdana" panose="020B0604030504040204" pitchFamily="34" charset="0"/>
                <a:cs typeface="+mn-cs"/>
              </a:rPr>
              <a:t>img</a:t>
            </a:r>
            <a:r>
              <a:rPr kumimoji="0" lang="en-US" sz="1800" b="0" i="0" u="none" strike="noStrike" kern="1200" cap="none" spc="0" normalizeH="0" baseline="0" noProof="0" dirty="0">
                <a:ln>
                  <a:noFill/>
                </a:ln>
                <a:solidFill>
                  <a:srgbClr val="A52A2A"/>
                </a:solidFill>
                <a:effectLst/>
                <a:uLnTx/>
                <a:uFillTx/>
                <a:latin typeface="Consolas" panose="020B0609020204030204" pitchFamily="49" charset="0"/>
                <a:ea typeface="Verdana" panose="020B0604030504040204" pitchFamily="34" charset="0"/>
                <a:cs typeface="+mn-cs"/>
              </a:rPr>
              <a:t> </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Verdana" panose="020B0604030504040204" pitchFamily="34" charset="0"/>
                <a:cs typeface="+mn-cs"/>
              </a:rPr>
              <a:t>{</a:t>
            </a:r>
            <a:b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Verdana" panose="020B0604030504040204" pitchFamily="34" charset="0"/>
                <a:cs typeface="+mn-cs"/>
              </a:rPr>
            </a:b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Verdana" panose="020B0604030504040204" pitchFamily="34" charset="0"/>
                <a:cs typeface="+mn-cs"/>
              </a:rPr>
              <a:t>  		   width</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Verdana" panose="020B0604030504040204" pitchFamily="34" charset="0"/>
                <a:cs typeface="+mn-cs"/>
              </a:rPr>
              <a:t>:</a:t>
            </a:r>
            <a:r>
              <a:rPr kumimoji="0" lang="en-US" sz="1800" b="0" i="0" u="none" strike="noStrike" kern="1200" cap="none" spc="0" normalizeH="0" baseline="0" noProof="0" dirty="0">
                <a:ln>
                  <a:noFill/>
                </a:ln>
                <a:solidFill>
                  <a:srgbClr val="0000CD"/>
                </a:solidFill>
                <a:effectLst/>
                <a:uLnTx/>
                <a:uFillTx/>
                <a:latin typeface="Consolas" panose="020B0609020204030204" pitchFamily="49" charset="0"/>
                <a:ea typeface="Verdana" panose="020B0604030504040204" pitchFamily="34" charset="0"/>
                <a:cs typeface="+mn-cs"/>
              </a:rPr>
              <a:t> 100%</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Verdana" panose="020B0604030504040204" pitchFamily="34" charset="0"/>
                <a:cs typeface="+mn-cs"/>
              </a:rPr>
              <a:t>;</a:t>
            </a:r>
            <a:b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Verdana" panose="020B0604030504040204" pitchFamily="34" charset="0"/>
                <a:cs typeface="+mn-cs"/>
              </a:rPr>
            </a:b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Verdana" panose="020B0604030504040204" pitchFamily="34" charset="0"/>
                <a:cs typeface="+mn-cs"/>
              </a:rPr>
              <a:t>  		   height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Verdana" panose="020B0604030504040204" pitchFamily="34" charset="0"/>
                <a:cs typeface="+mn-cs"/>
              </a:rPr>
              <a:t>:</a:t>
            </a:r>
            <a:r>
              <a:rPr kumimoji="0" lang="en-US" sz="1800" b="0" i="0" u="none" strike="noStrike" kern="1200" cap="none" spc="0" normalizeH="0" baseline="0" noProof="0" dirty="0">
                <a:ln>
                  <a:noFill/>
                </a:ln>
                <a:solidFill>
                  <a:srgbClr val="0000CD"/>
                </a:solidFill>
                <a:effectLst/>
                <a:uLnTx/>
                <a:uFillTx/>
                <a:latin typeface="Consolas" panose="020B0609020204030204" pitchFamily="49" charset="0"/>
                <a:ea typeface="Verdana" panose="020B0604030504040204" pitchFamily="34" charset="0"/>
                <a:cs typeface="+mn-cs"/>
              </a:rPr>
              <a:t> auto</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Verdana" panose="020B0604030504040204" pitchFamily="34" charset="0"/>
                <a:cs typeface="+mn-cs"/>
              </a:rPr>
              <a:t>;</a:t>
            </a:r>
            <a:b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Verdana" panose="020B0604030504040204" pitchFamily="34" charset="0"/>
                <a:cs typeface="+mn-cs"/>
              </a:rPr>
            </a:b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Verdana" panose="020B0604030504040204" pitchFamily="34" charset="0"/>
                <a:cs typeface="+mn-cs"/>
              </a:rPr>
              <a:t>		</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Verdana" panose="020B0604030504040204" pitchFamily="34" charset="0"/>
                <a:cs typeface="+mn-cs"/>
              </a:rPr>
              <a:t>}</a:t>
            </a:r>
            <a:endParaRPr lang="en-GH" dirty="0"/>
          </a:p>
        </p:txBody>
      </p:sp>
    </p:spTree>
    <p:extLst>
      <p:ext uri="{BB962C8B-B14F-4D97-AF65-F5344CB8AC3E}">
        <p14:creationId xmlns:p14="http://schemas.microsoft.com/office/powerpoint/2010/main" val="3188580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9582-F695-DB00-734C-AC28DFFB2F0B}"/>
              </a:ext>
            </a:extLst>
          </p:cNvPr>
          <p:cNvSpPr>
            <a:spLocks noGrp="1"/>
          </p:cNvSpPr>
          <p:nvPr>
            <p:ph type="title"/>
          </p:nvPr>
        </p:nvSpPr>
        <p:spPr/>
        <p:txBody>
          <a:bodyPr/>
          <a:lstStyle/>
          <a:p>
            <a:r>
              <a:rPr lang="en-IN" dirty="0" err="1"/>
              <a:t>RWD</a:t>
            </a:r>
            <a:r>
              <a:rPr lang="en-IN" dirty="0"/>
              <a:t>-Background Images</a:t>
            </a:r>
            <a:endParaRPr lang="en-GH" dirty="0"/>
          </a:p>
        </p:txBody>
      </p:sp>
      <p:sp>
        <p:nvSpPr>
          <p:cNvPr id="3" name="Content Placeholder 2">
            <a:extLst>
              <a:ext uri="{FF2B5EF4-FFF2-40B4-BE49-F238E27FC236}">
                <a16:creationId xmlns:a16="http://schemas.microsoft.com/office/drawing/2014/main" id="{7A610B7E-AE84-48F6-5ACC-DBF52DCD262B}"/>
              </a:ext>
            </a:extLst>
          </p:cNvPr>
          <p:cNvSpPr>
            <a:spLocks noGrp="1"/>
          </p:cNvSpPr>
          <p:nvPr>
            <p:ph idx="1"/>
          </p:nvPr>
        </p:nvSpPr>
        <p:spPr>
          <a:xfrm>
            <a:off x="240465" y="1292225"/>
            <a:ext cx="8681519" cy="4943141"/>
          </a:xfrm>
        </p:spPr>
        <p:txBody>
          <a:bodyPr/>
          <a:lstStyle/>
          <a:p>
            <a:r>
              <a:rPr lang="en-US" dirty="0"/>
              <a:t>If the </a:t>
            </a:r>
            <a:r>
              <a:rPr lang="en-US" dirty="0">
                <a:solidFill>
                  <a:srgbClr val="DC143C"/>
                </a:solidFill>
              </a:rPr>
              <a:t>background-size</a:t>
            </a:r>
            <a:r>
              <a:rPr lang="en-US" dirty="0"/>
              <a:t> property is set to </a:t>
            </a:r>
            <a:r>
              <a:rPr lang="en-US" dirty="0">
                <a:solidFill>
                  <a:srgbClr val="0070C0"/>
                </a:solidFill>
              </a:rPr>
              <a:t>"contain"</a:t>
            </a:r>
            <a:r>
              <a:rPr lang="en-US" dirty="0"/>
              <a:t>, the background image will scale and try to fit the content area keeping its aspect ratio (the proportion of the image's width and height)</a:t>
            </a:r>
            <a:endParaRPr lang="en-GH" dirty="0"/>
          </a:p>
        </p:txBody>
      </p:sp>
      <p:pic>
        <p:nvPicPr>
          <p:cNvPr id="9" name="Picture 8">
            <a:extLst>
              <a:ext uri="{FF2B5EF4-FFF2-40B4-BE49-F238E27FC236}">
                <a16:creationId xmlns:a16="http://schemas.microsoft.com/office/drawing/2014/main" id="{1498FCBB-B92E-3E7D-99B3-089E53AA7DCF}"/>
              </a:ext>
            </a:extLst>
          </p:cNvPr>
          <p:cNvPicPr>
            <a:picLocks noChangeAspect="1"/>
          </p:cNvPicPr>
          <p:nvPr/>
        </p:nvPicPr>
        <p:blipFill>
          <a:blip r:embed="rId2"/>
          <a:stretch>
            <a:fillRect/>
          </a:stretch>
        </p:blipFill>
        <p:spPr>
          <a:xfrm>
            <a:off x="523008" y="2803139"/>
            <a:ext cx="4058216" cy="2762636"/>
          </a:xfrm>
          <a:prstGeom prst="rect">
            <a:avLst/>
          </a:prstGeom>
        </p:spPr>
      </p:pic>
      <p:pic>
        <p:nvPicPr>
          <p:cNvPr id="11" name="Picture 10">
            <a:extLst>
              <a:ext uri="{FF2B5EF4-FFF2-40B4-BE49-F238E27FC236}">
                <a16:creationId xmlns:a16="http://schemas.microsoft.com/office/drawing/2014/main" id="{7A025959-85BD-36EE-BD1C-C5C40C9898F3}"/>
              </a:ext>
            </a:extLst>
          </p:cNvPr>
          <p:cNvPicPr>
            <a:picLocks noChangeAspect="1"/>
          </p:cNvPicPr>
          <p:nvPr/>
        </p:nvPicPr>
        <p:blipFill>
          <a:blip r:embed="rId3"/>
          <a:srcRect t="32521" r="91739" b="49532"/>
          <a:stretch/>
        </p:blipFill>
        <p:spPr>
          <a:xfrm>
            <a:off x="4572000" y="3786809"/>
            <a:ext cx="755374" cy="377687"/>
          </a:xfrm>
          <a:prstGeom prst="rect">
            <a:avLst/>
          </a:prstGeom>
        </p:spPr>
      </p:pic>
      <p:sp>
        <p:nvSpPr>
          <p:cNvPr id="13" name="TextBox 12">
            <a:extLst>
              <a:ext uri="{FF2B5EF4-FFF2-40B4-BE49-F238E27FC236}">
                <a16:creationId xmlns:a16="http://schemas.microsoft.com/office/drawing/2014/main" id="{3BF284F9-D0E4-3053-605C-0309431BE810}"/>
              </a:ext>
            </a:extLst>
          </p:cNvPr>
          <p:cNvSpPr txBox="1"/>
          <p:nvPr/>
        </p:nvSpPr>
        <p:spPr>
          <a:xfrm>
            <a:off x="5381355" y="2522797"/>
            <a:ext cx="3522180" cy="3416320"/>
          </a:xfrm>
          <a:prstGeom prst="rect">
            <a:avLst/>
          </a:prstGeom>
          <a:noFill/>
        </p:spPr>
        <p:txBody>
          <a:bodyPr wrap="square">
            <a:spAutoFit/>
          </a:bodyPr>
          <a:lstStyle/>
          <a:p>
            <a:r>
              <a:rPr lang="en-US" dirty="0"/>
              <a:t>The div takes up 100% of the available width of its container</a:t>
            </a:r>
          </a:p>
          <a:p>
            <a:r>
              <a:rPr lang="en-US" dirty="0"/>
              <a:t>The div has a fixed height of 400px </a:t>
            </a:r>
          </a:p>
          <a:p>
            <a:r>
              <a:rPr lang="en-US" dirty="0"/>
              <a:t>The background image used is 'img_flowers.jpg'  </a:t>
            </a:r>
          </a:p>
          <a:p>
            <a:r>
              <a:rPr lang="en-US" dirty="0"/>
              <a:t>The image will not repeat (i.e., no tiling)  </a:t>
            </a:r>
          </a:p>
          <a:p>
            <a:r>
              <a:rPr lang="en-US" dirty="0">
                <a:solidFill>
                  <a:srgbClr val="FF0000"/>
                </a:solidFill>
              </a:rPr>
              <a:t>The image will scale to fit within the div while maintaining its aspect ratio </a:t>
            </a:r>
          </a:p>
          <a:p>
            <a:r>
              <a:rPr lang="en-US" dirty="0"/>
              <a:t>The div will have a 1px red border around it</a:t>
            </a:r>
            <a:endParaRPr lang="en-GH" dirty="0"/>
          </a:p>
        </p:txBody>
      </p:sp>
      <p:cxnSp>
        <p:nvCxnSpPr>
          <p:cNvPr id="15" name="Straight Arrow Connector 14">
            <a:extLst>
              <a:ext uri="{FF2B5EF4-FFF2-40B4-BE49-F238E27FC236}">
                <a16:creationId xmlns:a16="http://schemas.microsoft.com/office/drawing/2014/main" id="{01B2AC71-A0DC-8727-13E5-5A1E9BBCCCE1}"/>
              </a:ext>
            </a:extLst>
          </p:cNvPr>
          <p:cNvCxnSpPr/>
          <p:nvPr/>
        </p:nvCxnSpPr>
        <p:spPr>
          <a:xfrm flipV="1">
            <a:off x="2271562" y="2803139"/>
            <a:ext cx="3109793" cy="507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F757C6C-A861-E6BD-D8FD-CF7266BF6D81}"/>
              </a:ext>
            </a:extLst>
          </p:cNvPr>
          <p:cNvCxnSpPr/>
          <p:nvPr/>
        </p:nvCxnSpPr>
        <p:spPr>
          <a:xfrm flipV="1">
            <a:off x="2502568" y="3311091"/>
            <a:ext cx="2878787" cy="356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8F56CD5-BD93-B0D9-6164-C6A16170E8F2}"/>
              </a:ext>
            </a:extLst>
          </p:cNvPr>
          <p:cNvCxnSpPr/>
          <p:nvPr/>
        </p:nvCxnSpPr>
        <p:spPr>
          <a:xfrm flipV="1">
            <a:off x="4321743" y="3570973"/>
            <a:ext cx="1059612" cy="298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B4036B8-95DE-7476-192D-BB6C86A1A020}"/>
              </a:ext>
            </a:extLst>
          </p:cNvPr>
          <p:cNvCxnSpPr>
            <a:endCxn id="13" idx="1"/>
          </p:cNvCxnSpPr>
          <p:nvPr/>
        </p:nvCxnSpPr>
        <p:spPr>
          <a:xfrm flipV="1">
            <a:off x="4167739" y="4230957"/>
            <a:ext cx="1213616" cy="196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D669F40-CBEA-DB3B-AECA-12B44584E889}"/>
              </a:ext>
            </a:extLst>
          </p:cNvPr>
          <p:cNvCxnSpPr>
            <a:cxnSpLocks/>
            <a:endCxn id="26" idx="1"/>
          </p:cNvCxnSpPr>
          <p:nvPr/>
        </p:nvCxnSpPr>
        <p:spPr>
          <a:xfrm>
            <a:off x="3686476" y="4706754"/>
            <a:ext cx="1511167" cy="17806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6" name="Left Brace 25">
            <a:extLst>
              <a:ext uri="{FF2B5EF4-FFF2-40B4-BE49-F238E27FC236}">
                <a16:creationId xmlns:a16="http://schemas.microsoft.com/office/drawing/2014/main" id="{3968DC92-99E0-50BF-BC04-8B316E3C207E}"/>
              </a:ext>
            </a:extLst>
          </p:cNvPr>
          <p:cNvSpPr/>
          <p:nvPr/>
        </p:nvSpPr>
        <p:spPr>
          <a:xfrm>
            <a:off x="5197643" y="4494999"/>
            <a:ext cx="237694" cy="779647"/>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H"/>
          </a:p>
        </p:txBody>
      </p:sp>
      <p:cxnSp>
        <p:nvCxnSpPr>
          <p:cNvPr id="29" name="Straight Arrow Connector 28">
            <a:extLst>
              <a:ext uri="{FF2B5EF4-FFF2-40B4-BE49-F238E27FC236}">
                <a16:creationId xmlns:a16="http://schemas.microsoft.com/office/drawing/2014/main" id="{2A47E1B0-B7AD-28C1-330F-170936D3C9B4}"/>
              </a:ext>
            </a:extLst>
          </p:cNvPr>
          <p:cNvCxnSpPr/>
          <p:nvPr/>
        </p:nvCxnSpPr>
        <p:spPr>
          <a:xfrm>
            <a:off x="3320716" y="5014762"/>
            <a:ext cx="2114621" cy="546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17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534D7-8116-54B2-ECEF-CB49901B95D2}"/>
              </a:ext>
            </a:extLst>
          </p:cNvPr>
          <p:cNvSpPr>
            <a:spLocks noGrp="1"/>
          </p:cNvSpPr>
          <p:nvPr>
            <p:ph type="title"/>
          </p:nvPr>
        </p:nvSpPr>
        <p:spPr/>
        <p:txBody>
          <a:bodyPr/>
          <a:lstStyle/>
          <a:p>
            <a:r>
              <a:rPr lang="en-IN" dirty="0" err="1"/>
              <a:t>RWD</a:t>
            </a:r>
            <a:r>
              <a:rPr lang="en-IN" dirty="0"/>
              <a:t>-Background Images</a:t>
            </a:r>
            <a:endParaRPr lang="en-GH" dirty="0"/>
          </a:p>
        </p:txBody>
      </p:sp>
      <p:sp>
        <p:nvSpPr>
          <p:cNvPr id="3" name="Content Placeholder 2">
            <a:extLst>
              <a:ext uri="{FF2B5EF4-FFF2-40B4-BE49-F238E27FC236}">
                <a16:creationId xmlns:a16="http://schemas.microsoft.com/office/drawing/2014/main" id="{D32F02B0-8D49-E9FB-FBBA-B1FB69955288}"/>
              </a:ext>
            </a:extLst>
          </p:cNvPr>
          <p:cNvSpPr>
            <a:spLocks noGrp="1"/>
          </p:cNvSpPr>
          <p:nvPr>
            <p:ph idx="1"/>
          </p:nvPr>
        </p:nvSpPr>
        <p:spPr/>
        <p:txBody>
          <a:bodyPr/>
          <a:lstStyle/>
          <a:p>
            <a:r>
              <a:rPr lang="en-IN" dirty="0"/>
              <a:t>Effect of the example style on the previous slide:</a:t>
            </a:r>
            <a:endParaRPr lang="en-GH" dirty="0"/>
          </a:p>
        </p:txBody>
      </p:sp>
      <p:pic>
        <p:nvPicPr>
          <p:cNvPr id="5" name="Picture 4">
            <a:extLst>
              <a:ext uri="{FF2B5EF4-FFF2-40B4-BE49-F238E27FC236}">
                <a16:creationId xmlns:a16="http://schemas.microsoft.com/office/drawing/2014/main" id="{C819B5A0-BCC6-895C-2FC9-6FF6ECC35217}"/>
              </a:ext>
            </a:extLst>
          </p:cNvPr>
          <p:cNvPicPr>
            <a:picLocks noChangeAspect="1"/>
          </p:cNvPicPr>
          <p:nvPr/>
        </p:nvPicPr>
        <p:blipFill>
          <a:blip r:embed="rId2"/>
          <a:stretch>
            <a:fillRect/>
          </a:stretch>
        </p:blipFill>
        <p:spPr>
          <a:xfrm>
            <a:off x="240465" y="1911079"/>
            <a:ext cx="8681519" cy="3357493"/>
          </a:xfrm>
          <a:prstGeom prst="rect">
            <a:avLst/>
          </a:prstGeom>
        </p:spPr>
      </p:pic>
    </p:spTree>
    <p:extLst>
      <p:ext uri="{BB962C8B-B14F-4D97-AF65-F5344CB8AC3E}">
        <p14:creationId xmlns:p14="http://schemas.microsoft.com/office/powerpoint/2010/main" val="3949778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534D7-8116-54B2-ECEF-CB49901B95D2}"/>
              </a:ext>
            </a:extLst>
          </p:cNvPr>
          <p:cNvSpPr>
            <a:spLocks noGrp="1"/>
          </p:cNvSpPr>
          <p:nvPr>
            <p:ph type="title"/>
          </p:nvPr>
        </p:nvSpPr>
        <p:spPr/>
        <p:txBody>
          <a:bodyPr/>
          <a:lstStyle/>
          <a:p>
            <a:r>
              <a:rPr lang="en-IN" dirty="0" err="1"/>
              <a:t>RWD</a:t>
            </a:r>
            <a:r>
              <a:rPr lang="en-IN" dirty="0"/>
              <a:t>-Background Images</a:t>
            </a:r>
            <a:endParaRPr lang="en-GH" dirty="0"/>
          </a:p>
        </p:txBody>
      </p:sp>
      <p:sp>
        <p:nvSpPr>
          <p:cNvPr id="3" name="Content Placeholder 2">
            <a:extLst>
              <a:ext uri="{FF2B5EF4-FFF2-40B4-BE49-F238E27FC236}">
                <a16:creationId xmlns:a16="http://schemas.microsoft.com/office/drawing/2014/main" id="{D32F02B0-8D49-E9FB-FBBA-B1FB69955288}"/>
              </a:ext>
            </a:extLst>
          </p:cNvPr>
          <p:cNvSpPr>
            <a:spLocks noGrp="1"/>
          </p:cNvSpPr>
          <p:nvPr>
            <p:ph idx="1"/>
          </p:nvPr>
        </p:nvSpPr>
        <p:spPr>
          <a:xfrm>
            <a:off x="241101" y="1386039"/>
            <a:ext cx="8680884" cy="4943141"/>
          </a:xfrm>
        </p:spPr>
        <p:txBody>
          <a:bodyPr/>
          <a:lstStyle/>
          <a:p>
            <a:r>
              <a:rPr lang="en-IN" dirty="0"/>
              <a:t>Other values for the </a:t>
            </a:r>
            <a:r>
              <a:rPr lang="en-IN" i="1" dirty="0">
                <a:solidFill>
                  <a:srgbClr val="FF0000"/>
                </a:solidFill>
              </a:rPr>
              <a:t>background size</a:t>
            </a:r>
            <a:r>
              <a:rPr lang="en-IN" dirty="0"/>
              <a:t>:</a:t>
            </a:r>
          </a:p>
          <a:p>
            <a:r>
              <a:rPr lang="en-US" sz="2000" dirty="0"/>
              <a:t>If the background-size property is set to </a:t>
            </a:r>
            <a:r>
              <a:rPr lang="en-US" sz="2000" b="1" dirty="0">
                <a:solidFill>
                  <a:srgbClr val="0070C0"/>
                </a:solidFill>
              </a:rPr>
              <a:t>"100% 100%"</a:t>
            </a:r>
            <a:r>
              <a:rPr lang="en-US" sz="2000" dirty="0"/>
              <a:t>, the background image will stretch to cover the entire content area</a:t>
            </a:r>
          </a:p>
          <a:p>
            <a:endParaRPr lang="en-US" dirty="0"/>
          </a:p>
          <a:p>
            <a:endParaRPr lang="en-US" dirty="0"/>
          </a:p>
          <a:p>
            <a:pPr marL="0" indent="0">
              <a:buNone/>
            </a:pPr>
            <a:endParaRPr lang="en-US" dirty="0"/>
          </a:p>
          <a:p>
            <a:endParaRPr lang="en-US" sz="2000" dirty="0"/>
          </a:p>
          <a:p>
            <a:r>
              <a:rPr lang="en-US" sz="2000" dirty="0"/>
              <a:t>If the background-size property is set to </a:t>
            </a:r>
            <a:r>
              <a:rPr lang="en-US" sz="2000" b="1" dirty="0">
                <a:solidFill>
                  <a:srgbClr val="0070C0"/>
                </a:solidFill>
              </a:rPr>
              <a:t>"cover"</a:t>
            </a:r>
            <a:r>
              <a:rPr lang="en-US" sz="2000" dirty="0"/>
              <a:t>, the background image will scale to cover the entire content area. Some part of the background image may be clipped</a:t>
            </a:r>
          </a:p>
          <a:p>
            <a:endParaRPr lang="en-US" dirty="0"/>
          </a:p>
          <a:p>
            <a:endParaRPr lang="en-GH" dirty="0"/>
          </a:p>
        </p:txBody>
      </p:sp>
      <p:pic>
        <p:nvPicPr>
          <p:cNvPr id="6" name="Picture 5">
            <a:extLst>
              <a:ext uri="{FF2B5EF4-FFF2-40B4-BE49-F238E27FC236}">
                <a16:creationId xmlns:a16="http://schemas.microsoft.com/office/drawing/2014/main" id="{BC0C3757-2E45-FC4F-1E8B-D5C8E8F7B7FD}"/>
              </a:ext>
            </a:extLst>
          </p:cNvPr>
          <p:cNvPicPr>
            <a:picLocks noChangeAspect="1"/>
          </p:cNvPicPr>
          <p:nvPr/>
        </p:nvPicPr>
        <p:blipFill>
          <a:blip r:embed="rId2"/>
          <a:stretch>
            <a:fillRect/>
          </a:stretch>
        </p:blipFill>
        <p:spPr>
          <a:xfrm>
            <a:off x="2201826" y="2664896"/>
            <a:ext cx="3845197" cy="1516245"/>
          </a:xfrm>
          <a:prstGeom prst="rect">
            <a:avLst/>
          </a:prstGeom>
        </p:spPr>
      </p:pic>
      <p:pic>
        <p:nvPicPr>
          <p:cNvPr id="8" name="Picture 7">
            <a:extLst>
              <a:ext uri="{FF2B5EF4-FFF2-40B4-BE49-F238E27FC236}">
                <a16:creationId xmlns:a16="http://schemas.microsoft.com/office/drawing/2014/main" id="{37CF52B6-C4CC-D28A-ACCD-0D3290C4F9B0}"/>
              </a:ext>
            </a:extLst>
          </p:cNvPr>
          <p:cNvPicPr>
            <a:picLocks noChangeAspect="1"/>
          </p:cNvPicPr>
          <p:nvPr/>
        </p:nvPicPr>
        <p:blipFill>
          <a:blip r:embed="rId3"/>
          <a:stretch>
            <a:fillRect/>
          </a:stretch>
        </p:blipFill>
        <p:spPr>
          <a:xfrm>
            <a:off x="2165685" y="4986170"/>
            <a:ext cx="3917481" cy="1516245"/>
          </a:xfrm>
          <a:prstGeom prst="rect">
            <a:avLst/>
          </a:prstGeom>
        </p:spPr>
      </p:pic>
    </p:spTree>
    <p:extLst>
      <p:ext uri="{BB962C8B-B14F-4D97-AF65-F5344CB8AC3E}">
        <p14:creationId xmlns:p14="http://schemas.microsoft.com/office/powerpoint/2010/main" val="3088337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EA47B-0337-8BF9-3547-A92ECE17BB1B}"/>
              </a:ext>
            </a:extLst>
          </p:cNvPr>
          <p:cNvSpPr>
            <a:spLocks noGrp="1"/>
          </p:cNvSpPr>
          <p:nvPr>
            <p:ph type="title"/>
          </p:nvPr>
        </p:nvSpPr>
        <p:spPr/>
        <p:txBody>
          <a:bodyPr/>
          <a:lstStyle/>
          <a:p>
            <a:r>
              <a:rPr lang="en-IN" dirty="0"/>
              <a:t>Different Images for Different Devices</a:t>
            </a:r>
            <a:endParaRPr lang="en-GH" dirty="0"/>
          </a:p>
        </p:txBody>
      </p:sp>
      <p:sp>
        <p:nvSpPr>
          <p:cNvPr id="3" name="Content Placeholder 2">
            <a:extLst>
              <a:ext uri="{FF2B5EF4-FFF2-40B4-BE49-F238E27FC236}">
                <a16:creationId xmlns:a16="http://schemas.microsoft.com/office/drawing/2014/main" id="{A73DC2C9-CC0F-4761-36E9-2D69680433A7}"/>
              </a:ext>
            </a:extLst>
          </p:cNvPr>
          <p:cNvSpPr>
            <a:spLocks noGrp="1"/>
          </p:cNvSpPr>
          <p:nvPr>
            <p:ph idx="1"/>
          </p:nvPr>
        </p:nvSpPr>
        <p:spPr/>
        <p:txBody>
          <a:bodyPr/>
          <a:lstStyle/>
          <a:p>
            <a:r>
              <a:rPr lang="en-US" dirty="0"/>
              <a:t>A large image can be perfect on big screens but useless on a small device. To reduce the load, or for any other reasons, we can use media queries to display different images on different devices.</a:t>
            </a:r>
            <a:endParaRPr lang="en-GH" dirty="0"/>
          </a:p>
        </p:txBody>
      </p:sp>
      <p:sp>
        <p:nvSpPr>
          <p:cNvPr id="5" name="TextBox 4">
            <a:extLst>
              <a:ext uri="{FF2B5EF4-FFF2-40B4-BE49-F238E27FC236}">
                <a16:creationId xmlns:a16="http://schemas.microsoft.com/office/drawing/2014/main" id="{7D5AD300-C2E8-0F5A-866A-F81A0516BB84}"/>
              </a:ext>
            </a:extLst>
          </p:cNvPr>
          <p:cNvSpPr txBox="1"/>
          <p:nvPr/>
        </p:nvSpPr>
        <p:spPr>
          <a:xfrm>
            <a:off x="1140592" y="2825198"/>
            <a:ext cx="7089007" cy="3139321"/>
          </a:xfrm>
          <a:prstGeom prst="rect">
            <a:avLst/>
          </a:prstGeom>
          <a:noFill/>
        </p:spPr>
        <p:txBody>
          <a:bodyPr wrap="square">
            <a:spAutoFit/>
          </a:bodyPr>
          <a:lstStyle/>
          <a:p>
            <a:r>
              <a:rPr lang="en-IN" b="0" i="0" dirty="0">
                <a:solidFill>
                  <a:srgbClr val="008000"/>
                </a:solidFill>
                <a:effectLst/>
                <a:latin typeface="Consolas" panose="020B0609020204030204" pitchFamily="49" charset="0"/>
              </a:rPr>
              <a:t>/* For width smaller than 400px: */</a:t>
            </a:r>
            <a:br>
              <a:rPr lang="en-IN" dirty="0"/>
            </a:br>
            <a:r>
              <a:rPr lang="en-IN" b="0" i="0" dirty="0">
                <a:solidFill>
                  <a:srgbClr val="A52A2A"/>
                </a:solidFill>
                <a:effectLst/>
                <a:latin typeface="Consolas" panose="020B0609020204030204" pitchFamily="49" charset="0"/>
              </a:rPr>
              <a:t>body </a:t>
            </a:r>
            <a:r>
              <a:rPr lang="en-IN" b="0" i="0" dirty="0">
                <a:solidFill>
                  <a:srgbClr val="000000"/>
                </a:solidFill>
                <a:effectLst/>
                <a:latin typeface="Consolas" panose="020B0609020204030204" pitchFamily="49" charset="0"/>
              </a:rPr>
              <a:t>{</a:t>
            </a:r>
            <a:br>
              <a:rPr lang="en-IN" b="0" i="0" dirty="0">
                <a:solidFill>
                  <a:srgbClr val="FF0000"/>
                </a:solidFill>
                <a:effectLst/>
                <a:latin typeface="Consolas" panose="020B0609020204030204" pitchFamily="49" charset="0"/>
              </a:rPr>
            </a:br>
            <a:r>
              <a:rPr lang="en-IN" b="0" i="0" dirty="0">
                <a:solidFill>
                  <a:srgbClr val="FF0000"/>
                </a:solidFill>
                <a:effectLst/>
                <a:latin typeface="Consolas" panose="020B0609020204030204" pitchFamily="49" charset="0"/>
              </a:rPr>
              <a:t>  background-image</a:t>
            </a:r>
            <a:r>
              <a:rPr lang="en-IN" b="0" i="0" dirty="0">
                <a:solidFill>
                  <a:srgbClr val="000000"/>
                </a:solidFill>
                <a:effectLst/>
                <a:latin typeface="Consolas" panose="020B0609020204030204" pitchFamily="49" charset="0"/>
              </a:rPr>
              <a:t>:</a:t>
            </a:r>
            <a:r>
              <a:rPr lang="en-IN" b="0" i="0" dirty="0">
                <a:solidFill>
                  <a:srgbClr val="0000CD"/>
                </a:solidFill>
                <a:effectLst/>
                <a:latin typeface="Consolas" panose="020B0609020204030204" pitchFamily="49" charset="0"/>
              </a:rPr>
              <a:t> </a:t>
            </a:r>
            <a:r>
              <a:rPr lang="en-IN" b="0" i="0" dirty="0" err="1">
                <a:solidFill>
                  <a:srgbClr val="0000CD"/>
                </a:solidFill>
                <a:effectLst/>
                <a:latin typeface="Consolas" panose="020B0609020204030204" pitchFamily="49" charset="0"/>
              </a:rPr>
              <a:t>url</a:t>
            </a:r>
            <a:r>
              <a:rPr lang="en-IN" b="0" i="0" dirty="0">
                <a:solidFill>
                  <a:srgbClr val="0000CD"/>
                </a:solidFill>
                <a:effectLst/>
                <a:latin typeface="Consolas" panose="020B0609020204030204" pitchFamily="49" charset="0"/>
              </a:rPr>
              <a:t>('img_smallflower.jpg')</a:t>
            </a:r>
            <a:r>
              <a:rPr lang="en-IN" b="0" i="0" dirty="0">
                <a:solidFill>
                  <a:srgbClr val="000000"/>
                </a:solidFill>
                <a:effectLst/>
                <a:latin typeface="Consolas" panose="020B0609020204030204" pitchFamily="49" charset="0"/>
              </a:rPr>
              <a:t>;</a:t>
            </a:r>
            <a:br>
              <a:rPr lang="en-IN" b="0" i="0" dirty="0">
                <a:solidFill>
                  <a:srgbClr val="FF0000"/>
                </a:solidFill>
                <a:effectLst/>
                <a:latin typeface="Consolas" panose="020B0609020204030204" pitchFamily="49" charset="0"/>
              </a:rPr>
            </a:br>
            <a:r>
              <a:rPr lang="en-IN" b="0" i="0" dirty="0">
                <a:solidFill>
                  <a:srgbClr val="000000"/>
                </a:solidFill>
                <a:effectLst/>
                <a:latin typeface="Consolas" panose="020B0609020204030204" pitchFamily="49" charset="0"/>
              </a:rPr>
              <a:t>}</a:t>
            </a:r>
            <a:br>
              <a:rPr lang="en-IN" dirty="0"/>
            </a:br>
            <a:br>
              <a:rPr lang="en-IN" dirty="0"/>
            </a:br>
            <a:r>
              <a:rPr lang="en-IN" b="0" i="0" dirty="0">
                <a:solidFill>
                  <a:srgbClr val="008000"/>
                </a:solidFill>
                <a:effectLst/>
                <a:latin typeface="Consolas" panose="020B0609020204030204" pitchFamily="49" charset="0"/>
              </a:rPr>
              <a:t>/* For width 400px and larger: */</a:t>
            </a:r>
            <a:br>
              <a:rPr lang="en-IN" dirty="0"/>
            </a:br>
            <a:r>
              <a:rPr lang="en-IN" b="0" i="0" dirty="0">
                <a:solidFill>
                  <a:srgbClr val="A52A2A"/>
                </a:solidFill>
                <a:effectLst/>
                <a:latin typeface="Consolas" panose="020B0609020204030204" pitchFamily="49" charset="0"/>
              </a:rPr>
              <a:t>@media (min-width: 400px) </a:t>
            </a:r>
            <a:r>
              <a:rPr lang="en-IN" b="0" i="0" dirty="0">
                <a:solidFill>
                  <a:srgbClr val="000000"/>
                </a:solidFill>
                <a:effectLst/>
                <a:latin typeface="Consolas" panose="020B0609020204030204" pitchFamily="49" charset="0"/>
              </a:rPr>
              <a:t>{</a:t>
            </a:r>
            <a:br>
              <a:rPr lang="en-IN" b="0" i="0" dirty="0">
                <a:solidFill>
                  <a:srgbClr val="A52A2A"/>
                </a:solidFill>
                <a:effectLst/>
                <a:latin typeface="Consolas" panose="020B0609020204030204" pitchFamily="49" charset="0"/>
              </a:rPr>
            </a:br>
            <a:r>
              <a:rPr lang="en-IN" b="0" i="0" dirty="0">
                <a:solidFill>
                  <a:srgbClr val="A52A2A"/>
                </a:solidFill>
                <a:effectLst/>
                <a:latin typeface="Consolas" panose="020B0609020204030204" pitchFamily="49" charset="0"/>
              </a:rPr>
              <a:t>  body </a:t>
            </a:r>
            <a:r>
              <a:rPr lang="en-IN" b="0" i="0" dirty="0">
                <a:solidFill>
                  <a:srgbClr val="000000"/>
                </a:solidFill>
                <a:effectLst/>
                <a:latin typeface="Consolas" panose="020B0609020204030204" pitchFamily="49" charset="0"/>
              </a:rPr>
              <a:t>{</a:t>
            </a:r>
            <a:br>
              <a:rPr lang="en-IN" b="0" i="0" dirty="0">
                <a:solidFill>
                  <a:srgbClr val="FF0000"/>
                </a:solidFill>
                <a:effectLst/>
                <a:latin typeface="Consolas" panose="020B0609020204030204" pitchFamily="49" charset="0"/>
              </a:rPr>
            </a:br>
            <a:r>
              <a:rPr lang="en-IN" b="0" i="0" dirty="0">
                <a:solidFill>
                  <a:srgbClr val="FF0000"/>
                </a:solidFill>
                <a:effectLst/>
                <a:latin typeface="Consolas" panose="020B0609020204030204" pitchFamily="49" charset="0"/>
              </a:rPr>
              <a:t>    background-image</a:t>
            </a:r>
            <a:r>
              <a:rPr lang="en-IN" b="0" i="0" dirty="0">
                <a:solidFill>
                  <a:srgbClr val="000000"/>
                </a:solidFill>
                <a:effectLst/>
                <a:latin typeface="Consolas" panose="020B0609020204030204" pitchFamily="49" charset="0"/>
              </a:rPr>
              <a:t>:</a:t>
            </a:r>
            <a:r>
              <a:rPr lang="en-IN" b="0" i="0" dirty="0">
                <a:solidFill>
                  <a:srgbClr val="0000CD"/>
                </a:solidFill>
                <a:effectLst/>
                <a:latin typeface="Consolas" panose="020B0609020204030204" pitchFamily="49" charset="0"/>
              </a:rPr>
              <a:t> </a:t>
            </a:r>
            <a:r>
              <a:rPr lang="en-IN" b="0" i="0" dirty="0" err="1">
                <a:solidFill>
                  <a:srgbClr val="0000CD"/>
                </a:solidFill>
                <a:effectLst/>
                <a:latin typeface="Consolas" panose="020B0609020204030204" pitchFamily="49" charset="0"/>
              </a:rPr>
              <a:t>url</a:t>
            </a:r>
            <a:r>
              <a:rPr lang="en-IN" b="0" i="0" dirty="0">
                <a:solidFill>
                  <a:srgbClr val="0000CD"/>
                </a:solidFill>
                <a:effectLst/>
                <a:latin typeface="Consolas" panose="020B0609020204030204" pitchFamily="49" charset="0"/>
              </a:rPr>
              <a:t>('img_flowers.jpg')</a:t>
            </a:r>
            <a:r>
              <a:rPr lang="en-IN" b="0" i="0" dirty="0">
                <a:solidFill>
                  <a:srgbClr val="000000"/>
                </a:solidFill>
                <a:effectLst/>
                <a:latin typeface="Consolas" panose="020B0609020204030204" pitchFamily="49" charset="0"/>
              </a:rPr>
              <a:t>;</a:t>
            </a:r>
            <a:br>
              <a:rPr lang="en-IN" b="0" i="0" dirty="0">
                <a:solidFill>
                  <a:srgbClr val="FF0000"/>
                </a:solidFill>
                <a:effectLst/>
                <a:latin typeface="Consolas" panose="020B0609020204030204" pitchFamily="49" charset="0"/>
              </a:rPr>
            </a:br>
            <a:r>
              <a:rPr lang="en-IN" b="0" i="0" dirty="0">
                <a:solidFill>
                  <a:srgbClr val="FF0000"/>
                </a:solidFill>
                <a:effectLst/>
                <a:latin typeface="Consolas" panose="020B0609020204030204" pitchFamily="49" charset="0"/>
              </a:rPr>
              <a:t>  </a:t>
            </a:r>
            <a:r>
              <a:rPr lang="en-IN" b="0" i="0" dirty="0">
                <a:solidFill>
                  <a:srgbClr val="000000"/>
                </a:solidFill>
                <a:effectLst/>
                <a:latin typeface="Consolas" panose="020B0609020204030204" pitchFamily="49" charset="0"/>
              </a:rPr>
              <a:t>}</a:t>
            </a:r>
            <a:br>
              <a:rPr lang="en-IN" b="0" i="0" dirty="0">
                <a:solidFill>
                  <a:srgbClr val="A52A2A"/>
                </a:solidFill>
                <a:effectLst/>
                <a:latin typeface="Consolas" panose="020B0609020204030204" pitchFamily="49" charset="0"/>
              </a:rPr>
            </a:br>
            <a:r>
              <a:rPr lang="en-IN" b="0" i="0" dirty="0">
                <a:solidFill>
                  <a:srgbClr val="000000"/>
                </a:solidFill>
                <a:effectLst/>
                <a:latin typeface="Consolas" panose="020B0609020204030204" pitchFamily="49" charset="0"/>
              </a:rPr>
              <a:t>}</a:t>
            </a:r>
            <a:endParaRPr lang="en-GH" dirty="0"/>
          </a:p>
        </p:txBody>
      </p:sp>
    </p:spTree>
    <p:extLst>
      <p:ext uri="{BB962C8B-B14F-4D97-AF65-F5344CB8AC3E}">
        <p14:creationId xmlns:p14="http://schemas.microsoft.com/office/powerpoint/2010/main" val="4127643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499A-359D-ADEE-7527-C8034E4B54B4}"/>
              </a:ext>
            </a:extLst>
          </p:cNvPr>
          <p:cNvSpPr>
            <a:spLocks noGrp="1"/>
          </p:cNvSpPr>
          <p:nvPr>
            <p:ph type="title"/>
          </p:nvPr>
        </p:nvSpPr>
        <p:spPr/>
        <p:txBody>
          <a:bodyPr/>
          <a:lstStyle/>
          <a:p>
            <a:r>
              <a:rPr lang="en-IN" dirty="0"/>
              <a:t>The HTML &lt;picture&gt; Element</a:t>
            </a:r>
            <a:endParaRPr lang="en-GH" dirty="0"/>
          </a:p>
        </p:txBody>
      </p:sp>
      <p:sp>
        <p:nvSpPr>
          <p:cNvPr id="4" name="Rectangle 1">
            <a:extLst>
              <a:ext uri="{FF2B5EF4-FFF2-40B4-BE49-F238E27FC236}">
                <a16:creationId xmlns:a16="http://schemas.microsoft.com/office/drawing/2014/main" id="{AB40FECD-EAFC-2C6C-3DD0-759D59C53B42}"/>
              </a:ext>
            </a:extLst>
          </p:cNvPr>
          <p:cNvSpPr>
            <a:spLocks noGrp="1" noChangeArrowheads="1"/>
          </p:cNvSpPr>
          <p:nvPr>
            <p:ph idx="1"/>
          </p:nvPr>
        </p:nvSpPr>
        <p:spPr bwMode="auto">
          <a:xfrm>
            <a:off x="240465" y="1366160"/>
            <a:ext cx="8681519" cy="45243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GH" altLang="en-GH" b="0" i="0" u="none" strike="noStrike" cap="none" normalizeH="0" baseline="0" dirty="0">
                <a:ln>
                  <a:noFill/>
                </a:ln>
                <a:solidFill>
                  <a:srgbClr val="000000"/>
                </a:solidFill>
                <a:effectLst/>
                <a:latin typeface="+mn-lt"/>
              </a:rPr>
              <a:t>The HTML </a:t>
            </a:r>
            <a:r>
              <a:rPr kumimoji="0" lang="en-GH" altLang="en-GH" b="0" i="0" u="none" strike="noStrike" cap="none" normalizeH="0" baseline="0" dirty="0">
                <a:ln>
                  <a:noFill/>
                </a:ln>
                <a:solidFill>
                  <a:srgbClr val="DC143C"/>
                </a:solidFill>
                <a:effectLst/>
                <a:latin typeface="+mn-lt"/>
              </a:rPr>
              <a:t>&lt;picture&gt;</a:t>
            </a:r>
            <a:r>
              <a:rPr kumimoji="0" lang="en-GH" altLang="en-GH" b="0" i="0" u="none" strike="noStrike" cap="none" normalizeH="0" baseline="0" dirty="0">
                <a:ln>
                  <a:noFill/>
                </a:ln>
                <a:solidFill>
                  <a:srgbClr val="000000"/>
                </a:solidFill>
                <a:effectLst/>
                <a:latin typeface="+mn-lt"/>
              </a:rPr>
              <a:t> element gives web developers more flexibility in specifying image resources.</a:t>
            </a:r>
            <a:endParaRPr kumimoji="0" lang="en-IN" altLang="en-GH" b="0" i="0" u="none" strike="noStrike" cap="none" normalizeH="0" baseline="0" dirty="0">
              <a:ln>
                <a:noFill/>
              </a:ln>
              <a:solidFill>
                <a:srgbClr val="000000"/>
              </a:solidFill>
              <a:effectLst/>
              <a:latin typeface="+mn-lt"/>
            </a:endParaRPr>
          </a:p>
          <a:p>
            <a:pPr>
              <a:lnSpc>
                <a:spcPct val="100000"/>
              </a:lnSpc>
            </a:pPr>
            <a:endParaRPr kumimoji="0" lang="en-GH" altLang="en-GH" b="0" i="0" u="none" strike="noStrike" cap="none" normalizeH="0" baseline="0" dirty="0">
              <a:ln>
                <a:noFill/>
              </a:ln>
              <a:solidFill>
                <a:schemeClr val="tx1"/>
              </a:solidFill>
              <a:effectLst/>
              <a:latin typeface="+mn-lt"/>
            </a:endParaRPr>
          </a:p>
          <a:p>
            <a:pPr>
              <a:lnSpc>
                <a:spcPct val="100000"/>
              </a:lnSpc>
            </a:pPr>
            <a:r>
              <a:rPr kumimoji="0" lang="en-GH" altLang="en-GH" b="0" i="0" u="none" strike="noStrike" cap="none" normalizeH="0" baseline="0" dirty="0">
                <a:ln>
                  <a:noFill/>
                </a:ln>
                <a:solidFill>
                  <a:srgbClr val="000000"/>
                </a:solidFill>
                <a:effectLst/>
                <a:latin typeface="+mn-lt"/>
              </a:rPr>
              <a:t>The most common use of the </a:t>
            </a:r>
            <a:r>
              <a:rPr kumimoji="0" lang="en-GH" altLang="en-GH" b="0" i="0" u="none" strike="noStrike" cap="none" normalizeH="0" baseline="0" dirty="0">
                <a:ln>
                  <a:noFill/>
                </a:ln>
                <a:solidFill>
                  <a:srgbClr val="DC143C"/>
                </a:solidFill>
                <a:effectLst/>
                <a:latin typeface="+mn-lt"/>
              </a:rPr>
              <a:t>&lt;picture&gt;</a:t>
            </a:r>
            <a:r>
              <a:rPr kumimoji="0" lang="en-GH" altLang="en-GH" b="0" i="0" u="none" strike="noStrike" cap="none" normalizeH="0" baseline="0" dirty="0">
                <a:ln>
                  <a:noFill/>
                </a:ln>
                <a:solidFill>
                  <a:srgbClr val="000000"/>
                </a:solidFill>
                <a:effectLst/>
                <a:latin typeface="+mn-lt"/>
              </a:rPr>
              <a:t> element will be for images used in responsive designs. Instead of having one image that is scaled up or down based on the viewport width, multiple images can be designed to more nicely fill the browser viewport.</a:t>
            </a:r>
            <a:endParaRPr kumimoji="0" lang="en-IN" altLang="en-GH" b="0" i="0" u="none" strike="noStrike" cap="none" normalizeH="0" baseline="0" dirty="0">
              <a:ln>
                <a:noFill/>
              </a:ln>
              <a:solidFill>
                <a:srgbClr val="000000"/>
              </a:solidFill>
              <a:effectLst/>
              <a:latin typeface="+mn-lt"/>
            </a:endParaRPr>
          </a:p>
          <a:p>
            <a:pPr>
              <a:lnSpc>
                <a:spcPct val="100000"/>
              </a:lnSpc>
            </a:pPr>
            <a:endParaRPr kumimoji="0" lang="en-GH" altLang="en-GH" b="0" i="0" u="none" strike="noStrike" cap="none" normalizeH="0" baseline="0" dirty="0">
              <a:ln>
                <a:noFill/>
              </a:ln>
              <a:solidFill>
                <a:schemeClr val="tx1"/>
              </a:solidFill>
              <a:effectLst/>
              <a:latin typeface="+mn-lt"/>
            </a:endParaRPr>
          </a:p>
          <a:p>
            <a:pPr>
              <a:lnSpc>
                <a:spcPct val="100000"/>
              </a:lnSpc>
            </a:pPr>
            <a:r>
              <a:rPr kumimoji="0" lang="en-GH" altLang="en-GH" b="0" i="0" u="none" strike="noStrike" cap="none" normalizeH="0" baseline="0" dirty="0">
                <a:ln>
                  <a:noFill/>
                </a:ln>
                <a:solidFill>
                  <a:srgbClr val="000000"/>
                </a:solidFill>
                <a:effectLst/>
                <a:latin typeface="+mn-lt"/>
              </a:rPr>
              <a:t>The </a:t>
            </a:r>
            <a:r>
              <a:rPr kumimoji="0" lang="en-GH" altLang="en-GH" b="0" i="0" u="none" strike="noStrike" cap="none" normalizeH="0" baseline="0" dirty="0">
                <a:ln>
                  <a:noFill/>
                </a:ln>
                <a:solidFill>
                  <a:srgbClr val="DC143C"/>
                </a:solidFill>
                <a:effectLst/>
                <a:latin typeface="+mn-lt"/>
              </a:rPr>
              <a:t>&lt;picture&gt;</a:t>
            </a:r>
            <a:r>
              <a:rPr kumimoji="0" lang="en-GH" altLang="en-GH" b="0" i="0" u="none" strike="noStrike" cap="none" normalizeH="0" baseline="0" dirty="0">
                <a:ln>
                  <a:noFill/>
                </a:ln>
                <a:solidFill>
                  <a:srgbClr val="000000"/>
                </a:solidFill>
                <a:effectLst/>
                <a:latin typeface="+mn-lt"/>
              </a:rPr>
              <a:t> element works </a:t>
            </a:r>
            <a:r>
              <a:rPr kumimoji="0" lang="en-IN" altLang="en-GH" b="0" i="0" u="none" strike="noStrike" cap="none" normalizeH="0" baseline="0" dirty="0">
                <a:ln>
                  <a:noFill/>
                </a:ln>
                <a:solidFill>
                  <a:srgbClr val="000000"/>
                </a:solidFill>
                <a:effectLst/>
                <a:latin typeface="+mn-lt"/>
              </a:rPr>
              <a:t>similarly</a:t>
            </a:r>
            <a:r>
              <a:rPr kumimoji="0" lang="en-GH" altLang="en-GH" b="0" i="0" u="none" strike="noStrike" cap="none" normalizeH="0" baseline="0" dirty="0">
                <a:ln>
                  <a:noFill/>
                </a:ln>
                <a:solidFill>
                  <a:srgbClr val="000000"/>
                </a:solidFill>
                <a:effectLst/>
                <a:latin typeface="+mn-lt"/>
              </a:rPr>
              <a:t> to</a:t>
            </a:r>
            <a:r>
              <a:rPr lang="en-IN" altLang="en-GH" dirty="0">
                <a:solidFill>
                  <a:srgbClr val="000000"/>
                </a:solidFill>
                <a:latin typeface="+mn-lt"/>
              </a:rPr>
              <a:t> </a:t>
            </a:r>
            <a:r>
              <a:rPr kumimoji="0" lang="en-GH" altLang="en-GH" b="0" i="0" u="none" strike="noStrike" cap="none" normalizeH="0" baseline="0" dirty="0">
                <a:ln>
                  <a:noFill/>
                </a:ln>
                <a:solidFill>
                  <a:srgbClr val="000000"/>
                </a:solidFill>
                <a:effectLst/>
                <a:latin typeface="+mn-lt"/>
              </a:rPr>
              <a:t>the </a:t>
            </a:r>
            <a:r>
              <a:rPr kumimoji="0" lang="en-GH" altLang="en-GH" b="0" i="0" u="none" strike="noStrike" cap="none" normalizeH="0" baseline="0" dirty="0">
                <a:ln>
                  <a:noFill/>
                </a:ln>
                <a:solidFill>
                  <a:srgbClr val="DC143C"/>
                </a:solidFill>
                <a:effectLst/>
                <a:latin typeface="+mn-lt"/>
              </a:rPr>
              <a:t>&lt;video&gt;</a:t>
            </a:r>
            <a:r>
              <a:rPr kumimoji="0" lang="en-GH" altLang="en-GH" b="0" i="0" u="none" strike="noStrike" cap="none" normalizeH="0" baseline="0" dirty="0">
                <a:ln>
                  <a:noFill/>
                </a:ln>
                <a:solidFill>
                  <a:srgbClr val="000000"/>
                </a:solidFill>
                <a:effectLst/>
                <a:latin typeface="+mn-lt"/>
              </a:rPr>
              <a:t> and</a:t>
            </a:r>
            <a:r>
              <a:rPr lang="en-IN" altLang="en-GH" dirty="0">
                <a:solidFill>
                  <a:srgbClr val="000000"/>
                </a:solidFill>
                <a:latin typeface="+mn-lt"/>
              </a:rPr>
              <a:t> </a:t>
            </a:r>
            <a:r>
              <a:rPr kumimoji="0" lang="en-GH" altLang="en-GH" b="0" i="0" u="none" strike="noStrike" cap="none" normalizeH="0" baseline="0" dirty="0">
                <a:ln>
                  <a:noFill/>
                </a:ln>
                <a:solidFill>
                  <a:srgbClr val="DC143C"/>
                </a:solidFill>
                <a:effectLst/>
                <a:latin typeface="+mn-lt"/>
              </a:rPr>
              <a:t>&lt;audio&gt;</a:t>
            </a:r>
            <a:r>
              <a:rPr kumimoji="0" lang="en-GH" altLang="en-GH" b="0" i="0" u="none" strike="noStrike" cap="none" normalizeH="0" baseline="0" dirty="0">
                <a:ln>
                  <a:noFill/>
                </a:ln>
                <a:solidFill>
                  <a:srgbClr val="000000"/>
                </a:solidFill>
                <a:effectLst/>
                <a:latin typeface="+mn-lt"/>
              </a:rPr>
              <a:t> elements. </a:t>
            </a:r>
            <a:endParaRPr kumimoji="0" lang="en-IN" altLang="en-GH" b="0" i="0" u="none" strike="noStrike" cap="none" normalizeH="0" baseline="0" dirty="0">
              <a:ln>
                <a:noFill/>
              </a:ln>
              <a:solidFill>
                <a:srgbClr val="000000"/>
              </a:solidFill>
              <a:effectLst/>
              <a:latin typeface="+mn-lt"/>
            </a:endParaRPr>
          </a:p>
          <a:p>
            <a:pPr>
              <a:lnSpc>
                <a:spcPct val="100000"/>
              </a:lnSpc>
            </a:pPr>
            <a:r>
              <a:rPr kumimoji="0" lang="en-IN" altLang="en-GH" b="0" i="0" u="none" strike="noStrike" cap="none" normalizeH="0" baseline="0" dirty="0">
                <a:ln>
                  <a:noFill/>
                </a:ln>
                <a:solidFill>
                  <a:srgbClr val="000000"/>
                </a:solidFill>
                <a:effectLst/>
                <a:latin typeface="+mn-lt"/>
              </a:rPr>
              <a:t>We</a:t>
            </a:r>
            <a:r>
              <a:rPr kumimoji="0" lang="en-GH" altLang="en-GH" b="0" i="0" u="none" strike="noStrike" cap="none" normalizeH="0" baseline="0" dirty="0">
                <a:ln>
                  <a:noFill/>
                </a:ln>
                <a:solidFill>
                  <a:srgbClr val="000000"/>
                </a:solidFill>
                <a:effectLst/>
                <a:latin typeface="+mn-lt"/>
              </a:rPr>
              <a:t> set up different sources, and the first source that fits the preferences </a:t>
            </a:r>
            <a:r>
              <a:rPr kumimoji="0" lang="en-IN" altLang="en-GH" b="0" i="0" u="none" strike="noStrike" cap="none" normalizeH="0" baseline="0" dirty="0">
                <a:ln>
                  <a:noFill/>
                </a:ln>
                <a:solidFill>
                  <a:srgbClr val="000000"/>
                </a:solidFill>
                <a:effectLst/>
                <a:latin typeface="+mn-lt"/>
              </a:rPr>
              <a:t>will be </a:t>
            </a:r>
            <a:r>
              <a:rPr kumimoji="0" lang="en-GH" altLang="en-GH" b="0" i="0" u="none" strike="noStrike" cap="none" normalizeH="0" baseline="0" dirty="0">
                <a:ln>
                  <a:noFill/>
                </a:ln>
                <a:solidFill>
                  <a:srgbClr val="000000"/>
                </a:solidFill>
                <a:effectLst/>
                <a:latin typeface="+mn-lt"/>
              </a:rPr>
              <a:t>the one used</a:t>
            </a:r>
            <a:endParaRPr kumimoji="0" lang="en-GH" altLang="en-GH"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244587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499A-359D-ADEE-7527-C8034E4B54B4}"/>
              </a:ext>
            </a:extLst>
          </p:cNvPr>
          <p:cNvSpPr>
            <a:spLocks noGrp="1"/>
          </p:cNvSpPr>
          <p:nvPr>
            <p:ph type="title"/>
          </p:nvPr>
        </p:nvSpPr>
        <p:spPr/>
        <p:txBody>
          <a:bodyPr/>
          <a:lstStyle/>
          <a:p>
            <a:r>
              <a:rPr lang="en-IN" dirty="0"/>
              <a:t>The HTML &lt;picture&gt; Element</a:t>
            </a:r>
            <a:endParaRPr lang="en-GH" dirty="0"/>
          </a:p>
        </p:txBody>
      </p:sp>
      <p:sp>
        <p:nvSpPr>
          <p:cNvPr id="4" name="Rectangle 1">
            <a:extLst>
              <a:ext uri="{FF2B5EF4-FFF2-40B4-BE49-F238E27FC236}">
                <a16:creationId xmlns:a16="http://schemas.microsoft.com/office/drawing/2014/main" id="{AB40FECD-EAFC-2C6C-3DD0-759D59C53B42}"/>
              </a:ext>
            </a:extLst>
          </p:cNvPr>
          <p:cNvSpPr>
            <a:spLocks noGrp="1" noChangeArrowheads="1"/>
          </p:cNvSpPr>
          <p:nvPr>
            <p:ph idx="1"/>
          </p:nvPr>
        </p:nvSpPr>
        <p:spPr bwMode="auto">
          <a:xfrm>
            <a:off x="240465" y="1106278"/>
            <a:ext cx="8681519"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None/>
            </a:pPr>
            <a:r>
              <a:rPr lang="en-IN" sz="2000" b="0" i="0" dirty="0">
                <a:solidFill>
                  <a:srgbClr val="0000CD"/>
                </a:solidFill>
                <a:effectLst/>
                <a:latin typeface="Consolas" panose="020B0609020204030204" pitchFamily="49" charset="0"/>
              </a:rPr>
              <a:t>&lt;</a:t>
            </a:r>
            <a:r>
              <a:rPr lang="en-IN" sz="2000" b="0" i="0" dirty="0">
                <a:solidFill>
                  <a:srgbClr val="A52A2A"/>
                </a:solidFill>
                <a:effectLst/>
                <a:latin typeface="Consolas" panose="020B0609020204030204" pitchFamily="49" charset="0"/>
              </a:rPr>
              <a:t>picture</a:t>
            </a:r>
            <a:r>
              <a:rPr lang="en-IN" sz="2000" b="0" i="0" dirty="0">
                <a:solidFill>
                  <a:srgbClr val="0000CD"/>
                </a:solidFill>
                <a:effectLst/>
                <a:latin typeface="Consolas" panose="020B0609020204030204" pitchFamily="49" charset="0"/>
              </a:rPr>
              <a:t>&gt;</a:t>
            </a:r>
            <a:br>
              <a:rPr lang="en-IN" sz="2000" dirty="0"/>
            </a:br>
            <a:r>
              <a:rPr lang="en-IN" sz="2000" b="0" i="0" dirty="0">
                <a:solidFill>
                  <a:srgbClr val="000000"/>
                </a:solidFill>
                <a:effectLst/>
                <a:latin typeface="Consolas" panose="020B0609020204030204" pitchFamily="49" charset="0"/>
              </a:rPr>
              <a:t>  </a:t>
            </a:r>
          </a:p>
          <a:p>
            <a:pPr marL="0" indent="0">
              <a:lnSpc>
                <a:spcPct val="100000"/>
              </a:lnSpc>
              <a:buNone/>
            </a:pPr>
            <a:r>
              <a:rPr lang="en-IN" sz="2000" dirty="0">
                <a:solidFill>
                  <a:srgbClr val="000000"/>
                </a:solidFill>
                <a:latin typeface="Consolas" panose="020B0609020204030204" pitchFamily="49" charset="0"/>
              </a:rPr>
              <a:t>	</a:t>
            </a:r>
            <a:r>
              <a:rPr lang="en-IN" sz="2000" b="0" i="0" dirty="0">
                <a:solidFill>
                  <a:srgbClr val="0000CD"/>
                </a:solidFill>
                <a:effectLst/>
                <a:latin typeface="Consolas" panose="020B0609020204030204" pitchFamily="49" charset="0"/>
              </a:rPr>
              <a:t>&lt;</a:t>
            </a:r>
            <a:r>
              <a:rPr lang="en-IN" sz="2000" b="0" i="0" dirty="0">
                <a:solidFill>
                  <a:srgbClr val="A52A2A"/>
                </a:solidFill>
                <a:effectLst/>
                <a:latin typeface="Consolas" panose="020B0609020204030204" pitchFamily="49" charset="0"/>
              </a:rPr>
              <a:t>source</a:t>
            </a:r>
            <a:r>
              <a:rPr lang="en-IN" sz="2000" b="0" i="0" dirty="0">
                <a:solidFill>
                  <a:srgbClr val="FF0000"/>
                </a:solidFill>
                <a:effectLst/>
                <a:latin typeface="Consolas" panose="020B0609020204030204" pitchFamily="49" charset="0"/>
              </a:rPr>
              <a:t> </a:t>
            </a:r>
            <a:r>
              <a:rPr lang="en-IN" sz="2000" b="0" i="0" dirty="0" err="1">
                <a:solidFill>
                  <a:srgbClr val="FF0000"/>
                </a:solidFill>
                <a:effectLst/>
                <a:latin typeface="Consolas" panose="020B0609020204030204" pitchFamily="49" charset="0"/>
              </a:rPr>
              <a:t>srcset</a:t>
            </a:r>
            <a:r>
              <a:rPr lang="en-IN" sz="2000" b="0" i="0" dirty="0">
                <a:solidFill>
                  <a:srgbClr val="0000CD"/>
                </a:solidFill>
                <a:effectLst/>
                <a:latin typeface="Consolas" panose="020B0609020204030204" pitchFamily="49" charset="0"/>
              </a:rPr>
              <a:t>="img_smallflower.jpg"</a:t>
            </a:r>
            <a:r>
              <a:rPr lang="en-IN" sz="2000" b="0" i="0" dirty="0">
                <a:solidFill>
                  <a:srgbClr val="FF0000"/>
                </a:solidFill>
                <a:effectLst/>
                <a:latin typeface="Consolas" panose="020B0609020204030204" pitchFamily="49" charset="0"/>
              </a:rPr>
              <a:t> media</a:t>
            </a:r>
            <a:r>
              <a:rPr lang="en-IN" sz="2000" b="0" i="0" dirty="0">
                <a:solidFill>
                  <a:srgbClr val="0000CD"/>
                </a:solidFill>
                <a:effectLst/>
                <a:latin typeface="Consolas" panose="020B0609020204030204" pitchFamily="49" charset="0"/>
              </a:rPr>
              <a:t>="(max-			width: 400px)"&gt;</a:t>
            </a:r>
            <a:br>
              <a:rPr lang="en-IN" sz="2000" dirty="0"/>
            </a:br>
            <a:r>
              <a:rPr lang="en-IN" sz="2000" b="0" i="0" dirty="0">
                <a:solidFill>
                  <a:srgbClr val="000000"/>
                </a:solidFill>
                <a:effectLst/>
                <a:latin typeface="Consolas" panose="020B0609020204030204" pitchFamily="49" charset="0"/>
              </a:rPr>
              <a:t>  	</a:t>
            </a:r>
            <a:r>
              <a:rPr lang="en-IN" sz="2000" b="0" i="0" dirty="0">
                <a:solidFill>
                  <a:srgbClr val="0000CD"/>
                </a:solidFill>
                <a:effectLst/>
                <a:latin typeface="Consolas" panose="020B0609020204030204" pitchFamily="49" charset="0"/>
              </a:rPr>
              <a:t>&lt;</a:t>
            </a:r>
            <a:r>
              <a:rPr lang="en-IN" sz="2000" b="0" i="0" dirty="0">
                <a:solidFill>
                  <a:srgbClr val="A52A2A"/>
                </a:solidFill>
                <a:effectLst/>
                <a:latin typeface="Consolas" panose="020B0609020204030204" pitchFamily="49" charset="0"/>
              </a:rPr>
              <a:t>source</a:t>
            </a:r>
            <a:r>
              <a:rPr lang="en-IN" sz="2000" b="0" i="0" dirty="0">
                <a:solidFill>
                  <a:srgbClr val="FF0000"/>
                </a:solidFill>
                <a:effectLst/>
                <a:latin typeface="Consolas" panose="020B0609020204030204" pitchFamily="49" charset="0"/>
              </a:rPr>
              <a:t> </a:t>
            </a:r>
            <a:r>
              <a:rPr lang="en-IN" sz="2000" b="0" i="0" dirty="0" err="1">
                <a:solidFill>
                  <a:srgbClr val="FF0000"/>
                </a:solidFill>
                <a:effectLst/>
                <a:latin typeface="Consolas" panose="020B0609020204030204" pitchFamily="49" charset="0"/>
              </a:rPr>
              <a:t>srcset</a:t>
            </a:r>
            <a:r>
              <a:rPr lang="en-IN" sz="2000" b="0" i="0" dirty="0">
                <a:solidFill>
                  <a:srgbClr val="0000CD"/>
                </a:solidFill>
                <a:effectLst/>
                <a:latin typeface="Consolas" panose="020B0609020204030204" pitchFamily="49" charset="0"/>
              </a:rPr>
              <a:t>="img_flowers.jpg"&gt;</a:t>
            </a:r>
            <a:br>
              <a:rPr lang="en-IN" sz="2000" dirty="0"/>
            </a:br>
            <a:r>
              <a:rPr lang="en-IN" sz="2000" b="0" i="0" dirty="0">
                <a:solidFill>
                  <a:srgbClr val="000000"/>
                </a:solidFill>
                <a:effectLst/>
                <a:latin typeface="Consolas" panose="020B0609020204030204" pitchFamily="49" charset="0"/>
              </a:rPr>
              <a:t>  	</a:t>
            </a:r>
            <a:r>
              <a:rPr lang="en-IN" sz="2000" b="0" i="0" dirty="0">
                <a:solidFill>
                  <a:srgbClr val="0000CD"/>
                </a:solidFill>
                <a:effectLst/>
                <a:latin typeface="Consolas" panose="020B0609020204030204" pitchFamily="49" charset="0"/>
              </a:rPr>
              <a:t>&lt;</a:t>
            </a:r>
            <a:r>
              <a:rPr lang="en-IN" sz="2000" b="0" i="0" dirty="0" err="1">
                <a:solidFill>
                  <a:srgbClr val="A52A2A"/>
                </a:solidFill>
                <a:effectLst/>
                <a:latin typeface="Consolas" panose="020B0609020204030204" pitchFamily="49" charset="0"/>
              </a:rPr>
              <a:t>img</a:t>
            </a:r>
            <a:r>
              <a:rPr lang="en-IN" sz="2000" b="0" i="0" dirty="0">
                <a:solidFill>
                  <a:srgbClr val="FF0000"/>
                </a:solidFill>
                <a:effectLst/>
                <a:latin typeface="Consolas" panose="020B0609020204030204" pitchFamily="49" charset="0"/>
              </a:rPr>
              <a:t> </a:t>
            </a:r>
            <a:r>
              <a:rPr lang="en-IN" sz="2000" b="0" i="0" dirty="0" err="1">
                <a:solidFill>
                  <a:srgbClr val="FF0000"/>
                </a:solidFill>
                <a:effectLst/>
                <a:latin typeface="Consolas" panose="020B0609020204030204" pitchFamily="49" charset="0"/>
              </a:rPr>
              <a:t>src</a:t>
            </a:r>
            <a:r>
              <a:rPr lang="en-IN" sz="2000" b="0" i="0" dirty="0">
                <a:solidFill>
                  <a:srgbClr val="0000CD"/>
                </a:solidFill>
                <a:effectLst/>
                <a:latin typeface="Consolas" panose="020B0609020204030204" pitchFamily="49" charset="0"/>
              </a:rPr>
              <a:t>="img_flowers.jpg"</a:t>
            </a:r>
            <a:r>
              <a:rPr lang="en-IN" sz="2000" b="0" i="0" dirty="0">
                <a:solidFill>
                  <a:srgbClr val="FF0000"/>
                </a:solidFill>
                <a:effectLst/>
                <a:latin typeface="Consolas" panose="020B0609020204030204" pitchFamily="49" charset="0"/>
              </a:rPr>
              <a:t> alt</a:t>
            </a:r>
            <a:r>
              <a:rPr lang="en-IN" sz="2000" b="0" i="0" dirty="0">
                <a:solidFill>
                  <a:srgbClr val="0000CD"/>
                </a:solidFill>
                <a:effectLst/>
                <a:latin typeface="Consolas" panose="020B0609020204030204" pitchFamily="49" charset="0"/>
              </a:rPr>
              <a:t>="Flowers"&gt;</a:t>
            </a:r>
            <a:br>
              <a:rPr lang="en-IN" sz="2000" dirty="0"/>
            </a:br>
            <a:endParaRPr lang="en-IN" sz="2000" dirty="0"/>
          </a:p>
          <a:p>
            <a:pPr marL="0" indent="0">
              <a:lnSpc>
                <a:spcPct val="100000"/>
              </a:lnSpc>
              <a:buNone/>
            </a:pPr>
            <a:r>
              <a:rPr lang="en-IN" sz="2000" b="0" i="0" dirty="0">
                <a:solidFill>
                  <a:srgbClr val="0000CD"/>
                </a:solidFill>
                <a:effectLst/>
                <a:latin typeface="Consolas" panose="020B0609020204030204" pitchFamily="49" charset="0"/>
              </a:rPr>
              <a:t>&lt;</a:t>
            </a:r>
            <a:r>
              <a:rPr lang="en-IN" sz="2000" b="0" i="0" dirty="0">
                <a:solidFill>
                  <a:srgbClr val="A52A2A"/>
                </a:solidFill>
                <a:effectLst/>
                <a:latin typeface="Consolas" panose="020B0609020204030204" pitchFamily="49" charset="0"/>
              </a:rPr>
              <a:t>/picture</a:t>
            </a:r>
            <a:r>
              <a:rPr lang="en-IN" sz="2000" b="0" i="0" dirty="0">
                <a:solidFill>
                  <a:srgbClr val="0000CD"/>
                </a:solidFill>
                <a:effectLst/>
                <a:latin typeface="Consolas" panose="020B0609020204030204" pitchFamily="49" charset="0"/>
              </a:rPr>
              <a:t>&gt;</a:t>
            </a:r>
            <a:endParaRPr kumimoji="0" lang="en-GH" altLang="en-GH" sz="2000" b="0" i="0" u="none" strike="noStrike" cap="none" normalizeH="0" baseline="0" dirty="0">
              <a:ln>
                <a:noFill/>
              </a:ln>
              <a:solidFill>
                <a:schemeClr val="tx1"/>
              </a:solidFill>
              <a:effectLst/>
              <a:latin typeface="+mn-lt"/>
            </a:endParaRPr>
          </a:p>
        </p:txBody>
      </p:sp>
      <p:sp>
        <p:nvSpPr>
          <p:cNvPr id="5" name="TextBox 4">
            <a:extLst>
              <a:ext uri="{FF2B5EF4-FFF2-40B4-BE49-F238E27FC236}">
                <a16:creationId xmlns:a16="http://schemas.microsoft.com/office/drawing/2014/main" id="{B81DA146-73BD-3759-9FDD-EE479E20A5DB}"/>
              </a:ext>
            </a:extLst>
          </p:cNvPr>
          <p:cNvSpPr txBox="1"/>
          <p:nvPr/>
        </p:nvSpPr>
        <p:spPr>
          <a:xfrm>
            <a:off x="606392" y="4088928"/>
            <a:ext cx="8315592" cy="2246769"/>
          </a:xfrm>
          <a:prstGeom prst="rect">
            <a:avLst/>
          </a:prstGeom>
          <a:noFill/>
        </p:spPr>
        <p:txBody>
          <a:bodyPr wrap="square">
            <a:spAutoFit/>
          </a:bodyPr>
          <a:lstStyle/>
          <a:p>
            <a:r>
              <a:rPr lang="en-US" sz="2000" dirty="0"/>
              <a:t>The </a:t>
            </a:r>
            <a:r>
              <a:rPr lang="en-US" sz="2000" dirty="0" err="1">
                <a:solidFill>
                  <a:srgbClr val="FF0000"/>
                </a:solidFill>
              </a:rPr>
              <a:t>srcset</a:t>
            </a:r>
            <a:r>
              <a:rPr lang="en-US" sz="2000" b="1" dirty="0">
                <a:solidFill>
                  <a:srgbClr val="FF0000"/>
                </a:solidFill>
              </a:rPr>
              <a:t> </a:t>
            </a:r>
            <a:r>
              <a:rPr lang="en-US" sz="2000" dirty="0"/>
              <a:t>attribute is required and defines the source of the image.</a:t>
            </a:r>
          </a:p>
          <a:p>
            <a:endParaRPr lang="en-US" sz="2000" dirty="0"/>
          </a:p>
          <a:p>
            <a:r>
              <a:rPr lang="en-US" sz="2000" dirty="0"/>
              <a:t>The </a:t>
            </a:r>
            <a:r>
              <a:rPr lang="en-US" sz="2000" dirty="0">
                <a:solidFill>
                  <a:srgbClr val="FF0000"/>
                </a:solidFill>
              </a:rPr>
              <a:t>media</a:t>
            </a:r>
            <a:r>
              <a:rPr lang="en-US" sz="2000" dirty="0"/>
              <a:t> attribute is optional and accepts the media queries we use in the CSS </a:t>
            </a:r>
            <a:r>
              <a:rPr lang="en-US" sz="2000" dirty="0">
                <a:solidFill>
                  <a:srgbClr val="0070C0"/>
                </a:solidFill>
              </a:rPr>
              <a:t>@media </a:t>
            </a:r>
            <a:r>
              <a:rPr lang="en-US" sz="2000" dirty="0"/>
              <a:t>rule.</a:t>
            </a:r>
          </a:p>
          <a:p>
            <a:endParaRPr lang="en-US" sz="2000" dirty="0"/>
          </a:p>
          <a:p>
            <a:r>
              <a:rPr lang="en-US" sz="2000" dirty="0"/>
              <a:t>We should also define an </a:t>
            </a:r>
            <a:r>
              <a:rPr lang="en-US" sz="2000" dirty="0">
                <a:solidFill>
                  <a:srgbClr val="C00000"/>
                </a:solidFill>
              </a:rPr>
              <a:t>&lt;</a:t>
            </a:r>
            <a:r>
              <a:rPr lang="en-US" sz="2000" dirty="0" err="1">
                <a:solidFill>
                  <a:srgbClr val="C00000"/>
                </a:solidFill>
              </a:rPr>
              <a:t>img</a:t>
            </a:r>
            <a:r>
              <a:rPr lang="en-US" sz="2000" dirty="0">
                <a:solidFill>
                  <a:srgbClr val="C00000"/>
                </a:solidFill>
              </a:rPr>
              <a:t>&gt; </a:t>
            </a:r>
            <a:r>
              <a:rPr lang="en-US" sz="2000" dirty="0"/>
              <a:t>element for browsers that do not support the </a:t>
            </a:r>
            <a:r>
              <a:rPr lang="en-US" sz="2000" dirty="0">
                <a:solidFill>
                  <a:srgbClr val="C00000"/>
                </a:solidFill>
              </a:rPr>
              <a:t>&lt;picture&gt; </a:t>
            </a:r>
            <a:r>
              <a:rPr lang="en-US" sz="2000" dirty="0"/>
              <a:t>element.</a:t>
            </a:r>
            <a:endParaRPr lang="en-GH" sz="2000" dirty="0"/>
          </a:p>
        </p:txBody>
      </p:sp>
      <p:cxnSp>
        <p:nvCxnSpPr>
          <p:cNvPr id="7" name="Straight Arrow Connector 6">
            <a:extLst>
              <a:ext uri="{FF2B5EF4-FFF2-40B4-BE49-F238E27FC236}">
                <a16:creationId xmlns:a16="http://schemas.microsoft.com/office/drawing/2014/main" id="{E903BA3C-9E0C-9896-1DC3-1E5CD0566292}"/>
              </a:ext>
            </a:extLst>
          </p:cNvPr>
          <p:cNvCxnSpPr/>
          <p:nvPr/>
        </p:nvCxnSpPr>
        <p:spPr>
          <a:xfrm flipH="1">
            <a:off x="3003082" y="3359217"/>
            <a:ext cx="404261" cy="729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1533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CD3DA-0C67-202A-F69D-7EB8812E5EB7}"/>
              </a:ext>
            </a:extLst>
          </p:cNvPr>
          <p:cNvSpPr>
            <a:spLocks noGrp="1"/>
          </p:cNvSpPr>
          <p:nvPr>
            <p:ph type="title"/>
          </p:nvPr>
        </p:nvSpPr>
        <p:spPr/>
        <p:txBody>
          <a:bodyPr/>
          <a:lstStyle/>
          <a:p>
            <a:r>
              <a:rPr lang="en-IN" dirty="0" err="1"/>
              <a:t>RWD</a:t>
            </a:r>
            <a:r>
              <a:rPr lang="en-IN" dirty="0"/>
              <a:t>-Videos</a:t>
            </a:r>
            <a:endParaRPr lang="en-GH" dirty="0"/>
          </a:p>
        </p:txBody>
      </p:sp>
      <p:sp>
        <p:nvSpPr>
          <p:cNvPr id="3" name="Content Placeholder 2">
            <a:extLst>
              <a:ext uri="{FF2B5EF4-FFF2-40B4-BE49-F238E27FC236}">
                <a16:creationId xmlns:a16="http://schemas.microsoft.com/office/drawing/2014/main" id="{528F68C1-7A6D-57D5-CF09-EE6E1B91D931}"/>
              </a:ext>
            </a:extLst>
          </p:cNvPr>
          <p:cNvSpPr>
            <a:spLocks noGrp="1"/>
          </p:cNvSpPr>
          <p:nvPr>
            <p:ph idx="1"/>
          </p:nvPr>
        </p:nvSpPr>
        <p:spPr/>
        <p:txBody>
          <a:bodyPr/>
          <a:lstStyle/>
          <a:p>
            <a:r>
              <a:rPr lang="en-US" dirty="0"/>
              <a:t>If the </a:t>
            </a:r>
            <a:r>
              <a:rPr lang="en-US" dirty="0">
                <a:solidFill>
                  <a:srgbClr val="FF0000"/>
                </a:solidFill>
              </a:rPr>
              <a:t>width</a:t>
            </a:r>
            <a:r>
              <a:rPr lang="en-US" dirty="0"/>
              <a:t> property is set to </a:t>
            </a:r>
            <a:r>
              <a:rPr lang="en-US" dirty="0">
                <a:solidFill>
                  <a:srgbClr val="0070C0"/>
                </a:solidFill>
              </a:rPr>
              <a:t>100%</a:t>
            </a:r>
            <a:r>
              <a:rPr lang="en-US" dirty="0"/>
              <a:t>, the video player will be responsive and scale up and down</a:t>
            </a:r>
          </a:p>
          <a:p>
            <a:pPr marL="0" indent="0">
              <a:buNone/>
            </a:pPr>
            <a:r>
              <a:rPr lang="en-US" sz="2000" dirty="0"/>
              <a:t>	Example:        </a:t>
            </a:r>
            <a:r>
              <a:rPr lang="en-US" sz="2000" b="0" i="0" dirty="0">
                <a:solidFill>
                  <a:srgbClr val="A52A2A"/>
                </a:solidFill>
                <a:effectLst/>
                <a:latin typeface="Consolas" panose="020B0609020204030204" pitchFamily="49" charset="0"/>
              </a:rPr>
              <a:t>video </a:t>
            </a:r>
            <a:r>
              <a:rPr lang="en-US" sz="2000" b="0" i="0" dirty="0">
                <a:solidFill>
                  <a:srgbClr val="000000"/>
                </a:solidFill>
                <a:effectLst/>
                <a:latin typeface="Consolas" panose="020B0609020204030204" pitchFamily="49" charset="0"/>
              </a:rPr>
              <a:t>{</a:t>
            </a:r>
            <a:br>
              <a:rPr lang="en-US" sz="2000" b="0" i="0" dirty="0">
                <a:solidFill>
                  <a:srgbClr val="FF0000"/>
                </a:solidFill>
                <a:effectLst/>
                <a:latin typeface="Consolas" panose="020B0609020204030204" pitchFamily="49" charset="0"/>
              </a:rPr>
            </a:br>
            <a:r>
              <a:rPr lang="en-US" sz="2000" b="0" i="0" dirty="0">
                <a:solidFill>
                  <a:srgbClr val="FF0000"/>
                </a:solidFill>
                <a:effectLst/>
                <a:latin typeface="Consolas" panose="020B0609020204030204" pitchFamily="49" charset="0"/>
              </a:rPr>
              <a:t>  			width</a:t>
            </a:r>
            <a:r>
              <a:rPr lang="en-US" sz="2000" b="0" i="0" dirty="0">
                <a:solidFill>
                  <a:srgbClr val="000000"/>
                </a:solidFill>
                <a:effectLst/>
                <a:latin typeface="Consolas" panose="020B0609020204030204" pitchFamily="49" charset="0"/>
              </a:rPr>
              <a:t>:</a:t>
            </a:r>
            <a:r>
              <a:rPr lang="en-US" sz="2000" b="0" i="0" dirty="0">
                <a:solidFill>
                  <a:srgbClr val="0000CD"/>
                </a:solidFill>
                <a:effectLst/>
                <a:latin typeface="Consolas" panose="020B0609020204030204" pitchFamily="49" charset="0"/>
              </a:rPr>
              <a:t> 100%</a:t>
            </a:r>
            <a:r>
              <a:rPr lang="en-US" sz="2000" b="0" i="0" dirty="0">
                <a:solidFill>
                  <a:srgbClr val="000000"/>
                </a:solidFill>
                <a:effectLst/>
                <a:latin typeface="Consolas" panose="020B0609020204030204" pitchFamily="49" charset="0"/>
              </a:rPr>
              <a:t>;</a:t>
            </a:r>
            <a:br>
              <a:rPr lang="en-US" sz="2000" b="0" i="0" dirty="0">
                <a:solidFill>
                  <a:srgbClr val="FF0000"/>
                </a:solidFill>
                <a:effectLst/>
                <a:latin typeface="Consolas" panose="020B0609020204030204" pitchFamily="49" charset="0"/>
              </a:rPr>
            </a:br>
            <a:r>
              <a:rPr lang="en-US" sz="2000" b="0" i="0" dirty="0">
                <a:solidFill>
                  <a:srgbClr val="FF0000"/>
                </a:solidFill>
                <a:effectLst/>
                <a:latin typeface="Consolas" panose="020B0609020204030204" pitchFamily="49" charset="0"/>
              </a:rPr>
              <a:t>  			height</a:t>
            </a:r>
            <a:r>
              <a:rPr lang="en-US" sz="2000" b="0" i="0" dirty="0">
                <a:solidFill>
                  <a:srgbClr val="000000"/>
                </a:solidFill>
                <a:effectLst/>
                <a:latin typeface="Consolas" panose="020B0609020204030204" pitchFamily="49" charset="0"/>
              </a:rPr>
              <a:t>:</a:t>
            </a:r>
            <a:r>
              <a:rPr lang="en-US" sz="2000" b="0" i="0" dirty="0">
                <a:solidFill>
                  <a:srgbClr val="0000CD"/>
                </a:solidFill>
                <a:effectLst/>
                <a:latin typeface="Consolas" panose="020B0609020204030204" pitchFamily="49" charset="0"/>
              </a:rPr>
              <a:t> auto</a:t>
            </a:r>
            <a:r>
              <a:rPr lang="en-US" sz="2000" b="0" i="0" dirty="0">
                <a:solidFill>
                  <a:srgbClr val="000000"/>
                </a:solidFill>
                <a:effectLst/>
                <a:latin typeface="Consolas" panose="020B0609020204030204" pitchFamily="49" charset="0"/>
              </a:rPr>
              <a:t>;</a:t>
            </a:r>
            <a:br>
              <a:rPr lang="en-US" sz="2000" b="0" i="0" dirty="0">
                <a:solidFill>
                  <a:srgbClr val="FF0000"/>
                </a:solidFill>
                <a:effectLst/>
                <a:latin typeface="Consolas" panose="020B0609020204030204" pitchFamily="49" charset="0"/>
              </a:rPr>
            </a:br>
            <a:r>
              <a:rPr lang="en-US" sz="2000" b="0" i="0" dirty="0">
                <a:solidFill>
                  <a:srgbClr val="FF0000"/>
                </a:solidFill>
                <a:effectLst/>
                <a:latin typeface="Consolas" panose="020B0609020204030204" pitchFamily="49" charset="0"/>
              </a:rPr>
              <a:t>		    </a:t>
            </a:r>
            <a:r>
              <a:rPr lang="en-US" sz="2000" b="0" i="0" dirty="0">
                <a:solidFill>
                  <a:srgbClr val="000000"/>
                </a:solidFill>
                <a:effectLst/>
                <a:latin typeface="Consolas" panose="020B0609020204030204" pitchFamily="49" charset="0"/>
              </a:rPr>
              <a:t>}</a:t>
            </a:r>
          </a:p>
          <a:p>
            <a:endParaRPr lang="en-US" dirty="0"/>
          </a:p>
          <a:p>
            <a:r>
              <a:rPr lang="en-US" dirty="0"/>
              <a:t>If the </a:t>
            </a:r>
            <a:r>
              <a:rPr lang="en-US" dirty="0">
                <a:solidFill>
                  <a:srgbClr val="FF0000"/>
                </a:solidFill>
              </a:rPr>
              <a:t>max-width</a:t>
            </a:r>
            <a:r>
              <a:rPr lang="en-US" dirty="0"/>
              <a:t> property is set to </a:t>
            </a:r>
            <a:r>
              <a:rPr lang="en-US" dirty="0">
                <a:solidFill>
                  <a:srgbClr val="0070C0"/>
                </a:solidFill>
              </a:rPr>
              <a:t>100%</a:t>
            </a:r>
            <a:r>
              <a:rPr lang="en-US" dirty="0"/>
              <a:t>, the video player will scale down if it has to but never scale up to be larger than its original size</a:t>
            </a:r>
          </a:p>
          <a:p>
            <a:pPr marL="0" indent="0">
              <a:buNone/>
            </a:pPr>
            <a:r>
              <a:rPr lang="en-US" sz="2000" dirty="0"/>
              <a:t>	Example:       </a:t>
            </a:r>
            <a:r>
              <a:rPr lang="en-US" sz="2000" b="0" i="0" dirty="0">
                <a:solidFill>
                  <a:srgbClr val="A52A2A"/>
                </a:solidFill>
                <a:effectLst/>
                <a:latin typeface="Consolas" panose="020B0609020204030204" pitchFamily="49" charset="0"/>
              </a:rPr>
              <a:t>video </a:t>
            </a:r>
            <a:r>
              <a:rPr lang="en-US" sz="2000" b="0" i="0" dirty="0">
                <a:solidFill>
                  <a:srgbClr val="000000"/>
                </a:solidFill>
                <a:effectLst/>
                <a:latin typeface="Consolas" panose="020B0609020204030204" pitchFamily="49" charset="0"/>
              </a:rPr>
              <a:t>{</a:t>
            </a:r>
            <a:br>
              <a:rPr lang="en-US" sz="2000" b="0" i="0" dirty="0">
                <a:solidFill>
                  <a:srgbClr val="FF0000"/>
                </a:solidFill>
                <a:effectLst/>
                <a:latin typeface="Consolas" panose="020B0609020204030204" pitchFamily="49" charset="0"/>
              </a:rPr>
            </a:br>
            <a:r>
              <a:rPr lang="en-US" sz="2000" b="0" i="0" dirty="0">
                <a:solidFill>
                  <a:srgbClr val="FF0000"/>
                </a:solidFill>
                <a:effectLst/>
                <a:latin typeface="Consolas" panose="020B0609020204030204" pitchFamily="49" charset="0"/>
              </a:rPr>
              <a:t>  			max-width</a:t>
            </a:r>
            <a:r>
              <a:rPr lang="en-US" sz="2000" b="0" i="0" dirty="0">
                <a:solidFill>
                  <a:srgbClr val="000000"/>
                </a:solidFill>
                <a:effectLst/>
                <a:latin typeface="Consolas" panose="020B0609020204030204" pitchFamily="49" charset="0"/>
              </a:rPr>
              <a:t>:</a:t>
            </a:r>
            <a:r>
              <a:rPr lang="en-US" sz="2000" b="0" i="0" dirty="0">
                <a:solidFill>
                  <a:srgbClr val="0000CD"/>
                </a:solidFill>
                <a:effectLst/>
                <a:latin typeface="Consolas" panose="020B0609020204030204" pitchFamily="49" charset="0"/>
              </a:rPr>
              <a:t> 100%</a:t>
            </a:r>
            <a:r>
              <a:rPr lang="en-US" sz="2000" b="0" i="0" dirty="0">
                <a:solidFill>
                  <a:srgbClr val="000000"/>
                </a:solidFill>
                <a:effectLst/>
                <a:latin typeface="Consolas" panose="020B0609020204030204" pitchFamily="49" charset="0"/>
              </a:rPr>
              <a:t>;</a:t>
            </a:r>
            <a:br>
              <a:rPr lang="en-US" sz="2000" b="0" i="0" dirty="0">
                <a:solidFill>
                  <a:srgbClr val="FF0000"/>
                </a:solidFill>
                <a:effectLst/>
                <a:latin typeface="Consolas" panose="020B0609020204030204" pitchFamily="49" charset="0"/>
              </a:rPr>
            </a:br>
            <a:r>
              <a:rPr lang="en-US" sz="2000" b="0" i="0" dirty="0">
                <a:solidFill>
                  <a:srgbClr val="FF0000"/>
                </a:solidFill>
                <a:effectLst/>
                <a:latin typeface="Consolas" panose="020B0609020204030204" pitchFamily="49" charset="0"/>
              </a:rPr>
              <a:t>  			height</a:t>
            </a:r>
            <a:r>
              <a:rPr lang="en-US" sz="2000" b="0" i="0" dirty="0">
                <a:solidFill>
                  <a:srgbClr val="000000"/>
                </a:solidFill>
                <a:effectLst/>
                <a:latin typeface="Consolas" panose="020B0609020204030204" pitchFamily="49" charset="0"/>
              </a:rPr>
              <a:t>:</a:t>
            </a:r>
            <a:r>
              <a:rPr lang="en-US" sz="2000" b="0" i="0" dirty="0">
                <a:solidFill>
                  <a:srgbClr val="0000CD"/>
                </a:solidFill>
                <a:effectLst/>
                <a:latin typeface="Consolas" panose="020B0609020204030204" pitchFamily="49" charset="0"/>
              </a:rPr>
              <a:t> auto</a:t>
            </a:r>
            <a:r>
              <a:rPr lang="en-US" sz="2000" b="0" i="0" dirty="0">
                <a:solidFill>
                  <a:srgbClr val="000000"/>
                </a:solidFill>
                <a:effectLst/>
                <a:latin typeface="Consolas" panose="020B0609020204030204" pitchFamily="49" charset="0"/>
              </a:rPr>
              <a:t>;</a:t>
            </a:r>
            <a:br>
              <a:rPr lang="en-US" sz="2000" b="0" i="0" dirty="0">
                <a:solidFill>
                  <a:srgbClr val="FF0000"/>
                </a:solidFill>
                <a:effectLst/>
                <a:latin typeface="Consolas" panose="020B0609020204030204" pitchFamily="49" charset="0"/>
              </a:rPr>
            </a:br>
            <a:r>
              <a:rPr lang="en-US" sz="2000" b="0" i="0" dirty="0">
                <a:solidFill>
                  <a:srgbClr val="FF0000"/>
                </a:solidFill>
                <a:effectLst/>
                <a:latin typeface="Consolas" panose="020B0609020204030204" pitchFamily="49" charset="0"/>
              </a:rPr>
              <a:t>		   </a:t>
            </a:r>
            <a:r>
              <a:rPr lang="en-US" sz="2000" b="0" i="0" dirty="0">
                <a:solidFill>
                  <a:srgbClr val="000000"/>
                </a:solidFill>
                <a:effectLst/>
                <a:latin typeface="Consolas" panose="020B0609020204030204" pitchFamily="49" charset="0"/>
              </a:rPr>
              <a:t>}</a:t>
            </a:r>
            <a:endParaRPr lang="en-US" sz="2000" dirty="0"/>
          </a:p>
          <a:p>
            <a:pPr marL="0" indent="0">
              <a:buNone/>
            </a:pPr>
            <a:endParaRPr lang="en-GH" dirty="0"/>
          </a:p>
        </p:txBody>
      </p:sp>
    </p:spTree>
    <p:extLst>
      <p:ext uri="{BB962C8B-B14F-4D97-AF65-F5344CB8AC3E}">
        <p14:creationId xmlns:p14="http://schemas.microsoft.com/office/powerpoint/2010/main" val="2603206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5ADBE-0CED-4B5E-AA44-7678FBC8AF24}"/>
              </a:ext>
            </a:extLst>
          </p:cNvPr>
          <p:cNvSpPr>
            <a:spLocks noGrp="1"/>
          </p:cNvSpPr>
          <p:nvPr>
            <p:ph type="title"/>
          </p:nvPr>
        </p:nvSpPr>
        <p:spPr/>
        <p:txBody>
          <a:bodyPr/>
          <a:lstStyle/>
          <a:p>
            <a:r>
              <a:rPr lang="en-IN" dirty="0"/>
              <a:t>Thank you</a:t>
            </a:r>
            <a:endParaRPr lang="en-GH" dirty="0"/>
          </a:p>
        </p:txBody>
      </p:sp>
      <p:sp>
        <p:nvSpPr>
          <p:cNvPr id="3" name="Content Placeholder 2">
            <a:extLst>
              <a:ext uri="{FF2B5EF4-FFF2-40B4-BE49-F238E27FC236}">
                <a16:creationId xmlns:a16="http://schemas.microsoft.com/office/drawing/2014/main" id="{5D162F7F-A8FA-2635-91C2-8FBD1A40C35E}"/>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dirty="0"/>
              <a:t>Questions???</a:t>
            </a:r>
            <a:endParaRPr lang="en-GH" dirty="0"/>
          </a:p>
        </p:txBody>
      </p:sp>
      <p:sp>
        <p:nvSpPr>
          <p:cNvPr id="4" name="Text Placeholder 3">
            <a:extLst>
              <a:ext uri="{FF2B5EF4-FFF2-40B4-BE49-F238E27FC236}">
                <a16:creationId xmlns:a16="http://schemas.microsoft.com/office/drawing/2014/main" id="{44ED5CE5-C9D7-1978-5960-AF2C70FD652E}"/>
              </a:ext>
            </a:extLst>
          </p:cNvPr>
          <p:cNvSpPr>
            <a:spLocks noGrp="1"/>
          </p:cNvSpPr>
          <p:nvPr>
            <p:ph type="body" sz="half" idx="2"/>
          </p:nvPr>
        </p:nvSpPr>
        <p:spPr/>
        <p:txBody>
          <a:bodyPr/>
          <a:lstStyle/>
          <a:p>
            <a:pPr algn="ctr"/>
            <a:r>
              <a:rPr lang="en-IN" dirty="0"/>
              <a:t>Govindha Yeluripati</a:t>
            </a:r>
            <a:endParaRPr lang="en-GH" dirty="0"/>
          </a:p>
        </p:txBody>
      </p:sp>
    </p:spTree>
    <p:extLst>
      <p:ext uri="{BB962C8B-B14F-4D97-AF65-F5344CB8AC3E}">
        <p14:creationId xmlns:p14="http://schemas.microsoft.com/office/powerpoint/2010/main" val="4277503702"/>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6F9229A-DD42-46FB-AC7D-2F23A646FBDE}" vid="{29738491-4758-454F-8D61-01C0E3071440}"/>
    </a:ext>
  </a:extLst>
</a:theme>
</file>

<file path=docProps/app.xml><?xml version="1.0" encoding="utf-8"?>
<Properties xmlns="http://schemas.openxmlformats.org/officeDocument/2006/extended-properties" xmlns:vt="http://schemas.openxmlformats.org/officeDocument/2006/docPropsVTypes">
  <Template>Govindha-Ashesi-3-4-Five</Template>
  <TotalTime>4288</TotalTime>
  <Words>2071</Words>
  <Application>Microsoft Office PowerPoint</Application>
  <PresentationFormat>On-screen Show (4:3)</PresentationFormat>
  <Paragraphs>193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Consolas</vt:lpstr>
      <vt:lpstr>Wingdings</vt:lpstr>
      <vt:lpstr>1_Office Theme</vt:lpstr>
      <vt:lpstr>CSS-Responsive Web Design</vt:lpstr>
      <vt:lpstr>Outline</vt:lpstr>
      <vt:lpstr>Responsive Web Design-What is it?</vt:lpstr>
      <vt:lpstr>Responsive Web Design </vt:lpstr>
      <vt:lpstr>Responsive Web Design </vt:lpstr>
      <vt:lpstr>Viewport and Early Web Design</vt:lpstr>
      <vt:lpstr>The Solution: RWD and Viewport Meta Tag</vt:lpstr>
      <vt:lpstr>Viewport meta tag effect: Example</vt:lpstr>
      <vt:lpstr>Is the meta tag alone sufficient for RWD?</vt:lpstr>
      <vt:lpstr>Need of CSS for RWD</vt:lpstr>
      <vt:lpstr>A note on modern browsers behavior</vt:lpstr>
      <vt:lpstr>RWD: Grid-View</vt:lpstr>
      <vt:lpstr>RWD: Grid-View</vt:lpstr>
      <vt:lpstr>Building a Responsive Grid-View</vt:lpstr>
      <vt:lpstr>Building a Responsive Grid-View</vt:lpstr>
      <vt:lpstr>Responsive Grid-View</vt:lpstr>
      <vt:lpstr>Responsive grid-view</vt:lpstr>
      <vt:lpstr>Responsive grid-view</vt:lpstr>
      <vt:lpstr>RWD-Media Queries</vt:lpstr>
      <vt:lpstr>Most Common Conditions: Screen Width</vt:lpstr>
      <vt:lpstr>Other Common Media Query Conditions</vt:lpstr>
      <vt:lpstr>Logical Operators in Media Queries</vt:lpstr>
      <vt:lpstr>Typical device breakpoints</vt:lpstr>
      <vt:lpstr>RWD-Images</vt:lpstr>
      <vt:lpstr>RWD-Background Images</vt:lpstr>
      <vt:lpstr>RWD-Background Images</vt:lpstr>
      <vt:lpstr>RWD-Background Images</vt:lpstr>
      <vt:lpstr>Different Images for Different Devices</vt:lpstr>
      <vt:lpstr>The HTML &lt;picture&gt; Element</vt:lpstr>
      <vt:lpstr>The HTML &lt;picture&gt; Element</vt:lpstr>
      <vt:lpstr>RWD-Videos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Govindha R Yeluripati</dc:creator>
  <cp:lastModifiedBy>Govindha  Ramaiah Yeluripati</cp:lastModifiedBy>
  <cp:revision>174</cp:revision>
  <dcterms:created xsi:type="dcterms:W3CDTF">2024-09-11T05:06:52Z</dcterms:created>
  <dcterms:modified xsi:type="dcterms:W3CDTF">2024-09-29T22:30:26Z</dcterms:modified>
</cp:coreProperties>
</file>