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301" r:id="rId3"/>
    <p:sldId id="302" r:id="rId4"/>
    <p:sldId id="303" r:id="rId5"/>
    <p:sldId id="304" r:id="rId6"/>
    <p:sldId id="305" r:id="rId7"/>
    <p:sldId id="306" r:id="rId8"/>
    <p:sldId id="307" r:id="rId9"/>
    <p:sldId id="308" r:id="rId10"/>
    <p:sldId id="310" r:id="rId11"/>
    <p:sldId id="316" r:id="rId12"/>
    <p:sldId id="317" r:id="rId13"/>
    <p:sldId id="318" r:id="rId14"/>
    <p:sldId id="319" r:id="rId15"/>
    <p:sldId id="320" r:id="rId16"/>
    <p:sldId id="311" r:id="rId17"/>
    <p:sldId id="313" r:id="rId18"/>
    <p:sldId id="312" r:id="rId19"/>
    <p:sldId id="321" r:id="rId20"/>
    <p:sldId id="322" r:id="rId21"/>
    <p:sldId id="323" r:id="rId22"/>
    <p:sldId id="324" r:id="rId23"/>
    <p:sldId id="325" r:id="rId24"/>
    <p:sldId id="327" r:id="rId25"/>
    <p:sldId id="328" r:id="rId26"/>
    <p:sldId id="329" r:id="rId27"/>
    <p:sldId id="326" r:id="rId28"/>
    <p:sldId id="330" r:id="rId29"/>
    <p:sldId id="331" r:id="rId30"/>
    <p:sldId id="332" r:id="rId31"/>
    <p:sldId id="333" r:id="rId32"/>
    <p:sldId id="334" r:id="rId33"/>
    <p:sldId id="335" r:id="rId34"/>
    <p:sldId id="336" r:id="rId35"/>
    <p:sldId id="337" r:id="rId36"/>
    <p:sldId id="338" r:id="rId37"/>
    <p:sldId id="339" r:id="rId38"/>
    <p:sldId id="341" r:id="rId39"/>
    <p:sldId id="340" r:id="rId40"/>
    <p:sldId id="342" r:id="rId41"/>
    <p:sldId id="343" r:id="rId42"/>
    <p:sldId id="344" r:id="rId43"/>
    <p:sldId id="345" r:id="rId44"/>
    <p:sldId id="347" r:id="rId45"/>
    <p:sldId id="361" r:id="rId46"/>
    <p:sldId id="348" r:id="rId47"/>
    <p:sldId id="349" r:id="rId48"/>
    <p:sldId id="350" r:id="rId49"/>
    <p:sldId id="362" r:id="rId50"/>
    <p:sldId id="351" r:id="rId51"/>
    <p:sldId id="352" r:id="rId52"/>
    <p:sldId id="353" r:id="rId53"/>
    <p:sldId id="354" r:id="rId54"/>
    <p:sldId id="355" r:id="rId55"/>
    <p:sldId id="356" r:id="rId56"/>
    <p:sldId id="357" r:id="rId57"/>
    <p:sldId id="358" r:id="rId58"/>
    <p:sldId id="359" r:id="rId59"/>
    <p:sldId id="360" r:id="rId60"/>
    <p:sldId id="363" r:id="rId61"/>
    <p:sldId id="364" r:id="rId62"/>
    <p:sldId id="365" r:id="rId63"/>
    <p:sldId id="366" r:id="rId64"/>
    <p:sldId id="367" r:id="rId65"/>
    <p:sldId id="368" r:id="rId66"/>
    <p:sldId id="369" r:id="rId67"/>
    <p:sldId id="380" r:id="rId68"/>
    <p:sldId id="381" r:id="rId69"/>
    <p:sldId id="382" r:id="rId70"/>
    <p:sldId id="384" r:id="rId71"/>
    <p:sldId id="385" r:id="rId72"/>
    <p:sldId id="402" r:id="rId73"/>
    <p:sldId id="403" r:id="rId74"/>
    <p:sldId id="386" r:id="rId75"/>
    <p:sldId id="401" r:id="rId76"/>
    <p:sldId id="387" r:id="rId77"/>
    <p:sldId id="388" r:id="rId78"/>
    <p:sldId id="389" r:id="rId79"/>
    <p:sldId id="371" r:id="rId80"/>
    <p:sldId id="372" r:id="rId81"/>
    <p:sldId id="391" r:id="rId82"/>
    <p:sldId id="373" r:id="rId83"/>
    <p:sldId id="374" r:id="rId84"/>
    <p:sldId id="375" r:id="rId85"/>
    <p:sldId id="376" r:id="rId86"/>
    <p:sldId id="377" r:id="rId87"/>
    <p:sldId id="379" r:id="rId88"/>
    <p:sldId id="390" r:id="rId89"/>
    <p:sldId id="392" r:id="rId90"/>
    <p:sldId id="393" r:id="rId91"/>
    <p:sldId id="394" r:id="rId92"/>
    <p:sldId id="395" r:id="rId93"/>
    <p:sldId id="396" r:id="rId94"/>
    <p:sldId id="397" r:id="rId95"/>
    <p:sldId id="398" r:id="rId96"/>
    <p:sldId id="399" r:id="rId97"/>
    <p:sldId id="285" r:id="rId9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9242"/>
    <a:srgbClr val="FFB3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2" autoAdjust="0"/>
    <p:restoredTop sz="94660"/>
  </p:normalViewPr>
  <p:slideViewPr>
    <p:cSldViewPr snapToGrid="0">
      <p:cViewPr varScale="1">
        <p:scale>
          <a:sx n="60" d="100"/>
          <a:sy n="60" d="100"/>
        </p:scale>
        <p:origin x="13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F932E0-C879-40D8-AF39-32289BC30629}"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GH"/>
        </a:p>
      </dgm:t>
    </dgm:pt>
    <dgm:pt modelId="{0FCF0E6F-F992-4880-9276-734F3D00FB86}">
      <dgm:prSet phldrT="[Text]" custT="1"/>
      <dgm:spPr/>
      <dgm:t>
        <a:bodyPr/>
        <a:lstStyle/>
        <a:p>
          <a:r>
            <a:rPr lang="en-IN" sz="2000" dirty="0"/>
            <a:t>Primitive</a:t>
          </a:r>
          <a:endParaRPr lang="en-GH" sz="2000" dirty="0"/>
        </a:p>
      </dgm:t>
    </dgm:pt>
    <dgm:pt modelId="{F75FA7CC-E299-4922-968F-723D527CF2DF}" type="parTrans" cxnId="{A33A0FD9-CC61-448C-BE71-80F219DA2B79}">
      <dgm:prSet/>
      <dgm:spPr/>
      <dgm:t>
        <a:bodyPr/>
        <a:lstStyle/>
        <a:p>
          <a:endParaRPr lang="en-GH" sz="2000"/>
        </a:p>
      </dgm:t>
    </dgm:pt>
    <dgm:pt modelId="{146740C2-B46D-458D-BA07-D6685C777961}" type="sibTrans" cxnId="{A33A0FD9-CC61-448C-BE71-80F219DA2B79}">
      <dgm:prSet/>
      <dgm:spPr/>
      <dgm:t>
        <a:bodyPr/>
        <a:lstStyle/>
        <a:p>
          <a:endParaRPr lang="en-GH" sz="2000"/>
        </a:p>
      </dgm:t>
    </dgm:pt>
    <dgm:pt modelId="{A2C3619D-3D26-4DCC-9ED0-34290B089918}">
      <dgm:prSet phldrT="[Text]" custT="1"/>
      <dgm:spPr/>
      <dgm:t>
        <a:bodyPr/>
        <a:lstStyle/>
        <a:p>
          <a:pPr algn="l"/>
          <a:r>
            <a:rPr lang="en-IN" sz="2000" dirty="0"/>
            <a:t>Number</a:t>
          </a:r>
          <a:endParaRPr lang="en-GH" sz="2000" dirty="0"/>
        </a:p>
      </dgm:t>
    </dgm:pt>
    <dgm:pt modelId="{3688E2A0-4B1D-4C2C-897E-E3D595C05933}" type="parTrans" cxnId="{98352529-4FA4-4E67-8B16-7A5D419F470E}">
      <dgm:prSet/>
      <dgm:spPr/>
      <dgm:t>
        <a:bodyPr/>
        <a:lstStyle/>
        <a:p>
          <a:endParaRPr lang="en-GH" sz="2000"/>
        </a:p>
      </dgm:t>
    </dgm:pt>
    <dgm:pt modelId="{497DC79A-FABB-4B36-AA8A-A7BE1C12996B}" type="sibTrans" cxnId="{98352529-4FA4-4E67-8B16-7A5D419F470E}">
      <dgm:prSet/>
      <dgm:spPr/>
      <dgm:t>
        <a:bodyPr/>
        <a:lstStyle/>
        <a:p>
          <a:endParaRPr lang="en-GH" sz="2000"/>
        </a:p>
      </dgm:t>
    </dgm:pt>
    <dgm:pt modelId="{FBED3515-7EFC-4BF1-8D33-A6BC94B3D95B}">
      <dgm:prSet phldrT="[Text]" custT="1"/>
      <dgm:spPr/>
      <dgm:t>
        <a:bodyPr/>
        <a:lstStyle/>
        <a:p>
          <a:pPr algn="l"/>
          <a:r>
            <a:rPr lang="en-IN" sz="2000" dirty="0"/>
            <a:t>String</a:t>
          </a:r>
          <a:endParaRPr lang="en-GH" sz="2000" dirty="0"/>
        </a:p>
      </dgm:t>
    </dgm:pt>
    <dgm:pt modelId="{586A566A-B9B3-4170-BD92-347F131FFFD0}" type="parTrans" cxnId="{4295C438-724D-45FD-A8BA-B14CD15B725A}">
      <dgm:prSet/>
      <dgm:spPr/>
      <dgm:t>
        <a:bodyPr/>
        <a:lstStyle/>
        <a:p>
          <a:endParaRPr lang="en-GH" sz="2000"/>
        </a:p>
      </dgm:t>
    </dgm:pt>
    <dgm:pt modelId="{0FF587EB-E717-4ACD-994C-E92017FB81E4}" type="sibTrans" cxnId="{4295C438-724D-45FD-A8BA-B14CD15B725A}">
      <dgm:prSet/>
      <dgm:spPr/>
      <dgm:t>
        <a:bodyPr/>
        <a:lstStyle/>
        <a:p>
          <a:endParaRPr lang="en-GH" sz="2000"/>
        </a:p>
      </dgm:t>
    </dgm:pt>
    <dgm:pt modelId="{4717BC7C-D9E9-45C9-B904-A3FFDC01B514}">
      <dgm:prSet phldrT="[Text]" custT="1"/>
      <dgm:spPr/>
      <dgm:t>
        <a:bodyPr/>
        <a:lstStyle/>
        <a:p>
          <a:r>
            <a:rPr lang="en-IN" sz="2000" dirty="0"/>
            <a:t>Non-Primitive (Reference)</a:t>
          </a:r>
          <a:endParaRPr lang="en-GH" sz="2000" dirty="0"/>
        </a:p>
      </dgm:t>
    </dgm:pt>
    <dgm:pt modelId="{FCF726AD-DC07-4B89-862D-8842AFF7463E}" type="parTrans" cxnId="{566B0521-E4C6-4CBF-BACE-3F6081654867}">
      <dgm:prSet/>
      <dgm:spPr/>
      <dgm:t>
        <a:bodyPr/>
        <a:lstStyle/>
        <a:p>
          <a:endParaRPr lang="en-GH" sz="2000"/>
        </a:p>
      </dgm:t>
    </dgm:pt>
    <dgm:pt modelId="{370518E3-0642-4380-BEBF-5EA488E4ABF7}" type="sibTrans" cxnId="{566B0521-E4C6-4CBF-BACE-3F6081654867}">
      <dgm:prSet/>
      <dgm:spPr/>
      <dgm:t>
        <a:bodyPr/>
        <a:lstStyle/>
        <a:p>
          <a:endParaRPr lang="en-GH" sz="2000"/>
        </a:p>
      </dgm:t>
    </dgm:pt>
    <dgm:pt modelId="{62B7C2D4-AC6E-41E8-A041-6E11524CF518}">
      <dgm:prSet phldrT="[Text]" custT="1"/>
      <dgm:spPr/>
      <dgm:t>
        <a:bodyPr/>
        <a:lstStyle/>
        <a:p>
          <a:pPr algn="l"/>
          <a:r>
            <a:rPr lang="en-IN" sz="2000" dirty="0"/>
            <a:t>Object</a:t>
          </a:r>
          <a:endParaRPr lang="en-GH" sz="2000" dirty="0"/>
        </a:p>
      </dgm:t>
    </dgm:pt>
    <dgm:pt modelId="{BCC9E023-2598-45D5-ADEF-E6D39B57FDF1}" type="parTrans" cxnId="{BBA30867-4583-40ED-8DCC-7B261C29BDBE}">
      <dgm:prSet/>
      <dgm:spPr/>
      <dgm:t>
        <a:bodyPr/>
        <a:lstStyle/>
        <a:p>
          <a:endParaRPr lang="en-GH" sz="2000"/>
        </a:p>
      </dgm:t>
    </dgm:pt>
    <dgm:pt modelId="{6E30D056-5AA5-4062-A18B-FFD66F8B9F9A}" type="sibTrans" cxnId="{BBA30867-4583-40ED-8DCC-7B261C29BDBE}">
      <dgm:prSet/>
      <dgm:spPr/>
      <dgm:t>
        <a:bodyPr/>
        <a:lstStyle/>
        <a:p>
          <a:endParaRPr lang="en-GH" sz="2000"/>
        </a:p>
      </dgm:t>
    </dgm:pt>
    <dgm:pt modelId="{438E80F1-3765-4829-A5D8-D6970EE349E6}">
      <dgm:prSet phldrT="[Text]" custT="1"/>
      <dgm:spPr/>
      <dgm:t>
        <a:bodyPr/>
        <a:lstStyle/>
        <a:p>
          <a:pPr algn="l"/>
          <a:r>
            <a:rPr lang="en-IN" sz="2000" dirty="0"/>
            <a:t>Function</a:t>
          </a:r>
          <a:endParaRPr lang="en-GH" sz="2000" dirty="0"/>
        </a:p>
      </dgm:t>
    </dgm:pt>
    <dgm:pt modelId="{F8AC61FA-50AF-4F94-A2C2-05F30B93B011}" type="parTrans" cxnId="{EF796D4C-D46E-4093-84B2-7A4A4BB58118}">
      <dgm:prSet/>
      <dgm:spPr/>
      <dgm:t>
        <a:bodyPr/>
        <a:lstStyle/>
        <a:p>
          <a:endParaRPr lang="en-GH" sz="2000"/>
        </a:p>
      </dgm:t>
    </dgm:pt>
    <dgm:pt modelId="{577066F4-DA69-4F2F-90DB-7C5F5E474375}" type="sibTrans" cxnId="{EF796D4C-D46E-4093-84B2-7A4A4BB58118}">
      <dgm:prSet/>
      <dgm:spPr/>
      <dgm:t>
        <a:bodyPr/>
        <a:lstStyle/>
        <a:p>
          <a:endParaRPr lang="en-GH" sz="2000"/>
        </a:p>
      </dgm:t>
    </dgm:pt>
    <dgm:pt modelId="{483A264F-7BE5-4714-8204-6971666DCEEE}">
      <dgm:prSet custT="1"/>
      <dgm:spPr/>
      <dgm:t>
        <a:bodyPr/>
        <a:lstStyle/>
        <a:p>
          <a:pPr algn="l"/>
          <a:r>
            <a:rPr lang="en-IN" sz="2000" dirty="0"/>
            <a:t>Boolean</a:t>
          </a:r>
          <a:endParaRPr lang="en-GH" sz="2000" dirty="0"/>
        </a:p>
      </dgm:t>
    </dgm:pt>
    <dgm:pt modelId="{A6BE09BD-CCB1-45ED-9C13-105D68826122}" type="parTrans" cxnId="{237C546F-0D3F-419B-AE9F-FCD81CA552FC}">
      <dgm:prSet/>
      <dgm:spPr/>
      <dgm:t>
        <a:bodyPr/>
        <a:lstStyle/>
        <a:p>
          <a:endParaRPr lang="en-GH" sz="2000"/>
        </a:p>
      </dgm:t>
    </dgm:pt>
    <dgm:pt modelId="{65077DD7-4497-4CB5-8E5B-360D5A0454DF}" type="sibTrans" cxnId="{237C546F-0D3F-419B-AE9F-FCD81CA552FC}">
      <dgm:prSet/>
      <dgm:spPr/>
      <dgm:t>
        <a:bodyPr/>
        <a:lstStyle/>
        <a:p>
          <a:endParaRPr lang="en-GH" sz="2000"/>
        </a:p>
      </dgm:t>
    </dgm:pt>
    <dgm:pt modelId="{53C9F3CE-BF95-4310-B3DA-CF73DF2B6E2B}">
      <dgm:prSet custT="1"/>
      <dgm:spPr/>
      <dgm:t>
        <a:bodyPr/>
        <a:lstStyle/>
        <a:p>
          <a:pPr algn="l"/>
          <a:r>
            <a:rPr lang="en-IN" sz="2000" dirty="0"/>
            <a:t>Symbol</a:t>
          </a:r>
          <a:endParaRPr lang="en-GH" sz="2000" dirty="0"/>
        </a:p>
      </dgm:t>
    </dgm:pt>
    <dgm:pt modelId="{79BABAAC-4CD5-4208-9BC5-5EEF6F30DE2A}" type="parTrans" cxnId="{79F2D5D6-0977-4DE0-9780-85A9718664D6}">
      <dgm:prSet/>
      <dgm:spPr/>
      <dgm:t>
        <a:bodyPr/>
        <a:lstStyle/>
        <a:p>
          <a:endParaRPr lang="en-GH" sz="2000"/>
        </a:p>
      </dgm:t>
    </dgm:pt>
    <dgm:pt modelId="{2478A19C-4002-4322-8A56-3FFAD6EC8722}" type="sibTrans" cxnId="{79F2D5D6-0977-4DE0-9780-85A9718664D6}">
      <dgm:prSet/>
      <dgm:spPr/>
      <dgm:t>
        <a:bodyPr/>
        <a:lstStyle/>
        <a:p>
          <a:endParaRPr lang="en-GH" sz="2000"/>
        </a:p>
      </dgm:t>
    </dgm:pt>
    <dgm:pt modelId="{6BFBB6D8-BEB9-498D-9A62-6E8377E2E00C}">
      <dgm:prSet custT="1"/>
      <dgm:spPr/>
      <dgm:t>
        <a:bodyPr/>
        <a:lstStyle/>
        <a:p>
          <a:pPr algn="l"/>
          <a:r>
            <a:rPr lang="en-IN" sz="2000" dirty="0"/>
            <a:t>Null</a:t>
          </a:r>
          <a:endParaRPr lang="en-GH" sz="2000" dirty="0"/>
        </a:p>
      </dgm:t>
    </dgm:pt>
    <dgm:pt modelId="{D099070C-29B6-42D5-85D8-48FC78B0C390}" type="parTrans" cxnId="{958CA99D-8AF7-414D-BE30-E21A37A6EA77}">
      <dgm:prSet/>
      <dgm:spPr/>
      <dgm:t>
        <a:bodyPr/>
        <a:lstStyle/>
        <a:p>
          <a:endParaRPr lang="en-GH" sz="2000"/>
        </a:p>
      </dgm:t>
    </dgm:pt>
    <dgm:pt modelId="{2EFB93BA-0055-41A2-8658-36841BAD02A3}" type="sibTrans" cxnId="{958CA99D-8AF7-414D-BE30-E21A37A6EA77}">
      <dgm:prSet/>
      <dgm:spPr/>
      <dgm:t>
        <a:bodyPr/>
        <a:lstStyle/>
        <a:p>
          <a:endParaRPr lang="en-GH" sz="2000"/>
        </a:p>
      </dgm:t>
    </dgm:pt>
    <dgm:pt modelId="{E55CFBE5-6A12-493F-B47E-29504E908268}">
      <dgm:prSet custT="1"/>
      <dgm:spPr/>
      <dgm:t>
        <a:bodyPr/>
        <a:lstStyle/>
        <a:p>
          <a:pPr algn="l"/>
          <a:r>
            <a:rPr lang="en-IN" sz="2000" dirty="0" err="1"/>
            <a:t>BigInt</a:t>
          </a:r>
          <a:endParaRPr lang="en-GH" sz="2000" dirty="0"/>
        </a:p>
      </dgm:t>
    </dgm:pt>
    <dgm:pt modelId="{71A64938-F044-4589-8ED4-F45A59BCF67D}" type="parTrans" cxnId="{6DA05815-966E-4653-B5BE-C38DCBDEB523}">
      <dgm:prSet/>
      <dgm:spPr/>
      <dgm:t>
        <a:bodyPr/>
        <a:lstStyle/>
        <a:p>
          <a:endParaRPr lang="en-GH" sz="2000"/>
        </a:p>
      </dgm:t>
    </dgm:pt>
    <dgm:pt modelId="{1546A751-CA24-4463-80E0-A816D2D9822D}" type="sibTrans" cxnId="{6DA05815-966E-4653-B5BE-C38DCBDEB523}">
      <dgm:prSet/>
      <dgm:spPr/>
      <dgm:t>
        <a:bodyPr/>
        <a:lstStyle/>
        <a:p>
          <a:endParaRPr lang="en-GH" sz="2000"/>
        </a:p>
      </dgm:t>
    </dgm:pt>
    <dgm:pt modelId="{38FCCF3C-C640-40DC-A803-FEADF74CD959}">
      <dgm:prSet custT="1"/>
      <dgm:spPr/>
      <dgm:t>
        <a:bodyPr/>
        <a:lstStyle/>
        <a:p>
          <a:pPr algn="l"/>
          <a:r>
            <a:rPr lang="en-IN" sz="2000" dirty="0"/>
            <a:t>Undefined</a:t>
          </a:r>
          <a:endParaRPr lang="en-GH" sz="2000" dirty="0"/>
        </a:p>
      </dgm:t>
    </dgm:pt>
    <dgm:pt modelId="{90B6DCAD-CAA5-4EFB-B16F-C63C8AF1C345}" type="parTrans" cxnId="{2C90CD7B-3269-478B-BEB2-097BFBFC606D}">
      <dgm:prSet/>
      <dgm:spPr/>
      <dgm:t>
        <a:bodyPr/>
        <a:lstStyle/>
        <a:p>
          <a:endParaRPr lang="en-GH" sz="2000"/>
        </a:p>
      </dgm:t>
    </dgm:pt>
    <dgm:pt modelId="{7E209F57-0730-48FF-935D-EC68E3C95132}" type="sibTrans" cxnId="{2C90CD7B-3269-478B-BEB2-097BFBFC606D}">
      <dgm:prSet/>
      <dgm:spPr/>
      <dgm:t>
        <a:bodyPr/>
        <a:lstStyle/>
        <a:p>
          <a:endParaRPr lang="en-GH" sz="2000"/>
        </a:p>
      </dgm:t>
    </dgm:pt>
    <dgm:pt modelId="{837DC301-F985-4F79-BC75-43C9B4FC27B5}">
      <dgm:prSet phldrT="[Text]" custT="1"/>
      <dgm:spPr/>
      <dgm:t>
        <a:bodyPr/>
        <a:lstStyle/>
        <a:p>
          <a:pPr algn="l"/>
          <a:r>
            <a:rPr lang="en-IN" sz="2000" dirty="0"/>
            <a:t>Array</a:t>
          </a:r>
          <a:endParaRPr lang="en-GH" sz="2000" dirty="0"/>
        </a:p>
      </dgm:t>
    </dgm:pt>
    <dgm:pt modelId="{3F18068C-F3C5-4E4A-9D32-564F984019AF}" type="parTrans" cxnId="{16508DB5-6974-4BD1-8F66-CA2AB34E0342}">
      <dgm:prSet/>
      <dgm:spPr/>
      <dgm:t>
        <a:bodyPr/>
        <a:lstStyle/>
        <a:p>
          <a:endParaRPr lang="en-GH" sz="2000"/>
        </a:p>
      </dgm:t>
    </dgm:pt>
    <dgm:pt modelId="{61103573-2F68-4E9E-B262-1D0710C0A577}" type="sibTrans" cxnId="{16508DB5-6974-4BD1-8F66-CA2AB34E0342}">
      <dgm:prSet/>
      <dgm:spPr/>
      <dgm:t>
        <a:bodyPr/>
        <a:lstStyle/>
        <a:p>
          <a:endParaRPr lang="en-GH" sz="2000"/>
        </a:p>
      </dgm:t>
    </dgm:pt>
    <dgm:pt modelId="{52E9C907-6389-4F21-8B1F-93962D365C79}">
      <dgm:prSet phldrT="[Text]" custT="1"/>
      <dgm:spPr/>
      <dgm:t>
        <a:bodyPr/>
        <a:lstStyle/>
        <a:p>
          <a:pPr algn="l"/>
          <a:r>
            <a:rPr lang="en-IN" sz="2000" dirty="0"/>
            <a:t>Date</a:t>
          </a:r>
          <a:endParaRPr lang="en-GH" sz="2000" dirty="0"/>
        </a:p>
      </dgm:t>
    </dgm:pt>
    <dgm:pt modelId="{49048B45-9DCA-4678-991F-F690294D338A}" type="parTrans" cxnId="{FBFEDEE5-66B0-4DE9-9B96-592B32626425}">
      <dgm:prSet/>
      <dgm:spPr/>
      <dgm:t>
        <a:bodyPr/>
        <a:lstStyle/>
        <a:p>
          <a:endParaRPr lang="en-GH" sz="2000"/>
        </a:p>
      </dgm:t>
    </dgm:pt>
    <dgm:pt modelId="{73EBF710-AAF3-490F-8921-8ECB777E8AA9}" type="sibTrans" cxnId="{FBFEDEE5-66B0-4DE9-9B96-592B32626425}">
      <dgm:prSet/>
      <dgm:spPr/>
      <dgm:t>
        <a:bodyPr/>
        <a:lstStyle/>
        <a:p>
          <a:endParaRPr lang="en-GH" sz="2000"/>
        </a:p>
      </dgm:t>
    </dgm:pt>
    <dgm:pt modelId="{5185925F-5BDF-4DCA-A057-471D30F89B82}">
      <dgm:prSet phldrT="[Text]" custT="1"/>
      <dgm:spPr/>
      <dgm:t>
        <a:bodyPr/>
        <a:lstStyle/>
        <a:p>
          <a:pPr algn="l"/>
          <a:r>
            <a:rPr lang="en-IN" sz="2000" dirty="0" err="1"/>
            <a:t>RegExp</a:t>
          </a:r>
          <a:endParaRPr lang="en-GH" sz="2000" dirty="0"/>
        </a:p>
      </dgm:t>
    </dgm:pt>
    <dgm:pt modelId="{D766BCF0-19B2-4B07-8723-3013A455C736}" type="parTrans" cxnId="{A40300D4-C334-4B32-80F5-A2B57E5C3A55}">
      <dgm:prSet/>
      <dgm:spPr/>
      <dgm:t>
        <a:bodyPr/>
        <a:lstStyle/>
        <a:p>
          <a:endParaRPr lang="en-GH" sz="2000"/>
        </a:p>
      </dgm:t>
    </dgm:pt>
    <dgm:pt modelId="{55BA937F-554D-47E9-8B28-9B548D73713C}" type="sibTrans" cxnId="{A40300D4-C334-4B32-80F5-A2B57E5C3A55}">
      <dgm:prSet/>
      <dgm:spPr/>
      <dgm:t>
        <a:bodyPr/>
        <a:lstStyle/>
        <a:p>
          <a:endParaRPr lang="en-GH" sz="2000"/>
        </a:p>
      </dgm:t>
    </dgm:pt>
    <dgm:pt modelId="{8550EA8B-209A-40C7-8B5E-481A9F0F9099}">
      <dgm:prSet phldrT="[Text]" custT="1"/>
      <dgm:spPr/>
      <dgm:t>
        <a:bodyPr/>
        <a:lstStyle/>
        <a:p>
          <a:pPr algn="l"/>
          <a:r>
            <a:rPr lang="en-IN" sz="2000" dirty="0"/>
            <a:t>Map</a:t>
          </a:r>
          <a:endParaRPr lang="en-GH" sz="2000" dirty="0"/>
        </a:p>
      </dgm:t>
    </dgm:pt>
    <dgm:pt modelId="{14F24FA4-5919-4D8B-B720-3738D18BD8AC}" type="parTrans" cxnId="{265A949E-7F5F-4A71-AFA5-465148020494}">
      <dgm:prSet/>
      <dgm:spPr/>
      <dgm:t>
        <a:bodyPr/>
        <a:lstStyle/>
        <a:p>
          <a:endParaRPr lang="en-GH" sz="2000"/>
        </a:p>
      </dgm:t>
    </dgm:pt>
    <dgm:pt modelId="{CA48D85D-55F7-4B41-9D28-3F2CBD3DFA7D}" type="sibTrans" cxnId="{265A949E-7F5F-4A71-AFA5-465148020494}">
      <dgm:prSet/>
      <dgm:spPr/>
      <dgm:t>
        <a:bodyPr/>
        <a:lstStyle/>
        <a:p>
          <a:endParaRPr lang="en-GH" sz="2000"/>
        </a:p>
      </dgm:t>
    </dgm:pt>
    <dgm:pt modelId="{A113CB28-43DA-490D-9E40-0C548287AFD5}">
      <dgm:prSet phldrT="[Text]" custT="1"/>
      <dgm:spPr/>
      <dgm:t>
        <a:bodyPr/>
        <a:lstStyle/>
        <a:p>
          <a:pPr algn="l"/>
          <a:r>
            <a:rPr lang="en-IN" sz="2000" dirty="0"/>
            <a:t>Set</a:t>
          </a:r>
          <a:endParaRPr lang="en-GH" sz="2000" dirty="0"/>
        </a:p>
      </dgm:t>
    </dgm:pt>
    <dgm:pt modelId="{0674AF93-17E8-4519-885E-24881C2B31DC}" type="parTrans" cxnId="{3E7A66C4-257E-4C9B-9313-354392D564C8}">
      <dgm:prSet/>
      <dgm:spPr/>
      <dgm:t>
        <a:bodyPr/>
        <a:lstStyle/>
        <a:p>
          <a:endParaRPr lang="en-GH" sz="2000"/>
        </a:p>
      </dgm:t>
    </dgm:pt>
    <dgm:pt modelId="{322A14A9-74FA-4832-94FF-D49E37C3D15F}" type="sibTrans" cxnId="{3E7A66C4-257E-4C9B-9313-354392D564C8}">
      <dgm:prSet/>
      <dgm:spPr/>
      <dgm:t>
        <a:bodyPr/>
        <a:lstStyle/>
        <a:p>
          <a:endParaRPr lang="en-GH" sz="2000"/>
        </a:p>
      </dgm:t>
    </dgm:pt>
    <dgm:pt modelId="{E53055EE-8324-49AD-BFCF-37CBBB79A173}" type="pres">
      <dgm:prSet presAssocID="{F9F932E0-C879-40D8-AF39-32289BC30629}" presName="diagram" presStyleCnt="0">
        <dgm:presLayoutVars>
          <dgm:chPref val="1"/>
          <dgm:dir/>
          <dgm:animOne val="branch"/>
          <dgm:animLvl val="lvl"/>
          <dgm:resizeHandles/>
        </dgm:presLayoutVars>
      </dgm:prSet>
      <dgm:spPr/>
    </dgm:pt>
    <dgm:pt modelId="{8508EB94-317B-486C-B299-97148722B7BE}" type="pres">
      <dgm:prSet presAssocID="{0FCF0E6F-F992-4880-9276-734F3D00FB86}" presName="root" presStyleCnt="0"/>
      <dgm:spPr/>
    </dgm:pt>
    <dgm:pt modelId="{D7E23C75-382B-4665-9E20-BFF2C3360886}" type="pres">
      <dgm:prSet presAssocID="{0FCF0E6F-F992-4880-9276-734F3D00FB86}" presName="rootComposite" presStyleCnt="0"/>
      <dgm:spPr/>
    </dgm:pt>
    <dgm:pt modelId="{D73BB07F-8E59-41F9-8C4C-8F137618C3B4}" type="pres">
      <dgm:prSet presAssocID="{0FCF0E6F-F992-4880-9276-734F3D00FB86}" presName="rootText" presStyleLbl="node1" presStyleIdx="0" presStyleCnt="2" custScaleX="189903"/>
      <dgm:spPr/>
    </dgm:pt>
    <dgm:pt modelId="{A1E94F0E-3508-4847-9A18-D94B0D21D840}" type="pres">
      <dgm:prSet presAssocID="{0FCF0E6F-F992-4880-9276-734F3D00FB86}" presName="rootConnector" presStyleLbl="node1" presStyleIdx="0" presStyleCnt="2"/>
      <dgm:spPr/>
    </dgm:pt>
    <dgm:pt modelId="{E6B46824-884F-4C08-A269-78A4090E4CC2}" type="pres">
      <dgm:prSet presAssocID="{0FCF0E6F-F992-4880-9276-734F3D00FB86}" presName="childShape" presStyleCnt="0"/>
      <dgm:spPr/>
    </dgm:pt>
    <dgm:pt modelId="{DDA60C62-667D-4044-A2AD-51430E1365E1}" type="pres">
      <dgm:prSet presAssocID="{3688E2A0-4B1D-4C2C-897E-E3D595C05933}" presName="Name13" presStyleLbl="parChTrans1D2" presStyleIdx="0" presStyleCnt="14"/>
      <dgm:spPr/>
    </dgm:pt>
    <dgm:pt modelId="{4057D909-11B3-45B4-B998-FF0282CC14B9}" type="pres">
      <dgm:prSet presAssocID="{A2C3619D-3D26-4DCC-9ED0-34290B089918}" presName="childText" presStyleLbl="bgAcc1" presStyleIdx="0" presStyleCnt="14" custScaleX="121080" custLinFactNeighborX="23815" custLinFactNeighborY="-6017">
        <dgm:presLayoutVars>
          <dgm:bulletEnabled val="1"/>
        </dgm:presLayoutVars>
      </dgm:prSet>
      <dgm:spPr/>
    </dgm:pt>
    <dgm:pt modelId="{E30D5E5A-165B-4F6D-9D07-556F0F0DBEA8}" type="pres">
      <dgm:prSet presAssocID="{586A566A-B9B3-4170-BD92-347F131FFFD0}" presName="Name13" presStyleLbl="parChTrans1D2" presStyleIdx="1" presStyleCnt="14"/>
      <dgm:spPr/>
    </dgm:pt>
    <dgm:pt modelId="{CDC50021-04A4-4B10-949C-79AB000B515E}" type="pres">
      <dgm:prSet presAssocID="{FBED3515-7EFC-4BF1-8D33-A6BC94B3D95B}" presName="childText" presStyleLbl="bgAcc1" presStyleIdx="1" presStyleCnt="14" custLinFactNeighborX="23815">
        <dgm:presLayoutVars>
          <dgm:bulletEnabled val="1"/>
        </dgm:presLayoutVars>
      </dgm:prSet>
      <dgm:spPr/>
    </dgm:pt>
    <dgm:pt modelId="{907EADDF-3E69-484B-B0B4-A4D075A305EC}" type="pres">
      <dgm:prSet presAssocID="{A6BE09BD-CCB1-45ED-9C13-105D68826122}" presName="Name13" presStyleLbl="parChTrans1D2" presStyleIdx="2" presStyleCnt="14"/>
      <dgm:spPr/>
    </dgm:pt>
    <dgm:pt modelId="{960100D6-FD6C-470F-A6D9-C3B0751B0CF4}" type="pres">
      <dgm:prSet presAssocID="{483A264F-7BE5-4714-8204-6971666DCEEE}" presName="childText" presStyleLbl="bgAcc1" presStyleIdx="2" presStyleCnt="14" custScaleX="121080" custLinFactNeighborX="23815">
        <dgm:presLayoutVars>
          <dgm:bulletEnabled val="1"/>
        </dgm:presLayoutVars>
      </dgm:prSet>
      <dgm:spPr/>
    </dgm:pt>
    <dgm:pt modelId="{923D0E29-8DE8-4E7D-8289-7534D1F12CCB}" type="pres">
      <dgm:prSet presAssocID="{90B6DCAD-CAA5-4EFB-B16F-C63C8AF1C345}" presName="Name13" presStyleLbl="parChTrans1D2" presStyleIdx="3" presStyleCnt="14"/>
      <dgm:spPr/>
    </dgm:pt>
    <dgm:pt modelId="{6C0BCC83-DA2B-4C43-97CF-35FBC167BF23}" type="pres">
      <dgm:prSet presAssocID="{38FCCF3C-C640-40DC-A803-FEADF74CD959}" presName="childText" presStyleLbl="bgAcc1" presStyleIdx="3" presStyleCnt="14" custScaleX="162440" custLinFactNeighborX="20055">
        <dgm:presLayoutVars>
          <dgm:bulletEnabled val="1"/>
        </dgm:presLayoutVars>
      </dgm:prSet>
      <dgm:spPr/>
    </dgm:pt>
    <dgm:pt modelId="{104D4E80-6E4B-4DA3-A432-0C81646A1A76}" type="pres">
      <dgm:prSet presAssocID="{D099070C-29B6-42D5-85D8-48FC78B0C390}" presName="Name13" presStyleLbl="parChTrans1D2" presStyleIdx="4" presStyleCnt="14"/>
      <dgm:spPr/>
    </dgm:pt>
    <dgm:pt modelId="{B4E7A92A-BBBC-4000-8369-CD83763C5A79}" type="pres">
      <dgm:prSet presAssocID="{6BFBB6D8-BEB9-498D-9A62-6E8377E2E00C}" presName="childText" presStyleLbl="bgAcc1" presStyleIdx="4" presStyleCnt="14" custLinFactNeighborX="20055">
        <dgm:presLayoutVars>
          <dgm:bulletEnabled val="1"/>
        </dgm:presLayoutVars>
      </dgm:prSet>
      <dgm:spPr/>
    </dgm:pt>
    <dgm:pt modelId="{928187F4-E56C-4476-8BC5-B572C45C2699}" type="pres">
      <dgm:prSet presAssocID="{79BABAAC-4CD5-4208-9BC5-5EEF6F30DE2A}" presName="Name13" presStyleLbl="parChTrans1D2" presStyleIdx="5" presStyleCnt="14"/>
      <dgm:spPr/>
    </dgm:pt>
    <dgm:pt modelId="{A25CF53D-C2E1-4A97-A6DE-9E4F3D5EDE4B}" type="pres">
      <dgm:prSet presAssocID="{53C9F3CE-BF95-4310-B3DA-CF73DF2B6E2B}" presName="childText" presStyleLbl="bgAcc1" presStyleIdx="5" presStyleCnt="14" custScaleX="129850" custLinFactNeighborX="12534">
        <dgm:presLayoutVars>
          <dgm:bulletEnabled val="1"/>
        </dgm:presLayoutVars>
      </dgm:prSet>
      <dgm:spPr/>
    </dgm:pt>
    <dgm:pt modelId="{843A94FB-3D26-4B9D-9296-831A8F3EEF59}" type="pres">
      <dgm:prSet presAssocID="{71A64938-F044-4589-8ED4-F45A59BCF67D}" presName="Name13" presStyleLbl="parChTrans1D2" presStyleIdx="6" presStyleCnt="14"/>
      <dgm:spPr/>
    </dgm:pt>
    <dgm:pt modelId="{B7357C34-6B4F-403D-805D-605AC462BB5C}" type="pres">
      <dgm:prSet presAssocID="{E55CFBE5-6A12-493F-B47E-29504E908268}" presName="childText" presStyleLbl="bgAcc1" presStyleIdx="6" presStyleCnt="14" custScaleX="94753" custLinFactNeighborX="8774">
        <dgm:presLayoutVars>
          <dgm:bulletEnabled val="1"/>
        </dgm:presLayoutVars>
      </dgm:prSet>
      <dgm:spPr/>
    </dgm:pt>
    <dgm:pt modelId="{83179706-4035-4E86-91C9-8F8530150DC4}" type="pres">
      <dgm:prSet presAssocID="{4717BC7C-D9E9-45C9-B904-A3FFDC01B514}" presName="root" presStyleCnt="0"/>
      <dgm:spPr/>
    </dgm:pt>
    <dgm:pt modelId="{EB9D1F72-9650-436F-9385-DD522523F28B}" type="pres">
      <dgm:prSet presAssocID="{4717BC7C-D9E9-45C9-B904-A3FFDC01B514}" presName="rootComposite" presStyleCnt="0"/>
      <dgm:spPr/>
    </dgm:pt>
    <dgm:pt modelId="{5A16D19E-FB79-4A90-87B1-DFF01C5842F2}" type="pres">
      <dgm:prSet presAssocID="{4717BC7C-D9E9-45C9-B904-A3FFDC01B514}" presName="rootText" presStyleLbl="node1" presStyleIdx="1" presStyleCnt="2" custScaleX="226287"/>
      <dgm:spPr/>
    </dgm:pt>
    <dgm:pt modelId="{1335F277-765A-42B8-9595-E5C890FCAED1}" type="pres">
      <dgm:prSet presAssocID="{4717BC7C-D9E9-45C9-B904-A3FFDC01B514}" presName="rootConnector" presStyleLbl="node1" presStyleIdx="1" presStyleCnt="2"/>
      <dgm:spPr/>
    </dgm:pt>
    <dgm:pt modelId="{E3957C93-918B-4FFA-9FB2-D562DC751A99}" type="pres">
      <dgm:prSet presAssocID="{4717BC7C-D9E9-45C9-B904-A3FFDC01B514}" presName="childShape" presStyleCnt="0"/>
      <dgm:spPr/>
    </dgm:pt>
    <dgm:pt modelId="{1E309388-B2D9-4100-8D26-8CEE11DDAA36}" type="pres">
      <dgm:prSet presAssocID="{BCC9E023-2598-45D5-ADEF-E6D39B57FDF1}" presName="Name13" presStyleLbl="parChTrans1D2" presStyleIdx="7" presStyleCnt="14"/>
      <dgm:spPr/>
    </dgm:pt>
    <dgm:pt modelId="{8702F5E8-E231-48F9-B2DA-7A34435BF6AE}" type="pres">
      <dgm:prSet presAssocID="{62B7C2D4-AC6E-41E8-A041-6E11524CF518}" presName="childText" presStyleLbl="bgAcc1" presStyleIdx="7" presStyleCnt="14" custLinFactNeighborX="23815">
        <dgm:presLayoutVars>
          <dgm:bulletEnabled val="1"/>
        </dgm:presLayoutVars>
      </dgm:prSet>
      <dgm:spPr/>
    </dgm:pt>
    <dgm:pt modelId="{1AC6A86D-6E8A-4143-AD22-53EEC2F2E4AA}" type="pres">
      <dgm:prSet presAssocID="{3F18068C-F3C5-4E4A-9D32-564F984019AF}" presName="Name13" presStyleLbl="parChTrans1D2" presStyleIdx="8" presStyleCnt="14"/>
      <dgm:spPr/>
    </dgm:pt>
    <dgm:pt modelId="{2244841A-1A58-4CEE-91AE-987FACD01373}" type="pres">
      <dgm:prSet presAssocID="{837DC301-F985-4F79-BC75-43C9B4FC27B5}" presName="childText" presStyleLbl="bgAcc1" presStyleIdx="8" presStyleCnt="14" custLinFactNeighborX="23815">
        <dgm:presLayoutVars>
          <dgm:bulletEnabled val="1"/>
        </dgm:presLayoutVars>
      </dgm:prSet>
      <dgm:spPr/>
    </dgm:pt>
    <dgm:pt modelId="{CD613124-A5E4-46FD-AADF-4AFF920E6C8E}" type="pres">
      <dgm:prSet presAssocID="{F8AC61FA-50AF-4F94-A2C2-05F30B93B011}" presName="Name13" presStyleLbl="parChTrans1D2" presStyleIdx="9" presStyleCnt="14"/>
      <dgm:spPr/>
    </dgm:pt>
    <dgm:pt modelId="{430F5518-1929-45A1-9138-0C7B2E8D8DF6}" type="pres">
      <dgm:prSet presAssocID="{438E80F1-3765-4829-A5D8-D6970EE349E6}" presName="childText" presStyleLbl="bgAcc1" presStyleIdx="9" presStyleCnt="14" custScaleX="152020" custLinFactNeighborX="20055">
        <dgm:presLayoutVars>
          <dgm:bulletEnabled val="1"/>
        </dgm:presLayoutVars>
      </dgm:prSet>
      <dgm:spPr/>
    </dgm:pt>
    <dgm:pt modelId="{4FFDDA0B-C9F8-4887-B5A3-A61E02ADD8B7}" type="pres">
      <dgm:prSet presAssocID="{49048B45-9DCA-4678-991F-F690294D338A}" presName="Name13" presStyleLbl="parChTrans1D2" presStyleIdx="10" presStyleCnt="14"/>
      <dgm:spPr/>
    </dgm:pt>
    <dgm:pt modelId="{25BB00B3-A5DD-45B5-B1B4-1AFC5E8884DB}" type="pres">
      <dgm:prSet presAssocID="{52E9C907-6389-4F21-8B1F-93962D365C79}" presName="childText" presStyleLbl="bgAcc1" presStyleIdx="10" presStyleCnt="14" custLinFactNeighborX="20055">
        <dgm:presLayoutVars>
          <dgm:bulletEnabled val="1"/>
        </dgm:presLayoutVars>
      </dgm:prSet>
      <dgm:spPr/>
    </dgm:pt>
    <dgm:pt modelId="{7C708EDD-3AA3-4A92-9EFC-009642706A93}" type="pres">
      <dgm:prSet presAssocID="{D766BCF0-19B2-4B07-8723-3013A455C736}" presName="Name13" presStyleLbl="parChTrans1D2" presStyleIdx="11" presStyleCnt="14"/>
      <dgm:spPr/>
    </dgm:pt>
    <dgm:pt modelId="{F96DA8AF-C7EC-4D20-868B-9FDA6F6F8009}" type="pres">
      <dgm:prSet presAssocID="{5185925F-5BDF-4DCA-A057-471D30F89B82}" presName="childText" presStyleLbl="bgAcc1" presStyleIdx="11" presStyleCnt="14" custScaleX="119431" custLinFactNeighborX="12534">
        <dgm:presLayoutVars>
          <dgm:bulletEnabled val="1"/>
        </dgm:presLayoutVars>
      </dgm:prSet>
      <dgm:spPr/>
    </dgm:pt>
    <dgm:pt modelId="{C79F807B-192E-4006-9FB8-F764B05703DC}" type="pres">
      <dgm:prSet presAssocID="{14F24FA4-5919-4D8B-B720-3738D18BD8AC}" presName="Name13" presStyleLbl="parChTrans1D2" presStyleIdx="12" presStyleCnt="14"/>
      <dgm:spPr/>
    </dgm:pt>
    <dgm:pt modelId="{09605555-0AEF-4189-B38B-072F309FCAF8}" type="pres">
      <dgm:prSet presAssocID="{8550EA8B-209A-40C7-8B5E-481A9F0F9099}" presName="childText" presStyleLbl="bgAcc1" presStyleIdx="12" presStyleCnt="14" custLinFactNeighborX="8774">
        <dgm:presLayoutVars>
          <dgm:bulletEnabled val="1"/>
        </dgm:presLayoutVars>
      </dgm:prSet>
      <dgm:spPr/>
    </dgm:pt>
    <dgm:pt modelId="{17A97652-E41F-421A-A1AD-98F132FC6649}" type="pres">
      <dgm:prSet presAssocID="{0674AF93-17E8-4519-885E-24881C2B31DC}" presName="Name13" presStyleLbl="parChTrans1D2" presStyleIdx="13" presStyleCnt="14"/>
      <dgm:spPr/>
    </dgm:pt>
    <dgm:pt modelId="{E55A92B3-A98F-459D-89B8-357A199EE08E}" type="pres">
      <dgm:prSet presAssocID="{A113CB28-43DA-490D-9E40-0C548287AFD5}" presName="childText" presStyleLbl="bgAcc1" presStyleIdx="13" presStyleCnt="14">
        <dgm:presLayoutVars>
          <dgm:bulletEnabled val="1"/>
        </dgm:presLayoutVars>
      </dgm:prSet>
      <dgm:spPr/>
    </dgm:pt>
  </dgm:ptLst>
  <dgm:cxnLst>
    <dgm:cxn modelId="{91377E01-1005-4867-AABD-5661D3C6F9D4}" type="presOf" srcId="{837DC301-F985-4F79-BC75-43C9B4FC27B5}" destId="{2244841A-1A58-4CEE-91AE-987FACD01373}" srcOrd="0" destOrd="0" presId="urn:microsoft.com/office/officeart/2005/8/layout/hierarchy3"/>
    <dgm:cxn modelId="{3FC6CE08-C2F8-4E7F-BCEE-517345C9C8F7}" type="presOf" srcId="{4717BC7C-D9E9-45C9-B904-A3FFDC01B514}" destId="{1335F277-765A-42B8-9595-E5C890FCAED1}" srcOrd="1" destOrd="0" presId="urn:microsoft.com/office/officeart/2005/8/layout/hierarchy3"/>
    <dgm:cxn modelId="{00FF8D0B-5C7E-4BFD-A7ED-7A70B0715777}" type="presOf" srcId="{38FCCF3C-C640-40DC-A803-FEADF74CD959}" destId="{6C0BCC83-DA2B-4C43-97CF-35FBC167BF23}" srcOrd="0" destOrd="0" presId="urn:microsoft.com/office/officeart/2005/8/layout/hierarchy3"/>
    <dgm:cxn modelId="{C57B860C-56E1-4EAD-95AF-ED6F2AD7787E}" type="presOf" srcId="{53C9F3CE-BF95-4310-B3DA-CF73DF2B6E2B}" destId="{A25CF53D-C2E1-4A97-A6DE-9E4F3D5EDE4B}" srcOrd="0" destOrd="0" presId="urn:microsoft.com/office/officeart/2005/8/layout/hierarchy3"/>
    <dgm:cxn modelId="{77603415-831C-4267-B39C-028D66E0DA6D}" type="presOf" srcId="{5185925F-5BDF-4DCA-A057-471D30F89B82}" destId="{F96DA8AF-C7EC-4D20-868B-9FDA6F6F8009}" srcOrd="0" destOrd="0" presId="urn:microsoft.com/office/officeart/2005/8/layout/hierarchy3"/>
    <dgm:cxn modelId="{6DA05815-966E-4653-B5BE-C38DCBDEB523}" srcId="{0FCF0E6F-F992-4880-9276-734F3D00FB86}" destId="{E55CFBE5-6A12-493F-B47E-29504E908268}" srcOrd="6" destOrd="0" parTransId="{71A64938-F044-4589-8ED4-F45A59BCF67D}" sibTransId="{1546A751-CA24-4463-80E0-A816D2D9822D}"/>
    <dgm:cxn modelId="{81084B17-3D1B-4787-A0E1-CED76F9A2E87}" type="presOf" srcId="{3F18068C-F3C5-4E4A-9D32-564F984019AF}" destId="{1AC6A86D-6E8A-4143-AD22-53EEC2F2E4AA}" srcOrd="0" destOrd="0" presId="urn:microsoft.com/office/officeart/2005/8/layout/hierarchy3"/>
    <dgm:cxn modelId="{566B0521-E4C6-4CBF-BACE-3F6081654867}" srcId="{F9F932E0-C879-40D8-AF39-32289BC30629}" destId="{4717BC7C-D9E9-45C9-B904-A3FFDC01B514}" srcOrd="1" destOrd="0" parTransId="{FCF726AD-DC07-4B89-862D-8842AFF7463E}" sibTransId="{370518E3-0642-4380-BEBF-5EA488E4ABF7}"/>
    <dgm:cxn modelId="{995FDE24-3E7E-4056-9889-74E36B9680CB}" type="presOf" srcId="{F8AC61FA-50AF-4F94-A2C2-05F30B93B011}" destId="{CD613124-A5E4-46FD-AADF-4AFF920E6C8E}" srcOrd="0" destOrd="0" presId="urn:microsoft.com/office/officeart/2005/8/layout/hierarchy3"/>
    <dgm:cxn modelId="{FB71E824-2D54-4C59-908C-676104B0A973}" type="presOf" srcId="{E55CFBE5-6A12-493F-B47E-29504E908268}" destId="{B7357C34-6B4F-403D-805D-605AC462BB5C}" srcOrd="0" destOrd="0" presId="urn:microsoft.com/office/officeart/2005/8/layout/hierarchy3"/>
    <dgm:cxn modelId="{98352529-4FA4-4E67-8B16-7A5D419F470E}" srcId="{0FCF0E6F-F992-4880-9276-734F3D00FB86}" destId="{A2C3619D-3D26-4DCC-9ED0-34290B089918}" srcOrd="0" destOrd="0" parTransId="{3688E2A0-4B1D-4C2C-897E-E3D595C05933}" sibTransId="{497DC79A-FABB-4B36-AA8A-A7BE1C12996B}"/>
    <dgm:cxn modelId="{AE10FB2A-25B5-4F60-8D07-6C87DA874C16}" type="presOf" srcId="{0FCF0E6F-F992-4880-9276-734F3D00FB86}" destId="{A1E94F0E-3508-4847-9A18-D94B0D21D840}" srcOrd="1" destOrd="0" presId="urn:microsoft.com/office/officeart/2005/8/layout/hierarchy3"/>
    <dgm:cxn modelId="{ADAAEA34-F914-411E-8B90-5D0754126876}" type="presOf" srcId="{586A566A-B9B3-4170-BD92-347F131FFFD0}" destId="{E30D5E5A-165B-4F6D-9D07-556F0F0DBEA8}" srcOrd="0" destOrd="0" presId="urn:microsoft.com/office/officeart/2005/8/layout/hierarchy3"/>
    <dgm:cxn modelId="{DD690435-5097-4309-A0E9-DD66E2CDAC2C}" type="presOf" srcId="{FBED3515-7EFC-4BF1-8D33-A6BC94B3D95B}" destId="{CDC50021-04A4-4B10-949C-79AB000B515E}" srcOrd="0" destOrd="0" presId="urn:microsoft.com/office/officeart/2005/8/layout/hierarchy3"/>
    <dgm:cxn modelId="{4295C438-724D-45FD-A8BA-B14CD15B725A}" srcId="{0FCF0E6F-F992-4880-9276-734F3D00FB86}" destId="{FBED3515-7EFC-4BF1-8D33-A6BC94B3D95B}" srcOrd="1" destOrd="0" parTransId="{586A566A-B9B3-4170-BD92-347F131FFFD0}" sibTransId="{0FF587EB-E717-4ACD-994C-E92017FB81E4}"/>
    <dgm:cxn modelId="{ED584F3A-8B68-4B6A-A1FB-0B65AAB19283}" type="presOf" srcId="{BCC9E023-2598-45D5-ADEF-E6D39B57FDF1}" destId="{1E309388-B2D9-4100-8D26-8CEE11DDAA36}" srcOrd="0" destOrd="0" presId="urn:microsoft.com/office/officeart/2005/8/layout/hierarchy3"/>
    <dgm:cxn modelId="{0602B85B-6812-49FB-A428-EE87636D9642}" type="presOf" srcId="{6BFBB6D8-BEB9-498D-9A62-6E8377E2E00C}" destId="{B4E7A92A-BBBC-4000-8369-CD83763C5A79}" srcOrd="0" destOrd="0" presId="urn:microsoft.com/office/officeart/2005/8/layout/hierarchy3"/>
    <dgm:cxn modelId="{3CBE2664-9191-46A2-A58D-4B12778FE825}" type="presOf" srcId="{0FCF0E6F-F992-4880-9276-734F3D00FB86}" destId="{D73BB07F-8E59-41F9-8C4C-8F137618C3B4}" srcOrd="0" destOrd="0" presId="urn:microsoft.com/office/officeart/2005/8/layout/hierarchy3"/>
    <dgm:cxn modelId="{322A4C45-D2E5-4A5C-89FA-DAE69E4DDF02}" type="presOf" srcId="{79BABAAC-4CD5-4208-9BC5-5EEF6F30DE2A}" destId="{928187F4-E56C-4476-8BC5-B572C45C2699}" srcOrd="0" destOrd="0" presId="urn:microsoft.com/office/officeart/2005/8/layout/hierarchy3"/>
    <dgm:cxn modelId="{BBA30867-4583-40ED-8DCC-7B261C29BDBE}" srcId="{4717BC7C-D9E9-45C9-B904-A3FFDC01B514}" destId="{62B7C2D4-AC6E-41E8-A041-6E11524CF518}" srcOrd="0" destOrd="0" parTransId="{BCC9E023-2598-45D5-ADEF-E6D39B57FDF1}" sibTransId="{6E30D056-5AA5-4062-A18B-FFD66F8B9F9A}"/>
    <dgm:cxn modelId="{EF796D4C-D46E-4093-84B2-7A4A4BB58118}" srcId="{4717BC7C-D9E9-45C9-B904-A3FFDC01B514}" destId="{438E80F1-3765-4829-A5D8-D6970EE349E6}" srcOrd="2" destOrd="0" parTransId="{F8AC61FA-50AF-4F94-A2C2-05F30B93B011}" sibTransId="{577066F4-DA69-4F2F-90DB-7C5F5E474375}"/>
    <dgm:cxn modelId="{A126C96C-A5A7-4743-B766-B5A3E2BD9D4A}" type="presOf" srcId="{71A64938-F044-4589-8ED4-F45A59BCF67D}" destId="{843A94FB-3D26-4B9D-9296-831A8F3EEF59}" srcOrd="0" destOrd="0" presId="urn:microsoft.com/office/officeart/2005/8/layout/hierarchy3"/>
    <dgm:cxn modelId="{10944D6E-A4F8-4928-B6BB-48C436F38FB6}" type="presOf" srcId="{62B7C2D4-AC6E-41E8-A041-6E11524CF518}" destId="{8702F5E8-E231-48F9-B2DA-7A34435BF6AE}" srcOrd="0" destOrd="0" presId="urn:microsoft.com/office/officeart/2005/8/layout/hierarchy3"/>
    <dgm:cxn modelId="{AFA9716E-CFBB-499A-BD9A-0A4FEC079AA6}" type="presOf" srcId="{A113CB28-43DA-490D-9E40-0C548287AFD5}" destId="{E55A92B3-A98F-459D-89B8-357A199EE08E}" srcOrd="0" destOrd="0" presId="urn:microsoft.com/office/officeart/2005/8/layout/hierarchy3"/>
    <dgm:cxn modelId="{237C546F-0D3F-419B-AE9F-FCD81CA552FC}" srcId="{0FCF0E6F-F992-4880-9276-734F3D00FB86}" destId="{483A264F-7BE5-4714-8204-6971666DCEEE}" srcOrd="2" destOrd="0" parTransId="{A6BE09BD-CCB1-45ED-9C13-105D68826122}" sibTransId="{65077DD7-4497-4CB5-8E5B-360D5A0454DF}"/>
    <dgm:cxn modelId="{6AA17052-FB20-4252-996F-6CA91282E0B0}" type="presOf" srcId="{52E9C907-6389-4F21-8B1F-93962D365C79}" destId="{25BB00B3-A5DD-45B5-B1B4-1AFC5E8884DB}" srcOrd="0" destOrd="0" presId="urn:microsoft.com/office/officeart/2005/8/layout/hierarchy3"/>
    <dgm:cxn modelId="{2C90CD7B-3269-478B-BEB2-097BFBFC606D}" srcId="{0FCF0E6F-F992-4880-9276-734F3D00FB86}" destId="{38FCCF3C-C640-40DC-A803-FEADF74CD959}" srcOrd="3" destOrd="0" parTransId="{90B6DCAD-CAA5-4EFB-B16F-C63C8AF1C345}" sibTransId="{7E209F57-0730-48FF-935D-EC68E3C95132}"/>
    <dgm:cxn modelId="{6579B97C-9D75-490E-8120-2BE43903C197}" type="presOf" srcId="{A2C3619D-3D26-4DCC-9ED0-34290B089918}" destId="{4057D909-11B3-45B4-B998-FF0282CC14B9}" srcOrd="0" destOrd="0" presId="urn:microsoft.com/office/officeart/2005/8/layout/hierarchy3"/>
    <dgm:cxn modelId="{5F69FA7E-E019-4276-B7EE-A48B6B7F8790}" type="presOf" srcId="{3688E2A0-4B1D-4C2C-897E-E3D595C05933}" destId="{DDA60C62-667D-4044-A2AD-51430E1365E1}" srcOrd="0" destOrd="0" presId="urn:microsoft.com/office/officeart/2005/8/layout/hierarchy3"/>
    <dgm:cxn modelId="{958CA99D-8AF7-414D-BE30-E21A37A6EA77}" srcId="{0FCF0E6F-F992-4880-9276-734F3D00FB86}" destId="{6BFBB6D8-BEB9-498D-9A62-6E8377E2E00C}" srcOrd="4" destOrd="0" parTransId="{D099070C-29B6-42D5-85D8-48FC78B0C390}" sibTransId="{2EFB93BA-0055-41A2-8658-36841BAD02A3}"/>
    <dgm:cxn modelId="{265A949E-7F5F-4A71-AFA5-465148020494}" srcId="{4717BC7C-D9E9-45C9-B904-A3FFDC01B514}" destId="{8550EA8B-209A-40C7-8B5E-481A9F0F9099}" srcOrd="5" destOrd="0" parTransId="{14F24FA4-5919-4D8B-B720-3738D18BD8AC}" sibTransId="{CA48D85D-55F7-4B41-9D28-3F2CBD3DFA7D}"/>
    <dgm:cxn modelId="{82C0F49F-A50F-498A-B839-681FA0AB0261}" type="presOf" srcId="{438E80F1-3765-4829-A5D8-D6970EE349E6}" destId="{430F5518-1929-45A1-9138-0C7B2E8D8DF6}" srcOrd="0" destOrd="0" presId="urn:microsoft.com/office/officeart/2005/8/layout/hierarchy3"/>
    <dgm:cxn modelId="{16508DB5-6974-4BD1-8F66-CA2AB34E0342}" srcId="{4717BC7C-D9E9-45C9-B904-A3FFDC01B514}" destId="{837DC301-F985-4F79-BC75-43C9B4FC27B5}" srcOrd="1" destOrd="0" parTransId="{3F18068C-F3C5-4E4A-9D32-564F984019AF}" sibTransId="{61103573-2F68-4E9E-B262-1D0710C0A577}"/>
    <dgm:cxn modelId="{F8CCB8BC-1372-41A8-BFE7-89FBE5721901}" type="presOf" srcId="{49048B45-9DCA-4678-991F-F690294D338A}" destId="{4FFDDA0B-C9F8-4887-B5A3-A61E02ADD8B7}" srcOrd="0" destOrd="0" presId="urn:microsoft.com/office/officeart/2005/8/layout/hierarchy3"/>
    <dgm:cxn modelId="{3E7A66C4-257E-4C9B-9313-354392D564C8}" srcId="{4717BC7C-D9E9-45C9-B904-A3FFDC01B514}" destId="{A113CB28-43DA-490D-9E40-0C548287AFD5}" srcOrd="6" destOrd="0" parTransId="{0674AF93-17E8-4519-885E-24881C2B31DC}" sibTransId="{322A14A9-74FA-4832-94FF-D49E37C3D15F}"/>
    <dgm:cxn modelId="{53286ACB-69A7-4D92-B714-16CB07B81DE4}" type="presOf" srcId="{14F24FA4-5919-4D8B-B720-3738D18BD8AC}" destId="{C79F807B-192E-4006-9FB8-F764B05703DC}" srcOrd="0" destOrd="0" presId="urn:microsoft.com/office/officeart/2005/8/layout/hierarchy3"/>
    <dgm:cxn modelId="{9558BECD-69B7-485A-8C1F-20F55CE36A68}" type="presOf" srcId="{F9F932E0-C879-40D8-AF39-32289BC30629}" destId="{E53055EE-8324-49AD-BFCF-37CBBB79A173}" srcOrd="0" destOrd="0" presId="urn:microsoft.com/office/officeart/2005/8/layout/hierarchy3"/>
    <dgm:cxn modelId="{A40300D4-C334-4B32-80F5-A2B57E5C3A55}" srcId="{4717BC7C-D9E9-45C9-B904-A3FFDC01B514}" destId="{5185925F-5BDF-4DCA-A057-471D30F89B82}" srcOrd="4" destOrd="0" parTransId="{D766BCF0-19B2-4B07-8723-3013A455C736}" sibTransId="{55BA937F-554D-47E9-8B28-9B548D73713C}"/>
    <dgm:cxn modelId="{79F2D5D6-0977-4DE0-9780-85A9718664D6}" srcId="{0FCF0E6F-F992-4880-9276-734F3D00FB86}" destId="{53C9F3CE-BF95-4310-B3DA-CF73DF2B6E2B}" srcOrd="5" destOrd="0" parTransId="{79BABAAC-4CD5-4208-9BC5-5EEF6F30DE2A}" sibTransId="{2478A19C-4002-4322-8A56-3FFAD6EC8722}"/>
    <dgm:cxn modelId="{54C82FD8-F929-4B00-A350-7CA3DD2D8024}" type="presOf" srcId="{A6BE09BD-CCB1-45ED-9C13-105D68826122}" destId="{907EADDF-3E69-484B-B0B4-A4D075A305EC}" srcOrd="0" destOrd="0" presId="urn:microsoft.com/office/officeart/2005/8/layout/hierarchy3"/>
    <dgm:cxn modelId="{A33A0FD9-CC61-448C-BE71-80F219DA2B79}" srcId="{F9F932E0-C879-40D8-AF39-32289BC30629}" destId="{0FCF0E6F-F992-4880-9276-734F3D00FB86}" srcOrd="0" destOrd="0" parTransId="{F75FA7CC-E299-4922-968F-723D527CF2DF}" sibTransId="{146740C2-B46D-458D-BA07-D6685C777961}"/>
    <dgm:cxn modelId="{234DDFDA-7062-456E-A805-F412603AEA7F}" type="presOf" srcId="{8550EA8B-209A-40C7-8B5E-481A9F0F9099}" destId="{09605555-0AEF-4189-B38B-072F309FCAF8}" srcOrd="0" destOrd="0" presId="urn:microsoft.com/office/officeart/2005/8/layout/hierarchy3"/>
    <dgm:cxn modelId="{BC1EBDE2-AB58-4EB9-9074-79BD46DE9A74}" type="presOf" srcId="{D766BCF0-19B2-4B07-8723-3013A455C736}" destId="{7C708EDD-3AA3-4A92-9EFC-009642706A93}" srcOrd="0" destOrd="0" presId="urn:microsoft.com/office/officeart/2005/8/layout/hierarchy3"/>
    <dgm:cxn modelId="{FBFEDEE5-66B0-4DE9-9B96-592B32626425}" srcId="{4717BC7C-D9E9-45C9-B904-A3FFDC01B514}" destId="{52E9C907-6389-4F21-8B1F-93962D365C79}" srcOrd="3" destOrd="0" parTransId="{49048B45-9DCA-4678-991F-F690294D338A}" sibTransId="{73EBF710-AAF3-490F-8921-8ECB777E8AA9}"/>
    <dgm:cxn modelId="{3E28A1E8-0D78-498F-B34B-85D0C002D5CE}" type="presOf" srcId="{483A264F-7BE5-4714-8204-6971666DCEEE}" destId="{960100D6-FD6C-470F-A6D9-C3B0751B0CF4}" srcOrd="0" destOrd="0" presId="urn:microsoft.com/office/officeart/2005/8/layout/hierarchy3"/>
    <dgm:cxn modelId="{DA9AE7EA-3D4F-4020-9F30-30FAC38DBC55}" type="presOf" srcId="{0674AF93-17E8-4519-885E-24881C2B31DC}" destId="{17A97652-E41F-421A-A1AD-98F132FC6649}" srcOrd="0" destOrd="0" presId="urn:microsoft.com/office/officeart/2005/8/layout/hierarchy3"/>
    <dgm:cxn modelId="{A4206FEF-507F-4F68-91BE-703497D26756}" type="presOf" srcId="{D099070C-29B6-42D5-85D8-48FC78B0C390}" destId="{104D4E80-6E4B-4DA3-A432-0C81646A1A76}" srcOrd="0" destOrd="0" presId="urn:microsoft.com/office/officeart/2005/8/layout/hierarchy3"/>
    <dgm:cxn modelId="{08A9B6FB-E49D-4D10-BE86-4015017A2608}" type="presOf" srcId="{90B6DCAD-CAA5-4EFB-B16F-C63C8AF1C345}" destId="{923D0E29-8DE8-4E7D-8289-7534D1F12CCB}" srcOrd="0" destOrd="0" presId="urn:microsoft.com/office/officeart/2005/8/layout/hierarchy3"/>
    <dgm:cxn modelId="{B2DEEEFD-69AE-4469-BDC4-7D6B1C92DF71}" type="presOf" srcId="{4717BC7C-D9E9-45C9-B904-A3FFDC01B514}" destId="{5A16D19E-FB79-4A90-87B1-DFF01C5842F2}" srcOrd="0" destOrd="0" presId="urn:microsoft.com/office/officeart/2005/8/layout/hierarchy3"/>
    <dgm:cxn modelId="{0CAC0233-0B4D-4AAB-B57F-49AD72957AFA}" type="presParOf" srcId="{E53055EE-8324-49AD-BFCF-37CBBB79A173}" destId="{8508EB94-317B-486C-B299-97148722B7BE}" srcOrd="0" destOrd="0" presId="urn:microsoft.com/office/officeart/2005/8/layout/hierarchy3"/>
    <dgm:cxn modelId="{6451BE22-3867-4834-92DC-56BF3EE59F63}" type="presParOf" srcId="{8508EB94-317B-486C-B299-97148722B7BE}" destId="{D7E23C75-382B-4665-9E20-BFF2C3360886}" srcOrd="0" destOrd="0" presId="urn:microsoft.com/office/officeart/2005/8/layout/hierarchy3"/>
    <dgm:cxn modelId="{B8D36E41-CE63-413D-B76F-C6C8A4C863FD}" type="presParOf" srcId="{D7E23C75-382B-4665-9E20-BFF2C3360886}" destId="{D73BB07F-8E59-41F9-8C4C-8F137618C3B4}" srcOrd="0" destOrd="0" presId="urn:microsoft.com/office/officeart/2005/8/layout/hierarchy3"/>
    <dgm:cxn modelId="{3D5B6F04-5A62-4972-B39D-506FC4000CAE}" type="presParOf" srcId="{D7E23C75-382B-4665-9E20-BFF2C3360886}" destId="{A1E94F0E-3508-4847-9A18-D94B0D21D840}" srcOrd="1" destOrd="0" presId="urn:microsoft.com/office/officeart/2005/8/layout/hierarchy3"/>
    <dgm:cxn modelId="{CEAECC4C-2225-4102-BA42-C3C74FE4C1CC}" type="presParOf" srcId="{8508EB94-317B-486C-B299-97148722B7BE}" destId="{E6B46824-884F-4C08-A269-78A4090E4CC2}" srcOrd="1" destOrd="0" presId="urn:microsoft.com/office/officeart/2005/8/layout/hierarchy3"/>
    <dgm:cxn modelId="{5FF67F95-8CAF-401E-84C7-4CF279C26CB5}" type="presParOf" srcId="{E6B46824-884F-4C08-A269-78A4090E4CC2}" destId="{DDA60C62-667D-4044-A2AD-51430E1365E1}" srcOrd="0" destOrd="0" presId="urn:microsoft.com/office/officeart/2005/8/layout/hierarchy3"/>
    <dgm:cxn modelId="{8B79A828-E7B1-40BE-85A9-EDF1FE519D06}" type="presParOf" srcId="{E6B46824-884F-4C08-A269-78A4090E4CC2}" destId="{4057D909-11B3-45B4-B998-FF0282CC14B9}" srcOrd="1" destOrd="0" presId="urn:microsoft.com/office/officeart/2005/8/layout/hierarchy3"/>
    <dgm:cxn modelId="{693B8CF7-8C76-4611-862C-E7D393E6C227}" type="presParOf" srcId="{E6B46824-884F-4C08-A269-78A4090E4CC2}" destId="{E30D5E5A-165B-4F6D-9D07-556F0F0DBEA8}" srcOrd="2" destOrd="0" presId="urn:microsoft.com/office/officeart/2005/8/layout/hierarchy3"/>
    <dgm:cxn modelId="{38E9C746-7FD9-45DA-AABA-89D3163D0A76}" type="presParOf" srcId="{E6B46824-884F-4C08-A269-78A4090E4CC2}" destId="{CDC50021-04A4-4B10-949C-79AB000B515E}" srcOrd="3" destOrd="0" presId="urn:microsoft.com/office/officeart/2005/8/layout/hierarchy3"/>
    <dgm:cxn modelId="{AC090E08-C652-4C27-91FE-E701906EFF7D}" type="presParOf" srcId="{E6B46824-884F-4C08-A269-78A4090E4CC2}" destId="{907EADDF-3E69-484B-B0B4-A4D075A305EC}" srcOrd="4" destOrd="0" presId="urn:microsoft.com/office/officeart/2005/8/layout/hierarchy3"/>
    <dgm:cxn modelId="{03EB7E59-119D-4655-8F8A-4421FA5EB9E8}" type="presParOf" srcId="{E6B46824-884F-4C08-A269-78A4090E4CC2}" destId="{960100D6-FD6C-470F-A6D9-C3B0751B0CF4}" srcOrd="5" destOrd="0" presId="urn:microsoft.com/office/officeart/2005/8/layout/hierarchy3"/>
    <dgm:cxn modelId="{109724A5-0631-482B-9DBE-1825AA234A62}" type="presParOf" srcId="{E6B46824-884F-4C08-A269-78A4090E4CC2}" destId="{923D0E29-8DE8-4E7D-8289-7534D1F12CCB}" srcOrd="6" destOrd="0" presId="urn:microsoft.com/office/officeart/2005/8/layout/hierarchy3"/>
    <dgm:cxn modelId="{124FD337-EDD0-4DC5-AB2D-5E0C5E8276F0}" type="presParOf" srcId="{E6B46824-884F-4C08-A269-78A4090E4CC2}" destId="{6C0BCC83-DA2B-4C43-97CF-35FBC167BF23}" srcOrd="7" destOrd="0" presId="urn:microsoft.com/office/officeart/2005/8/layout/hierarchy3"/>
    <dgm:cxn modelId="{DDE50728-758E-4199-AA49-B8E9FB6314D6}" type="presParOf" srcId="{E6B46824-884F-4C08-A269-78A4090E4CC2}" destId="{104D4E80-6E4B-4DA3-A432-0C81646A1A76}" srcOrd="8" destOrd="0" presId="urn:microsoft.com/office/officeart/2005/8/layout/hierarchy3"/>
    <dgm:cxn modelId="{8E16A436-8BBC-4619-A745-A744B27CFA96}" type="presParOf" srcId="{E6B46824-884F-4C08-A269-78A4090E4CC2}" destId="{B4E7A92A-BBBC-4000-8369-CD83763C5A79}" srcOrd="9" destOrd="0" presId="urn:microsoft.com/office/officeart/2005/8/layout/hierarchy3"/>
    <dgm:cxn modelId="{4D19A86C-1880-45AD-8706-6728CC7C2204}" type="presParOf" srcId="{E6B46824-884F-4C08-A269-78A4090E4CC2}" destId="{928187F4-E56C-4476-8BC5-B572C45C2699}" srcOrd="10" destOrd="0" presId="urn:microsoft.com/office/officeart/2005/8/layout/hierarchy3"/>
    <dgm:cxn modelId="{D1DE88AB-3D66-4B40-A9E1-C8658E27227B}" type="presParOf" srcId="{E6B46824-884F-4C08-A269-78A4090E4CC2}" destId="{A25CF53D-C2E1-4A97-A6DE-9E4F3D5EDE4B}" srcOrd="11" destOrd="0" presId="urn:microsoft.com/office/officeart/2005/8/layout/hierarchy3"/>
    <dgm:cxn modelId="{110F4C93-564F-4E97-B2FB-A3379F3EE151}" type="presParOf" srcId="{E6B46824-884F-4C08-A269-78A4090E4CC2}" destId="{843A94FB-3D26-4B9D-9296-831A8F3EEF59}" srcOrd="12" destOrd="0" presId="urn:microsoft.com/office/officeart/2005/8/layout/hierarchy3"/>
    <dgm:cxn modelId="{6890A05F-069F-4F4E-941D-34F6C7C3A198}" type="presParOf" srcId="{E6B46824-884F-4C08-A269-78A4090E4CC2}" destId="{B7357C34-6B4F-403D-805D-605AC462BB5C}" srcOrd="13" destOrd="0" presId="urn:microsoft.com/office/officeart/2005/8/layout/hierarchy3"/>
    <dgm:cxn modelId="{0D9D74A6-9FC5-4862-8F07-8372EE9C8DE0}" type="presParOf" srcId="{E53055EE-8324-49AD-BFCF-37CBBB79A173}" destId="{83179706-4035-4E86-91C9-8F8530150DC4}" srcOrd="1" destOrd="0" presId="urn:microsoft.com/office/officeart/2005/8/layout/hierarchy3"/>
    <dgm:cxn modelId="{799AAB8F-167D-4FBB-975A-8DB500CD0933}" type="presParOf" srcId="{83179706-4035-4E86-91C9-8F8530150DC4}" destId="{EB9D1F72-9650-436F-9385-DD522523F28B}" srcOrd="0" destOrd="0" presId="urn:microsoft.com/office/officeart/2005/8/layout/hierarchy3"/>
    <dgm:cxn modelId="{96BBE0B4-21AF-4CAF-89A7-FA45178BAF16}" type="presParOf" srcId="{EB9D1F72-9650-436F-9385-DD522523F28B}" destId="{5A16D19E-FB79-4A90-87B1-DFF01C5842F2}" srcOrd="0" destOrd="0" presId="urn:microsoft.com/office/officeart/2005/8/layout/hierarchy3"/>
    <dgm:cxn modelId="{A408AF6D-7B5B-40B4-BC03-68E999929DAB}" type="presParOf" srcId="{EB9D1F72-9650-436F-9385-DD522523F28B}" destId="{1335F277-765A-42B8-9595-E5C890FCAED1}" srcOrd="1" destOrd="0" presId="urn:microsoft.com/office/officeart/2005/8/layout/hierarchy3"/>
    <dgm:cxn modelId="{E47C976F-885A-4898-A004-2FBA9B486D9F}" type="presParOf" srcId="{83179706-4035-4E86-91C9-8F8530150DC4}" destId="{E3957C93-918B-4FFA-9FB2-D562DC751A99}" srcOrd="1" destOrd="0" presId="urn:microsoft.com/office/officeart/2005/8/layout/hierarchy3"/>
    <dgm:cxn modelId="{BC8AE48C-E766-4DCF-98DD-4F04C81D56B4}" type="presParOf" srcId="{E3957C93-918B-4FFA-9FB2-D562DC751A99}" destId="{1E309388-B2D9-4100-8D26-8CEE11DDAA36}" srcOrd="0" destOrd="0" presId="urn:microsoft.com/office/officeart/2005/8/layout/hierarchy3"/>
    <dgm:cxn modelId="{0448228B-7355-43C5-B531-C4356FDEF517}" type="presParOf" srcId="{E3957C93-918B-4FFA-9FB2-D562DC751A99}" destId="{8702F5E8-E231-48F9-B2DA-7A34435BF6AE}" srcOrd="1" destOrd="0" presId="urn:microsoft.com/office/officeart/2005/8/layout/hierarchy3"/>
    <dgm:cxn modelId="{E2F2D53F-DA9F-49F8-8D63-F8DBEC1E3805}" type="presParOf" srcId="{E3957C93-918B-4FFA-9FB2-D562DC751A99}" destId="{1AC6A86D-6E8A-4143-AD22-53EEC2F2E4AA}" srcOrd="2" destOrd="0" presId="urn:microsoft.com/office/officeart/2005/8/layout/hierarchy3"/>
    <dgm:cxn modelId="{97892263-FEF8-492C-81DF-68BC9B5AFA86}" type="presParOf" srcId="{E3957C93-918B-4FFA-9FB2-D562DC751A99}" destId="{2244841A-1A58-4CEE-91AE-987FACD01373}" srcOrd="3" destOrd="0" presId="urn:microsoft.com/office/officeart/2005/8/layout/hierarchy3"/>
    <dgm:cxn modelId="{E7642475-9450-45B0-A1E8-B09E8F76468F}" type="presParOf" srcId="{E3957C93-918B-4FFA-9FB2-D562DC751A99}" destId="{CD613124-A5E4-46FD-AADF-4AFF920E6C8E}" srcOrd="4" destOrd="0" presId="urn:microsoft.com/office/officeart/2005/8/layout/hierarchy3"/>
    <dgm:cxn modelId="{6AFC916E-4344-4A9C-AE9E-05E98C6BEEBB}" type="presParOf" srcId="{E3957C93-918B-4FFA-9FB2-D562DC751A99}" destId="{430F5518-1929-45A1-9138-0C7B2E8D8DF6}" srcOrd="5" destOrd="0" presId="urn:microsoft.com/office/officeart/2005/8/layout/hierarchy3"/>
    <dgm:cxn modelId="{9F759CCC-52A9-4ABC-BD12-22A64BDE865A}" type="presParOf" srcId="{E3957C93-918B-4FFA-9FB2-D562DC751A99}" destId="{4FFDDA0B-C9F8-4887-B5A3-A61E02ADD8B7}" srcOrd="6" destOrd="0" presId="urn:microsoft.com/office/officeart/2005/8/layout/hierarchy3"/>
    <dgm:cxn modelId="{82C6E6EA-495E-441A-BD60-6F38A3FE09DB}" type="presParOf" srcId="{E3957C93-918B-4FFA-9FB2-D562DC751A99}" destId="{25BB00B3-A5DD-45B5-B1B4-1AFC5E8884DB}" srcOrd="7" destOrd="0" presId="urn:microsoft.com/office/officeart/2005/8/layout/hierarchy3"/>
    <dgm:cxn modelId="{E9025705-8D77-4359-8EE6-1D37D622F8A1}" type="presParOf" srcId="{E3957C93-918B-4FFA-9FB2-D562DC751A99}" destId="{7C708EDD-3AA3-4A92-9EFC-009642706A93}" srcOrd="8" destOrd="0" presId="urn:microsoft.com/office/officeart/2005/8/layout/hierarchy3"/>
    <dgm:cxn modelId="{D9C86944-79E5-4C9B-A4C4-A462FD548797}" type="presParOf" srcId="{E3957C93-918B-4FFA-9FB2-D562DC751A99}" destId="{F96DA8AF-C7EC-4D20-868B-9FDA6F6F8009}" srcOrd="9" destOrd="0" presId="urn:microsoft.com/office/officeart/2005/8/layout/hierarchy3"/>
    <dgm:cxn modelId="{249D1249-52C8-49F1-821B-0C5C935F6430}" type="presParOf" srcId="{E3957C93-918B-4FFA-9FB2-D562DC751A99}" destId="{C79F807B-192E-4006-9FB8-F764B05703DC}" srcOrd="10" destOrd="0" presId="urn:microsoft.com/office/officeart/2005/8/layout/hierarchy3"/>
    <dgm:cxn modelId="{572EE1B9-B3F6-465A-9011-2632612A1665}" type="presParOf" srcId="{E3957C93-918B-4FFA-9FB2-D562DC751A99}" destId="{09605555-0AEF-4189-B38B-072F309FCAF8}" srcOrd="11" destOrd="0" presId="urn:microsoft.com/office/officeart/2005/8/layout/hierarchy3"/>
    <dgm:cxn modelId="{4988C7CB-F651-4B49-96C0-B8205F4C1E52}" type="presParOf" srcId="{E3957C93-918B-4FFA-9FB2-D562DC751A99}" destId="{17A97652-E41F-421A-A1AD-98F132FC6649}" srcOrd="12" destOrd="0" presId="urn:microsoft.com/office/officeart/2005/8/layout/hierarchy3"/>
    <dgm:cxn modelId="{A66DE267-2E8C-40AB-9D22-869D4D0B7951}" type="presParOf" srcId="{E3957C93-918B-4FFA-9FB2-D562DC751A99}" destId="{E55A92B3-A98F-459D-89B8-357A199EE08E}" srcOrd="1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3BB07F-8E59-41F9-8C4C-8F137618C3B4}">
      <dsp:nvSpPr>
        <dsp:cNvPr id="0" name=""/>
        <dsp:cNvSpPr/>
      </dsp:nvSpPr>
      <dsp:spPr>
        <a:xfrm>
          <a:off x="2105979" y="2094"/>
          <a:ext cx="1924072" cy="5065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IN" sz="2000" kern="1200" dirty="0"/>
            <a:t>Primitive</a:t>
          </a:r>
          <a:endParaRPr lang="en-GH" sz="2000" kern="1200" dirty="0"/>
        </a:p>
      </dsp:txBody>
      <dsp:txXfrm>
        <a:off x="2120817" y="16932"/>
        <a:ext cx="1894396" cy="476917"/>
      </dsp:txXfrm>
    </dsp:sp>
    <dsp:sp modelId="{DDA60C62-667D-4044-A2AD-51430E1365E1}">
      <dsp:nvSpPr>
        <dsp:cNvPr id="0" name=""/>
        <dsp:cNvSpPr/>
      </dsp:nvSpPr>
      <dsp:spPr>
        <a:xfrm>
          <a:off x="2298386" y="508687"/>
          <a:ext cx="385439" cy="349463"/>
        </a:xfrm>
        <a:custGeom>
          <a:avLst/>
          <a:gdLst/>
          <a:ahLst/>
          <a:cxnLst/>
          <a:rect l="0" t="0" r="0" b="0"/>
          <a:pathLst>
            <a:path>
              <a:moveTo>
                <a:pt x="0" y="0"/>
              </a:moveTo>
              <a:lnTo>
                <a:pt x="0" y="349463"/>
              </a:lnTo>
              <a:lnTo>
                <a:pt x="385439" y="3494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57D909-11B3-45B4-B998-FF0282CC14B9}">
      <dsp:nvSpPr>
        <dsp:cNvPr id="0" name=""/>
        <dsp:cNvSpPr/>
      </dsp:nvSpPr>
      <dsp:spPr>
        <a:xfrm>
          <a:off x="2683825" y="604854"/>
          <a:ext cx="981413"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Number</a:t>
          </a:r>
          <a:endParaRPr lang="en-GH" sz="2000" kern="1200" dirty="0"/>
        </a:p>
      </dsp:txBody>
      <dsp:txXfrm>
        <a:off x="2698663" y="619692"/>
        <a:ext cx="951737" cy="476917"/>
      </dsp:txXfrm>
    </dsp:sp>
    <dsp:sp modelId="{E30D5E5A-165B-4F6D-9D07-556F0F0DBEA8}">
      <dsp:nvSpPr>
        <dsp:cNvPr id="0" name=""/>
        <dsp:cNvSpPr/>
      </dsp:nvSpPr>
      <dsp:spPr>
        <a:xfrm>
          <a:off x="2298386" y="508687"/>
          <a:ext cx="385439" cy="1013187"/>
        </a:xfrm>
        <a:custGeom>
          <a:avLst/>
          <a:gdLst/>
          <a:ahLst/>
          <a:cxnLst/>
          <a:rect l="0" t="0" r="0" b="0"/>
          <a:pathLst>
            <a:path>
              <a:moveTo>
                <a:pt x="0" y="0"/>
              </a:moveTo>
              <a:lnTo>
                <a:pt x="0" y="1013187"/>
              </a:lnTo>
              <a:lnTo>
                <a:pt x="385439" y="101318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C50021-04A4-4B10-949C-79AB000B515E}">
      <dsp:nvSpPr>
        <dsp:cNvPr id="0" name=""/>
        <dsp:cNvSpPr/>
      </dsp:nvSpPr>
      <dsp:spPr>
        <a:xfrm>
          <a:off x="2683825" y="1268577"/>
          <a:ext cx="810549"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String</a:t>
          </a:r>
          <a:endParaRPr lang="en-GH" sz="2000" kern="1200" dirty="0"/>
        </a:p>
      </dsp:txBody>
      <dsp:txXfrm>
        <a:off x="2698663" y="1283415"/>
        <a:ext cx="780873" cy="476917"/>
      </dsp:txXfrm>
    </dsp:sp>
    <dsp:sp modelId="{907EADDF-3E69-484B-B0B4-A4D075A305EC}">
      <dsp:nvSpPr>
        <dsp:cNvPr id="0" name=""/>
        <dsp:cNvSpPr/>
      </dsp:nvSpPr>
      <dsp:spPr>
        <a:xfrm>
          <a:off x="2298386" y="508687"/>
          <a:ext cx="385439" cy="1646428"/>
        </a:xfrm>
        <a:custGeom>
          <a:avLst/>
          <a:gdLst/>
          <a:ahLst/>
          <a:cxnLst/>
          <a:rect l="0" t="0" r="0" b="0"/>
          <a:pathLst>
            <a:path>
              <a:moveTo>
                <a:pt x="0" y="0"/>
              </a:moveTo>
              <a:lnTo>
                <a:pt x="0" y="1646428"/>
              </a:lnTo>
              <a:lnTo>
                <a:pt x="385439" y="16464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0100D6-FD6C-470F-A6D9-C3B0751B0CF4}">
      <dsp:nvSpPr>
        <dsp:cNvPr id="0" name=""/>
        <dsp:cNvSpPr/>
      </dsp:nvSpPr>
      <dsp:spPr>
        <a:xfrm>
          <a:off x="2683825" y="1901819"/>
          <a:ext cx="981413"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Boolean</a:t>
          </a:r>
          <a:endParaRPr lang="en-GH" sz="2000" kern="1200" dirty="0"/>
        </a:p>
      </dsp:txBody>
      <dsp:txXfrm>
        <a:off x="2698663" y="1916657"/>
        <a:ext cx="951737" cy="476917"/>
      </dsp:txXfrm>
    </dsp:sp>
    <dsp:sp modelId="{923D0E29-8DE8-4E7D-8289-7534D1F12CCB}">
      <dsp:nvSpPr>
        <dsp:cNvPr id="0" name=""/>
        <dsp:cNvSpPr/>
      </dsp:nvSpPr>
      <dsp:spPr>
        <a:xfrm>
          <a:off x="2298386" y="508687"/>
          <a:ext cx="354962" cy="2279670"/>
        </a:xfrm>
        <a:custGeom>
          <a:avLst/>
          <a:gdLst/>
          <a:ahLst/>
          <a:cxnLst/>
          <a:rect l="0" t="0" r="0" b="0"/>
          <a:pathLst>
            <a:path>
              <a:moveTo>
                <a:pt x="0" y="0"/>
              </a:moveTo>
              <a:lnTo>
                <a:pt x="0" y="2279670"/>
              </a:lnTo>
              <a:lnTo>
                <a:pt x="354962" y="22796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0BCC83-DA2B-4C43-97CF-35FBC167BF23}">
      <dsp:nvSpPr>
        <dsp:cNvPr id="0" name=""/>
        <dsp:cNvSpPr/>
      </dsp:nvSpPr>
      <dsp:spPr>
        <a:xfrm>
          <a:off x="2653349" y="2535061"/>
          <a:ext cx="1316656"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Undefined</a:t>
          </a:r>
          <a:endParaRPr lang="en-GH" sz="2000" kern="1200" dirty="0"/>
        </a:p>
      </dsp:txBody>
      <dsp:txXfrm>
        <a:off x="2668187" y="2549899"/>
        <a:ext cx="1286980" cy="476917"/>
      </dsp:txXfrm>
    </dsp:sp>
    <dsp:sp modelId="{104D4E80-6E4B-4DA3-A432-0C81646A1A76}">
      <dsp:nvSpPr>
        <dsp:cNvPr id="0" name=""/>
        <dsp:cNvSpPr/>
      </dsp:nvSpPr>
      <dsp:spPr>
        <a:xfrm>
          <a:off x="2298386" y="508687"/>
          <a:ext cx="354962" cy="2912912"/>
        </a:xfrm>
        <a:custGeom>
          <a:avLst/>
          <a:gdLst/>
          <a:ahLst/>
          <a:cxnLst/>
          <a:rect l="0" t="0" r="0" b="0"/>
          <a:pathLst>
            <a:path>
              <a:moveTo>
                <a:pt x="0" y="0"/>
              </a:moveTo>
              <a:lnTo>
                <a:pt x="0" y="2912912"/>
              </a:lnTo>
              <a:lnTo>
                <a:pt x="354962" y="29129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E7A92A-BBBC-4000-8369-CD83763C5A79}">
      <dsp:nvSpPr>
        <dsp:cNvPr id="0" name=""/>
        <dsp:cNvSpPr/>
      </dsp:nvSpPr>
      <dsp:spPr>
        <a:xfrm>
          <a:off x="2653349" y="3168303"/>
          <a:ext cx="810549"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Null</a:t>
          </a:r>
          <a:endParaRPr lang="en-GH" sz="2000" kern="1200" dirty="0"/>
        </a:p>
      </dsp:txBody>
      <dsp:txXfrm>
        <a:off x="2668187" y="3183141"/>
        <a:ext cx="780873" cy="476917"/>
      </dsp:txXfrm>
    </dsp:sp>
    <dsp:sp modelId="{928187F4-E56C-4476-8BC5-B572C45C2699}">
      <dsp:nvSpPr>
        <dsp:cNvPr id="0" name=""/>
        <dsp:cNvSpPr/>
      </dsp:nvSpPr>
      <dsp:spPr>
        <a:xfrm>
          <a:off x="2298386" y="508687"/>
          <a:ext cx="294001" cy="3546154"/>
        </a:xfrm>
        <a:custGeom>
          <a:avLst/>
          <a:gdLst/>
          <a:ahLst/>
          <a:cxnLst/>
          <a:rect l="0" t="0" r="0" b="0"/>
          <a:pathLst>
            <a:path>
              <a:moveTo>
                <a:pt x="0" y="0"/>
              </a:moveTo>
              <a:lnTo>
                <a:pt x="0" y="3546154"/>
              </a:lnTo>
              <a:lnTo>
                <a:pt x="294001" y="35461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5CF53D-C2E1-4A97-A6DE-9E4F3D5EDE4B}">
      <dsp:nvSpPr>
        <dsp:cNvPr id="0" name=""/>
        <dsp:cNvSpPr/>
      </dsp:nvSpPr>
      <dsp:spPr>
        <a:xfrm>
          <a:off x="2592387" y="3801545"/>
          <a:ext cx="1052498"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Symbol</a:t>
          </a:r>
          <a:endParaRPr lang="en-GH" sz="2000" kern="1200" dirty="0"/>
        </a:p>
      </dsp:txBody>
      <dsp:txXfrm>
        <a:off x="2607225" y="3816383"/>
        <a:ext cx="1022822" cy="476917"/>
      </dsp:txXfrm>
    </dsp:sp>
    <dsp:sp modelId="{843A94FB-3D26-4B9D-9296-831A8F3EEF59}">
      <dsp:nvSpPr>
        <dsp:cNvPr id="0" name=""/>
        <dsp:cNvSpPr/>
      </dsp:nvSpPr>
      <dsp:spPr>
        <a:xfrm>
          <a:off x="2298386" y="508687"/>
          <a:ext cx="263524" cy="4179396"/>
        </a:xfrm>
        <a:custGeom>
          <a:avLst/>
          <a:gdLst/>
          <a:ahLst/>
          <a:cxnLst/>
          <a:rect l="0" t="0" r="0" b="0"/>
          <a:pathLst>
            <a:path>
              <a:moveTo>
                <a:pt x="0" y="0"/>
              </a:moveTo>
              <a:lnTo>
                <a:pt x="0" y="4179396"/>
              </a:lnTo>
              <a:lnTo>
                <a:pt x="263524" y="41793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357C34-6B4F-403D-805D-605AC462BB5C}">
      <dsp:nvSpPr>
        <dsp:cNvPr id="0" name=""/>
        <dsp:cNvSpPr/>
      </dsp:nvSpPr>
      <dsp:spPr>
        <a:xfrm>
          <a:off x="2561911" y="4434787"/>
          <a:ext cx="768020"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err="1"/>
            <a:t>BigInt</a:t>
          </a:r>
          <a:endParaRPr lang="en-GH" sz="2000" kern="1200" dirty="0"/>
        </a:p>
      </dsp:txBody>
      <dsp:txXfrm>
        <a:off x="2576749" y="4449625"/>
        <a:ext cx="738344" cy="476917"/>
      </dsp:txXfrm>
    </dsp:sp>
    <dsp:sp modelId="{5A16D19E-FB79-4A90-87B1-DFF01C5842F2}">
      <dsp:nvSpPr>
        <dsp:cNvPr id="0" name=""/>
        <dsp:cNvSpPr/>
      </dsp:nvSpPr>
      <dsp:spPr>
        <a:xfrm>
          <a:off x="4283348" y="2094"/>
          <a:ext cx="2292710" cy="5065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IN" sz="2000" kern="1200" dirty="0"/>
            <a:t>Non-Primitive (Reference)</a:t>
          </a:r>
          <a:endParaRPr lang="en-GH" sz="2000" kern="1200" dirty="0"/>
        </a:p>
      </dsp:txBody>
      <dsp:txXfrm>
        <a:off x="4298186" y="16932"/>
        <a:ext cx="2263034" cy="476917"/>
      </dsp:txXfrm>
    </dsp:sp>
    <dsp:sp modelId="{1E309388-B2D9-4100-8D26-8CEE11DDAA36}">
      <dsp:nvSpPr>
        <dsp:cNvPr id="0" name=""/>
        <dsp:cNvSpPr/>
      </dsp:nvSpPr>
      <dsp:spPr>
        <a:xfrm>
          <a:off x="4512619" y="508687"/>
          <a:ext cx="422303" cy="379945"/>
        </a:xfrm>
        <a:custGeom>
          <a:avLst/>
          <a:gdLst/>
          <a:ahLst/>
          <a:cxnLst/>
          <a:rect l="0" t="0" r="0" b="0"/>
          <a:pathLst>
            <a:path>
              <a:moveTo>
                <a:pt x="0" y="0"/>
              </a:moveTo>
              <a:lnTo>
                <a:pt x="0" y="379945"/>
              </a:lnTo>
              <a:lnTo>
                <a:pt x="422303" y="379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02F5E8-E231-48F9-B2DA-7A34435BF6AE}">
      <dsp:nvSpPr>
        <dsp:cNvPr id="0" name=""/>
        <dsp:cNvSpPr/>
      </dsp:nvSpPr>
      <dsp:spPr>
        <a:xfrm>
          <a:off x="4934922" y="635335"/>
          <a:ext cx="810549"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Object</a:t>
          </a:r>
          <a:endParaRPr lang="en-GH" sz="2000" kern="1200" dirty="0"/>
        </a:p>
      </dsp:txBody>
      <dsp:txXfrm>
        <a:off x="4949760" y="650173"/>
        <a:ext cx="780873" cy="476917"/>
      </dsp:txXfrm>
    </dsp:sp>
    <dsp:sp modelId="{1AC6A86D-6E8A-4143-AD22-53EEC2F2E4AA}">
      <dsp:nvSpPr>
        <dsp:cNvPr id="0" name=""/>
        <dsp:cNvSpPr/>
      </dsp:nvSpPr>
      <dsp:spPr>
        <a:xfrm>
          <a:off x="4512619" y="508687"/>
          <a:ext cx="422303" cy="1013187"/>
        </a:xfrm>
        <a:custGeom>
          <a:avLst/>
          <a:gdLst/>
          <a:ahLst/>
          <a:cxnLst/>
          <a:rect l="0" t="0" r="0" b="0"/>
          <a:pathLst>
            <a:path>
              <a:moveTo>
                <a:pt x="0" y="0"/>
              </a:moveTo>
              <a:lnTo>
                <a:pt x="0" y="1013187"/>
              </a:lnTo>
              <a:lnTo>
                <a:pt x="422303" y="101318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44841A-1A58-4CEE-91AE-987FACD01373}">
      <dsp:nvSpPr>
        <dsp:cNvPr id="0" name=""/>
        <dsp:cNvSpPr/>
      </dsp:nvSpPr>
      <dsp:spPr>
        <a:xfrm>
          <a:off x="4934922" y="1268577"/>
          <a:ext cx="810549"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Array</a:t>
          </a:r>
          <a:endParaRPr lang="en-GH" sz="2000" kern="1200" dirty="0"/>
        </a:p>
      </dsp:txBody>
      <dsp:txXfrm>
        <a:off x="4949760" y="1283415"/>
        <a:ext cx="780873" cy="476917"/>
      </dsp:txXfrm>
    </dsp:sp>
    <dsp:sp modelId="{CD613124-A5E4-46FD-AADF-4AFF920E6C8E}">
      <dsp:nvSpPr>
        <dsp:cNvPr id="0" name=""/>
        <dsp:cNvSpPr/>
      </dsp:nvSpPr>
      <dsp:spPr>
        <a:xfrm>
          <a:off x="4512619" y="508687"/>
          <a:ext cx="391826" cy="1646428"/>
        </a:xfrm>
        <a:custGeom>
          <a:avLst/>
          <a:gdLst/>
          <a:ahLst/>
          <a:cxnLst/>
          <a:rect l="0" t="0" r="0" b="0"/>
          <a:pathLst>
            <a:path>
              <a:moveTo>
                <a:pt x="0" y="0"/>
              </a:moveTo>
              <a:lnTo>
                <a:pt x="0" y="1646428"/>
              </a:lnTo>
              <a:lnTo>
                <a:pt x="391826" y="16464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0F5518-1929-45A1-9138-0C7B2E8D8DF6}">
      <dsp:nvSpPr>
        <dsp:cNvPr id="0" name=""/>
        <dsp:cNvSpPr/>
      </dsp:nvSpPr>
      <dsp:spPr>
        <a:xfrm>
          <a:off x="4904446" y="1901819"/>
          <a:ext cx="1232197"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Function</a:t>
          </a:r>
          <a:endParaRPr lang="en-GH" sz="2000" kern="1200" dirty="0"/>
        </a:p>
      </dsp:txBody>
      <dsp:txXfrm>
        <a:off x="4919284" y="1916657"/>
        <a:ext cx="1202521" cy="476917"/>
      </dsp:txXfrm>
    </dsp:sp>
    <dsp:sp modelId="{4FFDDA0B-C9F8-4887-B5A3-A61E02ADD8B7}">
      <dsp:nvSpPr>
        <dsp:cNvPr id="0" name=""/>
        <dsp:cNvSpPr/>
      </dsp:nvSpPr>
      <dsp:spPr>
        <a:xfrm>
          <a:off x="4512619" y="508687"/>
          <a:ext cx="391826" cy="2279670"/>
        </a:xfrm>
        <a:custGeom>
          <a:avLst/>
          <a:gdLst/>
          <a:ahLst/>
          <a:cxnLst/>
          <a:rect l="0" t="0" r="0" b="0"/>
          <a:pathLst>
            <a:path>
              <a:moveTo>
                <a:pt x="0" y="0"/>
              </a:moveTo>
              <a:lnTo>
                <a:pt x="0" y="2279670"/>
              </a:lnTo>
              <a:lnTo>
                <a:pt x="391826" y="22796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BB00B3-A5DD-45B5-B1B4-1AFC5E8884DB}">
      <dsp:nvSpPr>
        <dsp:cNvPr id="0" name=""/>
        <dsp:cNvSpPr/>
      </dsp:nvSpPr>
      <dsp:spPr>
        <a:xfrm>
          <a:off x="4904446" y="2535061"/>
          <a:ext cx="810549"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Date</a:t>
          </a:r>
          <a:endParaRPr lang="en-GH" sz="2000" kern="1200" dirty="0"/>
        </a:p>
      </dsp:txBody>
      <dsp:txXfrm>
        <a:off x="4919284" y="2549899"/>
        <a:ext cx="780873" cy="476917"/>
      </dsp:txXfrm>
    </dsp:sp>
    <dsp:sp modelId="{7C708EDD-3AA3-4A92-9EFC-009642706A93}">
      <dsp:nvSpPr>
        <dsp:cNvPr id="0" name=""/>
        <dsp:cNvSpPr/>
      </dsp:nvSpPr>
      <dsp:spPr>
        <a:xfrm>
          <a:off x="4512619" y="508687"/>
          <a:ext cx="330865" cy="2912912"/>
        </a:xfrm>
        <a:custGeom>
          <a:avLst/>
          <a:gdLst/>
          <a:ahLst/>
          <a:cxnLst/>
          <a:rect l="0" t="0" r="0" b="0"/>
          <a:pathLst>
            <a:path>
              <a:moveTo>
                <a:pt x="0" y="0"/>
              </a:moveTo>
              <a:lnTo>
                <a:pt x="0" y="2912912"/>
              </a:lnTo>
              <a:lnTo>
                <a:pt x="330865" y="29129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6DA8AF-C7EC-4D20-868B-9FDA6F6F8009}">
      <dsp:nvSpPr>
        <dsp:cNvPr id="0" name=""/>
        <dsp:cNvSpPr/>
      </dsp:nvSpPr>
      <dsp:spPr>
        <a:xfrm>
          <a:off x="4843484" y="3168303"/>
          <a:ext cx="968047"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err="1"/>
            <a:t>RegExp</a:t>
          </a:r>
          <a:endParaRPr lang="en-GH" sz="2000" kern="1200" dirty="0"/>
        </a:p>
      </dsp:txBody>
      <dsp:txXfrm>
        <a:off x="4858322" y="3183141"/>
        <a:ext cx="938371" cy="476917"/>
      </dsp:txXfrm>
    </dsp:sp>
    <dsp:sp modelId="{C79F807B-192E-4006-9FB8-F764B05703DC}">
      <dsp:nvSpPr>
        <dsp:cNvPr id="0" name=""/>
        <dsp:cNvSpPr/>
      </dsp:nvSpPr>
      <dsp:spPr>
        <a:xfrm>
          <a:off x="4512619" y="508687"/>
          <a:ext cx="300388" cy="3546154"/>
        </a:xfrm>
        <a:custGeom>
          <a:avLst/>
          <a:gdLst/>
          <a:ahLst/>
          <a:cxnLst/>
          <a:rect l="0" t="0" r="0" b="0"/>
          <a:pathLst>
            <a:path>
              <a:moveTo>
                <a:pt x="0" y="0"/>
              </a:moveTo>
              <a:lnTo>
                <a:pt x="0" y="3546154"/>
              </a:lnTo>
              <a:lnTo>
                <a:pt x="300388" y="35461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9605555-0AEF-4189-B38B-072F309FCAF8}">
      <dsp:nvSpPr>
        <dsp:cNvPr id="0" name=""/>
        <dsp:cNvSpPr/>
      </dsp:nvSpPr>
      <dsp:spPr>
        <a:xfrm>
          <a:off x="4813008" y="3801545"/>
          <a:ext cx="810549"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Map</a:t>
          </a:r>
          <a:endParaRPr lang="en-GH" sz="2000" kern="1200" dirty="0"/>
        </a:p>
      </dsp:txBody>
      <dsp:txXfrm>
        <a:off x="4827846" y="3816383"/>
        <a:ext cx="780873" cy="476917"/>
      </dsp:txXfrm>
    </dsp:sp>
    <dsp:sp modelId="{17A97652-E41F-421A-A1AD-98F132FC6649}">
      <dsp:nvSpPr>
        <dsp:cNvPr id="0" name=""/>
        <dsp:cNvSpPr/>
      </dsp:nvSpPr>
      <dsp:spPr>
        <a:xfrm>
          <a:off x="4512619" y="508687"/>
          <a:ext cx="229271" cy="4179396"/>
        </a:xfrm>
        <a:custGeom>
          <a:avLst/>
          <a:gdLst/>
          <a:ahLst/>
          <a:cxnLst/>
          <a:rect l="0" t="0" r="0" b="0"/>
          <a:pathLst>
            <a:path>
              <a:moveTo>
                <a:pt x="0" y="0"/>
              </a:moveTo>
              <a:lnTo>
                <a:pt x="0" y="4179396"/>
              </a:lnTo>
              <a:lnTo>
                <a:pt x="229271" y="41793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5A92B3-A98F-459D-89B8-357A199EE08E}">
      <dsp:nvSpPr>
        <dsp:cNvPr id="0" name=""/>
        <dsp:cNvSpPr/>
      </dsp:nvSpPr>
      <dsp:spPr>
        <a:xfrm>
          <a:off x="4741890" y="4434787"/>
          <a:ext cx="810549" cy="5065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IN" sz="2000" kern="1200" dirty="0"/>
            <a:t>Set</a:t>
          </a:r>
          <a:endParaRPr lang="en-GH" sz="2000" kern="1200" dirty="0"/>
        </a:p>
      </dsp:txBody>
      <dsp:txXfrm>
        <a:off x="4756728" y="4449625"/>
        <a:ext cx="780873" cy="47691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9220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06192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4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06852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01853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4365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9609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229530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1957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39121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500187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7759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s 9">
            <a:extLst>
              <a:ext uri="{FF2B5EF4-FFF2-40B4-BE49-F238E27FC236}">
                <a16:creationId xmlns:a16="http://schemas.microsoft.com/office/drawing/2014/main" id="{ADC1A0AE-A0C7-CD4A-0BAB-8EBC26398050}"/>
              </a:ext>
            </a:extLst>
          </p:cNvPr>
          <p:cNvSpPr/>
          <p:nvPr/>
        </p:nvSpPr>
        <p:spPr>
          <a:xfrm flipV="1">
            <a:off x="222485" y="6626648"/>
            <a:ext cx="8752840" cy="220630"/>
          </a:xfrm>
          <a:prstGeom prst="rect">
            <a:avLst/>
          </a:prstGeom>
          <a:solidFill>
            <a:schemeClr val="accent2">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40465" y="129540"/>
            <a:ext cx="8681519" cy="116268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41100" y="1386039"/>
            <a:ext cx="8681519" cy="49431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028950" y="6623601"/>
            <a:ext cx="3086100" cy="21548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10341" y="6615830"/>
            <a:ext cx="2057400" cy="231027"/>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8" name="Picture 7" descr="A logo of a university&#10;&#10;Description automatically generat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820" y="6355380"/>
            <a:ext cx="588010" cy="485140"/>
          </a:xfrm>
          <a:prstGeom prst="rect">
            <a:avLst/>
          </a:prstGeom>
        </p:spPr>
      </p:pic>
      <p:sp>
        <p:nvSpPr>
          <p:cNvPr id="9" name="Rectangles 9">
            <a:extLst>
              <a:ext uri="{FF2B5EF4-FFF2-40B4-BE49-F238E27FC236}">
                <a16:creationId xmlns:a16="http://schemas.microsoft.com/office/drawing/2014/main" id="{E634ECF9-3972-2CC8-4938-4B4BFD28C772}"/>
              </a:ext>
            </a:extLst>
          </p:cNvPr>
          <p:cNvSpPr/>
          <p:nvPr/>
        </p:nvSpPr>
        <p:spPr>
          <a:xfrm flipV="1">
            <a:off x="14806" y="7014"/>
            <a:ext cx="9108241" cy="39062"/>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81026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3600" b="1" kern="1200">
          <a:solidFill>
            <a:srgbClr val="C00000"/>
          </a:solidFill>
          <a:latin typeface="+mj-lt"/>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w3schools.com/js/js_2016.as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48.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6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6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JavaScript</a:t>
            </a:r>
          </a:p>
        </p:txBody>
      </p:sp>
      <p:sp>
        <p:nvSpPr>
          <p:cNvPr id="3" name="Subtitle 2"/>
          <p:cNvSpPr>
            <a:spLocks noGrp="1"/>
          </p:cNvSpPr>
          <p:nvPr>
            <p:ph type="subTitle" idx="1"/>
          </p:nvPr>
        </p:nvSpPr>
        <p:spPr/>
        <p:txBody>
          <a:bodyPr/>
          <a:lstStyle/>
          <a:p>
            <a:r>
              <a:rPr lang="en-US" dirty="0"/>
              <a:t>Dr Govindha Ramaiah Yeluripati</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B91C-12B5-F579-4C3E-1DC2B50B417C}"/>
              </a:ext>
            </a:extLst>
          </p:cNvPr>
          <p:cNvSpPr>
            <a:spLocks noGrp="1"/>
          </p:cNvSpPr>
          <p:nvPr>
            <p:ph type="title"/>
          </p:nvPr>
        </p:nvSpPr>
        <p:spPr/>
        <p:txBody>
          <a:bodyPr/>
          <a:lstStyle/>
          <a:p>
            <a:r>
              <a:rPr lang="en-IN" dirty="0"/>
              <a:t>What is JavaScript?</a:t>
            </a:r>
            <a:endParaRPr lang="en-GH" dirty="0"/>
          </a:p>
        </p:txBody>
      </p:sp>
      <p:sp>
        <p:nvSpPr>
          <p:cNvPr id="3" name="Content Placeholder 2">
            <a:extLst>
              <a:ext uri="{FF2B5EF4-FFF2-40B4-BE49-F238E27FC236}">
                <a16:creationId xmlns:a16="http://schemas.microsoft.com/office/drawing/2014/main" id="{43DE906F-A4E7-5847-676A-76D08AA9B039}"/>
              </a:ext>
            </a:extLst>
          </p:cNvPr>
          <p:cNvSpPr>
            <a:spLocks noGrp="1"/>
          </p:cNvSpPr>
          <p:nvPr>
            <p:ph idx="1"/>
          </p:nvPr>
        </p:nvSpPr>
        <p:spPr/>
        <p:txBody>
          <a:bodyPr/>
          <a:lstStyle/>
          <a:p>
            <a:r>
              <a:rPr lang="en-US" dirty="0"/>
              <a:t>High-level, </a:t>
            </a:r>
            <a:r>
              <a:rPr lang="en-US" dirty="0">
                <a:solidFill>
                  <a:srgbClr val="FF0000"/>
                </a:solidFill>
              </a:rPr>
              <a:t>dynamic</a:t>
            </a:r>
            <a:r>
              <a:rPr lang="en-US" dirty="0"/>
              <a:t>, </a:t>
            </a:r>
            <a:r>
              <a:rPr lang="en-US" dirty="0">
                <a:solidFill>
                  <a:srgbClr val="FF0000"/>
                </a:solidFill>
              </a:rPr>
              <a:t>scripting</a:t>
            </a:r>
            <a:r>
              <a:rPr lang="en-US" dirty="0"/>
              <a:t>, programming language of the Web </a:t>
            </a:r>
          </a:p>
          <a:p>
            <a:r>
              <a:rPr lang="en-US" dirty="0"/>
              <a:t>Primarily used to </a:t>
            </a:r>
            <a:r>
              <a:rPr lang="en-US" dirty="0">
                <a:solidFill>
                  <a:srgbClr val="002060"/>
                </a:solidFill>
              </a:rPr>
              <a:t>create and control interactive elements </a:t>
            </a:r>
            <a:r>
              <a:rPr lang="en-US" dirty="0"/>
              <a:t>on websites. 		</a:t>
            </a:r>
          </a:p>
          <a:p>
            <a:endParaRPr lang="en-US" dirty="0"/>
          </a:p>
          <a:p>
            <a:r>
              <a:rPr lang="en-US" dirty="0"/>
              <a:t>JavaScript is one of the 3 languages all web developers must learn:</a:t>
            </a:r>
          </a:p>
          <a:p>
            <a:pPr marL="0" indent="0">
              <a:buNone/>
            </a:pPr>
            <a:r>
              <a:rPr lang="en-US" dirty="0"/>
              <a:t>	1. </a:t>
            </a:r>
            <a:r>
              <a:rPr lang="en-US" b="1" dirty="0">
                <a:solidFill>
                  <a:srgbClr val="00B050"/>
                </a:solidFill>
              </a:rPr>
              <a:t>HTML</a:t>
            </a:r>
            <a:r>
              <a:rPr lang="en-US" dirty="0"/>
              <a:t> to define the content of web pages</a:t>
            </a:r>
          </a:p>
          <a:p>
            <a:pPr marL="0" indent="0">
              <a:buNone/>
            </a:pPr>
            <a:r>
              <a:rPr lang="en-US" dirty="0"/>
              <a:t>	2. </a:t>
            </a:r>
            <a:r>
              <a:rPr lang="en-US" b="1" dirty="0">
                <a:solidFill>
                  <a:srgbClr val="00B050"/>
                </a:solidFill>
              </a:rPr>
              <a:t>CSS</a:t>
            </a:r>
            <a:r>
              <a:rPr lang="en-US" dirty="0"/>
              <a:t> to specify the layout and styles of web pages</a:t>
            </a:r>
          </a:p>
          <a:p>
            <a:pPr marL="0" indent="0">
              <a:buNone/>
            </a:pPr>
            <a:r>
              <a:rPr lang="en-US" dirty="0"/>
              <a:t>	3. </a:t>
            </a:r>
            <a:r>
              <a:rPr lang="en-US" b="1" dirty="0">
                <a:solidFill>
                  <a:srgbClr val="00B050"/>
                </a:solidFill>
              </a:rPr>
              <a:t>JavaScript</a:t>
            </a:r>
            <a:r>
              <a:rPr lang="en-US" dirty="0"/>
              <a:t> to program the behavior of web pages</a:t>
            </a:r>
          </a:p>
          <a:p>
            <a:pPr lvl="3"/>
            <a:r>
              <a:rPr lang="en-US" sz="1800" dirty="0"/>
              <a:t>JavaScript makes the page interactive by responding to user actions, manipulating content, and more.</a:t>
            </a:r>
          </a:p>
          <a:p>
            <a:r>
              <a:rPr lang="en-US" dirty="0"/>
              <a:t>JavaScript </a:t>
            </a:r>
            <a:r>
              <a:rPr lang="en-US" dirty="0">
                <a:solidFill>
                  <a:srgbClr val="FF0000"/>
                </a:solidFill>
              </a:rPr>
              <a:t>runs in the browser </a:t>
            </a:r>
            <a:r>
              <a:rPr lang="en-US" dirty="0"/>
              <a:t>and interacts with the HTML and CSS to make web pages interactive.</a:t>
            </a:r>
          </a:p>
          <a:p>
            <a:pPr marL="1371600" lvl="3" indent="0">
              <a:buNone/>
            </a:pPr>
            <a:endParaRPr lang="en-GH" sz="1800" dirty="0"/>
          </a:p>
        </p:txBody>
      </p:sp>
      <p:sp>
        <p:nvSpPr>
          <p:cNvPr id="4" name="TextBox 3">
            <a:extLst>
              <a:ext uri="{FF2B5EF4-FFF2-40B4-BE49-F238E27FC236}">
                <a16:creationId xmlns:a16="http://schemas.microsoft.com/office/drawing/2014/main" id="{FE46D524-CF51-E749-76E1-AE2C2AC064BA}"/>
              </a:ext>
            </a:extLst>
          </p:cNvPr>
          <p:cNvSpPr txBox="1"/>
          <p:nvPr/>
        </p:nvSpPr>
        <p:spPr>
          <a:xfrm>
            <a:off x="5231219" y="2401079"/>
            <a:ext cx="3671681" cy="400110"/>
          </a:xfrm>
          <a:prstGeom prst="rect">
            <a:avLst/>
          </a:prstGeom>
          <a:noFill/>
        </p:spPr>
        <p:txBody>
          <a:bodyPr wrap="square" rtlCol="0">
            <a:spAutoFit/>
          </a:bodyPr>
          <a:lstStyle/>
          <a:p>
            <a:r>
              <a:rPr lang="en-IN" sz="2000" dirty="0">
                <a:solidFill>
                  <a:srgbClr val="FF0000"/>
                </a:solidFill>
              </a:rPr>
              <a:t>(What are interactive elements?)</a:t>
            </a:r>
            <a:endParaRPr lang="en-GH" sz="2000" dirty="0">
              <a:solidFill>
                <a:srgbClr val="FF0000"/>
              </a:solidFill>
            </a:endParaRPr>
          </a:p>
        </p:txBody>
      </p:sp>
      <p:sp>
        <p:nvSpPr>
          <p:cNvPr id="5" name="TextBox 4">
            <a:extLst>
              <a:ext uri="{FF2B5EF4-FFF2-40B4-BE49-F238E27FC236}">
                <a16:creationId xmlns:a16="http://schemas.microsoft.com/office/drawing/2014/main" id="{BD91FCA9-D7CB-F997-4F33-F8C94BEFEB51}"/>
              </a:ext>
            </a:extLst>
          </p:cNvPr>
          <p:cNvSpPr txBox="1"/>
          <p:nvPr/>
        </p:nvSpPr>
        <p:spPr>
          <a:xfrm>
            <a:off x="1403480" y="922893"/>
            <a:ext cx="1477925" cy="369332"/>
          </a:xfrm>
          <a:prstGeom prst="rect">
            <a:avLst/>
          </a:prstGeom>
          <a:noFill/>
        </p:spPr>
        <p:txBody>
          <a:bodyPr wrap="square" rtlCol="0">
            <a:spAutoFit/>
          </a:bodyPr>
          <a:lstStyle/>
          <a:p>
            <a:r>
              <a:rPr lang="en-IN" dirty="0">
                <a:solidFill>
                  <a:srgbClr val="0070C0"/>
                </a:solidFill>
              </a:rPr>
              <a:t>(What is it?)</a:t>
            </a:r>
            <a:endParaRPr lang="en-GH" dirty="0">
              <a:solidFill>
                <a:srgbClr val="0070C0"/>
              </a:solidFill>
            </a:endParaRPr>
          </a:p>
        </p:txBody>
      </p:sp>
      <p:sp>
        <p:nvSpPr>
          <p:cNvPr id="6" name="TextBox 5">
            <a:extLst>
              <a:ext uri="{FF2B5EF4-FFF2-40B4-BE49-F238E27FC236}">
                <a16:creationId xmlns:a16="http://schemas.microsoft.com/office/drawing/2014/main" id="{D989E465-46F1-B23C-1289-C0F1F2244977}"/>
              </a:ext>
            </a:extLst>
          </p:cNvPr>
          <p:cNvSpPr txBox="1"/>
          <p:nvPr/>
        </p:nvSpPr>
        <p:spPr>
          <a:xfrm>
            <a:off x="3487442" y="922893"/>
            <a:ext cx="1477925" cy="369332"/>
          </a:xfrm>
          <a:prstGeom prst="rect">
            <a:avLst/>
          </a:prstGeom>
          <a:noFill/>
        </p:spPr>
        <p:txBody>
          <a:bodyPr wrap="square" rtlCol="0">
            <a:spAutoFit/>
          </a:bodyPr>
          <a:lstStyle/>
          <a:p>
            <a:r>
              <a:rPr lang="en-IN" dirty="0">
                <a:solidFill>
                  <a:srgbClr val="0070C0"/>
                </a:solidFill>
              </a:rPr>
              <a:t>(What is it?)</a:t>
            </a:r>
            <a:endParaRPr lang="en-GH" dirty="0">
              <a:solidFill>
                <a:srgbClr val="0070C0"/>
              </a:solidFill>
            </a:endParaRPr>
          </a:p>
        </p:txBody>
      </p:sp>
      <p:cxnSp>
        <p:nvCxnSpPr>
          <p:cNvPr id="8" name="Straight Arrow Connector 7">
            <a:extLst>
              <a:ext uri="{FF2B5EF4-FFF2-40B4-BE49-F238E27FC236}">
                <a16:creationId xmlns:a16="http://schemas.microsoft.com/office/drawing/2014/main" id="{F8391AEF-A6DD-A1AC-6872-E6B54F8B2850}"/>
              </a:ext>
            </a:extLst>
          </p:cNvPr>
          <p:cNvCxnSpPr/>
          <p:nvPr/>
        </p:nvCxnSpPr>
        <p:spPr>
          <a:xfrm flipV="1">
            <a:off x="3657600" y="1201479"/>
            <a:ext cx="372140" cy="276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4952459-8186-1FB0-BB7F-330AED32E2B5}"/>
              </a:ext>
            </a:extLst>
          </p:cNvPr>
          <p:cNvCxnSpPr>
            <a:endCxn id="5" idx="2"/>
          </p:cNvCxnSpPr>
          <p:nvPr/>
        </p:nvCxnSpPr>
        <p:spPr>
          <a:xfrm flipH="1" flipV="1">
            <a:off x="2142443" y="1292225"/>
            <a:ext cx="356208" cy="185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B834185-D8A4-BD11-5212-69BA7FFA9BBD}"/>
              </a:ext>
            </a:extLst>
          </p:cNvPr>
          <p:cNvCxnSpPr/>
          <p:nvPr/>
        </p:nvCxnSpPr>
        <p:spPr>
          <a:xfrm>
            <a:off x="5869172" y="2222205"/>
            <a:ext cx="499730" cy="297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8129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6E2FA-834A-9EC1-8356-DC6D082DA638}"/>
              </a:ext>
            </a:extLst>
          </p:cNvPr>
          <p:cNvSpPr>
            <a:spLocks noGrp="1"/>
          </p:cNvSpPr>
          <p:nvPr>
            <p:ph type="title"/>
          </p:nvPr>
        </p:nvSpPr>
        <p:spPr/>
        <p:txBody>
          <a:bodyPr/>
          <a:lstStyle/>
          <a:p>
            <a:r>
              <a:rPr lang="en-IN" dirty="0"/>
              <a:t>Where is JavaScript Used?</a:t>
            </a:r>
            <a:endParaRPr lang="en-GH" dirty="0"/>
          </a:p>
        </p:txBody>
      </p:sp>
      <p:sp>
        <p:nvSpPr>
          <p:cNvPr id="3" name="Content Placeholder 2">
            <a:extLst>
              <a:ext uri="{FF2B5EF4-FFF2-40B4-BE49-F238E27FC236}">
                <a16:creationId xmlns:a16="http://schemas.microsoft.com/office/drawing/2014/main" id="{099A11BA-F1B5-E876-F130-661B5C48CBE4}"/>
              </a:ext>
            </a:extLst>
          </p:cNvPr>
          <p:cNvSpPr>
            <a:spLocks noGrp="1"/>
          </p:cNvSpPr>
          <p:nvPr>
            <p:ph idx="1"/>
          </p:nvPr>
        </p:nvSpPr>
        <p:spPr>
          <a:xfrm>
            <a:off x="241101" y="1386039"/>
            <a:ext cx="4330900" cy="4943141"/>
          </a:xfrm>
          <a:solidFill>
            <a:schemeClr val="accent4">
              <a:lumMod val="20000"/>
              <a:lumOff val="80000"/>
            </a:schemeClr>
          </a:solidFill>
          <a:ln>
            <a:solidFill>
              <a:srgbClr val="0070C0"/>
            </a:solidFill>
          </a:ln>
        </p:spPr>
        <p:txBody>
          <a:bodyPr/>
          <a:lstStyle/>
          <a:p>
            <a:r>
              <a:rPr lang="en-US" dirty="0">
                <a:solidFill>
                  <a:srgbClr val="002060"/>
                </a:solidFill>
              </a:rPr>
              <a:t>Frontend Web Development</a:t>
            </a:r>
            <a:r>
              <a:rPr lang="en-US" dirty="0"/>
              <a:t>: </a:t>
            </a:r>
          </a:p>
          <a:p>
            <a:pPr lvl="1">
              <a:buFont typeface="Wingdings" panose="05000000000000000000" pitchFamily="2" charset="2"/>
              <a:buChar char="ü"/>
            </a:pPr>
            <a:r>
              <a:rPr lang="en-US" dirty="0"/>
              <a:t>The </a:t>
            </a:r>
            <a:r>
              <a:rPr lang="en-US" dirty="0">
                <a:highlight>
                  <a:srgbClr val="FFFF00"/>
                </a:highlight>
              </a:rPr>
              <a:t>most common use</a:t>
            </a:r>
            <a:r>
              <a:rPr lang="en-US" dirty="0"/>
              <a:t>. </a:t>
            </a:r>
          </a:p>
          <a:p>
            <a:pPr lvl="1">
              <a:buFont typeface="Wingdings" panose="05000000000000000000" pitchFamily="2" charset="2"/>
              <a:buChar char="ü"/>
            </a:pPr>
            <a:r>
              <a:rPr lang="en-US" dirty="0"/>
              <a:t>Allows developers to create dynamic web pages with features like form validation, interactive maps, animations, and more.</a:t>
            </a:r>
          </a:p>
          <a:p>
            <a:pPr lvl="1">
              <a:buFont typeface="Wingdings" panose="05000000000000000000" pitchFamily="2" charset="2"/>
              <a:buChar char="ü"/>
            </a:pPr>
            <a:endParaRPr lang="en-US" dirty="0"/>
          </a:p>
          <a:p>
            <a:r>
              <a:rPr lang="en-US" dirty="0">
                <a:solidFill>
                  <a:srgbClr val="002060"/>
                </a:solidFill>
              </a:rPr>
              <a:t>Backend Web Development</a:t>
            </a:r>
            <a:r>
              <a:rPr lang="en-US" dirty="0"/>
              <a:t>: </a:t>
            </a:r>
          </a:p>
          <a:p>
            <a:pPr lvl="1">
              <a:buFont typeface="Wingdings" panose="05000000000000000000" pitchFamily="2" charset="2"/>
              <a:buChar char="ü"/>
            </a:pPr>
            <a:r>
              <a:rPr lang="en-US" dirty="0"/>
              <a:t>Using environments like </a:t>
            </a:r>
            <a:r>
              <a:rPr lang="en-US" dirty="0">
                <a:highlight>
                  <a:srgbClr val="FFFF00"/>
                </a:highlight>
              </a:rPr>
              <a:t>Node.js</a:t>
            </a:r>
            <a:r>
              <a:rPr lang="en-US" dirty="0"/>
              <a:t>, JavaScript can also be used to create server-side applications.</a:t>
            </a:r>
          </a:p>
        </p:txBody>
      </p:sp>
      <p:sp>
        <p:nvSpPr>
          <p:cNvPr id="4" name="Content Placeholder 2">
            <a:extLst>
              <a:ext uri="{FF2B5EF4-FFF2-40B4-BE49-F238E27FC236}">
                <a16:creationId xmlns:a16="http://schemas.microsoft.com/office/drawing/2014/main" id="{099A11BA-F1B5-E876-F130-661B5C48CBE4}"/>
              </a:ext>
            </a:extLst>
          </p:cNvPr>
          <p:cNvSpPr txBox="1">
            <a:spLocks/>
          </p:cNvSpPr>
          <p:nvPr/>
        </p:nvSpPr>
        <p:spPr>
          <a:xfrm>
            <a:off x="4686778" y="1386039"/>
            <a:ext cx="4235206" cy="4943141"/>
          </a:xfrm>
          <a:prstGeom prst="rect">
            <a:avLst/>
          </a:prstGeom>
          <a:solidFill>
            <a:schemeClr val="accent5">
              <a:lumMod val="20000"/>
              <a:lumOff val="80000"/>
            </a:schemeClr>
          </a:solidFill>
          <a:ln>
            <a:solidFill>
              <a:srgbClr val="0070C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C00000"/>
                </a:solidFill>
              </a:rPr>
              <a:t>Mobile Apps</a:t>
            </a:r>
            <a:r>
              <a:rPr lang="en-US" dirty="0"/>
              <a:t>: </a:t>
            </a:r>
          </a:p>
          <a:p>
            <a:pPr lvl="1">
              <a:buFont typeface="Wingdings" panose="05000000000000000000" pitchFamily="2" charset="2"/>
              <a:buChar char="ü"/>
            </a:pPr>
            <a:r>
              <a:rPr lang="en-US" dirty="0"/>
              <a:t>Frameworks like </a:t>
            </a:r>
            <a:r>
              <a:rPr lang="en-US" dirty="0">
                <a:highlight>
                  <a:srgbClr val="FFFF00"/>
                </a:highlight>
              </a:rPr>
              <a:t>React Native </a:t>
            </a:r>
            <a:r>
              <a:rPr lang="en-US" dirty="0"/>
              <a:t>and </a:t>
            </a:r>
            <a:r>
              <a:rPr lang="en-US" dirty="0">
                <a:highlight>
                  <a:srgbClr val="FFFF00"/>
                </a:highlight>
              </a:rPr>
              <a:t>Ionic </a:t>
            </a:r>
            <a:r>
              <a:rPr lang="en-US" dirty="0"/>
              <a:t>allow JavaScript to be used in mobile application development.</a:t>
            </a:r>
          </a:p>
          <a:p>
            <a:r>
              <a:rPr lang="en-US" dirty="0">
                <a:solidFill>
                  <a:srgbClr val="C00000"/>
                </a:solidFill>
              </a:rPr>
              <a:t>Game Development</a:t>
            </a:r>
            <a:r>
              <a:rPr lang="en-US" dirty="0"/>
              <a:t>: </a:t>
            </a:r>
          </a:p>
          <a:p>
            <a:pPr lvl="1">
              <a:buFont typeface="Wingdings" panose="05000000000000000000" pitchFamily="2" charset="2"/>
              <a:buChar char="ü"/>
            </a:pPr>
            <a:r>
              <a:rPr lang="en-US" dirty="0"/>
              <a:t>With the help of frameworks like </a:t>
            </a:r>
            <a:r>
              <a:rPr lang="en-US" dirty="0">
                <a:highlight>
                  <a:srgbClr val="FFFF00"/>
                </a:highlight>
              </a:rPr>
              <a:t>Phaser</a:t>
            </a:r>
            <a:r>
              <a:rPr lang="en-US" dirty="0"/>
              <a:t>, JavaScript can be used to build browser-based games.</a:t>
            </a:r>
          </a:p>
          <a:p>
            <a:r>
              <a:rPr lang="en-US" dirty="0">
                <a:solidFill>
                  <a:srgbClr val="C00000"/>
                </a:solidFill>
              </a:rPr>
              <a:t>Desktop Applications</a:t>
            </a:r>
            <a:r>
              <a:rPr lang="en-US" dirty="0"/>
              <a:t>: </a:t>
            </a:r>
          </a:p>
          <a:p>
            <a:pPr lvl="1">
              <a:buFont typeface="Wingdings" panose="05000000000000000000" pitchFamily="2" charset="2"/>
              <a:buChar char="ü"/>
            </a:pPr>
            <a:r>
              <a:rPr lang="en-US" dirty="0"/>
              <a:t>Using tools like </a:t>
            </a:r>
            <a:r>
              <a:rPr lang="en-US" dirty="0">
                <a:highlight>
                  <a:srgbClr val="FFFF00"/>
                </a:highlight>
              </a:rPr>
              <a:t>Electron</a:t>
            </a:r>
            <a:r>
              <a:rPr lang="en-US" dirty="0"/>
              <a:t>, one can create cross-platform desktop applications using JavaScript.</a:t>
            </a:r>
            <a:endParaRPr lang="en-GH" dirty="0"/>
          </a:p>
        </p:txBody>
      </p:sp>
    </p:spTree>
    <p:extLst>
      <p:ext uri="{BB962C8B-B14F-4D97-AF65-F5344CB8AC3E}">
        <p14:creationId xmlns:p14="http://schemas.microsoft.com/office/powerpoint/2010/main" val="2158761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6E2FA-834A-9EC1-8356-DC6D082DA638}"/>
              </a:ext>
            </a:extLst>
          </p:cNvPr>
          <p:cNvSpPr>
            <a:spLocks noGrp="1"/>
          </p:cNvSpPr>
          <p:nvPr>
            <p:ph type="title"/>
          </p:nvPr>
        </p:nvSpPr>
        <p:spPr/>
        <p:txBody>
          <a:bodyPr/>
          <a:lstStyle/>
          <a:p>
            <a:r>
              <a:rPr lang="en-IN" dirty="0"/>
              <a:t>How is JavaScript Used?</a:t>
            </a:r>
            <a:endParaRPr lang="en-GH" dirty="0"/>
          </a:p>
        </p:txBody>
      </p:sp>
      <p:sp>
        <p:nvSpPr>
          <p:cNvPr id="5" name="Content Placeholder 4">
            <a:extLst>
              <a:ext uri="{FF2B5EF4-FFF2-40B4-BE49-F238E27FC236}">
                <a16:creationId xmlns:a16="http://schemas.microsoft.com/office/drawing/2014/main" id="{503FE4AC-404D-24DB-F28B-59F39C498A20}"/>
              </a:ext>
            </a:extLst>
          </p:cNvPr>
          <p:cNvSpPr>
            <a:spLocks noGrp="1"/>
          </p:cNvSpPr>
          <p:nvPr>
            <p:ph idx="1"/>
          </p:nvPr>
        </p:nvSpPr>
        <p:spPr/>
        <p:txBody>
          <a:bodyPr/>
          <a:lstStyle/>
          <a:p>
            <a:r>
              <a:rPr lang="en-US" b="1" dirty="0">
                <a:solidFill>
                  <a:srgbClr val="FF0000"/>
                </a:solidFill>
              </a:rPr>
              <a:t>Writing/Editing the code</a:t>
            </a:r>
            <a:r>
              <a:rPr lang="en-US" dirty="0"/>
              <a:t>: JavaScript code can be written directly in the </a:t>
            </a:r>
            <a:r>
              <a:rPr lang="en-US" b="1" dirty="0"/>
              <a:t>web browser's developer console </a:t>
            </a:r>
            <a:r>
              <a:rPr lang="en-US" dirty="0"/>
              <a:t>(usually opened with F12)</a:t>
            </a:r>
          </a:p>
          <a:p>
            <a:pPr marL="0" indent="0">
              <a:lnSpc>
                <a:spcPct val="50000"/>
              </a:lnSpc>
              <a:buNone/>
            </a:pPr>
            <a:r>
              <a:rPr lang="en-US" dirty="0"/>
              <a:t>   </a:t>
            </a:r>
          </a:p>
          <a:p>
            <a:pPr marL="0" indent="0">
              <a:lnSpc>
                <a:spcPct val="50000"/>
              </a:lnSpc>
              <a:buNone/>
            </a:pPr>
            <a:r>
              <a:rPr lang="en-US" dirty="0"/>
              <a:t>   </a:t>
            </a:r>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a:p>
            <a:r>
              <a:rPr lang="en-US" dirty="0"/>
              <a:t>For larger projects, we can </a:t>
            </a:r>
            <a:r>
              <a:rPr lang="en-US" b="1" dirty="0"/>
              <a:t>use a text editor </a:t>
            </a:r>
            <a:r>
              <a:rPr lang="en-US" dirty="0"/>
              <a:t>(e.g., Notepad++, Visual Studio Code) to create </a:t>
            </a:r>
            <a:r>
              <a:rPr lang="en-US" b="1" dirty="0">
                <a:solidFill>
                  <a:srgbClr val="FF0000"/>
                </a:solidFill>
              </a:rPr>
              <a:t>.</a:t>
            </a:r>
            <a:r>
              <a:rPr lang="en-US" b="1" dirty="0" err="1">
                <a:solidFill>
                  <a:srgbClr val="FF0000"/>
                </a:solidFill>
              </a:rPr>
              <a:t>js</a:t>
            </a:r>
            <a:r>
              <a:rPr lang="en-US" dirty="0"/>
              <a:t> files</a:t>
            </a:r>
          </a:p>
          <a:p>
            <a:pPr marL="0" indent="0">
              <a:buNone/>
            </a:pPr>
            <a:endParaRPr lang="en-US" dirty="0"/>
          </a:p>
        </p:txBody>
      </p:sp>
      <p:pic>
        <p:nvPicPr>
          <p:cNvPr id="9" name="Picture 8">
            <a:extLst>
              <a:ext uri="{FF2B5EF4-FFF2-40B4-BE49-F238E27FC236}">
                <a16:creationId xmlns:a16="http://schemas.microsoft.com/office/drawing/2014/main" id="{1E9B5A06-3377-CC4D-3639-2E33A752CB98}"/>
              </a:ext>
            </a:extLst>
          </p:cNvPr>
          <p:cNvPicPr>
            <a:picLocks noChangeAspect="1"/>
          </p:cNvPicPr>
          <p:nvPr/>
        </p:nvPicPr>
        <p:blipFill>
          <a:blip r:embed="rId2"/>
          <a:stretch>
            <a:fillRect/>
          </a:stretch>
        </p:blipFill>
        <p:spPr>
          <a:xfrm>
            <a:off x="418355" y="2187367"/>
            <a:ext cx="8484545" cy="2825182"/>
          </a:xfrm>
          <a:prstGeom prst="rect">
            <a:avLst/>
          </a:prstGeom>
        </p:spPr>
      </p:pic>
      <p:sp>
        <p:nvSpPr>
          <p:cNvPr id="11" name="TextBox 10">
            <a:extLst>
              <a:ext uri="{FF2B5EF4-FFF2-40B4-BE49-F238E27FC236}">
                <a16:creationId xmlns:a16="http://schemas.microsoft.com/office/drawing/2014/main" id="{4E2A80DC-CD66-D13E-93E0-64E404DB89F0}"/>
              </a:ext>
            </a:extLst>
          </p:cNvPr>
          <p:cNvSpPr txBox="1"/>
          <p:nvPr/>
        </p:nvSpPr>
        <p:spPr>
          <a:xfrm>
            <a:off x="962315" y="4827883"/>
            <a:ext cx="7640320" cy="369332"/>
          </a:xfrm>
          <a:prstGeom prst="rect">
            <a:avLst/>
          </a:prstGeom>
          <a:noFill/>
        </p:spPr>
        <p:txBody>
          <a:bodyPr wrap="square">
            <a:spAutoFit/>
          </a:bodyPr>
          <a:lstStyle/>
          <a:p>
            <a:pPr marL="0" indent="0" algn="ctr">
              <a:buNone/>
            </a:pPr>
            <a:r>
              <a:rPr lang="en-US" dirty="0">
                <a:solidFill>
                  <a:srgbClr val="FF0000"/>
                </a:solidFill>
              </a:rPr>
              <a:t>Helpful if done on a blank page (type '</a:t>
            </a:r>
            <a:r>
              <a:rPr lang="en-US" dirty="0" err="1">
                <a:solidFill>
                  <a:srgbClr val="FF0000"/>
                </a:solidFill>
              </a:rPr>
              <a:t>about:blank</a:t>
            </a:r>
            <a:r>
              <a:rPr lang="en-US" dirty="0">
                <a:solidFill>
                  <a:srgbClr val="FF0000"/>
                </a:solidFill>
              </a:rPr>
              <a:t>' in the address bar)</a:t>
            </a:r>
          </a:p>
        </p:txBody>
      </p:sp>
    </p:spTree>
    <p:extLst>
      <p:ext uri="{BB962C8B-B14F-4D97-AF65-F5344CB8AC3E}">
        <p14:creationId xmlns:p14="http://schemas.microsoft.com/office/powerpoint/2010/main" val="3869754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6E2FA-834A-9EC1-8356-DC6D082DA638}"/>
              </a:ext>
            </a:extLst>
          </p:cNvPr>
          <p:cNvSpPr>
            <a:spLocks noGrp="1"/>
          </p:cNvSpPr>
          <p:nvPr>
            <p:ph type="title"/>
          </p:nvPr>
        </p:nvSpPr>
        <p:spPr/>
        <p:txBody>
          <a:bodyPr/>
          <a:lstStyle/>
          <a:p>
            <a:r>
              <a:rPr lang="en-IN" dirty="0"/>
              <a:t>How is JavaScript Used?</a:t>
            </a:r>
            <a:endParaRPr lang="en-GH" dirty="0"/>
          </a:p>
        </p:txBody>
      </p:sp>
      <p:sp>
        <p:nvSpPr>
          <p:cNvPr id="5" name="Content Placeholder 4">
            <a:extLst>
              <a:ext uri="{FF2B5EF4-FFF2-40B4-BE49-F238E27FC236}">
                <a16:creationId xmlns:a16="http://schemas.microsoft.com/office/drawing/2014/main" id="{503FE4AC-404D-24DB-F28B-59F39C498A20}"/>
              </a:ext>
            </a:extLst>
          </p:cNvPr>
          <p:cNvSpPr>
            <a:spLocks noGrp="1"/>
          </p:cNvSpPr>
          <p:nvPr>
            <p:ph idx="1"/>
          </p:nvPr>
        </p:nvSpPr>
        <p:spPr/>
        <p:txBody>
          <a:bodyPr/>
          <a:lstStyle/>
          <a:p>
            <a:r>
              <a:rPr lang="en-US" b="1" dirty="0">
                <a:solidFill>
                  <a:srgbClr val="FF0000"/>
                </a:solidFill>
              </a:rPr>
              <a:t>Running the code</a:t>
            </a:r>
            <a:r>
              <a:rPr lang="en-US" dirty="0"/>
              <a:t>: To include JavaScript in a web page, add a </a:t>
            </a:r>
            <a:r>
              <a:rPr lang="en-US" b="1" dirty="0">
                <a:solidFill>
                  <a:srgbClr val="C00000"/>
                </a:solidFill>
              </a:rPr>
              <a:t>&lt;script&gt; </a:t>
            </a:r>
            <a:r>
              <a:rPr lang="en-US" dirty="0"/>
              <a:t>tag within the </a:t>
            </a:r>
            <a:r>
              <a:rPr lang="en-US" b="1" dirty="0">
                <a:solidFill>
                  <a:srgbClr val="C00000"/>
                </a:solidFill>
              </a:rPr>
              <a:t>&lt;head&gt; </a:t>
            </a:r>
            <a:r>
              <a:rPr lang="en-US" dirty="0"/>
              <a:t>or </a:t>
            </a:r>
            <a:r>
              <a:rPr lang="en-US" b="1" dirty="0">
                <a:solidFill>
                  <a:srgbClr val="C00000"/>
                </a:solidFill>
              </a:rPr>
              <a:t>&lt;body&gt; </a:t>
            </a:r>
            <a:r>
              <a:rPr lang="en-US" dirty="0"/>
              <a:t>of the HTML file</a:t>
            </a:r>
          </a:p>
          <a:p>
            <a:pPr marL="457200" indent="-457200">
              <a:buFont typeface="+mj-lt"/>
              <a:buAutoNum type="arabicParenR"/>
            </a:pPr>
            <a:r>
              <a:rPr lang="en-US" dirty="0"/>
              <a:t>JavaScript can be </a:t>
            </a:r>
            <a:r>
              <a:rPr lang="en-US" dirty="0">
                <a:solidFill>
                  <a:srgbClr val="FF0000"/>
                </a:solidFill>
              </a:rPr>
              <a:t>embedded directly within HTML </a:t>
            </a:r>
            <a:r>
              <a:rPr lang="en-US" dirty="0"/>
              <a:t>documents</a:t>
            </a:r>
          </a:p>
          <a:p>
            <a:pPr marL="457200" indent="-457200">
              <a:buFont typeface="+mj-lt"/>
              <a:buAutoNum type="arabicParenR"/>
            </a:pPr>
            <a:endParaRPr lang="en-US" dirty="0"/>
          </a:p>
          <a:p>
            <a:pPr marL="457200" indent="-457200">
              <a:buFont typeface="+mj-lt"/>
              <a:buAutoNum type="arabicParenR"/>
            </a:pPr>
            <a:endParaRPr lang="en-US" dirty="0"/>
          </a:p>
          <a:p>
            <a:pPr marL="457200" indent="-457200">
              <a:buFont typeface="+mj-lt"/>
              <a:buAutoNum type="arabicParenR"/>
            </a:pPr>
            <a:endParaRPr lang="en-US" dirty="0"/>
          </a:p>
          <a:p>
            <a:pPr marL="457200" indent="-457200">
              <a:buFont typeface="+mj-lt"/>
              <a:buAutoNum type="arabicParenR"/>
            </a:pPr>
            <a:endParaRPr lang="en-US" dirty="0"/>
          </a:p>
          <a:p>
            <a:pPr marL="457200" indent="-457200">
              <a:buFont typeface="+mj-lt"/>
              <a:buAutoNum type="arabicParenR"/>
            </a:pPr>
            <a:endParaRPr lang="en-US" dirty="0"/>
          </a:p>
          <a:p>
            <a:pPr marL="457200" indent="-457200">
              <a:buFont typeface="+mj-lt"/>
              <a:buAutoNum type="arabicParenR"/>
            </a:pPr>
            <a:endParaRPr lang="en-US" dirty="0"/>
          </a:p>
          <a:p>
            <a:pPr marL="457200" indent="-457200">
              <a:buFont typeface="+mj-lt"/>
              <a:buAutoNum type="arabicParenR"/>
            </a:pPr>
            <a:r>
              <a:rPr lang="en-US" dirty="0"/>
              <a:t>JavaScript can be used as an </a:t>
            </a:r>
            <a:r>
              <a:rPr lang="en-US" dirty="0">
                <a:solidFill>
                  <a:srgbClr val="FF0000"/>
                </a:solidFill>
              </a:rPr>
              <a:t>external file</a:t>
            </a:r>
            <a:r>
              <a:rPr lang="en-US" dirty="0"/>
              <a:t>. </a:t>
            </a:r>
          </a:p>
          <a:p>
            <a:pPr marL="0" indent="0">
              <a:buNone/>
            </a:pPr>
            <a:r>
              <a:rPr lang="en-US" dirty="0"/>
              <a:t> </a:t>
            </a:r>
          </a:p>
        </p:txBody>
      </p:sp>
      <p:pic>
        <p:nvPicPr>
          <p:cNvPr id="7" name="Picture 6">
            <a:extLst>
              <a:ext uri="{FF2B5EF4-FFF2-40B4-BE49-F238E27FC236}">
                <a16:creationId xmlns:a16="http://schemas.microsoft.com/office/drawing/2014/main" id="{E732E9FE-AB7E-177C-0030-4A8D96EDEF22}"/>
              </a:ext>
            </a:extLst>
          </p:cNvPr>
          <p:cNvPicPr>
            <a:picLocks noChangeAspect="1"/>
          </p:cNvPicPr>
          <p:nvPr/>
        </p:nvPicPr>
        <p:blipFill>
          <a:blip r:embed="rId2"/>
          <a:stretch>
            <a:fillRect/>
          </a:stretch>
        </p:blipFill>
        <p:spPr>
          <a:xfrm>
            <a:off x="832243" y="2675606"/>
            <a:ext cx="7133197" cy="2364005"/>
          </a:xfrm>
          <a:prstGeom prst="rect">
            <a:avLst/>
          </a:prstGeom>
        </p:spPr>
      </p:pic>
      <p:pic>
        <p:nvPicPr>
          <p:cNvPr id="4" name="Picture 3">
            <a:extLst>
              <a:ext uri="{FF2B5EF4-FFF2-40B4-BE49-F238E27FC236}">
                <a16:creationId xmlns:a16="http://schemas.microsoft.com/office/drawing/2014/main" id="{9669D983-A0E0-7D24-6995-72EB8ED86F02}"/>
              </a:ext>
            </a:extLst>
          </p:cNvPr>
          <p:cNvPicPr>
            <a:picLocks noChangeAspect="1"/>
          </p:cNvPicPr>
          <p:nvPr/>
        </p:nvPicPr>
        <p:blipFill>
          <a:blip r:embed="rId3"/>
          <a:stretch>
            <a:fillRect/>
          </a:stretch>
        </p:blipFill>
        <p:spPr>
          <a:xfrm>
            <a:off x="832243" y="5801873"/>
            <a:ext cx="4471277" cy="557785"/>
          </a:xfrm>
          <a:prstGeom prst="rect">
            <a:avLst/>
          </a:prstGeom>
        </p:spPr>
      </p:pic>
    </p:spTree>
    <p:extLst>
      <p:ext uri="{BB962C8B-B14F-4D97-AF65-F5344CB8AC3E}">
        <p14:creationId xmlns:p14="http://schemas.microsoft.com/office/powerpoint/2010/main" val="757144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6E2FA-834A-9EC1-8356-DC6D082DA638}"/>
              </a:ext>
            </a:extLst>
          </p:cNvPr>
          <p:cNvSpPr>
            <a:spLocks noGrp="1"/>
          </p:cNvSpPr>
          <p:nvPr>
            <p:ph type="title"/>
          </p:nvPr>
        </p:nvSpPr>
        <p:spPr/>
        <p:txBody>
          <a:bodyPr/>
          <a:lstStyle/>
          <a:p>
            <a:r>
              <a:rPr lang="en-IN" dirty="0"/>
              <a:t>How is JavaScript Used?</a:t>
            </a:r>
            <a:endParaRPr lang="en-GH" dirty="0"/>
          </a:p>
        </p:txBody>
      </p:sp>
      <p:sp>
        <p:nvSpPr>
          <p:cNvPr id="5" name="Content Placeholder 4">
            <a:extLst>
              <a:ext uri="{FF2B5EF4-FFF2-40B4-BE49-F238E27FC236}">
                <a16:creationId xmlns:a16="http://schemas.microsoft.com/office/drawing/2014/main" id="{503FE4AC-404D-24DB-F28B-59F39C498A20}"/>
              </a:ext>
            </a:extLst>
          </p:cNvPr>
          <p:cNvSpPr>
            <a:spLocks noGrp="1"/>
          </p:cNvSpPr>
          <p:nvPr>
            <p:ph idx="1"/>
          </p:nvPr>
        </p:nvSpPr>
        <p:spPr/>
        <p:txBody>
          <a:bodyPr/>
          <a:lstStyle/>
          <a:p>
            <a:r>
              <a:rPr lang="en-US" b="1" dirty="0">
                <a:solidFill>
                  <a:srgbClr val="FF0000"/>
                </a:solidFill>
              </a:rPr>
              <a:t>Running the code</a:t>
            </a:r>
            <a:r>
              <a:rPr lang="en-US" dirty="0"/>
              <a:t>: To include JavaScript in a web page, add a </a:t>
            </a:r>
            <a:r>
              <a:rPr lang="en-US" b="1" dirty="0">
                <a:solidFill>
                  <a:srgbClr val="C00000"/>
                </a:solidFill>
              </a:rPr>
              <a:t>&lt;script&gt; </a:t>
            </a:r>
            <a:r>
              <a:rPr lang="en-US" dirty="0"/>
              <a:t>tag within the </a:t>
            </a:r>
            <a:r>
              <a:rPr lang="en-US" b="1" dirty="0">
                <a:solidFill>
                  <a:srgbClr val="C00000"/>
                </a:solidFill>
              </a:rPr>
              <a:t>&lt;head&gt; </a:t>
            </a:r>
            <a:r>
              <a:rPr lang="en-US" dirty="0"/>
              <a:t>or </a:t>
            </a:r>
            <a:r>
              <a:rPr lang="en-US" b="1" dirty="0">
                <a:solidFill>
                  <a:srgbClr val="C00000"/>
                </a:solidFill>
              </a:rPr>
              <a:t>&lt;body&gt; </a:t>
            </a:r>
            <a:r>
              <a:rPr lang="en-US" dirty="0"/>
              <a:t>of the HTML file.</a:t>
            </a:r>
          </a:p>
          <a:p>
            <a:pPr marL="0" indent="0">
              <a:buNone/>
            </a:pPr>
            <a:r>
              <a:rPr lang="en-US" dirty="0"/>
              <a:t>	</a:t>
            </a:r>
            <a:r>
              <a:rPr lang="en-US" dirty="0">
                <a:solidFill>
                  <a:srgbClr val="7030A0"/>
                </a:solidFill>
              </a:rPr>
              <a:t>Do these two approaches produce the same effect?</a:t>
            </a:r>
          </a:p>
          <a:p>
            <a:r>
              <a:rPr lang="en-US" dirty="0"/>
              <a:t>Placing within </a:t>
            </a:r>
            <a:r>
              <a:rPr lang="en-US" dirty="0">
                <a:solidFill>
                  <a:srgbClr val="C00000"/>
                </a:solidFill>
              </a:rPr>
              <a:t>&lt;head&gt; </a:t>
            </a:r>
            <a:r>
              <a:rPr lang="en-US" dirty="0"/>
              <a:t>section:</a:t>
            </a:r>
          </a:p>
          <a:p>
            <a:pPr lvl="1">
              <a:buFont typeface="Wingdings" panose="05000000000000000000" pitchFamily="2" charset="2"/>
              <a:buChar char="ü"/>
            </a:pPr>
            <a:r>
              <a:rPr lang="en-US" dirty="0"/>
              <a:t>Causes the browser to load and execute the JavaScript before it loads the content of the page (i.e., the HTML elements in the body)</a:t>
            </a:r>
          </a:p>
          <a:p>
            <a:pPr lvl="1">
              <a:buFont typeface="Wingdings" panose="05000000000000000000" pitchFamily="2" charset="2"/>
              <a:buChar char="ü"/>
            </a:pPr>
            <a:r>
              <a:rPr lang="en-US" u="sng" dirty="0"/>
              <a:t>Issues</a:t>
            </a:r>
            <a:r>
              <a:rPr lang="en-US" dirty="0"/>
              <a:t>: This leads to a delay in rendering the page leading to poor user experience and if the script is manipulating any &lt;body&gt; elements, it may fail to do so</a:t>
            </a:r>
          </a:p>
          <a:p>
            <a:pPr lvl="1">
              <a:buFont typeface="Wingdings" panose="05000000000000000000" pitchFamily="2" charset="2"/>
              <a:buChar char="ü"/>
            </a:pPr>
            <a:r>
              <a:rPr lang="en-US" dirty="0"/>
              <a:t>To prevent these problems, </a:t>
            </a:r>
            <a:r>
              <a:rPr lang="en-US" dirty="0">
                <a:solidFill>
                  <a:srgbClr val="FF0000"/>
                </a:solidFill>
              </a:rPr>
              <a:t>defer</a:t>
            </a:r>
            <a:r>
              <a:rPr lang="en-US" dirty="0"/>
              <a:t> and </a:t>
            </a:r>
            <a:r>
              <a:rPr lang="en-US" dirty="0">
                <a:solidFill>
                  <a:srgbClr val="FF0000"/>
                </a:solidFill>
              </a:rPr>
              <a:t>async</a:t>
            </a:r>
            <a:r>
              <a:rPr lang="en-US" dirty="0"/>
              <a:t> attributes can be used </a:t>
            </a:r>
            <a:r>
              <a:rPr lang="en-US" u="sng" dirty="0"/>
              <a:t>but only with an external JavaScript file</a:t>
            </a:r>
            <a:r>
              <a:rPr lang="en-US" dirty="0"/>
              <a:t>.</a:t>
            </a:r>
          </a:p>
          <a:p>
            <a:pPr lvl="1">
              <a:buFont typeface="Wingdings" panose="05000000000000000000" pitchFamily="2" charset="2"/>
              <a:buChar char="ü"/>
            </a:pPr>
            <a:endParaRPr lang="en-US" dirty="0"/>
          </a:p>
          <a:p>
            <a:pPr lvl="1">
              <a:buFont typeface="Wingdings" panose="05000000000000000000" pitchFamily="2" charset="2"/>
              <a:buChar char="ü"/>
            </a:pPr>
            <a:endParaRPr lang="en-US" dirty="0"/>
          </a:p>
        </p:txBody>
      </p:sp>
      <p:pic>
        <p:nvPicPr>
          <p:cNvPr id="6" name="Picture 5">
            <a:extLst>
              <a:ext uri="{FF2B5EF4-FFF2-40B4-BE49-F238E27FC236}">
                <a16:creationId xmlns:a16="http://schemas.microsoft.com/office/drawing/2014/main" id="{CC148887-8244-C0A3-8DEC-B4A382CF9697}"/>
              </a:ext>
            </a:extLst>
          </p:cNvPr>
          <p:cNvPicPr>
            <a:picLocks noChangeAspect="1"/>
          </p:cNvPicPr>
          <p:nvPr/>
        </p:nvPicPr>
        <p:blipFill>
          <a:blip r:embed="rId2"/>
          <a:stretch>
            <a:fillRect/>
          </a:stretch>
        </p:blipFill>
        <p:spPr>
          <a:xfrm>
            <a:off x="2021840" y="5272338"/>
            <a:ext cx="5523150" cy="1150656"/>
          </a:xfrm>
          <a:prstGeom prst="rect">
            <a:avLst/>
          </a:prstGeom>
        </p:spPr>
      </p:pic>
    </p:spTree>
    <p:extLst>
      <p:ext uri="{BB962C8B-B14F-4D97-AF65-F5344CB8AC3E}">
        <p14:creationId xmlns:p14="http://schemas.microsoft.com/office/powerpoint/2010/main" val="4186742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6E2FA-834A-9EC1-8356-DC6D082DA638}"/>
              </a:ext>
            </a:extLst>
          </p:cNvPr>
          <p:cNvSpPr>
            <a:spLocks noGrp="1"/>
          </p:cNvSpPr>
          <p:nvPr>
            <p:ph type="title"/>
          </p:nvPr>
        </p:nvSpPr>
        <p:spPr/>
        <p:txBody>
          <a:bodyPr/>
          <a:lstStyle/>
          <a:p>
            <a:r>
              <a:rPr lang="en-IN" dirty="0"/>
              <a:t>How is JavaScript Used?</a:t>
            </a:r>
            <a:endParaRPr lang="en-GH" dirty="0"/>
          </a:p>
        </p:txBody>
      </p:sp>
      <p:sp>
        <p:nvSpPr>
          <p:cNvPr id="5" name="Content Placeholder 4">
            <a:extLst>
              <a:ext uri="{FF2B5EF4-FFF2-40B4-BE49-F238E27FC236}">
                <a16:creationId xmlns:a16="http://schemas.microsoft.com/office/drawing/2014/main" id="{503FE4AC-404D-24DB-F28B-59F39C498A20}"/>
              </a:ext>
            </a:extLst>
          </p:cNvPr>
          <p:cNvSpPr>
            <a:spLocks noGrp="1"/>
          </p:cNvSpPr>
          <p:nvPr>
            <p:ph idx="1"/>
          </p:nvPr>
        </p:nvSpPr>
        <p:spPr/>
        <p:txBody>
          <a:bodyPr/>
          <a:lstStyle/>
          <a:p>
            <a:r>
              <a:rPr lang="en-US" b="1" dirty="0">
                <a:solidFill>
                  <a:srgbClr val="FF0000"/>
                </a:solidFill>
              </a:rPr>
              <a:t>Running the code</a:t>
            </a:r>
            <a:r>
              <a:rPr lang="en-US" dirty="0"/>
              <a:t>: To include JavaScript in a web page, add a </a:t>
            </a:r>
            <a:r>
              <a:rPr lang="en-US" b="1" dirty="0">
                <a:solidFill>
                  <a:srgbClr val="C00000"/>
                </a:solidFill>
              </a:rPr>
              <a:t>&lt;script&gt; </a:t>
            </a:r>
            <a:r>
              <a:rPr lang="en-US" dirty="0"/>
              <a:t>tag within the </a:t>
            </a:r>
            <a:r>
              <a:rPr lang="en-US" b="1" dirty="0">
                <a:solidFill>
                  <a:srgbClr val="C00000"/>
                </a:solidFill>
              </a:rPr>
              <a:t>&lt;head&gt; </a:t>
            </a:r>
            <a:r>
              <a:rPr lang="en-US" dirty="0"/>
              <a:t>or </a:t>
            </a:r>
            <a:r>
              <a:rPr lang="en-US" b="1" dirty="0">
                <a:solidFill>
                  <a:srgbClr val="C00000"/>
                </a:solidFill>
              </a:rPr>
              <a:t>&lt;body&gt; </a:t>
            </a:r>
            <a:r>
              <a:rPr lang="en-US" dirty="0"/>
              <a:t>of the HTML file.</a:t>
            </a:r>
          </a:p>
          <a:p>
            <a:pPr marL="0" indent="0">
              <a:buNone/>
            </a:pPr>
            <a:r>
              <a:rPr lang="en-US" dirty="0"/>
              <a:t>	</a:t>
            </a:r>
            <a:r>
              <a:rPr lang="en-US" dirty="0">
                <a:solidFill>
                  <a:srgbClr val="7030A0"/>
                </a:solidFill>
              </a:rPr>
              <a:t>Do these two approaches produce the same effect?</a:t>
            </a:r>
          </a:p>
          <a:p>
            <a:pPr marL="457200" lvl="1" indent="0">
              <a:buNone/>
            </a:pPr>
            <a:endParaRPr lang="en-US" dirty="0"/>
          </a:p>
          <a:p>
            <a:pPr>
              <a:buClr>
                <a:srgbClr val="00B050"/>
              </a:buClr>
              <a:buFont typeface="Wingdings" panose="05000000000000000000" pitchFamily="2" charset="2"/>
              <a:buChar char="ü"/>
            </a:pPr>
            <a:r>
              <a:rPr lang="en-US" dirty="0"/>
              <a:t>So, the </a:t>
            </a:r>
            <a:r>
              <a:rPr lang="en-US" u="sng" dirty="0"/>
              <a:t>best placement </a:t>
            </a:r>
            <a:r>
              <a:rPr lang="en-US" dirty="0"/>
              <a:t>for the </a:t>
            </a:r>
            <a:r>
              <a:rPr lang="en-US" dirty="0">
                <a:solidFill>
                  <a:srgbClr val="C00000"/>
                </a:solidFill>
              </a:rPr>
              <a:t>&lt;script&gt; </a:t>
            </a:r>
            <a:r>
              <a:rPr lang="en-US" dirty="0"/>
              <a:t>is just before the closing </a:t>
            </a:r>
            <a:r>
              <a:rPr lang="en-US" dirty="0">
                <a:solidFill>
                  <a:srgbClr val="C00000"/>
                </a:solidFill>
              </a:rPr>
              <a:t>&lt;/body&gt; </a:t>
            </a:r>
            <a:r>
              <a:rPr lang="en-US" dirty="0"/>
              <a:t>tag of the HTML file.</a:t>
            </a:r>
          </a:p>
          <a:p>
            <a:r>
              <a:rPr lang="en-US" dirty="0"/>
              <a:t>This ensures that the content loads first, offering better performance and a more responsive user experience.</a:t>
            </a:r>
          </a:p>
          <a:p>
            <a:endParaRPr lang="en-US" dirty="0"/>
          </a:p>
          <a:p>
            <a:r>
              <a:rPr lang="en-US" dirty="0"/>
              <a:t>Note: There are several other approaches to running JavaScript without HTML (e.g. node.js)</a:t>
            </a:r>
          </a:p>
        </p:txBody>
      </p:sp>
    </p:spTree>
    <p:extLst>
      <p:ext uri="{BB962C8B-B14F-4D97-AF65-F5344CB8AC3E}">
        <p14:creationId xmlns:p14="http://schemas.microsoft.com/office/powerpoint/2010/main" val="3542240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A2930-CB38-0F1D-9445-9720940CDF99}"/>
              </a:ext>
            </a:extLst>
          </p:cNvPr>
          <p:cNvSpPr>
            <a:spLocks noGrp="1"/>
          </p:cNvSpPr>
          <p:nvPr>
            <p:ph type="title"/>
          </p:nvPr>
        </p:nvSpPr>
        <p:spPr/>
        <p:txBody>
          <a:bodyPr/>
          <a:lstStyle/>
          <a:p>
            <a:r>
              <a:rPr lang="en-IN" dirty="0"/>
              <a:t>Is there any relation with Java? </a:t>
            </a:r>
            <a:br>
              <a:rPr lang="en-IN" dirty="0"/>
            </a:br>
            <a:r>
              <a:rPr lang="en-IN" dirty="0"/>
              <a:t>Some History</a:t>
            </a:r>
            <a:endParaRPr lang="en-GH" dirty="0"/>
          </a:p>
        </p:txBody>
      </p:sp>
      <p:sp>
        <p:nvSpPr>
          <p:cNvPr id="3" name="Content Placeholder 2">
            <a:extLst>
              <a:ext uri="{FF2B5EF4-FFF2-40B4-BE49-F238E27FC236}">
                <a16:creationId xmlns:a16="http://schemas.microsoft.com/office/drawing/2014/main" id="{B8555DCC-165A-2456-5F80-BB4BAC166FB3}"/>
              </a:ext>
            </a:extLst>
          </p:cNvPr>
          <p:cNvSpPr>
            <a:spLocks noGrp="1"/>
          </p:cNvSpPr>
          <p:nvPr>
            <p:ph idx="1"/>
          </p:nvPr>
        </p:nvSpPr>
        <p:spPr/>
        <p:txBody>
          <a:bodyPr/>
          <a:lstStyle/>
          <a:p>
            <a:r>
              <a:rPr lang="en-US" dirty="0"/>
              <a:t>Despite the similarity in their names, </a:t>
            </a:r>
            <a:r>
              <a:rPr lang="en-US" dirty="0">
                <a:solidFill>
                  <a:srgbClr val="FF0000"/>
                </a:solidFill>
              </a:rPr>
              <a:t>JavaScript and Java are entirely different programming languages </a:t>
            </a:r>
            <a:r>
              <a:rPr lang="en-US" dirty="0"/>
              <a:t>with distinct purposes, features, and use cases. </a:t>
            </a:r>
          </a:p>
          <a:p>
            <a:r>
              <a:rPr lang="en-US" dirty="0"/>
              <a:t>JavaScript was developed by </a:t>
            </a:r>
            <a:r>
              <a:rPr lang="en-US" b="1" dirty="0">
                <a:solidFill>
                  <a:srgbClr val="00B050"/>
                </a:solidFill>
              </a:rPr>
              <a:t>Brendan </a:t>
            </a:r>
            <a:r>
              <a:rPr lang="en-US" b="1" dirty="0" err="1">
                <a:solidFill>
                  <a:srgbClr val="00B050"/>
                </a:solidFill>
              </a:rPr>
              <a:t>Eich</a:t>
            </a:r>
            <a:r>
              <a:rPr lang="en-US" b="1" dirty="0">
                <a:solidFill>
                  <a:srgbClr val="00B050"/>
                </a:solidFill>
              </a:rPr>
              <a:t> </a:t>
            </a:r>
            <a:r>
              <a:rPr lang="en-US" dirty="0"/>
              <a:t>in 1995 while working at Netscape Communications Corporation. </a:t>
            </a:r>
          </a:p>
          <a:p>
            <a:r>
              <a:rPr lang="en-US" dirty="0"/>
              <a:t>It was created in just 10 days and was originally called </a:t>
            </a:r>
            <a:r>
              <a:rPr lang="en-US" b="1" dirty="0">
                <a:solidFill>
                  <a:srgbClr val="00B0F0"/>
                </a:solidFill>
              </a:rPr>
              <a:t>Mocha</a:t>
            </a:r>
            <a:r>
              <a:rPr lang="en-US" dirty="0"/>
              <a:t>, later renamed to </a:t>
            </a:r>
            <a:r>
              <a:rPr lang="en-US" b="1" dirty="0" err="1">
                <a:solidFill>
                  <a:srgbClr val="00B0F0"/>
                </a:solidFill>
              </a:rPr>
              <a:t>LiveScript</a:t>
            </a:r>
            <a:r>
              <a:rPr lang="en-US" dirty="0"/>
              <a:t>, and finally </a:t>
            </a:r>
            <a:r>
              <a:rPr lang="en-US" b="1" dirty="0">
                <a:solidFill>
                  <a:srgbClr val="00B0F0"/>
                </a:solidFill>
              </a:rPr>
              <a:t>JavaScript</a:t>
            </a:r>
            <a:r>
              <a:rPr lang="en-US" dirty="0"/>
              <a:t>.</a:t>
            </a:r>
          </a:p>
          <a:p>
            <a:r>
              <a:rPr lang="en-US" dirty="0"/>
              <a:t>The name "JavaScript" was chosen for marketing reasons, as Java was gaining popularity at that time, and Netscape wanted to capitalize on Java's name recognition.</a:t>
            </a:r>
          </a:p>
          <a:p>
            <a:endParaRPr lang="en-US" dirty="0"/>
          </a:p>
        </p:txBody>
      </p:sp>
    </p:spTree>
    <p:extLst>
      <p:ext uri="{BB962C8B-B14F-4D97-AF65-F5344CB8AC3E}">
        <p14:creationId xmlns:p14="http://schemas.microsoft.com/office/powerpoint/2010/main" val="3168077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00D3-703E-0CFF-C53E-19472B08E0D5}"/>
              </a:ext>
            </a:extLst>
          </p:cNvPr>
          <p:cNvSpPr>
            <a:spLocks noGrp="1"/>
          </p:cNvSpPr>
          <p:nvPr>
            <p:ph type="title"/>
          </p:nvPr>
        </p:nvSpPr>
        <p:spPr/>
        <p:txBody>
          <a:bodyPr/>
          <a:lstStyle/>
          <a:p>
            <a:r>
              <a:rPr lang="en-IN" dirty="0"/>
              <a:t>Java vs JavaScript</a:t>
            </a:r>
            <a:endParaRPr lang="en-GH" dirty="0"/>
          </a:p>
        </p:txBody>
      </p:sp>
      <p:pic>
        <p:nvPicPr>
          <p:cNvPr id="5" name="Content Placeholder 4">
            <a:extLst>
              <a:ext uri="{FF2B5EF4-FFF2-40B4-BE49-F238E27FC236}">
                <a16:creationId xmlns:a16="http://schemas.microsoft.com/office/drawing/2014/main" id="{14AC1BAA-2A41-2BF4-2B16-8AE34EF0288F}"/>
              </a:ext>
            </a:extLst>
          </p:cNvPr>
          <p:cNvPicPr>
            <a:picLocks noGrp="1" noChangeAspect="1"/>
          </p:cNvPicPr>
          <p:nvPr>
            <p:ph idx="1"/>
          </p:nvPr>
        </p:nvPicPr>
        <p:blipFill>
          <a:blip r:embed="rId2"/>
          <a:stretch>
            <a:fillRect/>
          </a:stretch>
        </p:blipFill>
        <p:spPr>
          <a:xfrm>
            <a:off x="241300" y="1593782"/>
            <a:ext cx="8682038" cy="4527687"/>
          </a:xfrm>
        </p:spPr>
      </p:pic>
    </p:spTree>
    <p:extLst>
      <p:ext uri="{BB962C8B-B14F-4D97-AF65-F5344CB8AC3E}">
        <p14:creationId xmlns:p14="http://schemas.microsoft.com/office/powerpoint/2010/main" val="2895405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99714-01AD-D007-E824-EFDB5C2B66D6}"/>
              </a:ext>
            </a:extLst>
          </p:cNvPr>
          <p:cNvSpPr>
            <a:spLocks noGrp="1"/>
          </p:cNvSpPr>
          <p:nvPr>
            <p:ph type="title"/>
          </p:nvPr>
        </p:nvSpPr>
        <p:spPr/>
        <p:txBody>
          <a:bodyPr/>
          <a:lstStyle/>
          <a:p>
            <a:r>
              <a:rPr lang="en-IN" dirty="0"/>
              <a:t>JavaScript Programming Aspects</a:t>
            </a:r>
            <a:endParaRPr lang="en-GH" dirty="0"/>
          </a:p>
        </p:txBody>
      </p:sp>
    </p:spTree>
    <p:extLst>
      <p:ext uri="{BB962C8B-B14F-4D97-AF65-F5344CB8AC3E}">
        <p14:creationId xmlns:p14="http://schemas.microsoft.com/office/powerpoint/2010/main" val="2750574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F1050-99E3-E94C-B8B0-5AA78E5B2A3E}"/>
              </a:ext>
            </a:extLst>
          </p:cNvPr>
          <p:cNvSpPr>
            <a:spLocks noGrp="1"/>
          </p:cNvSpPr>
          <p:nvPr>
            <p:ph type="title"/>
          </p:nvPr>
        </p:nvSpPr>
        <p:spPr/>
        <p:txBody>
          <a:bodyPr/>
          <a:lstStyle/>
          <a:p>
            <a:r>
              <a:rPr lang="en-IN" dirty="0"/>
              <a:t>Program Structure</a:t>
            </a:r>
            <a:endParaRPr lang="en-GH" dirty="0"/>
          </a:p>
        </p:txBody>
      </p:sp>
      <p:sp>
        <p:nvSpPr>
          <p:cNvPr id="3" name="Content Placeholder 2">
            <a:extLst>
              <a:ext uri="{FF2B5EF4-FFF2-40B4-BE49-F238E27FC236}">
                <a16:creationId xmlns:a16="http://schemas.microsoft.com/office/drawing/2014/main" id="{F7D10F74-D902-3CAC-5782-BC75B6B3ECB8}"/>
              </a:ext>
            </a:extLst>
          </p:cNvPr>
          <p:cNvSpPr>
            <a:spLocks noGrp="1"/>
          </p:cNvSpPr>
          <p:nvPr>
            <p:ph idx="1"/>
          </p:nvPr>
        </p:nvSpPr>
        <p:spPr/>
        <p:txBody>
          <a:bodyPr/>
          <a:lstStyle/>
          <a:p>
            <a:r>
              <a:rPr lang="en-US" dirty="0"/>
              <a:t>Just like other </a:t>
            </a:r>
            <a:r>
              <a:rPr lang="en-US" dirty="0" err="1"/>
              <a:t>HLLs</a:t>
            </a:r>
            <a:r>
              <a:rPr lang="en-US" dirty="0"/>
              <a:t>, a JavaScript program may consist of:</a:t>
            </a:r>
          </a:p>
          <a:p>
            <a:pPr>
              <a:buFont typeface="Wingdings" panose="05000000000000000000" pitchFamily="2" charset="2"/>
              <a:buChar char="ü"/>
            </a:pPr>
            <a:r>
              <a:rPr lang="en-US" dirty="0">
                <a:solidFill>
                  <a:srgbClr val="0070C0"/>
                </a:solidFill>
              </a:rPr>
              <a:t>Keywords</a:t>
            </a:r>
          </a:p>
          <a:p>
            <a:pPr>
              <a:buFont typeface="Wingdings" panose="05000000000000000000" pitchFamily="2" charset="2"/>
              <a:buChar char="ü"/>
            </a:pPr>
            <a:r>
              <a:rPr lang="en-US" dirty="0">
                <a:solidFill>
                  <a:srgbClr val="0070C0"/>
                </a:solidFill>
              </a:rPr>
              <a:t>Variables</a:t>
            </a:r>
            <a:r>
              <a:rPr lang="en-US" dirty="0"/>
              <a:t>: Containers that store data.</a:t>
            </a:r>
          </a:p>
          <a:p>
            <a:pPr>
              <a:buFont typeface="Wingdings" panose="05000000000000000000" pitchFamily="2" charset="2"/>
              <a:buChar char="ü"/>
            </a:pPr>
            <a:r>
              <a:rPr lang="en-US" dirty="0">
                <a:solidFill>
                  <a:srgbClr val="0070C0"/>
                </a:solidFill>
              </a:rPr>
              <a:t>Operators</a:t>
            </a:r>
            <a:r>
              <a:rPr lang="en-US" dirty="0"/>
              <a:t>: Used to manipulate data and variables.</a:t>
            </a:r>
          </a:p>
          <a:p>
            <a:pPr>
              <a:buFont typeface="Wingdings" panose="05000000000000000000" pitchFamily="2" charset="2"/>
              <a:buChar char="ü"/>
            </a:pPr>
            <a:r>
              <a:rPr lang="en-US" dirty="0">
                <a:solidFill>
                  <a:srgbClr val="0070C0"/>
                </a:solidFill>
              </a:rPr>
              <a:t>Expressions</a:t>
            </a:r>
            <a:r>
              <a:rPr lang="en-US" dirty="0"/>
              <a:t>: Pieces of code that evaluate to a value.</a:t>
            </a:r>
          </a:p>
          <a:p>
            <a:pPr>
              <a:buFont typeface="Wingdings" panose="05000000000000000000" pitchFamily="2" charset="2"/>
              <a:buChar char="ü"/>
            </a:pPr>
            <a:r>
              <a:rPr lang="en-US" dirty="0">
                <a:solidFill>
                  <a:srgbClr val="0070C0"/>
                </a:solidFill>
              </a:rPr>
              <a:t>Statements</a:t>
            </a:r>
            <a:r>
              <a:rPr lang="en-US" dirty="0"/>
              <a:t>: Instructions or actions for the browser to perform.</a:t>
            </a:r>
          </a:p>
          <a:p>
            <a:pPr>
              <a:buFont typeface="Wingdings" panose="05000000000000000000" pitchFamily="2" charset="2"/>
              <a:buChar char="ü"/>
            </a:pPr>
            <a:r>
              <a:rPr lang="en-US" dirty="0">
                <a:solidFill>
                  <a:srgbClr val="0070C0"/>
                </a:solidFill>
              </a:rPr>
              <a:t>Control Flow</a:t>
            </a:r>
            <a:r>
              <a:rPr lang="en-US" dirty="0"/>
              <a:t>: Structures like if-else, switch, and loops (for, while) that determine the flow of execution.</a:t>
            </a:r>
          </a:p>
          <a:p>
            <a:pPr>
              <a:buFont typeface="Wingdings" panose="05000000000000000000" pitchFamily="2" charset="2"/>
              <a:buChar char="ü"/>
            </a:pPr>
            <a:r>
              <a:rPr lang="en-US" dirty="0">
                <a:solidFill>
                  <a:srgbClr val="0070C0"/>
                </a:solidFill>
              </a:rPr>
              <a:t>Functions</a:t>
            </a:r>
            <a:r>
              <a:rPr lang="en-US" dirty="0"/>
              <a:t>: Blocks of reusable code to perform specific tasks.</a:t>
            </a:r>
          </a:p>
          <a:p>
            <a:pPr>
              <a:buFont typeface="Wingdings" panose="05000000000000000000" pitchFamily="2" charset="2"/>
              <a:buChar char="ü"/>
            </a:pPr>
            <a:r>
              <a:rPr lang="en-US" dirty="0">
                <a:solidFill>
                  <a:srgbClr val="0070C0"/>
                </a:solidFill>
              </a:rPr>
              <a:t>Objects</a:t>
            </a:r>
            <a:r>
              <a:rPr lang="en-US" dirty="0"/>
              <a:t>:</a:t>
            </a:r>
            <a:r>
              <a:rPr lang="en-US" dirty="0">
                <a:solidFill>
                  <a:srgbClr val="0070C0"/>
                </a:solidFill>
              </a:rPr>
              <a:t> </a:t>
            </a:r>
            <a:r>
              <a:rPr lang="en-US" dirty="0"/>
              <a:t>Collection of properties and methods </a:t>
            </a:r>
          </a:p>
          <a:p>
            <a:pPr>
              <a:buFont typeface="Wingdings" panose="05000000000000000000" pitchFamily="2" charset="2"/>
              <a:buChar char="ü"/>
            </a:pPr>
            <a:r>
              <a:rPr lang="en-US" dirty="0">
                <a:solidFill>
                  <a:srgbClr val="0070C0"/>
                </a:solidFill>
              </a:rPr>
              <a:t>Comments</a:t>
            </a:r>
            <a:endParaRPr lang="en-GH" dirty="0">
              <a:solidFill>
                <a:srgbClr val="0070C0"/>
              </a:solidFill>
            </a:endParaRPr>
          </a:p>
        </p:txBody>
      </p:sp>
    </p:spTree>
    <p:extLst>
      <p:ext uri="{BB962C8B-B14F-4D97-AF65-F5344CB8AC3E}">
        <p14:creationId xmlns:p14="http://schemas.microsoft.com/office/powerpoint/2010/main" val="4090307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2C830-71B2-E103-02C7-BE823A32CE0B}"/>
              </a:ext>
            </a:extLst>
          </p:cNvPr>
          <p:cNvSpPr>
            <a:spLocks noGrp="1"/>
          </p:cNvSpPr>
          <p:nvPr>
            <p:ph type="title"/>
          </p:nvPr>
        </p:nvSpPr>
        <p:spPr/>
        <p:txBody>
          <a:bodyPr/>
          <a:lstStyle/>
          <a:p>
            <a:r>
              <a:rPr lang="en-IN" dirty="0"/>
              <a:t>Syntax Rules</a:t>
            </a:r>
            <a:endParaRPr lang="en-GH" dirty="0"/>
          </a:p>
        </p:txBody>
      </p:sp>
      <p:sp>
        <p:nvSpPr>
          <p:cNvPr id="3" name="Content Placeholder 2">
            <a:extLst>
              <a:ext uri="{FF2B5EF4-FFF2-40B4-BE49-F238E27FC236}">
                <a16:creationId xmlns:a16="http://schemas.microsoft.com/office/drawing/2014/main" id="{60A4474C-3DA2-7E38-B39A-6916EDB22C0A}"/>
              </a:ext>
            </a:extLst>
          </p:cNvPr>
          <p:cNvSpPr>
            <a:spLocks noGrp="1"/>
          </p:cNvSpPr>
          <p:nvPr>
            <p:ph idx="1"/>
          </p:nvPr>
        </p:nvSpPr>
        <p:spPr/>
        <p:txBody>
          <a:bodyPr/>
          <a:lstStyle/>
          <a:p>
            <a:r>
              <a:rPr lang="en-US" b="1" dirty="0">
                <a:solidFill>
                  <a:srgbClr val="00B050"/>
                </a:solidFill>
              </a:rPr>
              <a:t>Case sensitivity</a:t>
            </a:r>
            <a:r>
              <a:rPr lang="en-US" dirty="0"/>
              <a:t>: JavaScript is case-sensitive (</a:t>
            </a:r>
            <a:r>
              <a:rPr lang="en-US" dirty="0" err="1"/>
              <a:t>myVariable</a:t>
            </a:r>
            <a:r>
              <a:rPr lang="en-US" dirty="0"/>
              <a:t> and </a:t>
            </a:r>
            <a:r>
              <a:rPr lang="en-US" dirty="0" err="1"/>
              <a:t>myvariable</a:t>
            </a:r>
            <a:r>
              <a:rPr lang="en-US" dirty="0"/>
              <a:t> are different).</a:t>
            </a:r>
          </a:p>
          <a:p>
            <a:r>
              <a:rPr lang="en-US" b="1" dirty="0">
                <a:solidFill>
                  <a:srgbClr val="00B050"/>
                </a:solidFill>
              </a:rPr>
              <a:t>Semicolons</a:t>
            </a:r>
            <a:r>
              <a:rPr lang="en-US" dirty="0"/>
              <a:t>: Although optional, it's recommended to use semicolons (;) to terminate statements.</a:t>
            </a:r>
          </a:p>
          <a:p>
            <a:r>
              <a:rPr lang="en-US" b="1" dirty="0">
                <a:solidFill>
                  <a:srgbClr val="00B050"/>
                </a:solidFill>
              </a:rPr>
              <a:t>Whitespace and indentation</a:t>
            </a:r>
            <a:r>
              <a:rPr lang="en-US" dirty="0"/>
              <a:t>: JavaScript ignores extra spaces and newlines, but indentation is crucial for code readability.</a:t>
            </a:r>
            <a:endParaRPr lang="en-GH" dirty="0"/>
          </a:p>
        </p:txBody>
      </p:sp>
    </p:spTree>
    <p:extLst>
      <p:ext uri="{BB962C8B-B14F-4D97-AF65-F5344CB8AC3E}">
        <p14:creationId xmlns:p14="http://schemas.microsoft.com/office/powerpoint/2010/main" val="2561411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E7666-300A-4FCE-8BB6-1B8AA1D1C511}"/>
              </a:ext>
            </a:extLst>
          </p:cNvPr>
          <p:cNvSpPr>
            <a:spLocks noGrp="1"/>
          </p:cNvSpPr>
          <p:nvPr>
            <p:ph type="title"/>
          </p:nvPr>
        </p:nvSpPr>
        <p:spPr/>
        <p:txBody>
          <a:bodyPr/>
          <a:lstStyle/>
          <a:p>
            <a:r>
              <a:rPr lang="en-IN" dirty="0"/>
              <a:t>Sample Programs/Scripts</a:t>
            </a:r>
            <a:endParaRPr lang="en-GH" dirty="0"/>
          </a:p>
        </p:txBody>
      </p:sp>
      <p:sp>
        <p:nvSpPr>
          <p:cNvPr id="3" name="Content Placeholder 2">
            <a:extLst>
              <a:ext uri="{FF2B5EF4-FFF2-40B4-BE49-F238E27FC236}">
                <a16:creationId xmlns:a16="http://schemas.microsoft.com/office/drawing/2014/main" id="{E290634F-FBD1-DA1B-5957-0B080215642F}"/>
              </a:ext>
            </a:extLst>
          </p:cNvPr>
          <p:cNvSpPr>
            <a:spLocks noGrp="1"/>
          </p:cNvSpPr>
          <p:nvPr>
            <p:ph idx="1"/>
          </p:nvPr>
        </p:nvSpPr>
        <p:spPr>
          <a:xfrm>
            <a:off x="241100" y="1386039"/>
            <a:ext cx="8681519" cy="778041"/>
          </a:xfrm>
        </p:spPr>
        <p:txBody>
          <a:bodyPr/>
          <a:lstStyle/>
          <a:p>
            <a:r>
              <a:rPr lang="en-US" dirty="0"/>
              <a:t>A JavaScript program can start with any type of statement</a:t>
            </a:r>
            <a:endParaRPr lang="en-GH" dirty="0"/>
          </a:p>
        </p:txBody>
      </p:sp>
      <p:pic>
        <p:nvPicPr>
          <p:cNvPr id="5" name="Picture 4">
            <a:extLst>
              <a:ext uri="{FF2B5EF4-FFF2-40B4-BE49-F238E27FC236}">
                <a16:creationId xmlns:a16="http://schemas.microsoft.com/office/drawing/2014/main" id="{C7FFC68D-D3E5-0B47-5AA2-5A8C19D52FD3}"/>
              </a:ext>
            </a:extLst>
          </p:cNvPr>
          <p:cNvPicPr>
            <a:picLocks noChangeAspect="1"/>
          </p:cNvPicPr>
          <p:nvPr/>
        </p:nvPicPr>
        <p:blipFill>
          <a:blip r:embed="rId2"/>
          <a:stretch>
            <a:fillRect/>
          </a:stretch>
        </p:blipFill>
        <p:spPr>
          <a:xfrm>
            <a:off x="628099" y="2262974"/>
            <a:ext cx="7887801" cy="419158"/>
          </a:xfrm>
          <a:prstGeom prst="rect">
            <a:avLst/>
          </a:prstGeom>
        </p:spPr>
      </p:pic>
      <p:pic>
        <p:nvPicPr>
          <p:cNvPr id="7" name="Picture 6">
            <a:extLst>
              <a:ext uri="{FF2B5EF4-FFF2-40B4-BE49-F238E27FC236}">
                <a16:creationId xmlns:a16="http://schemas.microsoft.com/office/drawing/2014/main" id="{9D81950A-354B-CF48-1310-775EE5CF3448}"/>
              </a:ext>
            </a:extLst>
          </p:cNvPr>
          <p:cNvPicPr>
            <a:picLocks noChangeAspect="1"/>
          </p:cNvPicPr>
          <p:nvPr/>
        </p:nvPicPr>
        <p:blipFill>
          <a:blip r:embed="rId3"/>
          <a:stretch>
            <a:fillRect/>
          </a:stretch>
        </p:blipFill>
        <p:spPr>
          <a:xfrm>
            <a:off x="628099" y="3062236"/>
            <a:ext cx="7554379" cy="733527"/>
          </a:xfrm>
          <a:prstGeom prst="rect">
            <a:avLst/>
          </a:prstGeom>
        </p:spPr>
      </p:pic>
      <p:pic>
        <p:nvPicPr>
          <p:cNvPr id="9" name="Picture 8">
            <a:extLst>
              <a:ext uri="{FF2B5EF4-FFF2-40B4-BE49-F238E27FC236}">
                <a16:creationId xmlns:a16="http://schemas.microsoft.com/office/drawing/2014/main" id="{4DD2CCEB-0D2D-7EF3-A816-2E2D75B7FBC0}"/>
              </a:ext>
            </a:extLst>
          </p:cNvPr>
          <p:cNvPicPr>
            <a:picLocks noChangeAspect="1"/>
          </p:cNvPicPr>
          <p:nvPr/>
        </p:nvPicPr>
        <p:blipFill>
          <a:blip r:embed="rId4"/>
          <a:stretch>
            <a:fillRect/>
          </a:stretch>
        </p:blipFill>
        <p:spPr>
          <a:xfrm>
            <a:off x="628099" y="4175867"/>
            <a:ext cx="5639587" cy="2029108"/>
          </a:xfrm>
          <a:prstGeom prst="rect">
            <a:avLst/>
          </a:prstGeom>
        </p:spPr>
      </p:pic>
    </p:spTree>
    <p:extLst>
      <p:ext uri="{BB962C8B-B14F-4D97-AF65-F5344CB8AC3E}">
        <p14:creationId xmlns:p14="http://schemas.microsoft.com/office/powerpoint/2010/main" val="3458146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E4B8-C9C3-0523-C990-DB2E96DFDADF}"/>
              </a:ext>
            </a:extLst>
          </p:cNvPr>
          <p:cNvSpPr>
            <a:spLocks noGrp="1"/>
          </p:cNvSpPr>
          <p:nvPr>
            <p:ph type="title"/>
          </p:nvPr>
        </p:nvSpPr>
        <p:spPr/>
        <p:txBody>
          <a:bodyPr/>
          <a:lstStyle/>
          <a:p>
            <a:r>
              <a:rPr lang="en-IN" dirty="0"/>
              <a:t>Execution Flow</a:t>
            </a:r>
            <a:endParaRPr lang="en-GH" dirty="0"/>
          </a:p>
        </p:txBody>
      </p:sp>
      <p:sp>
        <p:nvSpPr>
          <p:cNvPr id="3" name="Content Placeholder 2">
            <a:extLst>
              <a:ext uri="{FF2B5EF4-FFF2-40B4-BE49-F238E27FC236}">
                <a16:creationId xmlns:a16="http://schemas.microsoft.com/office/drawing/2014/main" id="{A171F38C-C57D-C28F-B449-4CB6A233731F}"/>
              </a:ext>
            </a:extLst>
          </p:cNvPr>
          <p:cNvSpPr>
            <a:spLocks noGrp="1"/>
          </p:cNvSpPr>
          <p:nvPr>
            <p:ph idx="1"/>
          </p:nvPr>
        </p:nvSpPr>
        <p:spPr/>
        <p:txBody>
          <a:bodyPr/>
          <a:lstStyle/>
          <a:p>
            <a:r>
              <a:rPr lang="en-US" b="1" dirty="0">
                <a:solidFill>
                  <a:srgbClr val="0070C0"/>
                </a:solidFill>
              </a:rPr>
              <a:t>Execution Order</a:t>
            </a:r>
            <a:r>
              <a:rPr lang="en-US" dirty="0"/>
              <a:t>: JavaScript reads and executes the code from top to bottom. Each statement is processed in sequence.</a:t>
            </a:r>
          </a:p>
          <a:p>
            <a:r>
              <a:rPr lang="en-US" b="1" dirty="0">
                <a:solidFill>
                  <a:srgbClr val="0070C0"/>
                </a:solidFill>
              </a:rPr>
              <a:t>Control Flow</a:t>
            </a:r>
            <a:r>
              <a:rPr lang="en-US" dirty="0"/>
              <a:t>: Loops, conditionals, and function calls can alter the execution flow (i.e., skip certain statements, repeat code blocks, or jump to a function).</a:t>
            </a:r>
          </a:p>
          <a:p>
            <a:r>
              <a:rPr lang="en-US" b="1" dirty="0">
                <a:solidFill>
                  <a:srgbClr val="0070C0"/>
                </a:solidFill>
              </a:rPr>
              <a:t>Event-driven Programming</a:t>
            </a:r>
            <a:r>
              <a:rPr lang="en-US" dirty="0"/>
              <a:t>: In client-side JavaScript (for the web), much of the code may run based on user interactions (e.g., button clicks). Although the code starts executing from the top, user events often trigger more code execution later.</a:t>
            </a:r>
          </a:p>
          <a:p>
            <a:r>
              <a:rPr lang="en-US" b="1" dirty="0">
                <a:solidFill>
                  <a:srgbClr val="0070C0"/>
                </a:solidFill>
              </a:rPr>
              <a:t>Function Hoisting</a:t>
            </a:r>
            <a:r>
              <a:rPr lang="en-US" dirty="0"/>
              <a:t>: In JavaScript, function declarations are hoisted. This means you can call a function before it’s defined in the code. However, function expressions (where functions are stored in variables) are not hoisted.</a:t>
            </a:r>
            <a:endParaRPr lang="en-GH" dirty="0"/>
          </a:p>
        </p:txBody>
      </p:sp>
    </p:spTree>
    <p:extLst>
      <p:ext uri="{BB962C8B-B14F-4D97-AF65-F5344CB8AC3E}">
        <p14:creationId xmlns:p14="http://schemas.microsoft.com/office/powerpoint/2010/main" val="1864655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E4B8-C9C3-0523-C990-DB2E96DFDADF}"/>
              </a:ext>
            </a:extLst>
          </p:cNvPr>
          <p:cNvSpPr>
            <a:spLocks noGrp="1"/>
          </p:cNvSpPr>
          <p:nvPr>
            <p:ph type="title"/>
          </p:nvPr>
        </p:nvSpPr>
        <p:spPr/>
        <p:txBody>
          <a:bodyPr/>
          <a:lstStyle/>
          <a:p>
            <a:r>
              <a:rPr lang="en-IN" dirty="0"/>
              <a:t>Execution Flow</a:t>
            </a:r>
            <a:endParaRPr lang="en-GH" dirty="0"/>
          </a:p>
        </p:txBody>
      </p:sp>
      <p:sp>
        <p:nvSpPr>
          <p:cNvPr id="3" name="Content Placeholder 2">
            <a:extLst>
              <a:ext uri="{FF2B5EF4-FFF2-40B4-BE49-F238E27FC236}">
                <a16:creationId xmlns:a16="http://schemas.microsoft.com/office/drawing/2014/main" id="{A171F38C-C57D-C28F-B449-4CB6A233731F}"/>
              </a:ext>
            </a:extLst>
          </p:cNvPr>
          <p:cNvSpPr>
            <a:spLocks noGrp="1"/>
          </p:cNvSpPr>
          <p:nvPr>
            <p:ph idx="1"/>
          </p:nvPr>
        </p:nvSpPr>
        <p:spPr/>
        <p:txBody>
          <a:bodyPr/>
          <a:lstStyle/>
          <a:p>
            <a:r>
              <a:rPr lang="en-US" b="1" dirty="0">
                <a:solidFill>
                  <a:srgbClr val="0070C0"/>
                </a:solidFill>
              </a:rPr>
              <a:t>Function Hoisting-Example:</a:t>
            </a:r>
            <a:endParaRPr lang="en-GH" dirty="0"/>
          </a:p>
        </p:txBody>
      </p:sp>
      <p:pic>
        <p:nvPicPr>
          <p:cNvPr id="5" name="Picture 4">
            <a:extLst>
              <a:ext uri="{FF2B5EF4-FFF2-40B4-BE49-F238E27FC236}">
                <a16:creationId xmlns:a16="http://schemas.microsoft.com/office/drawing/2014/main" id="{1E088062-D405-46A8-829C-F4A879CFD2A0}"/>
              </a:ext>
            </a:extLst>
          </p:cNvPr>
          <p:cNvPicPr>
            <a:picLocks noChangeAspect="1"/>
          </p:cNvPicPr>
          <p:nvPr/>
        </p:nvPicPr>
        <p:blipFill>
          <a:blip r:embed="rId2"/>
          <a:stretch>
            <a:fillRect/>
          </a:stretch>
        </p:blipFill>
        <p:spPr>
          <a:xfrm>
            <a:off x="598274" y="1937581"/>
            <a:ext cx="7602011" cy="1743318"/>
          </a:xfrm>
          <a:prstGeom prst="rect">
            <a:avLst/>
          </a:prstGeom>
        </p:spPr>
      </p:pic>
      <p:pic>
        <p:nvPicPr>
          <p:cNvPr id="7" name="Picture 6">
            <a:extLst>
              <a:ext uri="{FF2B5EF4-FFF2-40B4-BE49-F238E27FC236}">
                <a16:creationId xmlns:a16="http://schemas.microsoft.com/office/drawing/2014/main" id="{5320D87B-EA96-33D3-483D-7B7621322287}"/>
              </a:ext>
            </a:extLst>
          </p:cNvPr>
          <p:cNvPicPr>
            <a:picLocks noChangeAspect="1"/>
          </p:cNvPicPr>
          <p:nvPr/>
        </p:nvPicPr>
        <p:blipFill>
          <a:blip r:embed="rId3"/>
          <a:stretch>
            <a:fillRect/>
          </a:stretch>
        </p:blipFill>
        <p:spPr>
          <a:xfrm>
            <a:off x="598274" y="4232441"/>
            <a:ext cx="4801270" cy="1724266"/>
          </a:xfrm>
          <a:prstGeom prst="rect">
            <a:avLst/>
          </a:prstGeom>
        </p:spPr>
      </p:pic>
    </p:spTree>
    <p:extLst>
      <p:ext uri="{BB962C8B-B14F-4D97-AF65-F5344CB8AC3E}">
        <p14:creationId xmlns:p14="http://schemas.microsoft.com/office/powerpoint/2010/main" val="3034432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8BB0F-8290-D6D9-FD3F-976CC2C653FE}"/>
              </a:ext>
            </a:extLst>
          </p:cNvPr>
          <p:cNvSpPr>
            <a:spLocks noGrp="1"/>
          </p:cNvSpPr>
          <p:nvPr>
            <p:ph type="title"/>
          </p:nvPr>
        </p:nvSpPr>
        <p:spPr/>
        <p:txBody>
          <a:bodyPr/>
          <a:lstStyle/>
          <a:p>
            <a:r>
              <a:rPr lang="en-IN" dirty="0"/>
              <a:t>Output</a:t>
            </a:r>
            <a:endParaRPr lang="en-GH" dirty="0"/>
          </a:p>
        </p:txBody>
      </p:sp>
      <p:sp>
        <p:nvSpPr>
          <p:cNvPr id="4" name="Rectangle 1">
            <a:extLst>
              <a:ext uri="{FF2B5EF4-FFF2-40B4-BE49-F238E27FC236}">
                <a16:creationId xmlns:a16="http://schemas.microsoft.com/office/drawing/2014/main" id="{AE271E2C-9E93-395D-2283-5408243CFEB1}"/>
              </a:ext>
            </a:extLst>
          </p:cNvPr>
          <p:cNvSpPr>
            <a:spLocks noGrp="1" noChangeArrowheads="1"/>
          </p:cNvSpPr>
          <p:nvPr>
            <p:ph idx="1"/>
          </p:nvPr>
        </p:nvSpPr>
        <p:spPr bwMode="auto">
          <a:xfrm>
            <a:off x="267870" y="1369998"/>
            <a:ext cx="8608260"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GH" b="1" i="0" u="none" strike="noStrike" cap="none" normalizeH="0" baseline="0" dirty="0">
                <a:ln>
                  <a:noFill/>
                </a:ln>
                <a:solidFill>
                  <a:srgbClr val="FF0000"/>
                </a:solidFill>
                <a:effectLst/>
              </a:rPr>
              <a:t>alert()</a:t>
            </a:r>
            <a:r>
              <a:rPr kumimoji="0" lang="en-IN" altLang="en-GH" b="0" i="0" u="none" strike="noStrike" cap="none" normalizeH="0" baseline="0" dirty="0">
                <a:ln>
                  <a:noFill/>
                </a:ln>
                <a:solidFill>
                  <a:srgbClr val="000000"/>
                </a:solidFill>
                <a:effectLst/>
              </a:rPr>
              <a:t>: </a:t>
            </a:r>
            <a:r>
              <a:rPr kumimoji="0" lang="en-US" altLang="en-GH" b="0" i="0" u="none" strike="noStrike" cap="none" normalizeH="0" baseline="0" dirty="0">
                <a:ln>
                  <a:noFill/>
                </a:ln>
                <a:solidFill>
                  <a:srgbClr val="000000"/>
                </a:solidFill>
                <a:effectLst/>
              </a:rPr>
              <a:t>Displays a pop-up alert box with a message for the user.</a:t>
            </a:r>
            <a:endParaRPr kumimoji="0" lang="en-GH" altLang="en-GH" b="0" i="0" u="none" strike="noStrike" cap="none" normalizeH="0" baseline="0" dirty="0">
              <a:ln>
                <a:noFill/>
              </a:ln>
              <a:solidFill>
                <a:schemeClr val="tx1"/>
              </a:solidFill>
              <a:effectLst/>
            </a:endParaRPr>
          </a:p>
        </p:txBody>
      </p:sp>
      <p:pic>
        <p:nvPicPr>
          <p:cNvPr id="5" name="Picture 4">
            <a:extLst>
              <a:ext uri="{FF2B5EF4-FFF2-40B4-BE49-F238E27FC236}">
                <a16:creationId xmlns:a16="http://schemas.microsoft.com/office/drawing/2014/main" id="{87D986D4-EB72-A24B-BFED-04FCD090A18D}"/>
              </a:ext>
            </a:extLst>
          </p:cNvPr>
          <p:cNvPicPr>
            <a:picLocks noChangeAspect="1"/>
          </p:cNvPicPr>
          <p:nvPr/>
        </p:nvPicPr>
        <p:blipFill>
          <a:blip r:embed="rId2"/>
          <a:stretch>
            <a:fillRect/>
          </a:stretch>
        </p:blipFill>
        <p:spPr>
          <a:xfrm>
            <a:off x="1627572" y="1970162"/>
            <a:ext cx="4279463" cy="479300"/>
          </a:xfrm>
          <a:prstGeom prst="rect">
            <a:avLst/>
          </a:prstGeom>
        </p:spPr>
      </p:pic>
      <p:sp>
        <p:nvSpPr>
          <p:cNvPr id="7" name="TextBox 6">
            <a:extLst>
              <a:ext uri="{FF2B5EF4-FFF2-40B4-BE49-F238E27FC236}">
                <a16:creationId xmlns:a16="http://schemas.microsoft.com/office/drawing/2014/main" id="{0A5C976E-8927-37B6-286D-61A472E5C9EE}"/>
              </a:ext>
            </a:extLst>
          </p:cNvPr>
          <p:cNvSpPr txBox="1"/>
          <p:nvPr/>
        </p:nvSpPr>
        <p:spPr>
          <a:xfrm>
            <a:off x="240464" y="2587961"/>
            <a:ext cx="8635665" cy="830997"/>
          </a:xfrm>
          <a:prstGeom prst="rect">
            <a:avLst/>
          </a:prstGeom>
          <a:noFill/>
        </p:spPr>
        <p:txBody>
          <a:bodyPr wrap="square">
            <a:spAutoFit/>
          </a:bodyPr>
          <a:lstStyle/>
          <a:p>
            <a:r>
              <a:rPr lang="en-US" sz="2400" b="1" dirty="0">
                <a:solidFill>
                  <a:srgbClr val="FF0000"/>
                </a:solidFill>
              </a:rPr>
              <a:t>console.log()</a:t>
            </a:r>
            <a:r>
              <a:rPr lang="en-US" sz="2400" dirty="0"/>
              <a:t>: Outputs information to the browser's console. This is commonly used for debugging purposes.</a:t>
            </a:r>
          </a:p>
        </p:txBody>
      </p:sp>
      <p:sp>
        <p:nvSpPr>
          <p:cNvPr id="8" name="Rectangle 1">
            <a:extLst>
              <a:ext uri="{FF2B5EF4-FFF2-40B4-BE49-F238E27FC236}">
                <a16:creationId xmlns:a16="http://schemas.microsoft.com/office/drawing/2014/main" id="{AE271E2C-9E93-395D-2283-5408243CFEB1}"/>
              </a:ext>
            </a:extLst>
          </p:cNvPr>
          <p:cNvSpPr txBox="1">
            <a:spLocks noChangeArrowheads="1"/>
          </p:cNvSpPr>
          <p:nvPr/>
        </p:nvSpPr>
        <p:spPr bwMode="auto">
          <a:xfrm>
            <a:off x="240464" y="4294994"/>
            <a:ext cx="8635664"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en-IN" altLang="en-GH" b="1">
                <a:solidFill>
                  <a:srgbClr val="FF0000"/>
                </a:solidFill>
              </a:rPr>
              <a:t>document.write()</a:t>
            </a:r>
            <a:r>
              <a:rPr lang="en-IN" altLang="en-GH">
                <a:solidFill>
                  <a:srgbClr val="000000"/>
                </a:solidFill>
              </a:rPr>
              <a:t>: </a:t>
            </a:r>
            <a:r>
              <a:rPr lang="en-US" altLang="en-GH">
                <a:solidFill>
                  <a:srgbClr val="000000"/>
                </a:solidFill>
              </a:rPr>
              <a:t>Writes directly into the HTML document. This method should be used sparingly as it overwrites the entire document if used after the page has loaded.</a:t>
            </a:r>
            <a:endParaRPr lang="en-GH" altLang="en-GH" dirty="0"/>
          </a:p>
        </p:txBody>
      </p:sp>
      <p:pic>
        <p:nvPicPr>
          <p:cNvPr id="10" name="Picture 9">
            <a:extLst>
              <a:ext uri="{FF2B5EF4-FFF2-40B4-BE49-F238E27FC236}">
                <a16:creationId xmlns:a16="http://schemas.microsoft.com/office/drawing/2014/main" id="{5E505B91-2AC8-FB2C-9722-E8B643F58655}"/>
              </a:ext>
            </a:extLst>
          </p:cNvPr>
          <p:cNvPicPr>
            <a:picLocks noChangeAspect="1"/>
          </p:cNvPicPr>
          <p:nvPr/>
        </p:nvPicPr>
        <p:blipFill>
          <a:blip r:embed="rId3"/>
          <a:stretch>
            <a:fillRect/>
          </a:stretch>
        </p:blipFill>
        <p:spPr>
          <a:xfrm>
            <a:off x="1238788" y="3557457"/>
            <a:ext cx="6585153" cy="486223"/>
          </a:xfrm>
          <a:prstGeom prst="rect">
            <a:avLst/>
          </a:prstGeom>
        </p:spPr>
      </p:pic>
      <p:pic>
        <p:nvPicPr>
          <p:cNvPr id="12" name="Picture 11">
            <a:extLst>
              <a:ext uri="{FF2B5EF4-FFF2-40B4-BE49-F238E27FC236}">
                <a16:creationId xmlns:a16="http://schemas.microsoft.com/office/drawing/2014/main" id="{BF1D2EAB-2D67-D99F-6499-D0033E83761B}"/>
              </a:ext>
            </a:extLst>
          </p:cNvPr>
          <p:cNvPicPr>
            <a:picLocks noChangeAspect="1"/>
          </p:cNvPicPr>
          <p:nvPr/>
        </p:nvPicPr>
        <p:blipFill>
          <a:blip r:embed="rId4"/>
          <a:stretch>
            <a:fillRect/>
          </a:stretch>
        </p:blipFill>
        <p:spPr>
          <a:xfrm>
            <a:off x="1015268" y="5746637"/>
            <a:ext cx="7337956" cy="501478"/>
          </a:xfrm>
          <a:prstGeom prst="rect">
            <a:avLst/>
          </a:prstGeom>
        </p:spPr>
      </p:pic>
    </p:spTree>
    <p:extLst>
      <p:ext uri="{BB962C8B-B14F-4D97-AF65-F5344CB8AC3E}">
        <p14:creationId xmlns:p14="http://schemas.microsoft.com/office/powerpoint/2010/main" val="4030098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8BB0F-8290-D6D9-FD3F-976CC2C653FE}"/>
              </a:ext>
            </a:extLst>
          </p:cNvPr>
          <p:cNvSpPr>
            <a:spLocks noGrp="1"/>
          </p:cNvSpPr>
          <p:nvPr>
            <p:ph type="title"/>
          </p:nvPr>
        </p:nvSpPr>
        <p:spPr/>
        <p:txBody>
          <a:bodyPr/>
          <a:lstStyle/>
          <a:p>
            <a:r>
              <a:rPr lang="en-IN" dirty="0"/>
              <a:t>Output</a:t>
            </a:r>
            <a:endParaRPr lang="en-GH" dirty="0"/>
          </a:p>
        </p:txBody>
      </p:sp>
      <p:sp>
        <p:nvSpPr>
          <p:cNvPr id="4" name="Rectangle 1">
            <a:extLst>
              <a:ext uri="{FF2B5EF4-FFF2-40B4-BE49-F238E27FC236}">
                <a16:creationId xmlns:a16="http://schemas.microsoft.com/office/drawing/2014/main" id="{AE271E2C-9E93-395D-2283-5408243CFEB1}"/>
              </a:ext>
            </a:extLst>
          </p:cNvPr>
          <p:cNvSpPr>
            <a:spLocks noGrp="1" noChangeArrowheads="1"/>
          </p:cNvSpPr>
          <p:nvPr>
            <p:ph idx="1"/>
          </p:nvPr>
        </p:nvSpPr>
        <p:spPr bwMode="auto">
          <a:xfrm>
            <a:off x="267870" y="1369998"/>
            <a:ext cx="8608260" cy="1938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GH" b="1" i="0" u="none" strike="noStrike" cap="none" normalizeH="0" baseline="0" dirty="0" err="1">
                <a:ln>
                  <a:noFill/>
                </a:ln>
                <a:solidFill>
                  <a:srgbClr val="FF0000"/>
                </a:solidFill>
                <a:effectLst/>
              </a:rPr>
              <a:t>innerHTML</a:t>
            </a:r>
            <a:r>
              <a:rPr kumimoji="0" lang="en-IN" altLang="en-GH" b="0" i="0" u="none" strike="noStrike" cap="none" normalizeH="0" baseline="0" dirty="0">
                <a:ln>
                  <a:noFill/>
                </a:ln>
                <a:solidFill>
                  <a:srgbClr val="000000"/>
                </a:solidFill>
                <a:effectLst/>
              </a:rPr>
              <a:t>: </a:t>
            </a:r>
            <a:r>
              <a:rPr kumimoji="0" lang="en-US" altLang="en-GH" b="0" i="0" u="none" strike="noStrike" cap="none" normalizeH="0" baseline="0" dirty="0">
                <a:ln>
                  <a:noFill/>
                </a:ln>
                <a:solidFill>
                  <a:srgbClr val="000000"/>
                </a:solidFill>
                <a:effectLst/>
              </a:rPr>
              <a:t>Used to change or insert content inside an HTML element </a:t>
            </a:r>
            <a:r>
              <a:rPr kumimoji="0" lang="en-US" altLang="en-GH" b="0" i="0" u="sng" strike="noStrike" cap="none" normalizeH="0" baseline="0" dirty="0">
                <a:ln>
                  <a:noFill/>
                </a:ln>
                <a:solidFill>
                  <a:srgbClr val="000000"/>
                </a:solidFill>
                <a:effectLst/>
              </a:rPr>
              <a:t>dynamically</a:t>
            </a:r>
            <a:r>
              <a:rPr kumimoji="0" lang="en-US" altLang="en-GH" b="0" i="0" u="none" strike="noStrike" cap="none" normalizeH="0" baseline="0" dirty="0">
                <a:ln>
                  <a:noFill/>
                </a:ln>
                <a:solidFill>
                  <a:srgbClr val="000000"/>
                </a:solidFill>
                <a:effectLst/>
              </a:rPr>
              <a:t>. We </a:t>
            </a:r>
            <a:r>
              <a:rPr kumimoji="0" lang="en-US" altLang="en-GH" b="1" i="0" u="none" strike="noStrike" cap="none" normalizeH="0" baseline="0" dirty="0">
                <a:ln>
                  <a:noFill/>
                </a:ln>
                <a:solidFill>
                  <a:srgbClr val="000000"/>
                </a:solidFill>
                <a:effectLst/>
              </a:rPr>
              <a:t>target an element by its id </a:t>
            </a:r>
            <a:r>
              <a:rPr kumimoji="0" lang="en-US" altLang="en-GH" b="0" i="0" u="none" strike="noStrike" cap="none" normalizeH="0" baseline="0" dirty="0">
                <a:ln>
                  <a:noFill/>
                </a:ln>
                <a:solidFill>
                  <a:srgbClr val="000000"/>
                </a:solidFill>
                <a:effectLst/>
              </a:rPr>
              <a:t>and change its content.</a:t>
            </a:r>
            <a:endParaRPr kumimoji="0" lang="en-IN" altLang="en-GH"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GH" altLang="en-GH"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H" altLang="en-GH" b="0" i="0" u="none" strike="noStrike" cap="none" normalizeH="0" baseline="0" dirty="0">
              <a:ln>
                <a:noFill/>
              </a:ln>
              <a:solidFill>
                <a:schemeClr val="tx1"/>
              </a:solidFill>
              <a:effectLst/>
            </a:endParaRPr>
          </a:p>
        </p:txBody>
      </p:sp>
      <p:pic>
        <p:nvPicPr>
          <p:cNvPr id="5" name="Picture 4">
            <a:extLst>
              <a:ext uri="{FF2B5EF4-FFF2-40B4-BE49-F238E27FC236}">
                <a16:creationId xmlns:a16="http://schemas.microsoft.com/office/drawing/2014/main" id="{5F9834BE-5D42-5158-EEAC-803485FA2117}"/>
              </a:ext>
            </a:extLst>
          </p:cNvPr>
          <p:cNvPicPr>
            <a:picLocks noChangeAspect="1"/>
          </p:cNvPicPr>
          <p:nvPr/>
        </p:nvPicPr>
        <p:blipFill>
          <a:blip r:embed="rId2"/>
          <a:stretch>
            <a:fillRect/>
          </a:stretch>
        </p:blipFill>
        <p:spPr>
          <a:xfrm>
            <a:off x="301485" y="2568033"/>
            <a:ext cx="8620499" cy="1481913"/>
          </a:xfrm>
          <a:prstGeom prst="rect">
            <a:avLst/>
          </a:prstGeom>
        </p:spPr>
      </p:pic>
      <p:sp>
        <p:nvSpPr>
          <p:cNvPr id="6" name="Rectangle 1">
            <a:extLst>
              <a:ext uri="{FF2B5EF4-FFF2-40B4-BE49-F238E27FC236}">
                <a16:creationId xmlns:a16="http://schemas.microsoft.com/office/drawing/2014/main" id="{6B1D1C11-4E24-EAFB-CA0F-C5EA92978B65}"/>
              </a:ext>
            </a:extLst>
          </p:cNvPr>
          <p:cNvSpPr txBox="1">
            <a:spLocks noChangeArrowheads="1"/>
          </p:cNvSpPr>
          <p:nvPr/>
        </p:nvSpPr>
        <p:spPr bwMode="auto">
          <a:xfrm>
            <a:off x="240465" y="4416984"/>
            <a:ext cx="8608260"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en-IN" altLang="en-GH" b="1">
                <a:solidFill>
                  <a:srgbClr val="FF0000"/>
                </a:solidFill>
              </a:rPr>
              <a:t>window.prompt()</a:t>
            </a:r>
            <a:r>
              <a:rPr lang="en-IN" altLang="en-GH">
                <a:solidFill>
                  <a:srgbClr val="000000"/>
                </a:solidFill>
              </a:rPr>
              <a:t>: </a:t>
            </a:r>
            <a:r>
              <a:rPr lang="en-US" altLang="en-GH">
                <a:solidFill>
                  <a:srgbClr val="000000"/>
                </a:solidFill>
              </a:rPr>
              <a:t>Prompts the user for input and returns the input value.</a:t>
            </a:r>
            <a:endParaRPr lang="en-GH" altLang="en-GH" dirty="0"/>
          </a:p>
        </p:txBody>
      </p:sp>
      <p:pic>
        <p:nvPicPr>
          <p:cNvPr id="7" name="Picture 6">
            <a:extLst>
              <a:ext uri="{FF2B5EF4-FFF2-40B4-BE49-F238E27FC236}">
                <a16:creationId xmlns:a16="http://schemas.microsoft.com/office/drawing/2014/main" id="{079FF3A1-D552-74A3-26F3-E07FDB274346}"/>
              </a:ext>
            </a:extLst>
          </p:cNvPr>
          <p:cNvPicPr>
            <a:picLocks noChangeAspect="1"/>
          </p:cNvPicPr>
          <p:nvPr/>
        </p:nvPicPr>
        <p:blipFill>
          <a:blip r:embed="rId3"/>
          <a:stretch>
            <a:fillRect/>
          </a:stretch>
        </p:blipFill>
        <p:spPr>
          <a:xfrm>
            <a:off x="1316258" y="5247981"/>
            <a:ext cx="6042806" cy="1060365"/>
          </a:xfrm>
          <a:prstGeom prst="rect">
            <a:avLst/>
          </a:prstGeom>
        </p:spPr>
      </p:pic>
    </p:spTree>
    <p:extLst>
      <p:ext uri="{BB962C8B-B14F-4D97-AF65-F5344CB8AC3E}">
        <p14:creationId xmlns:p14="http://schemas.microsoft.com/office/powerpoint/2010/main" val="3883104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8BB0F-8290-D6D9-FD3F-976CC2C653FE}"/>
              </a:ext>
            </a:extLst>
          </p:cNvPr>
          <p:cNvSpPr>
            <a:spLocks noGrp="1"/>
          </p:cNvSpPr>
          <p:nvPr>
            <p:ph type="title"/>
          </p:nvPr>
        </p:nvSpPr>
        <p:spPr/>
        <p:txBody>
          <a:bodyPr/>
          <a:lstStyle/>
          <a:p>
            <a:r>
              <a:rPr lang="en-IN" dirty="0"/>
              <a:t>Output</a:t>
            </a:r>
            <a:endParaRPr lang="en-GH" dirty="0"/>
          </a:p>
        </p:txBody>
      </p:sp>
      <p:sp>
        <p:nvSpPr>
          <p:cNvPr id="7" name="TextBox 6">
            <a:extLst>
              <a:ext uri="{FF2B5EF4-FFF2-40B4-BE49-F238E27FC236}">
                <a16:creationId xmlns:a16="http://schemas.microsoft.com/office/drawing/2014/main" id="{36E1B475-92A7-1A36-34AB-F32E1653FCD6}"/>
              </a:ext>
            </a:extLst>
          </p:cNvPr>
          <p:cNvSpPr txBox="1"/>
          <p:nvPr/>
        </p:nvSpPr>
        <p:spPr>
          <a:xfrm>
            <a:off x="313724" y="1445622"/>
            <a:ext cx="8608260" cy="83099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GH" sz="2400" b="1" i="0" u="none" strike="noStrike" cap="none" normalizeH="0" baseline="0" dirty="0" err="1">
                <a:ln>
                  <a:noFill/>
                </a:ln>
                <a:solidFill>
                  <a:srgbClr val="FF0000"/>
                </a:solidFill>
                <a:effectLst/>
              </a:rPr>
              <a:t>window.confirm</a:t>
            </a:r>
            <a:r>
              <a:rPr kumimoji="0" lang="en-IN" altLang="en-GH" sz="2400" b="1" i="0" u="none" strike="noStrike" cap="none" normalizeH="0" baseline="0" dirty="0">
                <a:ln>
                  <a:noFill/>
                </a:ln>
                <a:solidFill>
                  <a:srgbClr val="FF0000"/>
                </a:solidFill>
                <a:effectLst/>
              </a:rPr>
              <a:t>()</a:t>
            </a:r>
            <a:r>
              <a:rPr kumimoji="0" lang="en-IN" altLang="en-GH" sz="2400" b="0" i="0" u="none" strike="noStrike" cap="none" normalizeH="0" baseline="0" dirty="0">
                <a:ln>
                  <a:noFill/>
                </a:ln>
                <a:solidFill>
                  <a:srgbClr val="000000"/>
                </a:solidFill>
                <a:effectLst/>
              </a:rPr>
              <a:t>: </a:t>
            </a:r>
            <a:r>
              <a:rPr kumimoji="0" lang="en-US" altLang="en-GH" sz="2400" b="0" i="0" u="none" strike="noStrike" cap="none" normalizeH="0" baseline="0" dirty="0">
                <a:ln>
                  <a:noFill/>
                </a:ln>
                <a:solidFill>
                  <a:srgbClr val="000000"/>
                </a:solidFill>
                <a:effectLst/>
              </a:rPr>
              <a:t>Displays a confirmation dialog box with "OK" and "Cancel" options, returning a Boolean value.</a:t>
            </a:r>
            <a:endParaRPr kumimoji="0" lang="en-IN" altLang="en-GH" sz="2400" b="0" i="0" u="none" strike="noStrike" cap="none" normalizeH="0" baseline="0" dirty="0">
              <a:ln>
                <a:noFill/>
              </a:ln>
              <a:solidFill>
                <a:srgbClr val="000000"/>
              </a:solidFill>
              <a:effectLst/>
            </a:endParaRPr>
          </a:p>
        </p:txBody>
      </p:sp>
      <p:pic>
        <p:nvPicPr>
          <p:cNvPr id="9" name="Picture 8">
            <a:extLst>
              <a:ext uri="{FF2B5EF4-FFF2-40B4-BE49-F238E27FC236}">
                <a16:creationId xmlns:a16="http://schemas.microsoft.com/office/drawing/2014/main" id="{9FEA3019-7377-45DA-3D96-FF2BC596987A}"/>
              </a:ext>
            </a:extLst>
          </p:cNvPr>
          <p:cNvPicPr>
            <a:picLocks noChangeAspect="1"/>
          </p:cNvPicPr>
          <p:nvPr/>
        </p:nvPicPr>
        <p:blipFill>
          <a:blip r:embed="rId2"/>
          <a:stretch>
            <a:fillRect/>
          </a:stretch>
        </p:blipFill>
        <p:spPr>
          <a:xfrm>
            <a:off x="1822339" y="2354392"/>
            <a:ext cx="4934639" cy="2048161"/>
          </a:xfrm>
          <a:prstGeom prst="rect">
            <a:avLst/>
          </a:prstGeom>
        </p:spPr>
      </p:pic>
    </p:spTree>
    <p:extLst>
      <p:ext uri="{BB962C8B-B14F-4D97-AF65-F5344CB8AC3E}">
        <p14:creationId xmlns:p14="http://schemas.microsoft.com/office/powerpoint/2010/main" val="1949056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A822-7B84-2F72-311E-D6EF1720F8B2}"/>
              </a:ext>
            </a:extLst>
          </p:cNvPr>
          <p:cNvSpPr>
            <a:spLocks noGrp="1"/>
          </p:cNvSpPr>
          <p:nvPr>
            <p:ph type="title"/>
          </p:nvPr>
        </p:nvSpPr>
        <p:spPr/>
        <p:txBody>
          <a:bodyPr/>
          <a:lstStyle/>
          <a:p>
            <a:r>
              <a:rPr lang="en-IN" dirty="0"/>
              <a:t>Comments</a:t>
            </a:r>
            <a:endParaRPr lang="en-GH" dirty="0"/>
          </a:p>
        </p:txBody>
      </p:sp>
      <p:pic>
        <p:nvPicPr>
          <p:cNvPr id="5" name="Picture 4">
            <a:extLst>
              <a:ext uri="{FF2B5EF4-FFF2-40B4-BE49-F238E27FC236}">
                <a16:creationId xmlns:a16="http://schemas.microsoft.com/office/drawing/2014/main" id="{BFFEA824-94AC-7301-160D-1BE28E795690}"/>
              </a:ext>
            </a:extLst>
          </p:cNvPr>
          <p:cNvPicPr>
            <a:picLocks noChangeAspect="1"/>
          </p:cNvPicPr>
          <p:nvPr/>
        </p:nvPicPr>
        <p:blipFill>
          <a:blip r:embed="rId2"/>
          <a:stretch>
            <a:fillRect/>
          </a:stretch>
        </p:blipFill>
        <p:spPr>
          <a:xfrm>
            <a:off x="573710" y="1708041"/>
            <a:ext cx="6015627" cy="994519"/>
          </a:xfrm>
          <a:prstGeom prst="rect">
            <a:avLst/>
          </a:prstGeom>
        </p:spPr>
      </p:pic>
      <p:pic>
        <p:nvPicPr>
          <p:cNvPr id="7" name="Picture 6">
            <a:extLst>
              <a:ext uri="{FF2B5EF4-FFF2-40B4-BE49-F238E27FC236}">
                <a16:creationId xmlns:a16="http://schemas.microsoft.com/office/drawing/2014/main" id="{52E3C217-1ABF-1472-6FB3-F78CA83ECE07}"/>
              </a:ext>
            </a:extLst>
          </p:cNvPr>
          <p:cNvPicPr>
            <a:picLocks noChangeAspect="1"/>
          </p:cNvPicPr>
          <p:nvPr/>
        </p:nvPicPr>
        <p:blipFill>
          <a:blip r:embed="rId3"/>
          <a:stretch>
            <a:fillRect/>
          </a:stretch>
        </p:blipFill>
        <p:spPr>
          <a:xfrm>
            <a:off x="573710" y="3429000"/>
            <a:ext cx="4566664" cy="1397000"/>
          </a:xfrm>
          <a:prstGeom prst="rect">
            <a:avLst/>
          </a:prstGeom>
        </p:spPr>
      </p:pic>
    </p:spTree>
    <p:extLst>
      <p:ext uri="{BB962C8B-B14F-4D97-AF65-F5344CB8AC3E}">
        <p14:creationId xmlns:p14="http://schemas.microsoft.com/office/powerpoint/2010/main" val="1671307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63DAA-CED6-E32E-52FA-FB1185503FED}"/>
              </a:ext>
            </a:extLst>
          </p:cNvPr>
          <p:cNvSpPr>
            <a:spLocks noGrp="1"/>
          </p:cNvSpPr>
          <p:nvPr>
            <p:ph type="title"/>
          </p:nvPr>
        </p:nvSpPr>
        <p:spPr/>
        <p:txBody>
          <a:bodyPr/>
          <a:lstStyle/>
          <a:p>
            <a:r>
              <a:rPr lang="en-IN" dirty="0"/>
              <a:t>Variables</a:t>
            </a:r>
            <a:endParaRPr lang="en-GH" dirty="0"/>
          </a:p>
        </p:txBody>
      </p:sp>
      <p:sp>
        <p:nvSpPr>
          <p:cNvPr id="3" name="Content Placeholder 2">
            <a:extLst>
              <a:ext uri="{FF2B5EF4-FFF2-40B4-BE49-F238E27FC236}">
                <a16:creationId xmlns:a16="http://schemas.microsoft.com/office/drawing/2014/main" id="{CB040D59-3BDE-3F3F-80E0-62B7A208A988}"/>
              </a:ext>
            </a:extLst>
          </p:cNvPr>
          <p:cNvSpPr>
            <a:spLocks noGrp="1"/>
          </p:cNvSpPr>
          <p:nvPr>
            <p:ph idx="1"/>
          </p:nvPr>
        </p:nvSpPr>
        <p:spPr/>
        <p:txBody>
          <a:bodyPr/>
          <a:lstStyle/>
          <a:p>
            <a:r>
              <a:rPr lang="en-US" dirty="0"/>
              <a:t>Variables are Containers for Storing Data</a:t>
            </a:r>
          </a:p>
          <a:p>
            <a:r>
              <a:rPr lang="en-US" dirty="0"/>
              <a:t>JavaScript Variables can be declared in 4 ways:</a:t>
            </a:r>
          </a:p>
          <a:p>
            <a:pPr marL="457200" indent="-457200">
              <a:buFont typeface="+mj-lt"/>
              <a:buAutoNum type="arabicParenR"/>
            </a:pPr>
            <a:r>
              <a:rPr lang="en-US" dirty="0"/>
              <a:t>Using </a:t>
            </a:r>
            <a:r>
              <a:rPr lang="en-US" b="1" dirty="0">
                <a:solidFill>
                  <a:srgbClr val="FF0066"/>
                </a:solidFill>
              </a:rPr>
              <a:t>var</a:t>
            </a:r>
          </a:p>
          <a:p>
            <a:pPr marL="457200" indent="-457200">
              <a:buFont typeface="+mj-lt"/>
              <a:buAutoNum type="arabicParenR"/>
            </a:pPr>
            <a:r>
              <a:rPr lang="en-US" dirty="0"/>
              <a:t>Using </a:t>
            </a:r>
            <a:r>
              <a:rPr lang="en-US" b="1" dirty="0">
                <a:solidFill>
                  <a:srgbClr val="FF0066"/>
                </a:solidFill>
              </a:rPr>
              <a:t>let</a:t>
            </a:r>
          </a:p>
          <a:p>
            <a:pPr marL="457200" indent="-457200">
              <a:buFont typeface="+mj-lt"/>
              <a:buAutoNum type="arabicParenR"/>
            </a:pPr>
            <a:r>
              <a:rPr lang="en-US" dirty="0"/>
              <a:t>Using </a:t>
            </a:r>
            <a:r>
              <a:rPr lang="en-US" b="1" dirty="0">
                <a:solidFill>
                  <a:srgbClr val="FF0066"/>
                </a:solidFill>
              </a:rPr>
              <a:t>const</a:t>
            </a:r>
          </a:p>
          <a:p>
            <a:pPr marL="457200" indent="-457200">
              <a:buFont typeface="+mj-lt"/>
              <a:buAutoNum type="arabicParenR"/>
            </a:pPr>
            <a:r>
              <a:rPr lang="en-US" dirty="0"/>
              <a:t>Automatically</a:t>
            </a:r>
            <a:r>
              <a:rPr lang="en-US" b="1" dirty="0">
                <a:solidFill>
                  <a:srgbClr val="FF0066"/>
                </a:solidFill>
              </a:rPr>
              <a:t> (no declaration)</a:t>
            </a:r>
            <a:endParaRPr lang="en-GH" b="1" dirty="0">
              <a:solidFill>
                <a:srgbClr val="FF0066"/>
              </a:solidFill>
            </a:endParaRPr>
          </a:p>
        </p:txBody>
      </p:sp>
    </p:spTree>
    <p:extLst>
      <p:ext uri="{BB962C8B-B14F-4D97-AF65-F5344CB8AC3E}">
        <p14:creationId xmlns:p14="http://schemas.microsoft.com/office/powerpoint/2010/main" val="2405525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63DAA-CED6-E32E-52FA-FB1185503FED}"/>
              </a:ext>
            </a:extLst>
          </p:cNvPr>
          <p:cNvSpPr>
            <a:spLocks noGrp="1"/>
          </p:cNvSpPr>
          <p:nvPr>
            <p:ph type="title"/>
          </p:nvPr>
        </p:nvSpPr>
        <p:spPr/>
        <p:txBody>
          <a:bodyPr/>
          <a:lstStyle/>
          <a:p>
            <a:r>
              <a:rPr lang="en-IN" dirty="0"/>
              <a:t>Variables: </a:t>
            </a:r>
            <a:r>
              <a:rPr lang="en-IN" dirty="0">
                <a:solidFill>
                  <a:srgbClr val="FF0066"/>
                </a:solidFill>
              </a:rPr>
              <a:t>var</a:t>
            </a:r>
            <a:endParaRPr lang="en-GH" dirty="0">
              <a:solidFill>
                <a:srgbClr val="FF0066"/>
              </a:solidFill>
            </a:endParaRPr>
          </a:p>
        </p:txBody>
      </p:sp>
      <p:sp>
        <p:nvSpPr>
          <p:cNvPr id="3" name="Content Placeholder 2">
            <a:extLst>
              <a:ext uri="{FF2B5EF4-FFF2-40B4-BE49-F238E27FC236}">
                <a16:creationId xmlns:a16="http://schemas.microsoft.com/office/drawing/2014/main" id="{CB040D59-3BDE-3F3F-80E0-62B7A208A988}"/>
              </a:ext>
            </a:extLst>
          </p:cNvPr>
          <p:cNvSpPr>
            <a:spLocks noGrp="1"/>
          </p:cNvSpPr>
          <p:nvPr>
            <p:ph idx="1"/>
          </p:nvPr>
        </p:nvSpPr>
        <p:spPr/>
        <p:txBody>
          <a:bodyPr/>
          <a:lstStyle/>
          <a:p>
            <a:pPr marL="0" indent="0">
              <a:buNone/>
            </a:pPr>
            <a:endParaRPr lang="en-US" dirty="0"/>
          </a:p>
          <a:p>
            <a:endParaRPr lang="en-US" dirty="0"/>
          </a:p>
          <a:p>
            <a:endParaRPr lang="en-US" dirty="0"/>
          </a:p>
          <a:p>
            <a:r>
              <a:rPr lang="en-US" dirty="0"/>
              <a:t>The original way (1995 to 2015) to declare variables </a:t>
            </a:r>
          </a:p>
          <a:p>
            <a:r>
              <a:rPr lang="en-US" dirty="0"/>
              <a:t>Will have function scope (or global scope if declared outside any function)</a:t>
            </a:r>
          </a:p>
          <a:p>
            <a:r>
              <a:rPr lang="en-US" dirty="0"/>
              <a:t>Allows to re-declare and update variables</a:t>
            </a:r>
          </a:p>
          <a:p>
            <a:r>
              <a:rPr lang="en-US" dirty="0"/>
              <a:t>Has been largely replaced by </a:t>
            </a:r>
            <a:r>
              <a:rPr lang="en-US" b="1" dirty="0">
                <a:solidFill>
                  <a:srgbClr val="FF0066"/>
                </a:solidFill>
              </a:rPr>
              <a:t>let </a:t>
            </a:r>
            <a:r>
              <a:rPr lang="en-US" dirty="0"/>
              <a:t>and </a:t>
            </a:r>
            <a:r>
              <a:rPr lang="en-US" b="1" dirty="0">
                <a:solidFill>
                  <a:srgbClr val="FF0066"/>
                </a:solidFill>
              </a:rPr>
              <a:t>const</a:t>
            </a:r>
            <a:r>
              <a:rPr lang="en-US" dirty="0"/>
              <a:t> due to issues with scoping.</a:t>
            </a:r>
          </a:p>
        </p:txBody>
      </p:sp>
      <p:pic>
        <p:nvPicPr>
          <p:cNvPr id="5" name="Picture 4">
            <a:extLst>
              <a:ext uri="{FF2B5EF4-FFF2-40B4-BE49-F238E27FC236}">
                <a16:creationId xmlns:a16="http://schemas.microsoft.com/office/drawing/2014/main" id="{B386C475-64D3-C1A2-01ED-BD22766AA7E0}"/>
              </a:ext>
            </a:extLst>
          </p:cNvPr>
          <p:cNvPicPr>
            <a:picLocks noChangeAspect="1"/>
          </p:cNvPicPr>
          <p:nvPr/>
        </p:nvPicPr>
        <p:blipFill>
          <a:blip r:embed="rId2"/>
          <a:srcRect t="-1" r="74301" b="-37803"/>
          <a:stretch/>
        </p:blipFill>
        <p:spPr>
          <a:xfrm>
            <a:off x="2766401" y="1673224"/>
            <a:ext cx="3611198" cy="1019176"/>
          </a:xfrm>
          <a:prstGeom prst="rect">
            <a:avLst/>
          </a:prstGeom>
        </p:spPr>
      </p:pic>
    </p:spTree>
    <p:extLst>
      <p:ext uri="{BB962C8B-B14F-4D97-AF65-F5344CB8AC3E}">
        <p14:creationId xmlns:p14="http://schemas.microsoft.com/office/powerpoint/2010/main" val="191219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63DAA-CED6-E32E-52FA-FB1185503FED}"/>
              </a:ext>
            </a:extLst>
          </p:cNvPr>
          <p:cNvSpPr>
            <a:spLocks noGrp="1"/>
          </p:cNvSpPr>
          <p:nvPr>
            <p:ph type="title"/>
          </p:nvPr>
        </p:nvSpPr>
        <p:spPr/>
        <p:txBody>
          <a:bodyPr/>
          <a:lstStyle/>
          <a:p>
            <a:r>
              <a:rPr lang="en-IN" dirty="0"/>
              <a:t>Variables: </a:t>
            </a:r>
            <a:r>
              <a:rPr lang="en-IN" dirty="0">
                <a:solidFill>
                  <a:srgbClr val="FF0066"/>
                </a:solidFill>
              </a:rPr>
              <a:t>let</a:t>
            </a:r>
            <a:endParaRPr lang="en-GH" dirty="0">
              <a:solidFill>
                <a:srgbClr val="FF0066"/>
              </a:solidFill>
            </a:endParaRPr>
          </a:p>
        </p:txBody>
      </p:sp>
      <p:sp>
        <p:nvSpPr>
          <p:cNvPr id="3" name="Content Placeholder 2">
            <a:extLst>
              <a:ext uri="{FF2B5EF4-FFF2-40B4-BE49-F238E27FC236}">
                <a16:creationId xmlns:a16="http://schemas.microsoft.com/office/drawing/2014/main" id="{CB040D59-3BDE-3F3F-80E0-62B7A208A988}"/>
              </a:ext>
            </a:extLst>
          </p:cNvPr>
          <p:cNvSpPr>
            <a:spLocks noGrp="1"/>
          </p:cNvSpPr>
          <p:nvPr>
            <p:ph idx="1"/>
          </p:nvPr>
        </p:nvSpPr>
        <p:spPr/>
        <p:txBody>
          <a:bodyPr/>
          <a:lstStyle/>
          <a:p>
            <a:pPr marL="0" indent="0">
              <a:buNone/>
            </a:pPr>
            <a:endParaRPr lang="en-US" dirty="0"/>
          </a:p>
          <a:p>
            <a:endParaRPr lang="en-US" dirty="0"/>
          </a:p>
          <a:p>
            <a:endParaRPr lang="en-US" dirty="0"/>
          </a:p>
          <a:p>
            <a:r>
              <a:rPr lang="en-US" dirty="0"/>
              <a:t>Introduced in </a:t>
            </a:r>
            <a:r>
              <a:rPr lang="en-US" b="1" dirty="0">
                <a:solidFill>
                  <a:srgbClr val="0070C0"/>
                </a:solidFill>
              </a:rPr>
              <a:t>ES6</a:t>
            </a:r>
            <a:r>
              <a:rPr lang="en-US" dirty="0"/>
              <a:t> (ECMAScript 2015 or ECMAScript 6)</a:t>
            </a:r>
          </a:p>
          <a:p>
            <a:r>
              <a:rPr lang="en-US" dirty="0"/>
              <a:t>Allows to declare </a:t>
            </a:r>
            <a:r>
              <a:rPr lang="en-US" u="sng" dirty="0"/>
              <a:t>block-scoped</a:t>
            </a:r>
            <a:r>
              <a:rPr lang="en-US" dirty="0"/>
              <a:t> variables. This means the variable only exists within the block (e.g., inside an </a:t>
            </a:r>
            <a:r>
              <a:rPr lang="en-US" b="1" dirty="0">
                <a:solidFill>
                  <a:srgbClr val="FF0066"/>
                </a:solidFill>
              </a:rPr>
              <a:t>if</a:t>
            </a:r>
            <a:r>
              <a:rPr lang="en-US" dirty="0"/>
              <a:t> or </a:t>
            </a:r>
            <a:r>
              <a:rPr lang="en-US" b="1" dirty="0">
                <a:solidFill>
                  <a:srgbClr val="FF0066"/>
                </a:solidFill>
              </a:rPr>
              <a:t>for</a:t>
            </a:r>
            <a:r>
              <a:rPr lang="en-US" dirty="0"/>
              <a:t> loop).</a:t>
            </a:r>
          </a:p>
        </p:txBody>
      </p:sp>
      <p:pic>
        <p:nvPicPr>
          <p:cNvPr id="6" name="Picture 5">
            <a:extLst>
              <a:ext uri="{FF2B5EF4-FFF2-40B4-BE49-F238E27FC236}">
                <a16:creationId xmlns:a16="http://schemas.microsoft.com/office/drawing/2014/main" id="{1684E132-294D-0CD9-1CE5-1DC61A470924}"/>
              </a:ext>
            </a:extLst>
          </p:cNvPr>
          <p:cNvPicPr>
            <a:picLocks noChangeAspect="1"/>
          </p:cNvPicPr>
          <p:nvPr/>
        </p:nvPicPr>
        <p:blipFill>
          <a:blip r:embed="rId2"/>
          <a:stretch>
            <a:fillRect/>
          </a:stretch>
        </p:blipFill>
        <p:spPr>
          <a:xfrm>
            <a:off x="990598" y="1554448"/>
            <a:ext cx="6618076" cy="660432"/>
          </a:xfrm>
          <a:prstGeom prst="rect">
            <a:avLst/>
          </a:prstGeom>
        </p:spPr>
      </p:pic>
    </p:spTree>
    <p:extLst>
      <p:ext uri="{BB962C8B-B14F-4D97-AF65-F5344CB8AC3E}">
        <p14:creationId xmlns:p14="http://schemas.microsoft.com/office/powerpoint/2010/main" val="1280050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63DAA-CED6-E32E-52FA-FB1185503FED}"/>
              </a:ext>
            </a:extLst>
          </p:cNvPr>
          <p:cNvSpPr>
            <a:spLocks noGrp="1"/>
          </p:cNvSpPr>
          <p:nvPr>
            <p:ph type="title"/>
          </p:nvPr>
        </p:nvSpPr>
        <p:spPr/>
        <p:txBody>
          <a:bodyPr/>
          <a:lstStyle/>
          <a:p>
            <a:r>
              <a:rPr lang="en-IN" dirty="0"/>
              <a:t>Variables: </a:t>
            </a:r>
            <a:r>
              <a:rPr lang="en-IN" dirty="0" err="1">
                <a:solidFill>
                  <a:srgbClr val="FF0066"/>
                </a:solidFill>
              </a:rPr>
              <a:t>const</a:t>
            </a:r>
            <a:endParaRPr lang="en-GH" dirty="0">
              <a:solidFill>
                <a:srgbClr val="FF0066"/>
              </a:solidFill>
            </a:endParaRPr>
          </a:p>
        </p:txBody>
      </p:sp>
      <p:sp>
        <p:nvSpPr>
          <p:cNvPr id="3" name="Content Placeholder 2">
            <a:extLst>
              <a:ext uri="{FF2B5EF4-FFF2-40B4-BE49-F238E27FC236}">
                <a16:creationId xmlns:a16="http://schemas.microsoft.com/office/drawing/2014/main" id="{CB040D59-3BDE-3F3F-80E0-62B7A208A988}"/>
              </a:ext>
            </a:extLst>
          </p:cNvPr>
          <p:cNvSpPr>
            <a:spLocks noGrp="1"/>
          </p:cNvSpPr>
          <p:nvPr>
            <p:ph idx="1"/>
          </p:nvPr>
        </p:nvSpPr>
        <p:spPr/>
        <p:txBody>
          <a:bodyPr/>
          <a:lstStyle/>
          <a:p>
            <a:pPr marL="0" indent="0">
              <a:buNone/>
            </a:pPr>
            <a:endParaRPr lang="en-US" dirty="0"/>
          </a:p>
          <a:p>
            <a:endParaRPr lang="en-US" dirty="0"/>
          </a:p>
          <a:p>
            <a:endParaRPr lang="en-US" dirty="0"/>
          </a:p>
          <a:p>
            <a:r>
              <a:rPr lang="en-US" dirty="0"/>
              <a:t>Also, introduced in </a:t>
            </a:r>
            <a:r>
              <a:rPr lang="en-US" b="1" dirty="0">
                <a:solidFill>
                  <a:srgbClr val="0070C0"/>
                </a:solidFill>
              </a:rPr>
              <a:t>ES6</a:t>
            </a:r>
            <a:r>
              <a:rPr lang="en-US" dirty="0"/>
              <a:t> </a:t>
            </a:r>
          </a:p>
          <a:p>
            <a:r>
              <a:rPr lang="en-US" dirty="0"/>
              <a:t>Used to declare constants, meaning the variable cannot be reassigned after its initial declaration. </a:t>
            </a:r>
          </a:p>
          <a:p>
            <a:r>
              <a:rPr lang="en-US" dirty="0"/>
              <a:t>It is block-scoped like </a:t>
            </a:r>
            <a:r>
              <a:rPr lang="en-US" dirty="0">
                <a:solidFill>
                  <a:srgbClr val="FF0066"/>
                </a:solidFill>
              </a:rPr>
              <a:t>let</a:t>
            </a:r>
            <a:r>
              <a:rPr lang="en-US" dirty="0"/>
              <a:t> but must be assigned a value when you declare it</a:t>
            </a:r>
          </a:p>
        </p:txBody>
      </p:sp>
      <p:pic>
        <p:nvPicPr>
          <p:cNvPr id="5" name="Picture 4">
            <a:extLst>
              <a:ext uri="{FF2B5EF4-FFF2-40B4-BE49-F238E27FC236}">
                <a16:creationId xmlns:a16="http://schemas.microsoft.com/office/drawing/2014/main" id="{92AFCF5D-062F-D747-3A32-EC2E87CD0629}"/>
              </a:ext>
            </a:extLst>
          </p:cNvPr>
          <p:cNvPicPr>
            <a:picLocks noChangeAspect="1"/>
          </p:cNvPicPr>
          <p:nvPr/>
        </p:nvPicPr>
        <p:blipFill>
          <a:blip r:embed="rId2"/>
          <a:stretch>
            <a:fillRect/>
          </a:stretch>
        </p:blipFill>
        <p:spPr>
          <a:xfrm>
            <a:off x="2609376" y="1623033"/>
            <a:ext cx="3596482" cy="612167"/>
          </a:xfrm>
          <a:prstGeom prst="rect">
            <a:avLst/>
          </a:prstGeom>
        </p:spPr>
      </p:pic>
    </p:spTree>
    <p:extLst>
      <p:ext uri="{BB962C8B-B14F-4D97-AF65-F5344CB8AC3E}">
        <p14:creationId xmlns:p14="http://schemas.microsoft.com/office/powerpoint/2010/main" val="2665594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63DAA-CED6-E32E-52FA-FB1185503FED}"/>
              </a:ext>
            </a:extLst>
          </p:cNvPr>
          <p:cNvSpPr>
            <a:spLocks noGrp="1"/>
          </p:cNvSpPr>
          <p:nvPr>
            <p:ph type="title"/>
          </p:nvPr>
        </p:nvSpPr>
        <p:spPr/>
        <p:txBody>
          <a:bodyPr/>
          <a:lstStyle/>
          <a:p>
            <a:r>
              <a:rPr lang="en-IN" dirty="0"/>
              <a:t>Variables: </a:t>
            </a:r>
            <a:r>
              <a:rPr lang="en-IN" dirty="0">
                <a:solidFill>
                  <a:srgbClr val="FF0066"/>
                </a:solidFill>
              </a:rPr>
              <a:t>no declaration</a:t>
            </a:r>
            <a:endParaRPr lang="en-GH" dirty="0">
              <a:solidFill>
                <a:srgbClr val="FF0066"/>
              </a:solidFill>
            </a:endParaRPr>
          </a:p>
        </p:txBody>
      </p:sp>
      <p:sp>
        <p:nvSpPr>
          <p:cNvPr id="3" name="Content Placeholder 2">
            <a:extLst>
              <a:ext uri="{FF2B5EF4-FFF2-40B4-BE49-F238E27FC236}">
                <a16:creationId xmlns:a16="http://schemas.microsoft.com/office/drawing/2014/main" id="{CB040D59-3BDE-3F3F-80E0-62B7A208A988}"/>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When not declared with </a:t>
            </a:r>
            <a:r>
              <a:rPr lang="en-US" dirty="0">
                <a:solidFill>
                  <a:srgbClr val="FF0066"/>
                </a:solidFill>
              </a:rPr>
              <a:t>var</a:t>
            </a:r>
            <a:r>
              <a:rPr lang="en-US" dirty="0"/>
              <a:t>, </a:t>
            </a:r>
            <a:r>
              <a:rPr lang="en-US" dirty="0">
                <a:solidFill>
                  <a:srgbClr val="FF0066"/>
                </a:solidFill>
              </a:rPr>
              <a:t>let</a:t>
            </a:r>
            <a:r>
              <a:rPr lang="en-US" dirty="0"/>
              <a:t>, or </a:t>
            </a:r>
            <a:r>
              <a:rPr lang="en-US" dirty="0">
                <a:solidFill>
                  <a:srgbClr val="FF0066"/>
                </a:solidFill>
              </a:rPr>
              <a:t>const</a:t>
            </a:r>
            <a:r>
              <a:rPr lang="en-US" dirty="0"/>
              <a:t>, JavaScript implicitly declares the variable in the </a:t>
            </a:r>
            <a:r>
              <a:rPr lang="en-US" u="sng" dirty="0"/>
              <a:t>global scope</a:t>
            </a:r>
            <a:r>
              <a:rPr lang="en-US" dirty="0"/>
              <a:t>, which can lead to bugs, especially in larger programs or functions.</a:t>
            </a:r>
          </a:p>
          <a:p>
            <a:endParaRPr lang="en-US" dirty="0"/>
          </a:p>
          <a:p>
            <a:endParaRPr lang="en-US" dirty="0"/>
          </a:p>
        </p:txBody>
      </p:sp>
      <p:pic>
        <p:nvPicPr>
          <p:cNvPr id="6" name="Picture 5">
            <a:extLst>
              <a:ext uri="{FF2B5EF4-FFF2-40B4-BE49-F238E27FC236}">
                <a16:creationId xmlns:a16="http://schemas.microsoft.com/office/drawing/2014/main" id="{6AC22C47-F38A-8330-B60F-BEE574A031A6}"/>
              </a:ext>
            </a:extLst>
          </p:cNvPr>
          <p:cNvPicPr>
            <a:picLocks noChangeAspect="1"/>
          </p:cNvPicPr>
          <p:nvPr/>
        </p:nvPicPr>
        <p:blipFill>
          <a:blip r:embed="rId2"/>
          <a:stretch>
            <a:fillRect/>
          </a:stretch>
        </p:blipFill>
        <p:spPr>
          <a:xfrm>
            <a:off x="113678" y="1466500"/>
            <a:ext cx="8916644" cy="2391109"/>
          </a:xfrm>
          <a:prstGeom prst="rect">
            <a:avLst/>
          </a:prstGeom>
        </p:spPr>
      </p:pic>
    </p:spTree>
    <p:extLst>
      <p:ext uri="{BB962C8B-B14F-4D97-AF65-F5344CB8AC3E}">
        <p14:creationId xmlns:p14="http://schemas.microsoft.com/office/powerpoint/2010/main" val="1070000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63DAA-CED6-E32E-52FA-FB1185503FED}"/>
              </a:ext>
            </a:extLst>
          </p:cNvPr>
          <p:cNvSpPr>
            <a:spLocks noGrp="1"/>
          </p:cNvSpPr>
          <p:nvPr>
            <p:ph type="title"/>
          </p:nvPr>
        </p:nvSpPr>
        <p:spPr/>
        <p:txBody>
          <a:bodyPr/>
          <a:lstStyle/>
          <a:p>
            <a:r>
              <a:rPr lang="en-IN" dirty="0"/>
              <a:t>Variables: strict mode</a:t>
            </a:r>
            <a:endParaRPr lang="en-GH" dirty="0"/>
          </a:p>
        </p:txBody>
      </p:sp>
      <p:sp>
        <p:nvSpPr>
          <p:cNvPr id="3" name="Content Placeholder 2">
            <a:extLst>
              <a:ext uri="{FF2B5EF4-FFF2-40B4-BE49-F238E27FC236}">
                <a16:creationId xmlns:a16="http://schemas.microsoft.com/office/drawing/2014/main" id="{CB040D59-3BDE-3F3F-80E0-62B7A208A988}"/>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r>
              <a:rPr lang="en-US" dirty="0"/>
              <a:t>In strict mode, JavaScript enforces proper variable declaration, so failing to use </a:t>
            </a:r>
            <a:r>
              <a:rPr lang="en-US" dirty="0">
                <a:solidFill>
                  <a:srgbClr val="FF0066"/>
                </a:solidFill>
              </a:rPr>
              <a:t>var</a:t>
            </a:r>
            <a:r>
              <a:rPr lang="en-US" dirty="0"/>
              <a:t>, </a:t>
            </a:r>
            <a:r>
              <a:rPr lang="en-US" dirty="0">
                <a:solidFill>
                  <a:srgbClr val="FF0066"/>
                </a:solidFill>
              </a:rPr>
              <a:t>let</a:t>
            </a:r>
            <a:r>
              <a:rPr lang="en-US" dirty="0"/>
              <a:t>, or </a:t>
            </a:r>
            <a:r>
              <a:rPr lang="en-US" dirty="0">
                <a:solidFill>
                  <a:srgbClr val="FF0066"/>
                </a:solidFill>
              </a:rPr>
              <a:t>const</a:t>
            </a:r>
            <a:r>
              <a:rPr lang="en-US" dirty="0"/>
              <a:t> will throw an error. </a:t>
            </a:r>
          </a:p>
          <a:p>
            <a:endParaRPr lang="en-US" dirty="0"/>
          </a:p>
        </p:txBody>
      </p:sp>
      <p:pic>
        <p:nvPicPr>
          <p:cNvPr id="5" name="Picture 4">
            <a:extLst>
              <a:ext uri="{FF2B5EF4-FFF2-40B4-BE49-F238E27FC236}">
                <a16:creationId xmlns:a16="http://schemas.microsoft.com/office/drawing/2014/main" id="{0317636D-DFF8-041A-5378-EFB37AE26BEB}"/>
              </a:ext>
            </a:extLst>
          </p:cNvPr>
          <p:cNvPicPr>
            <a:picLocks noChangeAspect="1"/>
          </p:cNvPicPr>
          <p:nvPr/>
        </p:nvPicPr>
        <p:blipFill>
          <a:blip r:embed="rId2"/>
          <a:stretch>
            <a:fillRect/>
          </a:stretch>
        </p:blipFill>
        <p:spPr>
          <a:xfrm>
            <a:off x="1450310" y="1292224"/>
            <a:ext cx="6185343" cy="3086736"/>
          </a:xfrm>
          <a:prstGeom prst="rect">
            <a:avLst/>
          </a:prstGeom>
        </p:spPr>
      </p:pic>
    </p:spTree>
    <p:extLst>
      <p:ext uri="{BB962C8B-B14F-4D97-AF65-F5344CB8AC3E}">
        <p14:creationId xmlns:p14="http://schemas.microsoft.com/office/powerpoint/2010/main" val="4099060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6DEE7-4EF8-03F6-C04F-9DE135461EC7}"/>
              </a:ext>
            </a:extLst>
          </p:cNvPr>
          <p:cNvSpPr>
            <a:spLocks noGrp="1"/>
          </p:cNvSpPr>
          <p:nvPr>
            <p:ph type="title"/>
          </p:nvPr>
        </p:nvSpPr>
        <p:spPr/>
        <p:txBody>
          <a:bodyPr/>
          <a:lstStyle/>
          <a:p>
            <a:r>
              <a:rPr lang="en-IN" dirty="0"/>
              <a:t>Variable declaration: Best practice</a:t>
            </a:r>
            <a:endParaRPr lang="en-GH" dirty="0"/>
          </a:p>
        </p:txBody>
      </p:sp>
      <p:sp>
        <p:nvSpPr>
          <p:cNvPr id="3" name="Content Placeholder 2">
            <a:extLst>
              <a:ext uri="{FF2B5EF4-FFF2-40B4-BE49-F238E27FC236}">
                <a16:creationId xmlns:a16="http://schemas.microsoft.com/office/drawing/2014/main" id="{48BD65A7-98B1-4FE5-943F-0AF3B34AB1CE}"/>
              </a:ext>
            </a:extLst>
          </p:cNvPr>
          <p:cNvSpPr>
            <a:spLocks noGrp="1"/>
          </p:cNvSpPr>
          <p:nvPr>
            <p:ph idx="1"/>
          </p:nvPr>
        </p:nvSpPr>
        <p:spPr/>
        <p:txBody>
          <a:bodyPr/>
          <a:lstStyle/>
          <a:p>
            <a:r>
              <a:rPr lang="en-US" dirty="0"/>
              <a:t>Always use </a:t>
            </a:r>
            <a:r>
              <a:rPr lang="en-US" b="1" dirty="0">
                <a:solidFill>
                  <a:srgbClr val="FF0066"/>
                </a:solidFill>
              </a:rPr>
              <a:t>let</a:t>
            </a:r>
            <a:r>
              <a:rPr lang="en-US" dirty="0"/>
              <a:t>, </a:t>
            </a:r>
            <a:r>
              <a:rPr lang="en-US" b="1" dirty="0">
                <a:solidFill>
                  <a:srgbClr val="FF0066"/>
                </a:solidFill>
              </a:rPr>
              <a:t>const</a:t>
            </a:r>
            <a:r>
              <a:rPr lang="en-US" dirty="0"/>
              <a:t>, or </a:t>
            </a:r>
            <a:r>
              <a:rPr lang="en-US" b="1" dirty="0">
                <a:solidFill>
                  <a:srgbClr val="FF0066"/>
                </a:solidFill>
              </a:rPr>
              <a:t>var</a:t>
            </a:r>
            <a:r>
              <a:rPr lang="en-US" dirty="0"/>
              <a:t> to explicitly declare variables. </a:t>
            </a:r>
          </a:p>
          <a:p>
            <a:endParaRPr lang="en-US" dirty="0"/>
          </a:p>
          <a:p>
            <a:r>
              <a:rPr lang="en-US" dirty="0"/>
              <a:t>This improves code readability, avoids global scope pollution, and ensures proper scoping.</a:t>
            </a:r>
            <a:endParaRPr lang="en-GH" dirty="0"/>
          </a:p>
        </p:txBody>
      </p:sp>
    </p:spTree>
    <p:extLst>
      <p:ext uri="{BB962C8B-B14F-4D97-AF65-F5344CB8AC3E}">
        <p14:creationId xmlns:p14="http://schemas.microsoft.com/office/powerpoint/2010/main" val="3281502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1629D-ABC2-43D3-1B65-BBFF8FB3EBB3}"/>
              </a:ext>
            </a:extLst>
          </p:cNvPr>
          <p:cNvSpPr>
            <a:spLocks noGrp="1"/>
          </p:cNvSpPr>
          <p:nvPr>
            <p:ph type="title"/>
          </p:nvPr>
        </p:nvSpPr>
        <p:spPr/>
        <p:txBody>
          <a:bodyPr/>
          <a:lstStyle/>
          <a:p>
            <a:r>
              <a:rPr lang="en-IN" dirty="0"/>
              <a:t>Variables: Scope</a:t>
            </a:r>
            <a:endParaRPr lang="en-GH" dirty="0"/>
          </a:p>
        </p:txBody>
      </p:sp>
      <p:sp>
        <p:nvSpPr>
          <p:cNvPr id="3" name="Content Placeholder 2">
            <a:extLst>
              <a:ext uri="{FF2B5EF4-FFF2-40B4-BE49-F238E27FC236}">
                <a16:creationId xmlns:a16="http://schemas.microsoft.com/office/drawing/2014/main" id="{ADE9AEF0-8399-D7E9-86C7-FCE9AC3B5B17}"/>
              </a:ext>
            </a:extLst>
          </p:cNvPr>
          <p:cNvSpPr>
            <a:spLocks noGrp="1"/>
          </p:cNvSpPr>
          <p:nvPr>
            <p:ph idx="1"/>
          </p:nvPr>
        </p:nvSpPr>
        <p:spPr>
          <a:xfrm>
            <a:off x="241101" y="1386039"/>
            <a:ext cx="4097219" cy="4943141"/>
          </a:xfrm>
        </p:spPr>
        <p:txBody>
          <a:bodyPr/>
          <a:lstStyle/>
          <a:p>
            <a:r>
              <a:rPr lang="en-US" b="1" dirty="0">
                <a:solidFill>
                  <a:srgbClr val="0070C0"/>
                </a:solidFill>
              </a:rPr>
              <a:t>Global Scope</a:t>
            </a:r>
            <a:r>
              <a:rPr lang="en-US" dirty="0"/>
              <a:t>: Variables declared outside functions or blocks are globally scoped and accessible anywhere in the code.</a:t>
            </a:r>
          </a:p>
          <a:p>
            <a:r>
              <a:rPr lang="en-US" b="1" dirty="0">
                <a:solidFill>
                  <a:srgbClr val="0070C0"/>
                </a:solidFill>
              </a:rPr>
              <a:t>Function Scope</a:t>
            </a:r>
            <a:r>
              <a:rPr lang="en-US" dirty="0"/>
              <a:t>: Variables declared with var inside a function are scoped to that function.</a:t>
            </a:r>
          </a:p>
          <a:p>
            <a:r>
              <a:rPr lang="en-US" b="1" dirty="0">
                <a:solidFill>
                  <a:srgbClr val="0070C0"/>
                </a:solidFill>
              </a:rPr>
              <a:t>Block Scope</a:t>
            </a:r>
            <a:r>
              <a:rPr lang="en-US" dirty="0"/>
              <a:t>: Variables declared with let or const inside a block (e.g., if, for, {}) are only accessible within that block.</a:t>
            </a:r>
            <a:endParaRPr lang="en-GH" dirty="0"/>
          </a:p>
        </p:txBody>
      </p:sp>
      <p:pic>
        <p:nvPicPr>
          <p:cNvPr id="4" name="Picture 3">
            <a:extLst>
              <a:ext uri="{FF2B5EF4-FFF2-40B4-BE49-F238E27FC236}">
                <a16:creationId xmlns:a16="http://schemas.microsoft.com/office/drawing/2014/main" id="{6099F644-B74E-7B0C-74D0-670096A601C0}"/>
              </a:ext>
            </a:extLst>
          </p:cNvPr>
          <p:cNvPicPr>
            <a:picLocks noChangeAspect="1"/>
          </p:cNvPicPr>
          <p:nvPr/>
        </p:nvPicPr>
        <p:blipFill>
          <a:blip r:embed="rId2"/>
          <a:stretch>
            <a:fillRect/>
          </a:stretch>
        </p:blipFill>
        <p:spPr>
          <a:xfrm>
            <a:off x="4257362" y="1386039"/>
            <a:ext cx="4664622" cy="4664622"/>
          </a:xfrm>
          <a:prstGeom prst="rect">
            <a:avLst/>
          </a:prstGeom>
        </p:spPr>
      </p:pic>
    </p:spTree>
    <p:extLst>
      <p:ext uri="{BB962C8B-B14F-4D97-AF65-F5344CB8AC3E}">
        <p14:creationId xmlns:p14="http://schemas.microsoft.com/office/powerpoint/2010/main" val="3798723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EE277-7209-CA77-8AD2-B532351AC472}"/>
              </a:ext>
            </a:extLst>
          </p:cNvPr>
          <p:cNvSpPr>
            <a:spLocks noGrp="1"/>
          </p:cNvSpPr>
          <p:nvPr>
            <p:ph type="title"/>
          </p:nvPr>
        </p:nvSpPr>
        <p:spPr/>
        <p:txBody>
          <a:bodyPr/>
          <a:lstStyle/>
          <a:p>
            <a:r>
              <a:rPr lang="en-IN" dirty="0"/>
              <a:t>Identifiers</a:t>
            </a:r>
            <a:endParaRPr lang="en-GH" dirty="0"/>
          </a:p>
        </p:txBody>
      </p:sp>
      <p:sp>
        <p:nvSpPr>
          <p:cNvPr id="3" name="Content Placeholder 2">
            <a:extLst>
              <a:ext uri="{FF2B5EF4-FFF2-40B4-BE49-F238E27FC236}">
                <a16:creationId xmlns:a16="http://schemas.microsoft.com/office/drawing/2014/main" id="{B3378586-68DB-4AF6-BB65-4284D38291DD}"/>
              </a:ext>
            </a:extLst>
          </p:cNvPr>
          <p:cNvSpPr>
            <a:spLocks noGrp="1"/>
          </p:cNvSpPr>
          <p:nvPr>
            <p:ph idx="1"/>
          </p:nvPr>
        </p:nvSpPr>
        <p:spPr>
          <a:xfrm>
            <a:off x="241101" y="1386039"/>
            <a:ext cx="4818580" cy="4943141"/>
          </a:xfrm>
        </p:spPr>
        <p:txBody>
          <a:bodyPr/>
          <a:lstStyle/>
          <a:p>
            <a:r>
              <a:rPr lang="en-US" dirty="0"/>
              <a:t>Names used to identify variables, functions, properties, or objects</a:t>
            </a:r>
          </a:p>
          <a:p>
            <a:r>
              <a:rPr lang="en-US" dirty="0"/>
              <a:t>General Rules</a:t>
            </a:r>
          </a:p>
          <a:p>
            <a:pPr marL="914400" lvl="1" indent="-457200">
              <a:buFont typeface="+mj-lt"/>
              <a:buAutoNum type="arabicPeriod"/>
            </a:pPr>
            <a:r>
              <a:rPr lang="en-US" dirty="0"/>
              <a:t>Identifiers can contain letters (both uppercase and lowercase), digits, underscores (_), and dollar signs ($)</a:t>
            </a:r>
          </a:p>
          <a:p>
            <a:pPr marL="914400" lvl="1" indent="-457200">
              <a:buFont typeface="+mj-lt"/>
              <a:buAutoNum type="arabicPeriod"/>
            </a:pPr>
            <a:r>
              <a:rPr lang="en-US" dirty="0"/>
              <a:t>Identifiers cannot begin with a digit (0–9), but they can start with letters, underscores, or dollar signs.</a:t>
            </a:r>
          </a:p>
          <a:p>
            <a:pPr marL="914400" lvl="1" indent="-457200">
              <a:buFont typeface="+mj-lt"/>
              <a:buAutoNum type="arabicPeriod"/>
            </a:pPr>
            <a:r>
              <a:rPr lang="en-US" dirty="0"/>
              <a:t>Identifiers are case-sensitive (e.g., </a:t>
            </a:r>
            <a:r>
              <a:rPr lang="en-US" dirty="0" err="1"/>
              <a:t>myVariable</a:t>
            </a:r>
            <a:r>
              <a:rPr lang="en-US" dirty="0"/>
              <a:t> and </a:t>
            </a:r>
            <a:r>
              <a:rPr lang="en-US" dirty="0" err="1"/>
              <a:t>myvariable</a:t>
            </a:r>
            <a:r>
              <a:rPr lang="en-US" dirty="0"/>
              <a:t> are different)  </a:t>
            </a:r>
          </a:p>
          <a:p>
            <a:pPr marL="914400" lvl="1" indent="-457200">
              <a:buFont typeface="+mj-lt"/>
              <a:buAutoNum type="arabicPeriod"/>
            </a:pPr>
            <a:r>
              <a:rPr lang="en-US" dirty="0"/>
              <a:t>Reserved keywords (like </a:t>
            </a:r>
            <a:r>
              <a:rPr lang="en-US" dirty="0">
                <a:solidFill>
                  <a:srgbClr val="FF0066"/>
                </a:solidFill>
              </a:rPr>
              <a:t>var</a:t>
            </a:r>
            <a:r>
              <a:rPr lang="en-US" dirty="0"/>
              <a:t>, </a:t>
            </a:r>
            <a:r>
              <a:rPr lang="en-US" dirty="0">
                <a:solidFill>
                  <a:srgbClr val="FF0066"/>
                </a:solidFill>
              </a:rPr>
              <a:t>let</a:t>
            </a:r>
            <a:r>
              <a:rPr lang="en-US" dirty="0"/>
              <a:t>, </a:t>
            </a:r>
            <a:r>
              <a:rPr lang="en-US" dirty="0">
                <a:solidFill>
                  <a:srgbClr val="FF0066"/>
                </a:solidFill>
              </a:rPr>
              <a:t>const</a:t>
            </a:r>
            <a:r>
              <a:rPr lang="en-US" dirty="0"/>
              <a:t>, </a:t>
            </a:r>
            <a:r>
              <a:rPr lang="en-US" dirty="0">
                <a:solidFill>
                  <a:srgbClr val="FF0066"/>
                </a:solidFill>
              </a:rPr>
              <a:t>function</a:t>
            </a:r>
            <a:r>
              <a:rPr lang="en-US" dirty="0"/>
              <a:t>, </a:t>
            </a:r>
            <a:r>
              <a:rPr lang="en-US" dirty="0">
                <a:solidFill>
                  <a:srgbClr val="FF0066"/>
                </a:solidFill>
              </a:rPr>
              <a:t>return</a:t>
            </a:r>
            <a:r>
              <a:rPr lang="en-US" dirty="0"/>
              <a:t>, etc.) cannot be used as identifiers.</a:t>
            </a:r>
            <a:endParaRPr lang="en-GH" dirty="0"/>
          </a:p>
        </p:txBody>
      </p:sp>
      <p:pic>
        <p:nvPicPr>
          <p:cNvPr id="5" name="Picture 4">
            <a:extLst>
              <a:ext uri="{FF2B5EF4-FFF2-40B4-BE49-F238E27FC236}">
                <a16:creationId xmlns:a16="http://schemas.microsoft.com/office/drawing/2014/main" id="{429C733E-1BF0-242C-5451-C2C5BCB96821}"/>
              </a:ext>
            </a:extLst>
          </p:cNvPr>
          <p:cNvPicPr>
            <a:picLocks noChangeAspect="1"/>
          </p:cNvPicPr>
          <p:nvPr/>
        </p:nvPicPr>
        <p:blipFill>
          <a:blip r:embed="rId2"/>
          <a:stretch>
            <a:fillRect/>
          </a:stretch>
        </p:blipFill>
        <p:spPr>
          <a:xfrm>
            <a:off x="6000915" y="1386039"/>
            <a:ext cx="2181529" cy="2486372"/>
          </a:xfrm>
          <a:prstGeom prst="rect">
            <a:avLst/>
          </a:prstGeom>
        </p:spPr>
      </p:pic>
      <p:pic>
        <p:nvPicPr>
          <p:cNvPr id="7" name="Picture 6">
            <a:extLst>
              <a:ext uri="{FF2B5EF4-FFF2-40B4-BE49-F238E27FC236}">
                <a16:creationId xmlns:a16="http://schemas.microsoft.com/office/drawing/2014/main" id="{0683984D-5390-1B65-BDF4-CCCE1F237EDE}"/>
              </a:ext>
            </a:extLst>
          </p:cNvPr>
          <p:cNvPicPr>
            <a:picLocks noChangeAspect="1"/>
          </p:cNvPicPr>
          <p:nvPr/>
        </p:nvPicPr>
        <p:blipFill>
          <a:blip r:embed="rId3"/>
          <a:stretch>
            <a:fillRect/>
          </a:stretch>
        </p:blipFill>
        <p:spPr>
          <a:xfrm>
            <a:off x="5625842" y="4673504"/>
            <a:ext cx="3277057" cy="1371791"/>
          </a:xfrm>
          <a:prstGeom prst="rect">
            <a:avLst/>
          </a:prstGeom>
        </p:spPr>
      </p:pic>
      <p:sp>
        <p:nvSpPr>
          <p:cNvPr id="8" name="TextBox 7">
            <a:extLst>
              <a:ext uri="{FF2B5EF4-FFF2-40B4-BE49-F238E27FC236}">
                <a16:creationId xmlns:a16="http://schemas.microsoft.com/office/drawing/2014/main" id="{CA3EA9CE-D7AD-FAE8-B68B-0C2658D0D643}"/>
              </a:ext>
            </a:extLst>
          </p:cNvPr>
          <p:cNvSpPr txBox="1"/>
          <p:nvPr/>
        </p:nvSpPr>
        <p:spPr>
          <a:xfrm>
            <a:off x="6075680" y="985520"/>
            <a:ext cx="1666240" cy="369332"/>
          </a:xfrm>
          <a:prstGeom prst="rect">
            <a:avLst/>
          </a:prstGeom>
          <a:noFill/>
        </p:spPr>
        <p:txBody>
          <a:bodyPr wrap="square" rtlCol="0">
            <a:spAutoFit/>
          </a:bodyPr>
          <a:lstStyle/>
          <a:p>
            <a:r>
              <a:rPr lang="en-IN" b="1" dirty="0">
                <a:solidFill>
                  <a:srgbClr val="009242"/>
                </a:solidFill>
              </a:rPr>
              <a:t>Valid examples</a:t>
            </a:r>
            <a:endParaRPr lang="en-GH" b="1" dirty="0">
              <a:solidFill>
                <a:srgbClr val="009242"/>
              </a:solidFill>
            </a:endParaRPr>
          </a:p>
        </p:txBody>
      </p:sp>
      <p:sp>
        <p:nvSpPr>
          <p:cNvPr id="9" name="TextBox 8">
            <a:extLst>
              <a:ext uri="{FF2B5EF4-FFF2-40B4-BE49-F238E27FC236}">
                <a16:creationId xmlns:a16="http://schemas.microsoft.com/office/drawing/2014/main" id="{0C5CC384-2D0F-9B91-7FCB-3220AE04B668}"/>
              </a:ext>
            </a:extLst>
          </p:cNvPr>
          <p:cNvSpPr txBox="1"/>
          <p:nvPr/>
        </p:nvSpPr>
        <p:spPr>
          <a:xfrm>
            <a:off x="6065520" y="4304172"/>
            <a:ext cx="2001520" cy="369332"/>
          </a:xfrm>
          <a:prstGeom prst="rect">
            <a:avLst/>
          </a:prstGeom>
          <a:noFill/>
        </p:spPr>
        <p:txBody>
          <a:bodyPr wrap="square" rtlCol="0">
            <a:spAutoFit/>
          </a:bodyPr>
          <a:lstStyle/>
          <a:p>
            <a:r>
              <a:rPr lang="en-IN" b="1" dirty="0">
                <a:solidFill>
                  <a:srgbClr val="FF0000"/>
                </a:solidFill>
              </a:rPr>
              <a:t>Invalid examples</a:t>
            </a:r>
            <a:endParaRPr lang="en-GH" b="1" dirty="0">
              <a:solidFill>
                <a:srgbClr val="FF0000"/>
              </a:solidFill>
            </a:endParaRPr>
          </a:p>
        </p:txBody>
      </p:sp>
    </p:spTree>
    <p:extLst>
      <p:ext uri="{BB962C8B-B14F-4D97-AF65-F5344CB8AC3E}">
        <p14:creationId xmlns:p14="http://schemas.microsoft.com/office/powerpoint/2010/main" val="2065905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D8CB-E729-4314-1B74-CB21F95225FC}"/>
              </a:ext>
            </a:extLst>
          </p:cNvPr>
          <p:cNvSpPr>
            <a:spLocks noGrp="1"/>
          </p:cNvSpPr>
          <p:nvPr>
            <p:ph type="title"/>
          </p:nvPr>
        </p:nvSpPr>
        <p:spPr/>
        <p:txBody>
          <a:bodyPr/>
          <a:lstStyle/>
          <a:p>
            <a:r>
              <a:rPr lang="en-IN" dirty="0"/>
              <a:t>Operators</a:t>
            </a:r>
            <a:endParaRPr lang="en-GH" dirty="0"/>
          </a:p>
        </p:txBody>
      </p:sp>
      <p:sp>
        <p:nvSpPr>
          <p:cNvPr id="3" name="Content Placeholder 2">
            <a:extLst>
              <a:ext uri="{FF2B5EF4-FFF2-40B4-BE49-F238E27FC236}">
                <a16:creationId xmlns:a16="http://schemas.microsoft.com/office/drawing/2014/main" id="{A57D4A52-7323-B5E6-CF3E-B83E821204D8}"/>
              </a:ext>
            </a:extLst>
          </p:cNvPr>
          <p:cNvSpPr>
            <a:spLocks noGrp="1"/>
          </p:cNvSpPr>
          <p:nvPr>
            <p:ph idx="1"/>
          </p:nvPr>
        </p:nvSpPr>
        <p:spPr/>
        <p:txBody>
          <a:bodyPr/>
          <a:lstStyle/>
          <a:p>
            <a:r>
              <a:rPr lang="en-US" b="1" dirty="0">
                <a:solidFill>
                  <a:srgbClr val="0070C0"/>
                </a:solidFill>
              </a:rPr>
              <a:t>Types of JavaScript operators</a:t>
            </a:r>
            <a:r>
              <a:rPr lang="en-US" dirty="0"/>
              <a:t>:</a:t>
            </a:r>
          </a:p>
          <a:p>
            <a:pPr marL="457200" indent="-457200">
              <a:buFont typeface="+mj-lt"/>
              <a:buAutoNum type="arabicParenR"/>
            </a:pPr>
            <a:endParaRPr lang="en-US" dirty="0"/>
          </a:p>
          <a:p>
            <a:pPr marL="457200" indent="-457200">
              <a:buFont typeface="+mj-lt"/>
              <a:buAutoNum type="arabicParenR"/>
            </a:pPr>
            <a:r>
              <a:rPr lang="en-US" dirty="0"/>
              <a:t>Arithmetic Operators</a:t>
            </a:r>
          </a:p>
          <a:p>
            <a:pPr marL="457200" indent="-457200">
              <a:buFont typeface="+mj-lt"/>
              <a:buAutoNum type="arabicParenR"/>
            </a:pPr>
            <a:r>
              <a:rPr lang="en-US" dirty="0"/>
              <a:t>Assignment Operators</a:t>
            </a:r>
          </a:p>
          <a:p>
            <a:pPr marL="457200" indent="-457200">
              <a:buFont typeface="+mj-lt"/>
              <a:buAutoNum type="arabicParenR"/>
            </a:pPr>
            <a:r>
              <a:rPr lang="en-US" dirty="0"/>
              <a:t>Comparison Operators (Relational)</a:t>
            </a:r>
          </a:p>
          <a:p>
            <a:pPr marL="457200" indent="-457200">
              <a:buFont typeface="+mj-lt"/>
              <a:buAutoNum type="arabicParenR"/>
            </a:pPr>
            <a:r>
              <a:rPr lang="en-US" dirty="0"/>
              <a:t>String Operators</a:t>
            </a:r>
          </a:p>
          <a:p>
            <a:pPr marL="457200" indent="-457200">
              <a:buFont typeface="+mj-lt"/>
              <a:buAutoNum type="arabicParenR"/>
            </a:pPr>
            <a:r>
              <a:rPr lang="en-US" dirty="0"/>
              <a:t>Logical Operators</a:t>
            </a:r>
          </a:p>
          <a:p>
            <a:pPr marL="457200" indent="-457200">
              <a:buFont typeface="+mj-lt"/>
              <a:buAutoNum type="arabicParenR"/>
            </a:pPr>
            <a:r>
              <a:rPr lang="en-US" dirty="0"/>
              <a:t>Bitwise Operators</a:t>
            </a:r>
          </a:p>
          <a:p>
            <a:pPr marL="457200" indent="-457200">
              <a:buFont typeface="+mj-lt"/>
              <a:buAutoNum type="arabicParenR"/>
            </a:pPr>
            <a:r>
              <a:rPr lang="en-US" dirty="0"/>
              <a:t>Ternary Operator</a:t>
            </a:r>
          </a:p>
          <a:p>
            <a:pPr marL="457200" indent="-457200">
              <a:buFont typeface="+mj-lt"/>
              <a:buAutoNum type="arabicParenR"/>
            </a:pPr>
            <a:r>
              <a:rPr lang="en-US" dirty="0"/>
              <a:t>Type Operators</a:t>
            </a:r>
            <a:endParaRPr lang="en-GH" dirty="0"/>
          </a:p>
        </p:txBody>
      </p:sp>
    </p:spTree>
    <p:extLst>
      <p:ext uri="{BB962C8B-B14F-4D97-AF65-F5344CB8AC3E}">
        <p14:creationId xmlns:p14="http://schemas.microsoft.com/office/powerpoint/2010/main" val="2462553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D8CB-E729-4314-1B74-CB21F95225FC}"/>
              </a:ext>
            </a:extLst>
          </p:cNvPr>
          <p:cNvSpPr>
            <a:spLocks noGrp="1"/>
          </p:cNvSpPr>
          <p:nvPr>
            <p:ph type="title"/>
          </p:nvPr>
        </p:nvSpPr>
        <p:spPr/>
        <p:txBody>
          <a:bodyPr/>
          <a:lstStyle/>
          <a:p>
            <a:r>
              <a:rPr lang="en-IN" dirty="0"/>
              <a:t>Operators</a:t>
            </a:r>
            <a:endParaRPr lang="en-GH" dirty="0"/>
          </a:p>
        </p:txBody>
      </p:sp>
      <p:sp>
        <p:nvSpPr>
          <p:cNvPr id="3" name="Content Placeholder 2">
            <a:extLst>
              <a:ext uri="{FF2B5EF4-FFF2-40B4-BE49-F238E27FC236}">
                <a16:creationId xmlns:a16="http://schemas.microsoft.com/office/drawing/2014/main" id="{A57D4A52-7323-B5E6-CF3E-B83E821204D8}"/>
              </a:ext>
            </a:extLst>
          </p:cNvPr>
          <p:cNvSpPr>
            <a:spLocks noGrp="1"/>
          </p:cNvSpPr>
          <p:nvPr>
            <p:ph idx="1"/>
          </p:nvPr>
        </p:nvSpPr>
        <p:spPr/>
        <p:txBody>
          <a:bodyPr/>
          <a:lstStyle/>
          <a:p>
            <a:pPr marL="0" indent="0">
              <a:buNone/>
            </a:pPr>
            <a:r>
              <a:rPr lang="en-US" b="1" dirty="0">
                <a:solidFill>
                  <a:srgbClr val="0070C0"/>
                </a:solidFill>
              </a:rPr>
              <a:t>Arithmetic Operators</a:t>
            </a:r>
            <a:r>
              <a:rPr lang="en-US" dirty="0"/>
              <a:t>:</a:t>
            </a:r>
          </a:p>
        </p:txBody>
      </p:sp>
      <p:graphicFrame>
        <p:nvGraphicFramePr>
          <p:cNvPr id="12" name="Table 11">
            <a:extLst>
              <a:ext uri="{FF2B5EF4-FFF2-40B4-BE49-F238E27FC236}">
                <a16:creationId xmlns:a16="http://schemas.microsoft.com/office/drawing/2014/main" id="{A18ACC89-B000-B58F-5AB0-3B994C127A48}"/>
              </a:ext>
            </a:extLst>
          </p:cNvPr>
          <p:cNvGraphicFramePr>
            <a:graphicFrameLocks noGrp="1"/>
          </p:cNvGraphicFramePr>
          <p:nvPr>
            <p:extLst>
              <p:ext uri="{D42A27DB-BD31-4B8C-83A1-F6EECF244321}">
                <p14:modId xmlns:p14="http://schemas.microsoft.com/office/powerpoint/2010/main" val="3960346353"/>
              </p:ext>
            </p:extLst>
          </p:nvPr>
        </p:nvGraphicFramePr>
        <p:xfrm>
          <a:off x="1159637" y="1972945"/>
          <a:ext cx="5586603" cy="4206240"/>
        </p:xfrm>
        <a:graphic>
          <a:graphicData uri="http://schemas.openxmlformats.org/drawingml/2006/table">
            <a:tbl>
              <a:tblPr/>
              <a:tblGrid>
                <a:gridCol w="1349883">
                  <a:extLst>
                    <a:ext uri="{9D8B030D-6E8A-4147-A177-3AD203B41FA5}">
                      <a16:colId xmlns:a16="http://schemas.microsoft.com/office/drawing/2014/main" val="527362274"/>
                    </a:ext>
                  </a:extLst>
                </a:gridCol>
                <a:gridCol w="4236720">
                  <a:extLst>
                    <a:ext uri="{9D8B030D-6E8A-4147-A177-3AD203B41FA5}">
                      <a16:colId xmlns:a16="http://schemas.microsoft.com/office/drawing/2014/main" val="1548866973"/>
                    </a:ext>
                  </a:extLst>
                </a:gridCol>
              </a:tblGrid>
              <a:tr h="0">
                <a:tc>
                  <a:txBody>
                    <a:bodyPr/>
                    <a:lstStyle/>
                    <a:p>
                      <a:pPr algn="l" fontAlgn="t"/>
                      <a:r>
                        <a:rPr lang="en-IN" sz="2400">
                          <a:effectLst/>
                        </a:rPr>
                        <a:t>Operator</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Description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14207037"/>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Addition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941792191"/>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Subtraction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628530415"/>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Multiplication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976771238"/>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dirty="0">
                          <a:effectLst/>
                        </a:rPr>
                        <a:t>Exponentiation (</a:t>
                      </a:r>
                      <a:r>
                        <a:rPr lang="en-IN" sz="2400" dirty="0">
                          <a:effectLst/>
                          <a:hlinkClick r:id="rId2"/>
                        </a:rPr>
                        <a:t>ES2016</a:t>
                      </a:r>
                      <a:r>
                        <a:rPr lang="en-IN" sz="2400" dirty="0">
                          <a:effectLst/>
                        </a:rPr>
                        <a:t>)</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700189598"/>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Division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170847825"/>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Modulus (Division Remainder)</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716253827"/>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Increment</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977009110"/>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2400" dirty="0">
                          <a:effectLst/>
                        </a:rPr>
                        <a:t>Decrement</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032426124"/>
                  </a:ext>
                </a:extLst>
              </a:tr>
            </a:tbl>
          </a:graphicData>
        </a:graphic>
      </p:graphicFrame>
    </p:spTree>
    <p:extLst>
      <p:ext uri="{BB962C8B-B14F-4D97-AF65-F5344CB8AC3E}">
        <p14:creationId xmlns:p14="http://schemas.microsoft.com/office/powerpoint/2010/main" val="105143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D8CB-E729-4314-1B74-CB21F95225FC}"/>
              </a:ext>
            </a:extLst>
          </p:cNvPr>
          <p:cNvSpPr>
            <a:spLocks noGrp="1"/>
          </p:cNvSpPr>
          <p:nvPr>
            <p:ph type="title"/>
          </p:nvPr>
        </p:nvSpPr>
        <p:spPr/>
        <p:txBody>
          <a:bodyPr/>
          <a:lstStyle/>
          <a:p>
            <a:r>
              <a:rPr lang="en-IN" dirty="0"/>
              <a:t>Operators</a:t>
            </a:r>
            <a:endParaRPr lang="en-GH" dirty="0"/>
          </a:p>
        </p:txBody>
      </p:sp>
      <p:sp>
        <p:nvSpPr>
          <p:cNvPr id="3" name="Content Placeholder 2">
            <a:extLst>
              <a:ext uri="{FF2B5EF4-FFF2-40B4-BE49-F238E27FC236}">
                <a16:creationId xmlns:a16="http://schemas.microsoft.com/office/drawing/2014/main" id="{A57D4A52-7323-B5E6-CF3E-B83E821204D8}"/>
              </a:ext>
            </a:extLst>
          </p:cNvPr>
          <p:cNvSpPr>
            <a:spLocks noGrp="1"/>
          </p:cNvSpPr>
          <p:nvPr>
            <p:ph idx="1"/>
          </p:nvPr>
        </p:nvSpPr>
        <p:spPr/>
        <p:txBody>
          <a:bodyPr/>
          <a:lstStyle/>
          <a:p>
            <a:pPr marL="0" indent="0">
              <a:buNone/>
            </a:pPr>
            <a:r>
              <a:rPr lang="en-US" b="1" dirty="0">
                <a:solidFill>
                  <a:srgbClr val="0070C0"/>
                </a:solidFill>
              </a:rPr>
              <a:t>Assignment Operators</a:t>
            </a:r>
            <a:r>
              <a:rPr lang="en-US" dirty="0"/>
              <a:t>:</a:t>
            </a:r>
          </a:p>
        </p:txBody>
      </p:sp>
      <p:graphicFrame>
        <p:nvGraphicFramePr>
          <p:cNvPr id="12" name="Table 11">
            <a:extLst>
              <a:ext uri="{FF2B5EF4-FFF2-40B4-BE49-F238E27FC236}">
                <a16:creationId xmlns:a16="http://schemas.microsoft.com/office/drawing/2014/main" id="{5ED2300F-D728-C7D2-469F-A06A3BE31A27}"/>
              </a:ext>
            </a:extLst>
          </p:cNvPr>
          <p:cNvGraphicFramePr>
            <a:graphicFrameLocks noGrp="1"/>
          </p:cNvGraphicFramePr>
          <p:nvPr>
            <p:extLst>
              <p:ext uri="{D42A27DB-BD31-4B8C-83A1-F6EECF244321}">
                <p14:modId xmlns:p14="http://schemas.microsoft.com/office/powerpoint/2010/main" val="2017052164"/>
              </p:ext>
            </p:extLst>
          </p:nvPr>
        </p:nvGraphicFramePr>
        <p:xfrm>
          <a:off x="1698117" y="1947045"/>
          <a:ext cx="4905883" cy="4382135"/>
        </p:xfrm>
        <a:graphic>
          <a:graphicData uri="http://schemas.openxmlformats.org/drawingml/2006/table">
            <a:tbl>
              <a:tblPr/>
              <a:tblGrid>
                <a:gridCol w="1643820">
                  <a:extLst>
                    <a:ext uri="{9D8B030D-6E8A-4147-A177-3AD203B41FA5}">
                      <a16:colId xmlns:a16="http://schemas.microsoft.com/office/drawing/2014/main" val="3252408896"/>
                    </a:ext>
                  </a:extLst>
                </a:gridCol>
                <a:gridCol w="1453101">
                  <a:extLst>
                    <a:ext uri="{9D8B030D-6E8A-4147-A177-3AD203B41FA5}">
                      <a16:colId xmlns:a16="http://schemas.microsoft.com/office/drawing/2014/main" val="2140098673"/>
                    </a:ext>
                  </a:extLst>
                </a:gridCol>
                <a:gridCol w="1808962">
                  <a:extLst>
                    <a:ext uri="{9D8B030D-6E8A-4147-A177-3AD203B41FA5}">
                      <a16:colId xmlns:a16="http://schemas.microsoft.com/office/drawing/2014/main" val="764326559"/>
                    </a:ext>
                  </a:extLst>
                </a:gridCol>
              </a:tblGrid>
              <a:tr h="889443">
                <a:tc>
                  <a:txBody>
                    <a:bodyPr/>
                    <a:lstStyle/>
                    <a:p>
                      <a:pPr algn="l" fontAlgn="t"/>
                      <a:r>
                        <a:rPr lang="en-IN" sz="2400">
                          <a:effectLst/>
                        </a:rPr>
                        <a:t>Operator</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Example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Same As</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86425265"/>
                  </a:ext>
                </a:extLst>
              </a:tr>
              <a:tr h="498956">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880732890"/>
                  </a:ext>
                </a:extLst>
              </a:tr>
              <a:tr h="498956">
                <a:tc>
                  <a:txBody>
                    <a:bodyPr/>
                    <a:lstStyle/>
                    <a:p>
                      <a:pPr algn="l" fontAlgn="t"/>
                      <a:r>
                        <a:rPr lang="en-GH" sz="2400" dirty="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x = 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16609146"/>
                  </a:ext>
                </a:extLst>
              </a:tr>
              <a:tr h="498956">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x = 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723142738"/>
                  </a:ext>
                </a:extLst>
              </a:tr>
              <a:tr h="498956">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x = 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228914825"/>
                  </a:ext>
                </a:extLst>
              </a:tr>
              <a:tr h="498956">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dirty="0">
                          <a:effectLst/>
                        </a:rPr>
                        <a:t>x = 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85542250"/>
                  </a:ext>
                </a:extLst>
              </a:tr>
              <a:tr h="498956">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x = 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025844070"/>
                  </a:ext>
                </a:extLst>
              </a:tr>
              <a:tr h="498956">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tc>
                  <a:txBody>
                    <a:bodyPr/>
                    <a:lstStyle/>
                    <a:p>
                      <a:pPr algn="l" fontAlgn="t"/>
                      <a:r>
                        <a:rPr lang="en-IN" sz="2400">
                          <a:effectLst/>
                        </a:rPr>
                        <a:t>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tc>
                  <a:txBody>
                    <a:bodyPr/>
                    <a:lstStyle/>
                    <a:p>
                      <a:pPr algn="l" fontAlgn="t"/>
                      <a:r>
                        <a:rPr lang="en-IN" sz="2400" dirty="0">
                          <a:effectLst/>
                        </a:rPr>
                        <a:t>x = x ** y</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4048480071"/>
                  </a:ext>
                </a:extLst>
              </a:tr>
            </a:tbl>
          </a:graphicData>
        </a:graphic>
      </p:graphicFrame>
    </p:spTree>
    <p:extLst>
      <p:ext uri="{BB962C8B-B14F-4D97-AF65-F5344CB8AC3E}">
        <p14:creationId xmlns:p14="http://schemas.microsoft.com/office/powerpoint/2010/main" val="1532762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D8CB-E729-4314-1B74-CB21F95225FC}"/>
              </a:ext>
            </a:extLst>
          </p:cNvPr>
          <p:cNvSpPr>
            <a:spLocks noGrp="1"/>
          </p:cNvSpPr>
          <p:nvPr>
            <p:ph type="title"/>
          </p:nvPr>
        </p:nvSpPr>
        <p:spPr/>
        <p:txBody>
          <a:bodyPr/>
          <a:lstStyle/>
          <a:p>
            <a:r>
              <a:rPr lang="en-IN" dirty="0"/>
              <a:t>Operators</a:t>
            </a:r>
            <a:endParaRPr lang="en-GH" dirty="0"/>
          </a:p>
        </p:txBody>
      </p:sp>
      <p:sp>
        <p:nvSpPr>
          <p:cNvPr id="3" name="Content Placeholder 2">
            <a:extLst>
              <a:ext uri="{FF2B5EF4-FFF2-40B4-BE49-F238E27FC236}">
                <a16:creationId xmlns:a16="http://schemas.microsoft.com/office/drawing/2014/main" id="{A57D4A52-7323-B5E6-CF3E-B83E821204D8}"/>
              </a:ext>
            </a:extLst>
          </p:cNvPr>
          <p:cNvSpPr>
            <a:spLocks noGrp="1"/>
          </p:cNvSpPr>
          <p:nvPr>
            <p:ph idx="1"/>
          </p:nvPr>
        </p:nvSpPr>
        <p:spPr/>
        <p:txBody>
          <a:bodyPr/>
          <a:lstStyle/>
          <a:p>
            <a:pPr marL="0" indent="0">
              <a:buNone/>
            </a:pPr>
            <a:r>
              <a:rPr lang="en-US" b="1" dirty="0">
                <a:solidFill>
                  <a:srgbClr val="0070C0"/>
                </a:solidFill>
              </a:rPr>
              <a:t>Comparison/Relational Operators</a:t>
            </a:r>
            <a:r>
              <a:rPr lang="en-US" dirty="0"/>
              <a:t>:</a:t>
            </a:r>
          </a:p>
        </p:txBody>
      </p:sp>
      <p:graphicFrame>
        <p:nvGraphicFramePr>
          <p:cNvPr id="5" name="Table 4">
            <a:extLst>
              <a:ext uri="{FF2B5EF4-FFF2-40B4-BE49-F238E27FC236}">
                <a16:creationId xmlns:a16="http://schemas.microsoft.com/office/drawing/2014/main" id="{D18BDF2F-B0E1-8D7A-6929-2C1D41C2558A}"/>
              </a:ext>
            </a:extLst>
          </p:cNvPr>
          <p:cNvGraphicFramePr>
            <a:graphicFrameLocks noGrp="1"/>
          </p:cNvGraphicFramePr>
          <p:nvPr>
            <p:extLst>
              <p:ext uri="{D42A27DB-BD31-4B8C-83A1-F6EECF244321}">
                <p14:modId xmlns:p14="http://schemas.microsoft.com/office/powerpoint/2010/main" val="2664327255"/>
              </p:ext>
            </p:extLst>
          </p:nvPr>
        </p:nvGraphicFramePr>
        <p:xfrm>
          <a:off x="600837" y="1840865"/>
          <a:ext cx="5698363" cy="4673600"/>
        </p:xfrm>
        <a:graphic>
          <a:graphicData uri="http://schemas.openxmlformats.org/drawingml/2006/table">
            <a:tbl>
              <a:tblPr/>
              <a:tblGrid>
                <a:gridCol w="1343660">
                  <a:extLst>
                    <a:ext uri="{9D8B030D-6E8A-4147-A177-3AD203B41FA5}">
                      <a16:colId xmlns:a16="http://schemas.microsoft.com/office/drawing/2014/main" val="2478991734"/>
                    </a:ext>
                  </a:extLst>
                </a:gridCol>
                <a:gridCol w="4354703">
                  <a:extLst>
                    <a:ext uri="{9D8B030D-6E8A-4147-A177-3AD203B41FA5}">
                      <a16:colId xmlns:a16="http://schemas.microsoft.com/office/drawing/2014/main" val="3147914322"/>
                    </a:ext>
                  </a:extLst>
                </a:gridCol>
              </a:tblGrid>
              <a:tr h="0">
                <a:tc>
                  <a:txBody>
                    <a:bodyPr/>
                    <a:lstStyle/>
                    <a:p>
                      <a:pPr algn="l" fontAlgn="t"/>
                      <a:r>
                        <a:rPr lang="en-IN" sz="2400">
                          <a:effectLst/>
                        </a:rPr>
                        <a:t>Operator</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dirty="0">
                          <a:effectLst/>
                        </a:rPr>
                        <a:t>Description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132409780"/>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equal to</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403482121"/>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400">
                          <a:effectLst/>
                        </a:rPr>
                        <a:t>equal value and equal type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855101302"/>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not equal</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453338523"/>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400">
                          <a:effectLst/>
                        </a:rPr>
                        <a:t>not equal value or not equal type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942391113"/>
                  </a:ext>
                </a:extLst>
              </a:tr>
              <a:tr h="0">
                <a:tc>
                  <a:txBody>
                    <a:bodyPr/>
                    <a:lstStyle/>
                    <a:p>
                      <a:pPr algn="l" fontAlgn="t"/>
                      <a:r>
                        <a:rPr lang="en-GH" sz="2400">
                          <a:effectLst/>
                        </a:rPr>
                        <a:t>&gt;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a:effectLst/>
                        </a:rPr>
                        <a:t>greater than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904267108"/>
                  </a:ext>
                </a:extLst>
              </a:tr>
              <a:tr h="0">
                <a:tc>
                  <a:txBody>
                    <a:bodyPr/>
                    <a:lstStyle/>
                    <a:p>
                      <a:pPr algn="l" fontAlgn="t"/>
                      <a:r>
                        <a:rPr lang="en-GH" sz="2400">
                          <a:effectLst/>
                        </a:rPr>
                        <a:t>&lt;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less than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50293615"/>
                  </a:ext>
                </a:extLst>
              </a:tr>
              <a:tr h="0">
                <a:tc>
                  <a:txBody>
                    <a:bodyPr/>
                    <a:lstStyle/>
                    <a:p>
                      <a:pPr algn="l" fontAlgn="t"/>
                      <a:r>
                        <a:rPr lang="en-GH" sz="2400">
                          <a:effectLst/>
                        </a:rPr>
                        <a:t>&gt;=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400">
                          <a:effectLst/>
                        </a:rPr>
                        <a:t>greater than or equal to</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67226003"/>
                  </a:ext>
                </a:extLst>
              </a:tr>
              <a:tr h="0">
                <a:tc>
                  <a:txBody>
                    <a:bodyPr/>
                    <a:lstStyle/>
                    <a:p>
                      <a:pPr algn="l" fontAlgn="t"/>
                      <a:r>
                        <a:rPr lang="en-GH" sz="2400">
                          <a:effectLst/>
                        </a:rPr>
                        <a:t>&lt;=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400">
                          <a:effectLst/>
                        </a:rPr>
                        <a:t>less than or equal to</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740788478"/>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tc>
                  <a:txBody>
                    <a:bodyPr/>
                    <a:lstStyle/>
                    <a:p>
                      <a:pPr algn="l" fontAlgn="t"/>
                      <a:r>
                        <a:rPr lang="en-IN" sz="2400" dirty="0">
                          <a:effectLst/>
                        </a:rPr>
                        <a:t>ternary operator</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1063885930"/>
                  </a:ext>
                </a:extLst>
              </a:tr>
            </a:tbl>
          </a:graphicData>
        </a:graphic>
      </p:graphicFrame>
      <p:pic>
        <p:nvPicPr>
          <p:cNvPr id="9" name="Picture 8">
            <a:extLst>
              <a:ext uri="{FF2B5EF4-FFF2-40B4-BE49-F238E27FC236}">
                <a16:creationId xmlns:a16="http://schemas.microsoft.com/office/drawing/2014/main" id="{45719717-64FA-99BC-29B8-0898DA859B25}"/>
              </a:ext>
            </a:extLst>
          </p:cNvPr>
          <p:cNvPicPr>
            <a:picLocks noChangeAspect="1"/>
          </p:cNvPicPr>
          <p:nvPr/>
        </p:nvPicPr>
        <p:blipFill>
          <a:blip r:embed="rId2"/>
          <a:stretch>
            <a:fillRect/>
          </a:stretch>
        </p:blipFill>
        <p:spPr>
          <a:xfrm>
            <a:off x="5569083" y="2783174"/>
            <a:ext cx="3124236" cy="518826"/>
          </a:xfrm>
          <a:prstGeom prst="rect">
            <a:avLst/>
          </a:prstGeom>
        </p:spPr>
      </p:pic>
      <p:sp>
        <p:nvSpPr>
          <p:cNvPr id="10" name="TextBox 9">
            <a:extLst>
              <a:ext uri="{FF2B5EF4-FFF2-40B4-BE49-F238E27FC236}">
                <a16:creationId xmlns:a16="http://schemas.microsoft.com/office/drawing/2014/main" id="{32EA2072-3FB1-60F0-4301-307BAB71B77D}"/>
              </a:ext>
            </a:extLst>
          </p:cNvPr>
          <p:cNvSpPr txBox="1"/>
          <p:nvPr/>
        </p:nvSpPr>
        <p:spPr>
          <a:xfrm>
            <a:off x="7074100" y="2413842"/>
            <a:ext cx="1828800" cy="369332"/>
          </a:xfrm>
          <a:prstGeom prst="rect">
            <a:avLst/>
          </a:prstGeom>
          <a:noFill/>
        </p:spPr>
        <p:txBody>
          <a:bodyPr wrap="square" rtlCol="0">
            <a:spAutoFit/>
          </a:bodyPr>
          <a:lstStyle/>
          <a:p>
            <a:r>
              <a:rPr lang="en-IN" dirty="0"/>
              <a:t>Outputs </a:t>
            </a:r>
            <a:r>
              <a:rPr lang="en-IN" b="1" dirty="0"/>
              <a:t>false</a:t>
            </a:r>
            <a:endParaRPr lang="en-GH" dirty="0"/>
          </a:p>
        </p:txBody>
      </p:sp>
      <p:pic>
        <p:nvPicPr>
          <p:cNvPr id="13" name="Picture 12">
            <a:extLst>
              <a:ext uri="{FF2B5EF4-FFF2-40B4-BE49-F238E27FC236}">
                <a16:creationId xmlns:a16="http://schemas.microsoft.com/office/drawing/2014/main" id="{C3C8ADF7-4EAC-1C30-A17B-739AA0051BF0}"/>
              </a:ext>
            </a:extLst>
          </p:cNvPr>
          <p:cNvPicPr>
            <a:picLocks noChangeAspect="1"/>
          </p:cNvPicPr>
          <p:nvPr/>
        </p:nvPicPr>
        <p:blipFill>
          <a:blip r:embed="rId3"/>
          <a:srcRect t="-1" r="27560" b="5441"/>
          <a:stretch/>
        </p:blipFill>
        <p:spPr>
          <a:xfrm>
            <a:off x="6147855" y="3755964"/>
            <a:ext cx="2774129" cy="369332"/>
          </a:xfrm>
          <a:prstGeom prst="rect">
            <a:avLst/>
          </a:prstGeom>
        </p:spPr>
      </p:pic>
      <p:sp>
        <p:nvSpPr>
          <p:cNvPr id="14" name="TextBox 13">
            <a:extLst>
              <a:ext uri="{FF2B5EF4-FFF2-40B4-BE49-F238E27FC236}">
                <a16:creationId xmlns:a16="http://schemas.microsoft.com/office/drawing/2014/main" id="{B88FED78-2A31-8A00-3728-08EE3F1BC0A3}"/>
              </a:ext>
            </a:extLst>
          </p:cNvPr>
          <p:cNvSpPr txBox="1"/>
          <p:nvPr/>
        </p:nvSpPr>
        <p:spPr>
          <a:xfrm>
            <a:off x="7517256" y="3429000"/>
            <a:ext cx="1404728" cy="369332"/>
          </a:xfrm>
          <a:prstGeom prst="rect">
            <a:avLst/>
          </a:prstGeom>
          <a:noFill/>
        </p:spPr>
        <p:txBody>
          <a:bodyPr wrap="square" rtlCol="0">
            <a:spAutoFit/>
          </a:bodyPr>
          <a:lstStyle/>
          <a:p>
            <a:r>
              <a:rPr lang="en-IN" dirty="0"/>
              <a:t>Outputs </a:t>
            </a:r>
            <a:r>
              <a:rPr lang="en-IN" b="1" dirty="0"/>
              <a:t>true</a:t>
            </a:r>
            <a:endParaRPr lang="en-GH" dirty="0"/>
          </a:p>
        </p:txBody>
      </p:sp>
    </p:spTree>
    <p:extLst>
      <p:ext uri="{BB962C8B-B14F-4D97-AF65-F5344CB8AC3E}">
        <p14:creationId xmlns:p14="http://schemas.microsoft.com/office/powerpoint/2010/main" val="534203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D8CB-E729-4314-1B74-CB21F95225FC}"/>
              </a:ext>
            </a:extLst>
          </p:cNvPr>
          <p:cNvSpPr>
            <a:spLocks noGrp="1"/>
          </p:cNvSpPr>
          <p:nvPr>
            <p:ph type="title"/>
          </p:nvPr>
        </p:nvSpPr>
        <p:spPr/>
        <p:txBody>
          <a:bodyPr/>
          <a:lstStyle/>
          <a:p>
            <a:r>
              <a:rPr lang="en-IN" dirty="0"/>
              <a:t>Operators</a:t>
            </a:r>
            <a:endParaRPr lang="en-GH" dirty="0"/>
          </a:p>
        </p:txBody>
      </p:sp>
      <p:sp>
        <p:nvSpPr>
          <p:cNvPr id="3" name="Content Placeholder 2">
            <a:extLst>
              <a:ext uri="{FF2B5EF4-FFF2-40B4-BE49-F238E27FC236}">
                <a16:creationId xmlns:a16="http://schemas.microsoft.com/office/drawing/2014/main" id="{A57D4A52-7323-B5E6-CF3E-B83E821204D8}"/>
              </a:ext>
            </a:extLst>
          </p:cNvPr>
          <p:cNvSpPr>
            <a:spLocks noGrp="1"/>
          </p:cNvSpPr>
          <p:nvPr>
            <p:ph idx="1"/>
          </p:nvPr>
        </p:nvSpPr>
        <p:spPr/>
        <p:txBody>
          <a:bodyPr/>
          <a:lstStyle/>
          <a:p>
            <a:pPr marL="0" indent="0">
              <a:buNone/>
            </a:pPr>
            <a:r>
              <a:rPr lang="en-US" dirty="0">
                <a:solidFill>
                  <a:srgbClr val="0070C0"/>
                </a:solidFill>
              </a:rPr>
              <a:t>Ternary Operator</a:t>
            </a:r>
            <a:r>
              <a:rPr lang="en-US" dirty="0"/>
              <a:t>:</a:t>
            </a:r>
          </a:p>
          <a:p>
            <a:r>
              <a:rPr lang="en-US" dirty="0"/>
              <a:t>A shorthand for an if-else statement. </a:t>
            </a:r>
          </a:p>
          <a:p>
            <a:r>
              <a:rPr lang="en-US" dirty="0"/>
              <a:t>It takes three operands</a:t>
            </a:r>
          </a:p>
          <a:p>
            <a:endParaRPr lang="en-US" dirty="0"/>
          </a:p>
        </p:txBody>
      </p:sp>
      <p:pic>
        <p:nvPicPr>
          <p:cNvPr id="6" name="Picture 5">
            <a:extLst>
              <a:ext uri="{FF2B5EF4-FFF2-40B4-BE49-F238E27FC236}">
                <a16:creationId xmlns:a16="http://schemas.microsoft.com/office/drawing/2014/main" id="{38A9CBAA-879C-3257-C17A-22F9DA189511}"/>
              </a:ext>
            </a:extLst>
          </p:cNvPr>
          <p:cNvPicPr>
            <a:picLocks noChangeAspect="1"/>
          </p:cNvPicPr>
          <p:nvPr/>
        </p:nvPicPr>
        <p:blipFill>
          <a:blip r:embed="rId2"/>
          <a:stretch>
            <a:fillRect/>
          </a:stretch>
        </p:blipFill>
        <p:spPr>
          <a:xfrm>
            <a:off x="755265" y="3183401"/>
            <a:ext cx="7633470" cy="491197"/>
          </a:xfrm>
          <a:prstGeom prst="rect">
            <a:avLst/>
          </a:prstGeom>
        </p:spPr>
      </p:pic>
      <p:sp>
        <p:nvSpPr>
          <p:cNvPr id="7" name="TextBox 6">
            <a:extLst>
              <a:ext uri="{FF2B5EF4-FFF2-40B4-BE49-F238E27FC236}">
                <a16:creationId xmlns:a16="http://schemas.microsoft.com/office/drawing/2014/main" id="{AB78192C-6CE0-91DB-5808-53E13908E4A2}"/>
              </a:ext>
            </a:extLst>
          </p:cNvPr>
          <p:cNvSpPr txBox="1"/>
          <p:nvPr/>
        </p:nvSpPr>
        <p:spPr>
          <a:xfrm>
            <a:off x="3453256" y="2767162"/>
            <a:ext cx="1404728" cy="369332"/>
          </a:xfrm>
          <a:prstGeom prst="rect">
            <a:avLst/>
          </a:prstGeom>
          <a:noFill/>
        </p:spPr>
        <p:txBody>
          <a:bodyPr wrap="square" rtlCol="0">
            <a:spAutoFit/>
          </a:bodyPr>
          <a:lstStyle/>
          <a:p>
            <a:pPr algn="ctr"/>
            <a:r>
              <a:rPr lang="en-IN" b="1" dirty="0">
                <a:solidFill>
                  <a:srgbClr val="FF0000"/>
                </a:solidFill>
              </a:rPr>
              <a:t>Syntax</a:t>
            </a:r>
            <a:endParaRPr lang="en-GH" b="1" dirty="0">
              <a:solidFill>
                <a:srgbClr val="FF0000"/>
              </a:solidFill>
            </a:endParaRPr>
          </a:p>
        </p:txBody>
      </p:sp>
      <p:pic>
        <p:nvPicPr>
          <p:cNvPr id="9" name="Picture 8">
            <a:extLst>
              <a:ext uri="{FF2B5EF4-FFF2-40B4-BE49-F238E27FC236}">
                <a16:creationId xmlns:a16="http://schemas.microsoft.com/office/drawing/2014/main" id="{6EE9B452-44BE-03DA-A2A2-F8E847BFF42F}"/>
              </a:ext>
            </a:extLst>
          </p:cNvPr>
          <p:cNvPicPr>
            <a:picLocks noChangeAspect="1"/>
          </p:cNvPicPr>
          <p:nvPr/>
        </p:nvPicPr>
        <p:blipFill>
          <a:blip r:embed="rId3"/>
          <a:stretch>
            <a:fillRect/>
          </a:stretch>
        </p:blipFill>
        <p:spPr>
          <a:xfrm>
            <a:off x="755265" y="4293384"/>
            <a:ext cx="7163800" cy="1057423"/>
          </a:xfrm>
          <a:prstGeom prst="rect">
            <a:avLst/>
          </a:prstGeom>
        </p:spPr>
      </p:pic>
      <p:pic>
        <p:nvPicPr>
          <p:cNvPr id="11" name="Picture 10">
            <a:extLst>
              <a:ext uri="{FF2B5EF4-FFF2-40B4-BE49-F238E27FC236}">
                <a16:creationId xmlns:a16="http://schemas.microsoft.com/office/drawing/2014/main" id="{6B2A6046-68D3-44F9-F16D-48EDA5D85162}"/>
              </a:ext>
            </a:extLst>
          </p:cNvPr>
          <p:cNvPicPr>
            <a:picLocks noChangeAspect="1"/>
          </p:cNvPicPr>
          <p:nvPr/>
        </p:nvPicPr>
        <p:blipFill>
          <a:blip r:embed="rId4"/>
          <a:stretch>
            <a:fillRect/>
          </a:stretch>
        </p:blipFill>
        <p:spPr>
          <a:xfrm>
            <a:off x="755265" y="5633758"/>
            <a:ext cx="6992326" cy="695422"/>
          </a:xfrm>
          <a:prstGeom prst="rect">
            <a:avLst/>
          </a:prstGeom>
        </p:spPr>
      </p:pic>
      <p:sp>
        <p:nvSpPr>
          <p:cNvPr id="12" name="TextBox 11">
            <a:extLst>
              <a:ext uri="{FF2B5EF4-FFF2-40B4-BE49-F238E27FC236}">
                <a16:creationId xmlns:a16="http://schemas.microsoft.com/office/drawing/2014/main" id="{52612176-5613-5BFA-6B9D-FE42C590E49C}"/>
              </a:ext>
            </a:extLst>
          </p:cNvPr>
          <p:cNvSpPr txBox="1"/>
          <p:nvPr/>
        </p:nvSpPr>
        <p:spPr>
          <a:xfrm>
            <a:off x="3453256" y="3939640"/>
            <a:ext cx="1404728" cy="369332"/>
          </a:xfrm>
          <a:prstGeom prst="rect">
            <a:avLst/>
          </a:prstGeom>
          <a:noFill/>
        </p:spPr>
        <p:txBody>
          <a:bodyPr wrap="square" rtlCol="0">
            <a:spAutoFit/>
          </a:bodyPr>
          <a:lstStyle/>
          <a:p>
            <a:pPr algn="ctr"/>
            <a:r>
              <a:rPr lang="en-IN" b="1" dirty="0">
                <a:solidFill>
                  <a:srgbClr val="FF0000"/>
                </a:solidFill>
              </a:rPr>
              <a:t>Examples</a:t>
            </a:r>
            <a:endParaRPr lang="en-GH" b="1" dirty="0">
              <a:solidFill>
                <a:srgbClr val="FF0000"/>
              </a:solidFill>
            </a:endParaRPr>
          </a:p>
        </p:txBody>
      </p:sp>
    </p:spTree>
    <p:extLst>
      <p:ext uri="{BB962C8B-B14F-4D97-AF65-F5344CB8AC3E}">
        <p14:creationId xmlns:p14="http://schemas.microsoft.com/office/powerpoint/2010/main" val="29426818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4F849-FC97-2DD3-7D53-3D679DF6E7E0}"/>
              </a:ext>
            </a:extLst>
          </p:cNvPr>
          <p:cNvSpPr>
            <a:spLocks noGrp="1"/>
          </p:cNvSpPr>
          <p:nvPr>
            <p:ph type="title"/>
          </p:nvPr>
        </p:nvSpPr>
        <p:spPr/>
        <p:txBody>
          <a:bodyPr/>
          <a:lstStyle/>
          <a:p>
            <a:r>
              <a:rPr lang="en-IN" dirty="0"/>
              <a:t>Operators</a:t>
            </a:r>
            <a:endParaRPr lang="en-GH" dirty="0"/>
          </a:p>
        </p:txBody>
      </p:sp>
      <p:sp>
        <p:nvSpPr>
          <p:cNvPr id="3" name="Content Placeholder 2">
            <a:extLst>
              <a:ext uri="{FF2B5EF4-FFF2-40B4-BE49-F238E27FC236}">
                <a16:creationId xmlns:a16="http://schemas.microsoft.com/office/drawing/2014/main" id="{A80F832B-EA9D-4335-15BA-75D15A0BD1AF}"/>
              </a:ext>
            </a:extLst>
          </p:cNvPr>
          <p:cNvSpPr>
            <a:spLocks noGrp="1"/>
          </p:cNvSpPr>
          <p:nvPr>
            <p:ph idx="1"/>
          </p:nvPr>
        </p:nvSpPr>
        <p:spPr/>
        <p:txBody>
          <a:bodyPr/>
          <a:lstStyle/>
          <a:p>
            <a:r>
              <a:rPr lang="en-IN" b="1" dirty="0">
                <a:solidFill>
                  <a:srgbClr val="0070C0"/>
                </a:solidFill>
              </a:rPr>
              <a:t>String Operators</a:t>
            </a:r>
            <a:r>
              <a:rPr lang="en-IN" dirty="0"/>
              <a:t>: The following operators work on strings.</a:t>
            </a:r>
          </a:p>
          <a:p>
            <a:pPr marL="457200" indent="-457200">
              <a:buClr>
                <a:schemeClr val="tx1"/>
              </a:buClr>
              <a:buFont typeface="+mj-lt"/>
              <a:buAutoNum type="arabicParenR"/>
            </a:pPr>
            <a:r>
              <a:rPr lang="en-IN" b="1" dirty="0">
                <a:solidFill>
                  <a:srgbClr val="0070C0"/>
                </a:solidFill>
              </a:rPr>
              <a:t>+</a:t>
            </a:r>
            <a:r>
              <a:rPr lang="en-IN" dirty="0"/>
              <a:t> (Addition/Concatenation)</a:t>
            </a:r>
          </a:p>
          <a:p>
            <a:pPr marL="457200" indent="-457200">
              <a:buClr>
                <a:schemeClr val="tx1"/>
              </a:buClr>
              <a:buFont typeface="+mj-lt"/>
              <a:buAutoNum type="arabicParenR"/>
            </a:pPr>
            <a:r>
              <a:rPr lang="en-GH" b="1" dirty="0">
                <a:solidFill>
                  <a:srgbClr val="0070C0"/>
                </a:solidFill>
              </a:rPr>
              <a:t>+=</a:t>
            </a:r>
            <a:r>
              <a:rPr lang="en-IN" dirty="0"/>
              <a:t> (Compound assignment)</a:t>
            </a:r>
          </a:p>
          <a:p>
            <a:pPr marL="457200" indent="-457200">
              <a:buClr>
                <a:schemeClr val="tx1"/>
              </a:buClr>
              <a:buFont typeface="+mj-lt"/>
              <a:buAutoNum type="arabicParenR"/>
            </a:pPr>
            <a:r>
              <a:rPr lang="en-IN" b="1" dirty="0">
                <a:solidFill>
                  <a:srgbClr val="0070C0"/>
                </a:solidFill>
              </a:rPr>
              <a:t>== </a:t>
            </a:r>
            <a:r>
              <a:rPr lang="en-IN" dirty="0"/>
              <a:t>(Loose Equality): Compares values, performing type coercion</a:t>
            </a:r>
          </a:p>
          <a:p>
            <a:pPr marL="0" indent="0">
              <a:buNone/>
            </a:pPr>
            <a:r>
              <a:rPr lang="en-IN" dirty="0"/>
              <a:t>	e.g., 	5 == "5";  // true</a:t>
            </a:r>
          </a:p>
          <a:p>
            <a:pPr marL="514350" indent="-514350">
              <a:buClr>
                <a:schemeClr val="tx1"/>
              </a:buClr>
              <a:buFont typeface="+mj-lt"/>
              <a:buAutoNum type="arabicParenR" startAt="4"/>
            </a:pPr>
            <a:r>
              <a:rPr lang="en-IN" b="1" dirty="0">
                <a:solidFill>
                  <a:srgbClr val="0070C0"/>
                </a:solidFill>
              </a:rPr>
              <a:t>===</a:t>
            </a:r>
            <a:r>
              <a:rPr lang="en-IN" dirty="0"/>
              <a:t> (Strict Equality): </a:t>
            </a:r>
            <a:r>
              <a:rPr lang="en-US" dirty="0"/>
              <a:t>Compares values and types, no coercion</a:t>
            </a:r>
          </a:p>
          <a:p>
            <a:pPr marL="0" indent="0">
              <a:buNone/>
            </a:pPr>
            <a:r>
              <a:rPr lang="en-US" dirty="0"/>
              <a:t>	e.g., 5 === "5";  // false (no type coercion) </a:t>
            </a:r>
          </a:p>
          <a:p>
            <a:pPr marL="457200" indent="-457200">
              <a:buClr>
                <a:schemeClr val="tx1"/>
              </a:buClr>
              <a:buFont typeface="+mj-lt"/>
              <a:buAutoNum type="arabicParenR" startAt="5"/>
            </a:pPr>
            <a:r>
              <a:rPr lang="en-IN" b="1" dirty="0">
                <a:solidFill>
                  <a:srgbClr val="0070C0"/>
                </a:solidFill>
              </a:rPr>
              <a:t>&lt;, &gt;, &lt;=, &gt;= </a:t>
            </a:r>
            <a:r>
              <a:rPr lang="en-IN" dirty="0"/>
              <a:t>(Relational Operators): (lexicographical comparison)</a:t>
            </a:r>
          </a:p>
          <a:p>
            <a:pPr marL="0" indent="0">
              <a:buNone/>
            </a:pPr>
            <a:r>
              <a:rPr lang="en-IN" dirty="0"/>
              <a:t>	e.g., "</a:t>
            </a:r>
            <a:r>
              <a:rPr lang="en-IN" dirty="0" err="1"/>
              <a:t>abc</a:t>
            </a:r>
            <a:r>
              <a:rPr lang="en-IN" dirty="0"/>
              <a:t>" &lt; "</a:t>
            </a:r>
            <a:r>
              <a:rPr lang="en-IN" dirty="0" err="1"/>
              <a:t>xyz</a:t>
            </a:r>
            <a:r>
              <a:rPr lang="en-IN" dirty="0"/>
              <a:t>"; // true</a:t>
            </a:r>
          </a:p>
          <a:p>
            <a:pPr marL="457200" indent="-457200">
              <a:buFont typeface="+mj-lt"/>
              <a:buAutoNum type="arabicParenR" startAt="6"/>
            </a:pPr>
            <a:r>
              <a:rPr lang="en-IN" b="1" dirty="0"/>
              <a:t> </a:t>
            </a:r>
            <a:r>
              <a:rPr lang="en-IN" dirty="0"/>
              <a:t>Unary </a:t>
            </a:r>
            <a:r>
              <a:rPr lang="en-IN" b="1" dirty="0">
                <a:solidFill>
                  <a:srgbClr val="0070C0"/>
                </a:solidFill>
              </a:rPr>
              <a:t>+</a:t>
            </a:r>
            <a:r>
              <a:rPr lang="en-IN" dirty="0"/>
              <a:t> or </a:t>
            </a:r>
            <a:r>
              <a:rPr lang="en-IN" b="1" dirty="0">
                <a:solidFill>
                  <a:srgbClr val="0070C0"/>
                </a:solidFill>
              </a:rPr>
              <a:t>-</a:t>
            </a:r>
            <a:r>
              <a:rPr lang="en-IN" dirty="0"/>
              <a:t> :</a:t>
            </a:r>
            <a:endParaRPr lang="en-GH" dirty="0"/>
          </a:p>
        </p:txBody>
      </p:sp>
      <p:pic>
        <p:nvPicPr>
          <p:cNvPr id="7" name="Picture 6">
            <a:extLst>
              <a:ext uri="{FF2B5EF4-FFF2-40B4-BE49-F238E27FC236}">
                <a16:creationId xmlns:a16="http://schemas.microsoft.com/office/drawing/2014/main" id="{DE33B536-FCEF-804A-E2E3-799FB58E5E45}"/>
              </a:ext>
            </a:extLst>
          </p:cNvPr>
          <p:cNvPicPr>
            <a:picLocks noChangeAspect="1"/>
          </p:cNvPicPr>
          <p:nvPr/>
        </p:nvPicPr>
        <p:blipFill>
          <a:blip r:embed="rId2"/>
          <a:stretch>
            <a:fillRect/>
          </a:stretch>
        </p:blipFill>
        <p:spPr>
          <a:xfrm>
            <a:off x="645706" y="5860286"/>
            <a:ext cx="5820587" cy="704948"/>
          </a:xfrm>
          <a:prstGeom prst="rect">
            <a:avLst/>
          </a:prstGeom>
        </p:spPr>
      </p:pic>
      <p:pic>
        <p:nvPicPr>
          <p:cNvPr id="9" name="Picture 8">
            <a:extLst>
              <a:ext uri="{FF2B5EF4-FFF2-40B4-BE49-F238E27FC236}">
                <a16:creationId xmlns:a16="http://schemas.microsoft.com/office/drawing/2014/main" id="{5D9C798A-9E46-499E-8BDA-80B4B2C546E7}"/>
              </a:ext>
            </a:extLst>
          </p:cNvPr>
          <p:cNvPicPr>
            <a:picLocks noChangeAspect="1"/>
          </p:cNvPicPr>
          <p:nvPr/>
        </p:nvPicPr>
        <p:blipFill>
          <a:blip r:embed="rId3"/>
          <a:stretch>
            <a:fillRect/>
          </a:stretch>
        </p:blipFill>
        <p:spPr>
          <a:xfrm>
            <a:off x="5300754" y="5108431"/>
            <a:ext cx="3296110" cy="704948"/>
          </a:xfrm>
          <a:prstGeom prst="rect">
            <a:avLst/>
          </a:prstGeom>
        </p:spPr>
      </p:pic>
      <p:cxnSp>
        <p:nvCxnSpPr>
          <p:cNvPr id="11" name="Straight Arrow Connector 10">
            <a:extLst>
              <a:ext uri="{FF2B5EF4-FFF2-40B4-BE49-F238E27FC236}">
                <a16:creationId xmlns:a16="http://schemas.microsoft.com/office/drawing/2014/main" id="{F16C33DA-8F88-EC94-ACE2-662C3AB3C6A1}"/>
              </a:ext>
            </a:extLst>
          </p:cNvPr>
          <p:cNvCxnSpPr>
            <a:cxnSpLocks/>
          </p:cNvCxnSpPr>
          <p:nvPr/>
        </p:nvCxnSpPr>
        <p:spPr>
          <a:xfrm flipV="1">
            <a:off x="4785360" y="5460905"/>
            <a:ext cx="416560" cy="352474"/>
          </a:xfrm>
          <a:prstGeom prst="straightConnector1">
            <a:avLst/>
          </a:prstGeom>
          <a:ln w="57150">
            <a:headEnd type="triangle"/>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027894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FEF4A-3CE5-48F5-4309-6534BDF6C6DA}"/>
              </a:ext>
            </a:extLst>
          </p:cNvPr>
          <p:cNvSpPr>
            <a:spLocks noGrp="1"/>
          </p:cNvSpPr>
          <p:nvPr>
            <p:ph type="title"/>
          </p:nvPr>
        </p:nvSpPr>
        <p:spPr/>
        <p:txBody>
          <a:bodyPr/>
          <a:lstStyle/>
          <a:p>
            <a:r>
              <a:rPr lang="en-IN" dirty="0"/>
              <a:t>Operators</a:t>
            </a:r>
            <a:endParaRPr lang="en-GH" dirty="0"/>
          </a:p>
        </p:txBody>
      </p:sp>
      <p:sp>
        <p:nvSpPr>
          <p:cNvPr id="3" name="Content Placeholder 2">
            <a:extLst>
              <a:ext uri="{FF2B5EF4-FFF2-40B4-BE49-F238E27FC236}">
                <a16:creationId xmlns:a16="http://schemas.microsoft.com/office/drawing/2014/main" id="{4ACF5812-68B2-D700-9975-973776A3EEAC}"/>
              </a:ext>
            </a:extLst>
          </p:cNvPr>
          <p:cNvSpPr>
            <a:spLocks noGrp="1"/>
          </p:cNvSpPr>
          <p:nvPr>
            <p:ph idx="1"/>
          </p:nvPr>
        </p:nvSpPr>
        <p:spPr>
          <a:xfrm>
            <a:off x="240465" y="1457159"/>
            <a:ext cx="8681519" cy="4943141"/>
          </a:xfrm>
        </p:spPr>
        <p:txBody>
          <a:bodyPr/>
          <a:lstStyle/>
          <a:p>
            <a:r>
              <a:rPr lang="en-IN" b="1" dirty="0">
                <a:solidFill>
                  <a:srgbClr val="0070C0"/>
                </a:solidFill>
              </a:rPr>
              <a:t>Logical Operators</a:t>
            </a:r>
            <a:r>
              <a:rPr lang="en-IN" dirty="0"/>
              <a:t>:</a:t>
            </a:r>
          </a:p>
          <a:p>
            <a:endParaRPr lang="en-IN" dirty="0"/>
          </a:p>
          <a:p>
            <a:endParaRPr lang="en-IN" dirty="0"/>
          </a:p>
          <a:p>
            <a:endParaRPr lang="en-IN" dirty="0"/>
          </a:p>
          <a:p>
            <a:endParaRPr lang="en-IN" dirty="0"/>
          </a:p>
          <a:p>
            <a:endParaRPr lang="en-IN" dirty="0"/>
          </a:p>
          <a:p>
            <a:r>
              <a:rPr lang="en-IN" b="1" dirty="0">
                <a:solidFill>
                  <a:srgbClr val="0070C0"/>
                </a:solidFill>
              </a:rPr>
              <a:t>Type Operators</a:t>
            </a:r>
            <a:r>
              <a:rPr lang="en-IN" dirty="0"/>
              <a:t>:</a:t>
            </a:r>
          </a:p>
          <a:p>
            <a:pPr marL="0" indent="0">
              <a:buNone/>
            </a:pPr>
            <a:endParaRPr lang="en-GH" dirty="0"/>
          </a:p>
        </p:txBody>
      </p:sp>
      <p:graphicFrame>
        <p:nvGraphicFramePr>
          <p:cNvPr id="4" name="Table 3">
            <a:extLst>
              <a:ext uri="{FF2B5EF4-FFF2-40B4-BE49-F238E27FC236}">
                <a16:creationId xmlns:a16="http://schemas.microsoft.com/office/drawing/2014/main" id="{7D5A0F65-E3D8-6995-FE91-C42408DB923F}"/>
              </a:ext>
            </a:extLst>
          </p:cNvPr>
          <p:cNvGraphicFramePr>
            <a:graphicFrameLocks noGrp="1"/>
          </p:cNvGraphicFramePr>
          <p:nvPr>
            <p:extLst>
              <p:ext uri="{D42A27DB-BD31-4B8C-83A1-F6EECF244321}">
                <p14:modId xmlns:p14="http://schemas.microsoft.com/office/powerpoint/2010/main" val="806076101"/>
              </p:ext>
            </p:extLst>
          </p:nvPr>
        </p:nvGraphicFramePr>
        <p:xfrm>
          <a:off x="2216277" y="1952625"/>
          <a:ext cx="3178683" cy="1869440"/>
        </p:xfrm>
        <a:graphic>
          <a:graphicData uri="http://schemas.openxmlformats.org/drawingml/2006/table">
            <a:tbl>
              <a:tblPr/>
              <a:tblGrid>
                <a:gridCol w="1413066">
                  <a:extLst>
                    <a:ext uri="{9D8B030D-6E8A-4147-A177-3AD203B41FA5}">
                      <a16:colId xmlns:a16="http://schemas.microsoft.com/office/drawing/2014/main" val="3550319138"/>
                    </a:ext>
                  </a:extLst>
                </a:gridCol>
                <a:gridCol w="1765617">
                  <a:extLst>
                    <a:ext uri="{9D8B030D-6E8A-4147-A177-3AD203B41FA5}">
                      <a16:colId xmlns:a16="http://schemas.microsoft.com/office/drawing/2014/main" val="1509305984"/>
                    </a:ext>
                  </a:extLst>
                </a:gridCol>
              </a:tblGrid>
              <a:tr h="0">
                <a:tc>
                  <a:txBody>
                    <a:bodyPr/>
                    <a:lstStyle/>
                    <a:p>
                      <a:pPr algn="l" fontAlgn="t"/>
                      <a:r>
                        <a:rPr lang="en-IN" sz="2400" b="1">
                          <a:effectLst/>
                        </a:rPr>
                        <a:t>Operator</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b="1" dirty="0">
                          <a:effectLst/>
                        </a:rPr>
                        <a:t>Description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81215320"/>
                  </a:ext>
                </a:extLst>
              </a:tr>
              <a:tr h="0">
                <a:tc>
                  <a:txBody>
                    <a:bodyPr/>
                    <a:lstStyle/>
                    <a:p>
                      <a:pPr algn="l" fontAlgn="t"/>
                      <a:r>
                        <a:rPr lang="en-GH" sz="2400">
                          <a:effectLst/>
                        </a:rPr>
                        <a:t>&amp;&amp;</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2400" dirty="0">
                          <a:effectLst/>
                        </a:rPr>
                        <a:t>logical and</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711920991"/>
                  </a:ext>
                </a:extLst>
              </a:tr>
              <a:tr h="0">
                <a:tc>
                  <a:txBody>
                    <a:bodyPr/>
                    <a:lstStyle/>
                    <a:p>
                      <a:pPr algn="l" fontAlgn="t"/>
                      <a:r>
                        <a:rPr lang="en-GH" sz="240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logical or</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448643088"/>
                  </a:ext>
                </a:extLst>
              </a:tr>
              <a:tr h="0">
                <a:tc>
                  <a:txBody>
                    <a:bodyPr/>
                    <a:lstStyle/>
                    <a:p>
                      <a:pPr algn="l" fontAlgn="t"/>
                      <a:r>
                        <a:rPr lang="en-GH" sz="2400" dirty="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tc>
                  <a:txBody>
                    <a:bodyPr/>
                    <a:lstStyle/>
                    <a:p>
                      <a:pPr algn="l" fontAlgn="t"/>
                      <a:r>
                        <a:rPr lang="en-IN" sz="2400" dirty="0">
                          <a:effectLst/>
                        </a:rPr>
                        <a:t>logical not</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3029792795"/>
                  </a:ext>
                </a:extLst>
              </a:tr>
            </a:tbl>
          </a:graphicData>
        </a:graphic>
      </p:graphicFrame>
      <p:graphicFrame>
        <p:nvGraphicFramePr>
          <p:cNvPr id="5" name="Table 4">
            <a:extLst>
              <a:ext uri="{FF2B5EF4-FFF2-40B4-BE49-F238E27FC236}">
                <a16:creationId xmlns:a16="http://schemas.microsoft.com/office/drawing/2014/main" id="{5CFDA84F-8277-130C-02E6-99E4167D19A1}"/>
              </a:ext>
            </a:extLst>
          </p:cNvPr>
          <p:cNvGraphicFramePr>
            <a:graphicFrameLocks noGrp="1"/>
          </p:cNvGraphicFramePr>
          <p:nvPr>
            <p:extLst>
              <p:ext uri="{D42A27DB-BD31-4B8C-83A1-F6EECF244321}">
                <p14:modId xmlns:p14="http://schemas.microsoft.com/office/powerpoint/2010/main" val="2744937318"/>
              </p:ext>
            </p:extLst>
          </p:nvPr>
        </p:nvGraphicFramePr>
        <p:xfrm>
          <a:off x="438277" y="4699801"/>
          <a:ext cx="8567039" cy="1767840"/>
        </p:xfrm>
        <a:graphic>
          <a:graphicData uri="http://schemas.openxmlformats.org/drawingml/2006/table">
            <a:tbl>
              <a:tblPr/>
              <a:tblGrid>
                <a:gridCol w="1505712">
                  <a:extLst>
                    <a:ext uri="{9D8B030D-6E8A-4147-A177-3AD203B41FA5}">
                      <a16:colId xmlns:a16="http://schemas.microsoft.com/office/drawing/2014/main" val="2204238029"/>
                    </a:ext>
                  </a:extLst>
                </a:gridCol>
                <a:gridCol w="7061327">
                  <a:extLst>
                    <a:ext uri="{9D8B030D-6E8A-4147-A177-3AD203B41FA5}">
                      <a16:colId xmlns:a16="http://schemas.microsoft.com/office/drawing/2014/main" val="4055884577"/>
                    </a:ext>
                  </a:extLst>
                </a:gridCol>
              </a:tblGrid>
              <a:tr h="0">
                <a:tc>
                  <a:txBody>
                    <a:bodyPr/>
                    <a:lstStyle/>
                    <a:p>
                      <a:pPr algn="l" fontAlgn="t"/>
                      <a:r>
                        <a:rPr lang="en-IN" sz="2400" b="1">
                          <a:effectLst/>
                        </a:rPr>
                        <a:t>Operator</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b="1" dirty="0">
                          <a:effectLst/>
                        </a:rPr>
                        <a:t>Description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97634002"/>
                  </a:ext>
                </a:extLst>
              </a:tr>
              <a:tr h="0">
                <a:tc>
                  <a:txBody>
                    <a:bodyPr/>
                    <a:lstStyle/>
                    <a:p>
                      <a:pPr algn="l" fontAlgn="t"/>
                      <a:r>
                        <a:rPr lang="en-IN" sz="2400">
                          <a:effectLst/>
                        </a:rPr>
                        <a:t>typeof</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400" dirty="0">
                          <a:effectLst/>
                        </a:rPr>
                        <a:t>Returns the type of a variable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735974692"/>
                  </a:ext>
                </a:extLst>
              </a:tr>
              <a:tr h="0">
                <a:tc>
                  <a:txBody>
                    <a:bodyPr/>
                    <a:lstStyle/>
                    <a:p>
                      <a:pPr algn="l" fontAlgn="t"/>
                      <a:r>
                        <a:rPr lang="en-IN" sz="2400">
                          <a:effectLst/>
                        </a:rPr>
                        <a:t>instanceof</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400" dirty="0">
                          <a:effectLst/>
                        </a:rPr>
                        <a:t>Returns true if an object is an instance of a specific class or constructor function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6710056"/>
                  </a:ext>
                </a:extLst>
              </a:tr>
            </a:tbl>
          </a:graphicData>
        </a:graphic>
      </p:graphicFrame>
    </p:spTree>
    <p:extLst>
      <p:ext uri="{BB962C8B-B14F-4D97-AF65-F5344CB8AC3E}">
        <p14:creationId xmlns:p14="http://schemas.microsoft.com/office/powerpoint/2010/main" val="1527933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106AC-5D1B-1B38-83B3-E900EAD57F42}"/>
              </a:ext>
            </a:extLst>
          </p:cNvPr>
          <p:cNvSpPr>
            <a:spLocks noGrp="1"/>
          </p:cNvSpPr>
          <p:nvPr>
            <p:ph type="title"/>
          </p:nvPr>
        </p:nvSpPr>
        <p:spPr/>
        <p:txBody>
          <a:bodyPr/>
          <a:lstStyle/>
          <a:p>
            <a:r>
              <a:rPr lang="en-IN" dirty="0"/>
              <a:t>Operators</a:t>
            </a:r>
            <a:endParaRPr lang="en-GH" dirty="0"/>
          </a:p>
        </p:txBody>
      </p:sp>
      <p:sp>
        <p:nvSpPr>
          <p:cNvPr id="3" name="Content Placeholder 2">
            <a:extLst>
              <a:ext uri="{FF2B5EF4-FFF2-40B4-BE49-F238E27FC236}">
                <a16:creationId xmlns:a16="http://schemas.microsoft.com/office/drawing/2014/main" id="{890A35EA-29B7-E9E4-0DD6-762BA18975A2}"/>
              </a:ext>
            </a:extLst>
          </p:cNvPr>
          <p:cNvSpPr>
            <a:spLocks noGrp="1"/>
          </p:cNvSpPr>
          <p:nvPr>
            <p:ph idx="1"/>
          </p:nvPr>
        </p:nvSpPr>
        <p:spPr/>
        <p:txBody>
          <a:bodyPr/>
          <a:lstStyle/>
          <a:p>
            <a:r>
              <a:rPr lang="en-IN" b="1" dirty="0">
                <a:solidFill>
                  <a:srgbClr val="0070C0"/>
                </a:solidFill>
              </a:rPr>
              <a:t>Bitwise Operators:</a:t>
            </a:r>
            <a:endParaRPr lang="en-GH" b="1" dirty="0">
              <a:solidFill>
                <a:srgbClr val="0070C0"/>
              </a:solidFill>
            </a:endParaRPr>
          </a:p>
        </p:txBody>
      </p:sp>
      <p:graphicFrame>
        <p:nvGraphicFramePr>
          <p:cNvPr id="4" name="Table 3">
            <a:extLst>
              <a:ext uri="{FF2B5EF4-FFF2-40B4-BE49-F238E27FC236}">
                <a16:creationId xmlns:a16="http://schemas.microsoft.com/office/drawing/2014/main" id="{734CBB73-CAC6-B0F4-8A9E-245D3CD10B7F}"/>
              </a:ext>
            </a:extLst>
          </p:cNvPr>
          <p:cNvGraphicFramePr>
            <a:graphicFrameLocks noGrp="1"/>
          </p:cNvGraphicFramePr>
          <p:nvPr>
            <p:extLst>
              <p:ext uri="{D42A27DB-BD31-4B8C-83A1-F6EECF244321}">
                <p14:modId xmlns:p14="http://schemas.microsoft.com/office/powerpoint/2010/main" val="1548408916"/>
              </p:ext>
            </p:extLst>
          </p:nvPr>
        </p:nvGraphicFramePr>
        <p:xfrm>
          <a:off x="622620" y="2220761"/>
          <a:ext cx="7898760" cy="3251200"/>
        </p:xfrm>
        <a:graphic>
          <a:graphicData uri="http://schemas.openxmlformats.org/drawingml/2006/table">
            <a:tbl>
              <a:tblPr>
                <a:tableStyleId>{5DA37D80-6434-44D0-A028-1B22A696006F}</a:tableStyleId>
              </a:tblPr>
              <a:tblGrid>
                <a:gridCol w="1165924">
                  <a:extLst>
                    <a:ext uri="{9D8B030D-6E8A-4147-A177-3AD203B41FA5}">
                      <a16:colId xmlns:a16="http://schemas.microsoft.com/office/drawing/2014/main" val="2465175760"/>
                    </a:ext>
                  </a:extLst>
                </a:gridCol>
                <a:gridCol w="2150301">
                  <a:extLst>
                    <a:ext uri="{9D8B030D-6E8A-4147-A177-3AD203B41FA5}">
                      <a16:colId xmlns:a16="http://schemas.microsoft.com/office/drawing/2014/main" val="453693513"/>
                    </a:ext>
                  </a:extLst>
                </a:gridCol>
                <a:gridCol w="1054862">
                  <a:extLst>
                    <a:ext uri="{9D8B030D-6E8A-4147-A177-3AD203B41FA5}">
                      <a16:colId xmlns:a16="http://schemas.microsoft.com/office/drawing/2014/main" val="3311595975"/>
                    </a:ext>
                  </a:extLst>
                </a:gridCol>
                <a:gridCol w="1474788">
                  <a:extLst>
                    <a:ext uri="{9D8B030D-6E8A-4147-A177-3AD203B41FA5}">
                      <a16:colId xmlns:a16="http://schemas.microsoft.com/office/drawing/2014/main" val="30191429"/>
                    </a:ext>
                  </a:extLst>
                </a:gridCol>
                <a:gridCol w="1060450">
                  <a:extLst>
                    <a:ext uri="{9D8B030D-6E8A-4147-A177-3AD203B41FA5}">
                      <a16:colId xmlns:a16="http://schemas.microsoft.com/office/drawing/2014/main" val="2141865974"/>
                    </a:ext>
                  </a:extLst>
                </a:gridCol>
                <a:gridCol w="992435">
                  <a:extLst>
                    <a:ext uri="{9D8B030D-6E8A-4147-A177-3AD203B41FA5}">
                      <a16:colId xmlns:a16="http://schemas.microsoft.com/office/drawing/2014/main" val="2880316684"/>
                    </a:ext>
                  </a:extLst>
                </a:gridCol>
              </a:tblGrid>
              <a:tr h="0">
                <a:tc>
                  <a:txBody>
                    <a:bodyPr/>
                    <a:lstStyle/>
                    <a:p>
                      <a:pPr algn="l" fontAlgn="t"/>
                      <a:r>
                        <a:rPr lang="en-IN" sz="2000" b="1">
                          <a:effectLst/>
                        </a:rPr>
                        <a:t>Operator</a:t>
                      </a:r>
                    </a:p>
                  </a:txBody>
                  <a:tcPr marL="101600" marR="50800" marT="50800" marB="50800"/>
                </a:tc>
                <a:tc>
                  <a:txBody>
                    <a:bodyPr/>
                    <a:lstStyle/>
                    <a:p>
                      <a:pPr algn="l" fontAlgn="t"/>
                      <a:r>
                        <a:rPr lang="en-IN" sz="2000" b="1">
                          <a:effectLst/>
                        </a:rPr>
                        <a:t>Description</a:t>
                      </a:r>
                    </a:p>
                  </a:txBody>
                  <a:tcPr marL="50800" marR="50800" marT="50800" marB="50800"/>
                </a:tc>
                <a:tc>
                  <a:txBody>
                    <a:bodyPr/>
                    <a:lstStyle/>
                    <a:p>
                      <a:pPr algn="l" fontAlgn="t"/>
                      <a:r>
                        <a:rPr lang="en-IN" sz="2000" b="1">
                          <a:effectLst/>
                        </a:rPr>
                        <a:t>Example</a:t>
                      </a:r>
                    </a:p>
                  </a:txBody>
                  <a:tcPr marL="50800" marR="50800" marT="50800" marB="50800"/>
                </a:tc>
                <a:tc>
                  <a:txBody>
                    <a:bodyPr/>
                    <a:lstStyle/>
                    <a:p>
                      <a:pPr algn="l" fontAlgn="t"/>
                      <a:r>
                        <a:rPr lang="en-IN" sz="2000" b="1">
                          <a:effectLst/>
                        </a:rPr>
                        <a:t>Same as</a:t>
                      </a:r>
                    </a:p>
                  </a:txBody>
                  <a:tcPr marL="50800" marR="50800" marT="50800" marB="50800"/>
                </a:tc>
                <a:tc>
                  <a:txBody>
                    <a:bodyPr/>
                    <a:lstStyle/>
                    <a:p>
                      <a:pPr algn="l" fontAlgn="t"/>
                      <a:r>
                        <a:rPr lang="en-IN" sz="2000" b="1">
                          <a:effectLst/>
                        </a:rPr>
                        <a:t>Result</a:t>
                      </a:r>
                    </a:p>
                  </a:txBody>
                  <a:tcPr marL="50800" marR="50800" marT="50800" marB="50800"/>
                </a:tc>
                <a:tc>
                  <a:txBody>
                    <a:bodyPr/>
                    <a:lstStyle/>
                    <a:p>
                      <a:pPr algn="l" fontAlgn="t"/>
                      <a:r>
                        <a:rPr lang="en-IN" sz="2000" b="1" dirty="0">
                          <a:effectLst/>
                        </a:rPr>
                        <a:t>Decimal</a:t>
                      </a:r>
                    </a:p>
                  </a:txBody>
                  <a:tcPr marL="50800" marR="50800" marT="50800" marB="50800"/>
                </a:tc>
                <a:extLst>
                  <a:ext uri="{0D108BD9-81ED-4DB2-BD59-A6C34878D82A}">
                    <a16:rowId xmlns:a16="http://schemas.microsoft.com/office/drawing/2014/main" val="1546260331"/>
                  </a:ext>
                </a:extLst>
              </a:tr>
              <a:tr h="0">
                <a:tc>
                  <a:txBody>
                    <a:bodyPr/>
                    <a:lstStyle/>
                    <a:p>
                      <a:pPr algn="l" fontAlgn="t"/>
                      <a:r>
                        <a:rPr lang="en-GH" sz="2000">
                          <a:effectLst/>
                        </a:rPr>
                        <a:t>&amp;</a:t>
                      </a:r>
                    </a:p>
                  </a:txBody>
                  <a:tcPr marL="101600" marR="50800" marT="50800" marB="50800"/>
                </a:tc>
                <a:tc>
                  <a:txBody>
                    <a:bodyPr/>
                    <a:lstStyle/>
                    <a:p>
                      <a:pPr algn="l" fontAlgn="t"/>
                      <a:r>
                        <a:rPr lang="en-IN" sz="2000">
                          <a:effectLst/>
                        </a:rPr>
                        <a:t>AND</a:t>
                      </a:r>
                    </a:p>
                  </a:txBody>
                  <a:tcPr marL="50800" marR="50800" marT="50800" marB="50800"/>
                </a:tc>
                <a:tc>
                  <a:txBody>
                    <a:bodyPr/>
                    <a:lstStyle/>
                    <a:p>
                      <a:pPr algn="l" fontAlgn="t"/>
                      <a:r>
                        <a:rPr lang="en-GH" sz="2000">
                          <a:effectLst/>
                        </a:rPr>
                        <a:t>5 &amp; 1</a:t>
                      </a:r>
                    </a:p>
                  </a:txBody>
                  <a:tcPr marL="50800" marR="50800" marT="50800" marB="50800"/>
                </a:tc>
                <a:tc>
                  <a:txBody>
                    <a:bodyPr/>
                    <a:lstStyle/>
                    <a:p>
                      <a:pPr algn="l" fontAlgn="t"/>
                      <a:r>
                        <a:rPr lang="en-GH" sz="2000">
                          <a:effectLst/>
                        </a:rPr>
                        <a:t>0101 &amp; 0001</a:t>
                      </a:r>
                    </a:p>
                  </a:txBody>
                  <a:tcPr marL="50800" marR="50800" marT="50800" marB="50800"/>
                </a:tc>
                <a:tc>
                  <a:txBody>
                    <a:bodyPr/>
                    <a:lstStyle/>
                    <a:p>
                      <a:pPr algn="l" fontAlgn="t"/>
                      <a:r>
                        <a:rPr lang="en-GH" sz="2000" dirty="0">
                          <a:effectLst/>
                        </a:rPr>
                        <a:t>0001</a:t>
                      </a:r>
                    </a:p>
                  </a:txBody>
                  <a:tcPr marL="50800" marR="50800" marT="50800" marB="50800"/>
                </a:tc>
                <a:tc>
                  <a:txBody>
                    <a:bodyPr/>
                    <a:lstStyle/>
                    <a:p>
                      <a:pPr algn="l" fontAlgn="t"/>
                      <a:r>
                        <a:rPr lang="en-GH" sz="2000">
                          <a:effectLst/>
                        </a:rPr>
                        <a:t> 1</a:t>
                      </a:r>
                    </a:p>
                  </a:txBody>
                  <a:tcPr marL="50800" marR="50800" marT="50800" marB="50800"/>
                </a:tc>
                <a:extLst>
                  <a:ext uri="{0D108BD9-81ED-4DB2-BD59-A6C34878D82A}">
                    <a16:rowId xmlns:a16="http://schemas.microsoft.com/office/drawing/2014/main" val="3569562060"/>
                  </a:ext>
                </a:extLst>
              </a:tr>
              <a:tr h="0">
                <a:tc>
                  <a:txBody>
                    <a:bodyPr/>
                    <a:lstStyle/>
                    <a:p>
                      <a:pPr algn="l" fontAlgn="t"/>
                      <a:r>
                        <a:rPr lang="en-GH" sz="2000">
                          <a:effectLst/>
                        </a:rPr>
                        <a:t>|</a:t>
                      </a:r>
                    </a:p>
                  </a:txBody>
                  <a:tcPr marL="101600" marR="50800" marT="50800" marB="50800"/>
                </a:tc>
                <a:tc>
                  <a:txBody>
                    <a:bodyPr/>
                    <a:lstStyle/>
                    <a:p>
                      <a:pPr algn="l" fontAlgn="t"/>
                      <a:r>
                        <a:rPr lang="en-IN" sz="2000">
                          <a:effectLst/>
                        </a:rPr>
                        <a:t>OR</a:t>
                      </a:r>
                    </a:p>
                  </a:txBody>
                  <a:tcPr marL="50800" marR="50800" marT="50800" marB="50800"/>
                </a:tc>
                <a:tc>
                  <a:txBody>
                    <a:bodyPr/>
                    <a:lstStyle/>
                    <a:p>
                      <a:pPr algn="l" fontAlgn="t"/>
                      <a:r>
                        <a:rPr lang="en-GH" sz="2000">
                          <a:effectLst/>
                        </a:rPr>
                        <a:t>5 | 1</a:t>
                      </a:r>
                    </a:p>
                  </a:txBody>
                  <a:tcPr marL="50800" marR="50800" marT="50800" marB="50800"/>
                </a:tc>
                <a:tc>
                  <a:txBody>
                    <a:bodyPr/>
                    <a:lstStyle/>
                    <a:p>
                      <a:pPr algn="l" fontAlgn="t"/>
                      <a:r>
                        <a:rPr lang="en-GH" sz="2000">
                          <a:effectLst/>
                        </a:rPr>
                        <a:t>0101 | 0001</a:t>
                      </a:r>
                    </a:p>
                  </a:txBody>
                  <a:tcPr marL="50800" marR="50800" marT="50800" marB="50800"/>
                </a:tc>
                <a:tc>
                  <a:txBody>
                    <a:bodyPr/>
                    <a:lstStyle/>
                    <a:p>
                      <a:pPr algn="l" fontAlgn="t"/>
                      <a:r>
                        <a:rPr lang="en-GH" sz="2000">
                          <a:effectLst/>
                        </a:rPr>
                        <a:t>0101</a:t>
                      </a:r>
                    </a:p>
                  </a:txBody>
                  <a:tcPr marL="50800" marR="50800" marT="50800" marB="50800"/>
                </a:tc>
                <a:tc>
                  <a:txBody>
                    <a:bodyPr/>
                    <a:lstStyle/>
                    <a:p>
                      <a:pPr algn="l" fontAlgn="t"/>
                      <a:r>
                        <a:rPr lang="en-GH" sz="2000">
                          <a:effectLst/>
                        </a:rPr>
                        <a:t> 5</a:t>
                      </a:r>
                    </a:p>
                  </a:txBody>
                  <a:tcPr marL="50800" marR="50800" marT="50800" marB="50800"/>
                </a:tc>
                <a:extLst>
                  <a:ext uri="{0D108BD9-81ED-4DB2-BD59-A6C34878D82A}">
                    <a16:rowId xmlns:a16="http://schemas.microsoft.com/office/drawing/2014/main" val="3535516145"/>
                  </a:ext>
                </a:extLst>
              </a:tr>
              <a:tr h="0">
                <a:tc>
                  <a:txBody>
                    <a:bodyPr/>
                    <a:lstStyle/>
                    <a:p>
                      <a:pPr algn="l" fontAlgn="t"/>
                      <a:r>
                        <a:rPr lang="en-GH" sz="2000">
                          <a:effectLst/>
                        </a:rPr>
                        <a:t>~</a:t>
                      </a:r>
                    </a:p>
                  </a:txBody>
                  <a:tcPr marL="101600" marR="50800" marT="50800" marB="50800"/>
                </a:tc>
                <a:tc>
                  <a:txBody>
                    <a:bodyPr/>
                    <a:lstStyle/>
                    <a:p>
                      <a:pPr algn="l" fontAlgn="t"/>
                      <a:r>
                        <a:rPr lang="en-IN" sz="2000">
                          <a:effectLst/>
                        </a:rPr>
                        <a:t>NOT</a:t>
                      </a:r>
                    </a:p>
                  </a:txBody>
                  <a:tcPr marL="50800" marR="50800" marT="50800" marB="50800"/>
                </a:tc>
                <a:tc>
                  <a:txBody>
                    <a:bodyPr/>
                    <a:lstStyle/>
                    <a:p>
                      <a:pPr algn="l" fontAlgn="t"/>
                      <a:r>
                        <a:rPr lang="en-GH" sz="2000">
                          <a:effectLst/>
                        </a:rPr>
                        <a:t>~ 5</a:t>
                      </a:r>
                    </a:p>
                  </a:txBody>
                  <a:tcPr marL="50800" marR="50800" marT="50800" marB="50800"/>
                </a:tc>
                <a:tc>
                  <a:txBody>
                    <a:bodyPr/>
                    <a:lstStyle/>
                    <a:p>
                      <a:pPr algn="l" fontAlgn="t"/>
                      <a:r>
                        <a:rPr lang="en-GH" sz="2000">
                          <a:effectLst/>
                        </a:rPr>
                        <a:t> ~0101</a:t>
                      </a:r>
                    </a:p>
                  </a:txBody>
                  <a:tcPr marL="50800" marR="50800" marT="50800" marB="50800"/>
                </a:tc>
                <a:tc>
                  <a:txBody>
                    <a:bodyPr/>
                    <a:lstStyle/>
                    <a:p>
                      <a:pPr algn="l" fontAlgn="t"/>
                      <a:r>
                        <a:rPr lang="en-GH" sz="2000">
                          <a:effectLst/>
                        </a:rPr>
                        <a:t>1010</a:t>
                      </a:r>
                    </a:p>
                  </a:txBody>
                  <a:tcPr marL="50800" marR="50800" marT="50800" marB="50800"/>
                </a:tc>
                <a:tc>
                  <a:txBody>
                    <a:bodyPr/>
                    <a:lstStyle/>
                    <a:p>
                      <a:pPr algn="l" fontAlgn="t"/>
                      <a:r>
                        <a:rPr lang="en-GH" sz="2000">
                          <a:effectLst/>
                        </a:rPr>
                        <a:t> 10</a:t>
                      </a:r>
                    </a:p>
                  </a:txBody>
                  <a:tcPr marL="50800" marR="50800" marT="50800" marB="50800"/>
                </a:tc>
                <a:extLst>
                  <a:ext uri="{0D108BD9-81ED-4DB2-BD59-A6C34878D82A}">
                    <a16:rowId xmlns:a16="http://schemas.microsoft.com/office/drawing/2014/main" val="2074698682"/>
                  </a:ext>
                </a:extLst>
              </a:tr>
              <a:tr h="0">
                <a:tc>
                  <a:txBody>
                    <a:bodyPr/>
                    <a:lstStyle/>
                    <a:p>
                      <a:pPr algn="l" fontAlgn="t"/>
                      <a:r>
                        <a:rPr lang="en-GH" sz="2000">
                          <a:effectLst/>
                        </a:rPr>
                        <a:t>^</a:t>
                      </a:r>
                    </a:p>
                  </a:txBody>
                  <a:tcPr marL="101600" marR="50800" marT="50800" marB="50800"/>
                </a:tc>
                <a:tc>
                  <a:txBody>
                    <a:bodyPr/>
                    <a:lstStyle/>
                    <a:p>
                      <a:pPr algn="l" fontAlgn="t"/>
                      <a:r>
                        <a:rPr lang="en-IN" sz="2000">
                          <a:effectLst/>
                        </a:rPr>
                        <a:t>XOR</a:t>
                      </a:r>
                    </a:p>
                  </a:txBody>
                  <a:tcPr marL="50800" marR="50800" marT="50800" marB="50800"/>
                </a:tc>
                <a:tc>
                  <a:txBody>
                    <a:bodyPr/>
                    <a:lstStyle/>
                    <a:p>
                      <a:pPr algn="l" fontAlgn="t"/>
                      <a:r>
                        <a:rPr lang="en-GH" sz="2000" dirty="0">
                          <a:effectLst/>
                        </a:rPr>
                        <a:t>5 ^ 1</a:t>
                      </a:r>
                    </a:p>
                  </a:txBody>
                  <a:tcPr marL="50800" marR="50800" marT="50800" marB="50800"/>
                </a:tc>
                <a:tc>
                  <a:txBody>
                    <a:bodyPr/>
                    <a:lstStyle/>
                    <a:p>
                      <a:pPr algn="l" fontAlgn="t"/>
                      <a:r>
                        <a:rPr lang="en-GH" sz="2000">
                          <a:effectLst/>
                        </a:rPr>
                        <a:t>0101 ^ 0001</a:t>
                      </a:r>
                    </a:p>
                  </a:txBody>
                  <a:tcPr marL="50800" marR="50800" marT="50800" marB="50800"/>
                </a:tc>
                <a:tc>
                  <a:txBody>
                    <a:bodyPr/>
                    <a:lstStyle/>
                    <a:p>
                      <a:pPr algn="l" fontAlgn="t"/>
                      <a:r>
                        <a:rPr lang="en-GH" sz="2000">
                          <a:effectLst/>
                        </a:rPr>
                        <a:t>0100</a:t>
                      </a:r>
                    </a:p>
                  </a:txBody>
                  <a:tcPr marL="50800" marR="50800" marT="50800" marB="50800"/>
                </a:tc>
                <a:tc>
                  <a:txBody>
                    <a:bodyPr/>
                    <a:lstStyle/>
                    <a:p>
                      <a:pPr algn="l" fontAlgn="t"/>
                      <a:r>
                        <a:rPr lang="en-GH" sz="2000">
                          <a:effectLst/>
                        </a:rPr>
                        <a:t> 4</a:t>
                      </a:r>
                    </a:p>
                  </a:txBody>
                  <a:tcPr marL="50800" marR="50800" marT="50800" marB="50800"/>
                </a:tc>
                <a:extLst>
                  <a:ext uri="{0D108BD9-81ED-4DB2-BD59-A6C34878D82A}">
                    <a16:rowId xmlns:a16="http://schemas.microsoft.com/office/drawing/2014/main" val="2682066726"/>
                  </a:ext>
                </a:extLst>
              </a:tr>
              <a:tr h="0">
                <a:tc>
                  <a:txBody>
                    <a:bodyPr/>
                    <a:lstStyle/>
                    <a:p>
                      <a:pPr algn="l" fontAlgn="t"/>
                      <a:r>
                        <a:rPr lang="en-GH" sz="2000">
                          <a:effectLst/>
                        </a:rPr>
                        <a:t>&lt;&lt;</a:t>
                      </a:r>
                    </a:p>
                  </a:txBody>
                  <a:tcPr marL="101600" marR="50800" marT="50800" marB="50800"/>
                </a:tc>
                <a:tc>
                  <a:txBody>
                    <a:bodyPr/>
                    <a:lstStyle/>
                    <a:p>
                      <a:pPr algn="l" fontAlgn="t"/>
                      <a:r>
                        <a:rPr lang="en-IN" sz="2000">
                          <a:effectLst/>
                        </a:rPr>
                        <a:t>left shift</a:t>
                      </a:r>
                    </a:p>
                  </a:txBody>
                  <a:tcPr marL="50800" marR="50800" marT="50800" marB="50800"/>
                </a:tc>
                <a:tc>
                  <a:txBody>
                    <a:bodyPr/>
                    <a:lstStyle/>
                    <a:p>
                      <a:pPr algn="l" fontAlgn="t"/>
                      <a:r>
                        <a:rPr lang="en-GH" sz="2000">
                          <a:effectLst/>
                        </a:rPr>
                        <a:t>5 &lt;&lt; 1</a:t>
                      </a:r>
                    </a:p>
                  </a:txBody>
                  <a:tcPr marL="50800" marR="50800" marT="50800" marB="50800"/>
                </a:tc>
                <a:tc>
                  <a:txBody>
                    <a:bodyPr/>
                    <a:lstStyle/>
                    <a:p>
                      <a:pPr algn="l" fontAlgn="t"/>
                      <a:r>
                        <a:rPr lang="en-GH" sz="2000">
                          <a:effectLst/>
                        </a:rPr>
                        <a:t>0101 &lt;&lt; 1</a:t>
                      </a:r>
                    </a:p>
                  </a:txBody>
                  <a:tcPr marL="50800" marR="50800" marT="50800" marB="50800"/>
                </a:tc>
                <a:tc>
                  <a:txBody>
                    <a:bodyPr/>
                    <a:lstStyle/>
                    <a:p>
                      <a:pPr algn="l" fontAlgn="t"/>
                      <a:r>
                        <a:rPr lang="en-GH" sz="2000">
                          <a:effectLst/>
                        </a:rPr>
                        <a:t>1010</a:t>
                      </a:r>
                    </a:p>
                  </a:txBody>
                  <a:tcPr marL="50800" marR="50800" marT="50800" marB="50800"/>
                </a:tc>
                <a:tc>
                  <a:txBody>
                    <a:bodyPr/>
                    <a:lstStyle/>
                    <a:p>
                      <a:pPr algn="l" fontAlgn="t"/>
                      <a:r>
                        <a:rPr lang="en-GH" sz="2000">
                          <a:effectLst/>
                        </a:rPr>
                        <a:t> 10</a:t>
                      </a:r>
                    </a:p>
                  </a:txBody>
                  <a:tcPr marL="50800" marR="50800" marT="50800" marB="50800"/>
                </a:tc>
                <a:extLst>
                  <a:ext uri="{0D108BD9-81ED-4DB2-BD59-A6C34878D82A}">
                    <a16:rowId xmlns:a16="http://schemas.microsoft.com/office/drawing/2014/main" val="2491346288"/>
                  </a:ext>
                </a:extLst>
              </a:tr>
              <a:tr h="0">
                <a:tc>
                  <a:txBody>
                    <a:bodyPr/>
                    <a:lstStyle/>
                    <a:p>
                      <a:pPr algn="l" fontAlgn="t"/>
                      <a:r>
                        <a:rPr lang="en-GH" sz="2000">
                          <a:effectLst/>
                        </a:rPr>
                        <a:t>&gt;&gt;</a:t>
                      </a:r>
                    </a:p>
                  </a:txBody>
                  <a:tcPr marL="101600" marR="50800" marT="50800" marB="50800"/>
                </a:tc>
                <a:tc>
                  <a:txBody>
                    <a:bodyPr/>
                    <a:lstStyle/>
                    <a:p>
                      <a:pPr algn="l" fontAlgn="t"/>
                      <a:r>
                        <a:rPr lang="en-IN" sz="2000">
                          <a:effectLst/>
                        </a:rPr>
                        <a:t>right shift</a:t>
                      </a:r>
                    </a:p>
                  </a:txBody>
                  <a:tcPr marL="50800" marR="50800" marT="50800" marB="50800"/>
                </a:tc>
                <a:tc>
                  <a:txBody>
                    <a:bodyPr/>
                    <a:lstStyle/>
                    <a:p>
                      <a:pPr algn="l" fontAlgn="t"/>
                      <a:r>
                        <a:rPr lang="en-GH" sz="2000">
                          <a:effectLst/>
                        </a:rPr>
                        <a:t>5 &gt;&gt; 1</a:t>
                      </a:r>
                    </a:p>
                  </a:txBody>
                  <a:tcPr marL="50800" marR="50800" marT="50800" marB="50800"/>
                </a:tc>
                <a:tc>
                  <a:txBody>
                    <a:bodyPr/>
                    <a:lstStyle/>
                    <a:p>
                      <a:pPr algn="l" fontAlgn="t"/>
                      <a:r>
                        <a:rPr lang="en-GH" sz="2000">
                          <a:effectLst/>
                        </a:rPr>
                        <a:t>0101 &gt;&gt; 1</a:t>
                      </a:r>
                    </a:p>
                  </a:txBody>
                  <a:tcPr marL="50800" marR="50800" marT="50800" marB="50800"/>
                </a:tc>
                <a:tc>
                  <a:txBody>
                    <a:bodyPr/>
                    <a:lstStyle/>
                    <a:p>
                      <a:pPr algn="l" fontAlgn="t"/>
                      <a:r>
                        <a:rPr lang="en-GH" sz="2000">
                          <a:effectLst/>
                        </a:rPr>
                        <a:t>0010</a:t>
                      </a:r>
                    </a:p>
                  </a:txBody>
                  <a:tcPr marL="50800" marR="50800" marT="50800" marB="50800"/>
                </a:tc>
                <a:tc>
                  <a:txBody>
                    <a:bodyPr/>
                    <a:lstStyle/>
                    <a:p>
                      <a:pPr algn="l" fontAlgn="t"/>
                      <a:r>
                        <a:rPr lang="en-GH" sz="2000">
                          <a:effectLst/>
                        </a:rPr>
                        <a:t>  2</a:t>
                      </a:r>
                    </a:p>
                  </a:txBody>
                  <a:tcPr marL="50800" marR="50800" marT="50800" marB="50800"/>
                </a:tc>
                <a:extLst>
                  <a:ext uri="{0D108BD9-81ED-4DB2-BD59-A6C34878D82A}">
                    <a16:rowId xmlns:a16="http://schemas.microsoft.com/office/drawing/2014/main" val="3456750847"/>
                  </a:ext>
                </a:extLst>
              </a:tr>
              <a:tr h="0">
                <a:tc>
                  <a:txBody>
                    <a:bodyPr/>
                    <a:lstStyle/>
                    <a:p>
                      <a:pPr algn="l" fontAlgn="t"/>
                      <a:r>
                        <a:rPr lang="en-GH" sz="2000">
                          <a:effectLst/>
                        </a:rPr>
                        <a:t>&gt;&gt;&gt;</a:t>
                      </a:r>
                    </a:p>
                  </a:txBody>
                  <a:tcPr marL="101600" marR="50800" marT="50800" marB="50800"/>
                </a:tc>
                <a:tc>
                  <a:txBody>
                    <a:bodyPr/>
                    <a:lstStyle/>
                    <a:p>
                      <a:pPr algn="l" fontAlgn="t"/>
                      <a:r>
                        <a:rPr lang="en-IN" sz="2000">
                          <a:effectLst/>
                        </a:rPr>
                        <a:t>unsigned right shift</a:t>
                      </a:r>
                    </a:p>
                  </a:txBody>
                  <a:tcPr marL="50800" marR="50800" marT="50800" marB="50800"/>
                </a:tc>
                <a:tc>
                  <a:txBody>
                    <a:bodyPr/>
                    <a:lstStyle/>
                    <a:p>
                      <a:pPr algn="l" fontAlgn="t"/>
                      <a:r>
                        <a:rPr lang="en-GH" sz="2000">
                          <a:effectLst/>
                        </a:rPr>
                        <a:t>5 &gt;&gt;&gt; 1</a:t>
                      </a:r>
                    </a:p>
                  </a:txBody>
                  <a:tcPr marL="50800" marR="50800" marT="50800" marB="50800"/>
                </a:tc>
                <a:tc>
                  <a:txBody>
                    <a:bodyPr/>
                    <a:lstStyle/>
                    <a:p>
                      <a:pPr algn="l" fontAlgn="t"/>
                      <a:r>
                        <a:rPr lang="en-GH" sz="2000" dirty="0">
                          <a:effectLst/>
                        </a:rPr>
                        <a:t>0101 &gt;&gt;&gt; 1</a:t>
                      </a:r>
                    </a:p>
                  </a:txBody>
                  <a:tcPr marL="50800" marR="50800" marT="50800" marB="50800"/>
                </a:tc>
                <a:tc>
                  <a:txBody>
                    <a:bodyPr/>
                    <a:lstStyle/>
                    <a:p>
                      <a:pPr algn="l" fontAlgn="t"/>
                      <a:r>
                        <a:rPr lang="en-GH" sz="2000">
                          <a:effectLst/>
                        </a:rPr>
                        <a:t>0010</a:t>
                      </a:r>
                    </a:p>
                  </a:txBody>
                  <a:tcPr marL="50800" marR="50800" marT="50800" marB="50800"/>
                </a:tc>
                <a:tc>
                  <a:txBody>
                    <a:bodyPr/>
                    <a:lstStyle/>
                    <a:p>
                      <a:pPr algn="l" fontAlgn="t"/>
                      <a:r>
                        <a:rPr lang="en-GH" sz="2000" dirty="0">
                          <a:effectLst/>
                        </a:rPr>
                        <a:t>  2</a:t>
                      </a:r>
                    </a:p>
                  </a:txBody>
                  <a:tcPr marL="50800" marR="50800" marT="50800" marB="50800"/>
                </a:tc>
                <a:extLst>
                  <a:ext uri="{0D108BD9-81ED-4DB2-BD59-A6C34878D82A}">
                    <a16:rowId xmlns:a16="http://schemas.microsoft.com/office/drawing/2014/main" val="3849485892"/>
                  </a:ext>
                </a:extLst>
              </a:tr>
            </a:tbl>
          </a:graphicData>
        </a:graphic>
      </p:graphicFrame>
    </p:spTree>
    <p:extLst>
      <p:ext uri="{BB962C8B-B14F-4D97-AF65-F5344CB8AC3E}">
        <p14:creationId xmlns:p14="http://schemas.microsoft.com/office/powerpoint/2010/main" val="3948026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AB700-BD56-921E-79A0-9F5A23859A8C}"/>
              </a:ext>
            </a:extLst>
          </p:cNvPr>
          <p:cNvSpPr>
            <a:spLocks noGrp="1"/>
          </p:cNvSpPr>
          <p:nvPr>
            <p:ph type="title"/>
          </p:nvPr>
        </p:nvSpPr>
        <p:spPr/>
        <p:txBody>
          <a:bodyPr/>
          <a:lstStyle/>
          <a:p>
            <a:r>
              <a:rPr lang="en-IN" dirty="0"/>
              <a:t>Datatypes</a:t>
            </a:r>
            <a:endParaRPr lang="en-GH" dirty="0"/>
          </a:p>
        </p:txBody>
      </p:sp>
      <p:graphicFrame>
        <p:nvGraphicFramePr>
          <p:cNvPr id="7" name="Content Placeholder 6">
            <a:extLst>
              <a:ext uri="{FF2B5EF4-FFF2-40B4-BE49-F238E27FC236}">
                <a16:creationId xmlns:a16="http://schemas.microsoft.com/office/drawing/2014/main" id="{717FB39B-F307-D559-29B1-7AAAD4B263B3}"/>
              </a:ext>
            </a:extLst>
          </p:cNvPr>
          <p:cNvGraphicFramePr>
            <a:graphicFrameLocks noGrp="1"/>
          </p:cNvGraphicFramePr>
          <p:nvPr>
            <p:ph idx="1"/>
            <p:extLst>
              <p:ext uri="{D42A27DB-BD31-4B8C-83A1-F6EECF244321}">
                <p14:modId xmlns:p14="http://schemas.microsoft.com/office/powerpoint/2010/main" val="2339855087"/>
              </p:ext>
            </p:extLst>
          </p:nvPr>
        </p:nvGraphicFramePr>
        <p:xfrm>
          <a:off x="241300" y="1385888"/>
          <a:ext cx="8682038" cy="4943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51081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E14FD-9A1E-44B2-A0DA-88C4A115B9C1}"/>
              </a:ext>
            </a:extLst>
          </p:cNvPr>
          <p:cNvSpPr>
            <a:spLocks noGrp="1"/>
          </p:cNvSpPr>
          <p:nvPr>
            <p:ph type="title"/>
          </p:nvPr>
        </p:nvSpPr>
        <p:spPr/>
        <p:txBody>
          <a:bodyPr/>
          <a:lstStyle/>
          <a:p>
            <a:r>
              <a:rPr lang="en-IN" dirty="0"/>
              <a:t>Datatypes: Primitive</a:t>
            </a:r>
            <a:endParaRPr lang="en-GH" dirty="0"/>
          </a:p>
        </p:txBody>
      </p:sp>
      <p:sp>
        <p:nvSpPr>
          <p:cNvPr id="3" name="Content Placeholder 2">
            <a:extLst>
              <a:ext uri="{FF2B5EF4-FFF2-40B4-BE49-F238E27FC236}">
                <a16:creationId xmlns:a16="http://schemas.microsoft.com/office/drawing/2014/main" id="{060A5B76-BF46-5890-77ED-D718696B6A99}"/>
              </a:ext>
            </a:extLst>
          </p:cNvPr>
          <p:cNvSpPr>
            <a:spLocks noGrp="1"/>
          </p:cNvSpPr>
          <p:nvPr>
            <p:ph idx="1"/>
          </p:nvPr>
        </p:nvSpPr>
        <p:spPr/>
        <p:txBody>
          <a:bodyPr/>
          <a:lstStyle/>
          <a:p>
            <a:r>
              <a:rPr lang="en-US" dirty="0">
                <a:solidFill>
                  <a:srgbClr val="0070C0"/>
                </a:solidFill>
              </a:rPr>
              <a:t>Simplest forms of data, which are </a:t>
            </a:r>
            <a:r>
              <a:rPr lang="en-US" b="1" dirty="0">
                <a:solidFill>
                  <a:srgbClr val="0070C0"/>
                </a:solidFill>
              </a:rPr>
              <a:t>immutable</a:t>
            </a:r>
            <a:r>
              <a:rPr lang="en-US" dirty="0">
                <a:solidFill>
                  <a:srgbClr val="0070C0"/>
                </a:solidFill>
              </a:rPr>
              <a:t> (cannot be changed)</a:t>
            </a:r>
          </a:p>
          <a:p>
            <a:r>
              <a:rPr lang="en-US" b="1" dirty="0">
                <a:solidFill>
                  <a:srgbClr val="009242"/>
                </a:solidFill>
              </a:rPr>
              <a:t>Number</a:t>
            </a:r>
            <a:r>
              <a:rPr lang="en-US" dirty="0"/>
              <a:t>: Represents both integer and floating-point numbers</a:t>
            </a:r>
          </a:p>
          <a:p>
            <a:endParaRPr lang="en-US" dirty="0"/>
          </a:p>
          <a:p>
            <a:endParaRPr lang="en-US" dirty="0"/>
          </a:p>
          <a:p>
            <a:r>
              <a:rPr lang="en-US" b="1" dirty="0">
                <a:solidFill>
                  <a:srgbClr val="009242"/>
                </a:solidFill>
              </a:rPr>
              <a:t>String</a:t>
            </a:r>
            <a:r>
              <a:rPr lang="en-US" dirty="0"/>
              <a:t>: Used to represent text enclosed within quotes (single, double, or </a:t>
            </a:r>
            <a:r>
              <a:rPr lang="en-US" u="sng" dirty="0"/>
              <a:t>backticks</a:t>
            </a:r>
            <a:r>
              <a:rPr lang="en-US" dirty="0"/>
              <a:t> for template literals).</a:t>
            </a:r>
          </a:p>
          <a:p>
            <a:endParaRPr lang="en-GH" dirty="0"/>
          </a:p>
        </p:txBody>
      </p:sp>
      <p:pic>
        <p:nvPicPr>
          <p:cNvPr id="5" name="Picture 4">
            <a:extLst>
              <a:ext uri="{FF2B5EF4-FFF2-40B4-BE49-F238E27FC236}">
                <a16:creationId xmlns:a16="http://schemas.microsoft.com/office/drawing/2014/main" id="{A9D8F333-162D-E16A-2F7D-D6567D6EB77F}"/>
              </a:ext>
            </a:extLst>
          </p:cNvPr>
          <p:cNvPicPr>
            <a:picLocks noChangeAspect="1"/>
          </p:cNvPicPr>
          <p:nvPr/>
        </p:nvPicPr>
        <p:blipFill>
          <a:blip r:embed="rId2"/>
          <a:stretch>
            <a:fillRect/>
          </a:stretch>
        </p:blipFill>
        <p:spPr>
          <a:xfrm>
            <a:off x="570056" y="2321190"/>
            <a:ext cx="2793289" cy="848730"/>
          </a:xfrm>
          <a:prstGeom prst="rect">
            <a:avLst/>
          </a:prstGeom>
        </p:spPr>
      </p:pic>
      <p:pic>
        <p:nvPicPr>
          <p:cNvPr id="9" name="Picture 8">
            <a:extLst>
              <a:ext uri="{FF2B5EF4-FFF2-40B4-BE49-F238E27FC236}">
                <a16:creationId xmlns:a16="http://schemas.microsoft.com/office/drawing/2014/main" id="{2F9B3F2B-9A8E-9F4C-1E4B-13C68B8FF43C}"/>
              </a:ext>
            </a:extLst>
          </p:cNvPr>
          <p:cNvPicPr>
            <a:picLocks noChangeAspect="1"/>
          </p:cNvPicPr>
          <p:nvPr/>
        </p:nvPicPr>
        <p:blipFill>
          <a:blip r:embed="rId3"/>
          <a:stretch>
            <a:fillRect/>
          </a:stretch>
        </p:blipFill>
        <p:spPr>
          <a:xfrm>
            <a:off x="570056" y="3918783"/>
            <a:ext cx="6518685" cy="1239089"/>
          </a:xfrm>
          <a:prstGeom prst="rect">
            <a:avLst/>
          </a:prstGeom>
        </p:spPr>
      </p:pic>
      <p:pic>
        <p:nvPicPr>
          <p:cNvPr id="11" name="Picture 10">
            <a:extLst>
              <a:ext uri="{FF2B5EF4-FFF2-40B4-BE49-F238E27FC236}">
                <a16:creationId xmlns:a16="http://schemas.microsoft.com/office/drawing/2014/main" id="{ECA6C83B-E05D-6BFB-BFBA-0CED050DA704}"/>
              </a:ext>
            </a:extLst>
          </p:cNvPr>
          <p:cNvPicPr>
            <a:picLocks noChangeAspect="1"/>
          </p:cNvPicPr>
          <p:nvPr/>
        </p:nvPicPr>
        <p:blipFill>
          <a:blip r:embed="rId4"/>
          <a:stretch>
            <a:fillRect/>
          </a:stretch>
        </p:blipFill>
        <p:spPr>
          <a:xfrm>
            <a:off x="1522571" y="5196390"/>
            <a:ext cx="6830378" cy="1400370"/>
          </a:xfrm>
          <a:prstGeom prst="rect">
            <a:avLst/>
          </a:prstGeom>
        </p:spPr>
      </p:pic>
    </p:spTree>
    <p:extLst>
      <p:ext uri="{BB962C8B-B14F-4D97-AF65-F5344CB8AC3E}">
        <p14:creationId xmlns:p14="http://schemas.microsoft.com/office/powerpoint/2010/main" val="1044444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E14FD-9A1E-44B2-A0DA-88C4A115B9C1}"/>
              </a:ext>
            </a:extLst>
          </p:cNvPr>
          <p:cNvSpPr>
            <a:spLocks noGrp="1"/>
          </p:cNvSpPr>
          <p:nvPr>
            <p:ph type="title"/>
          </p:nvPr>
        </p:nvSpPr>
        <p:spPr/>
        <p:txBody>
          <a:bodyPr/>
          <a:lstStyle/>
          <a:p>
            <a:r>
              <a:rPr lang="en-IN" dirty="0"/>
              <a:t>Datatypes: Primitive</a:t>
            </a:r>
            <a:endParaRPr lang="en-GH" dirty="0"/>
          </a:p>
        </p:txBody>
      </p:sp>
      <p:sp>
        <p:nvSpPr>
          <p:cNvPr id="3" name="Content Placeholder 2">
            <a:extLst>
              <a:ext uri="{FF2B5EF4-FFF2-40B4-BE49-F238E27FC236}">
                <a16:creationId xmlns:a16="http://schemas.microsoft.com/office/drawing/2014/main" id="{060A5B76-BF46-5890-77ED-D718696B6A99}"/>
              </a:ext>
            </a:extLst>
          </p:cNvPr>
          <p:cNvSpPr>
            <a:spLocks noGrp="1"/>
          </p:cNvSpPr>
          <p:nvPr>
            <p:ph idx="1"/>
          </p:nvPr>
        </p:nvSpPr>
        <p:spPr/>
        <p:txBody>
          <a:bodyPr/>
          <a:lstStyle/>
          <a:p>
            <a:r>
              <a:rPr lang="en-US" dirty="0">
                <a:solidFill>
                  <a:srgbClr val="0070C0"/>
                </a:solidFill>
              </a:rPr>
              <a:t>Simplest forms of data, which are </a:t>
            </a:r>
            <a:r>
              <a:rPr lang="en-US" b="1" dirty="0">
                <a:solidFill>
                  <a:srgbClr val="0070C0"/>
                </a:solidFill>
              </a:rPr>
              <a:t>immutable</a:t>
            </a:r>
            <a:r>
              <a:rPr lang="en-US" dirty="0">
                <a:solidFill>
                  <a:srgbClr val="0070C0"/>
                </a:solidFill>
              </a:rPr>
              <a:t> (cannot be changed)</a:t>
            </a:r>
          </a:p>
          <a:p>
            <a:r>
              <a:rPr lang="en-US" b="1" dirty="0">
                <a:solidFill>
                  <a:srgbClr val="009242"/>
                </a:solidFill>
              </a:rPr>
              <a:t>Boolean</a:t>
            </a:r>
            <a:r>
              <a:rPr lang="en-US" dirty="0"/>
              <a:t>: Represents true or false values</a:t>
            </a:r>
          </a:p>
          <a:p>
            <a:endParaRPr lang="en-US" dirty="0"/>
          </a:p>
          <a:p>
            <a:endParaRPr lang="en-US" dirty="0"/>
          </a:p>
          <a:p>
            <a:r>
              <a:rPr lang="en-US" b="1" dirty="0">
                <a:solidFill>
                  <a:srgbClr val="009242"/>
                </a:solidFill>
              </a:rPr>
              <a:t>Undefined</a:t>
            </a:r>
            <a:r>
              <a:rPr lang="en-US" dirty="0"/>
              <a:t>: Represents a variable that has been declared but has not yet been assigned a value</a:t>
            </a:r>
          </a:p>
          <a:p>
            <a:endParaRPr lang="en-US" dirty="0"/>
          </a:p>
          <a:p>
            <a:endParaRPr lang="en-US" dirty="0"/>
          </a:p>
          <a:p>
            <a:r>
              <a:rPr lang="en-US" b="1" dirty="0">
                <a:solidFill>
                  <a:srgbClr val="009242"/>
                </a:solidFill>
              </a:rPr>
              <a:t>Null</a:t>
            </a:r>
            <a:r>
              <a:rPr lang="en-US" dirty="0"/>
              <a:t>: Represents an explicitly empty or non-existent value</a:t>
            </a:r>
          </a:p>
          <a:p>
            <a:pPr marL="0" indent="0">
              <a:buNone/>
            </a:pPr>
            <a:endParaRPr lang="en-US" dirty="0"/>
          </a:p>
          <a:p>
            <a:pPr marL="0" indent="0">
              <a:buNone/>
            </a:pPr>
            <a:endParaRPr lang="en-GH" dirty="0"/>
          </a:p>
        </p:txBody>
      </p:sp>
      <p:pic>
        <p:nvPicPr>
          <p:cNvPr id="13" name="Picture 12">
            <a:extLst>
              <a:ext uri="{FF2B5EF4-FFF2-40B4-BE49-F238E27FC236}">
                <a16:creationId xmlns:a16="http://schemas.microsoft.com/office/drawing/2014/main" id="{DCAF083D-A745-3714-E50E-4BC37C146587}"/>
              </a:ext>
            </a:extLst>
          </p:cNvPr>
          <p:cNvPicPr>
            <a:picLocks noChangeAspect="1"/>
          </p:cNvPicPr>
          <p:nvPr/>
        </p:nvPicPr>
        <p:blipFill>
          <a:blip r:embed="rId2"/>
          <a:stretch>
            <a:fillRect/>
          </a:stretch>
        </p:blipFill>
        <p:spPr>
          <a:xfrm>
            <a:off x="631978" y="2360562"/>
            <a:ext cx="2698944" cy="819518"/>
          </a:xfrm>
          <a:prstGeom prst="rect">
            <a:avLst/>
          </a:prstGeom>
        </p:spPr>
      </p:pic>
      <p:pic>
        <p:nvPicPr>
          <p:cNvPr id="15" name="Picture 14">
            <a:extLst>
              <a:ext uri="{FF2B5EF4-FFF2-40B4-BE49-F238E27FC236}">
                <a16:creationId xmlns:a16="http://schemas.microsoft.com/office/drawing/2014/main" id="{8E32901E-9445-38CF-D2FF-BCF171284755}"/>
              </a:ext>
            </a:extLst>
          </p:cNvPr>
          <p:cNvPicPr>
            <a:picLocks noChangeAspect="1"/>
          </p:cNvPicPr>
          <p:nvPr/>
        </p:nvPicPr>
        <p:blipFill>
          <a:blip r:embed="rId3"/>
          <a:stretch>
            <a:fillRect/>
          </a:stretch>
        </p:blipFill>
        <p:spPr>
          <a:xfrm>
            <a:off x="631978" y="4072280"/>
            <a:ext cx="3233131" cy="408279"/>
          </a:xfrm>
          <a:prstGeom prst="rect">
            <a:avLst/>
          </a:prstGeom>
        </p:spPr>
      </p:pic>
      <p:pic>
        <p:nvPicPr>
          <p:cNvPr id="17" name="Picture 16">
            <a:extLst>
              <a:ext uri="{FF2B5EF4-FFF2-40B4-BE49-F238E27FC236}">
                <a16:creationId xmlns:a16="http://schemas.microsoft.com/office/drawing/2014/main" id="{32239B72-24A2-BA68-3B75-ED893C5096D5}"/>
              </a:ext>
            </a:extLst>
          </p:cNvPr>
          <p:cNvPicPr>
            <a:picLocks noChangeAspect="1"/>
          </p:cNvPicPr>
          <p:nvPr/>
        </p:nvPicPr>
        <p:blipFill>
          <a:blip r:embed="rId4"/>
          <a:stretch>
            <a:fillRect/>
          </a:stretch>
        </p:blipFill>
        <p:spPr>
          <a:xfrm>
            <a:off x="631977" y="5471960"/>
            <a:ext cx="1935583" cy="563079"/>
          </a:xfrm>
          <a:prstGeom prst="rect">
            <a:avLst/>
          </a:prstGeom>
        </p:spPr>
      </p:pic>
      <p:sp>
        <p:nvSpPr>
          <p:cNvPr id="18" name="TextBox 17">
            <a:extLst>
              <a:ext uri="{FF2B5EF4-FFF2-40B4-BE49-F238E27FC236}">
                <a16:creationId xmlns:a16="http://schemas.microsoft.com/office/drawing/2014/main" id="{B58470AC-D79E-04E0-DACB-15EC03EC0C98}"/>
              </a:ext>
            </a:extLst>
          </p:cNvPr>
          <p:cNvSpPr txBox="1"/>
          <p:nvPr/>
        </p:nvSpPr>
        <p:spPr>
          <a:xfrm>
            <a:off x="3078480" y="5568833"/>
            <a:ext cx="4876800" cy="369332"/>
          </a:xfrm>
          <a:prstGeom prst="rect">
            <a:avLst/>
          </a:prstGeom>
          <a:noFill/>
        </p:spPr>
        <p:txBody>
          <a:bodyPr wrap="square" rtlCol="0">
            <a:spAutoFit/>
          </a:bodyPr>
          <a:lstStyle/>
          <a:p>
            <a:r>
              <a:rPr lang="en-IN" dirty="0">
                <a:solidFill>
                  <a:srgbClr val="FF0000"/>
                </a:solidFill>
              </a:rPr>
              <a:t>Note: </a:t>
            </a:r>
            <a:r>
              <a:rPr lang="en-IN" dirty="0"/>
              <a:t>Also, works on reference types</a:t>
            </a:r>
            <a:endParaRPr lang="en-GH" dirty="0"/>
          </a:p>
        </p:txBody>
      </p:sp>
    </p:spTree>
    <p:extLst>
      <p:ext uri="{BB962C8B-B14F-4D97-AF65-F5344CB8AC3E}">
        <p14:creationId xmlns:p14="http://schemas.microsoft.com/office/powerpoint/2010/main" val="16225679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E14FD-9A1E-44B2-A0DA-88C4A115B9C1}"/>
              </a:ext>
            </a:extLst>
          </p:cNvPr>
          <p:cNvSpPr>
            <a:spLocks noGrp="1"/>
          </p:cNvSpPr>
          <p:nvPr>
            <p:ph type="title"/>
          </p:nvPr>
        </p:nvSpPr>
        <p:spPr/>
        <p:txBody>
          <a:bodyPr/>
          <a:lstStyle/>
          <a:p>
            <a:r>
              <a:rPr lang="en-IN" dirty="0"/>
              <a:t>Datatypes: Primitive</a:t>
            </a:r>
            <a:endParaRPr lang="en-GH" dirty="0"/>
          </a:p>
        </p:txBody>
      </p:sp>
      <p:sp>
        <p:nvSpPr>
          <p:cNvPr id="3" name="Content Placeholder 2">
            <a:extLst>
              <a:ext uri="{FF2B5EF4-FFF2-40B4-BE49-F238E27FC236}">
                <a16:creationId xmlns:a16="http://schemas.microsoft.com/office/drawing/2014/main" id="{060A5B76-BF46-5890-77ED-D718696B6A99}"/>
              </a:ext>
            </a:extLst>
          </p:cNvPr>
          <p:cNvSpPr>
            <a:spLocks noGrp="1"/>
          </p:cNvSpPr>
          <p:nvPr>
            <p:ph idx="1"/>
          </p:nvPr>
        </p:nvSpPr>
        <p:spPr/>
        <p:txBody>
          <a:bodyPr/>
          <a:lstStyle/>
          <a:p>
            <a:r>
              <a:rPr lang="en-US" dirty="0">
                <a:solidFill>
                  <a:srgbClr val="0070C0"/>
                </a:solidFill>
              </a:rPr>
              <a:t>Simplest forms of data, which are </a:t>
            </a:r>
            <a:r>
              <a:rPr lang="en-US" b="1" dirty="0">
                <a:solidFill>
                  <a:srgbClr val="0070C0"/>
                </a:solidFill>
              </a:rPr>
              <a:t>immutable</a:t>
            </a:r>
            <a:r>
              <a:rPr lang="en-US" dirty="0">
                <a:solidFill>
                  <a:srgbClr val="0070C0"/>
                </a:solidFill>
              </a:rPr>
              <a:t> (cannot be changed)</a:t>
            </a:r>
          </a:p>
          <a:p>
            <a:r>
              <a:rPr lang="en-US" b="1" dirty="0">
                <a:solidFill>
                  <a:srgbClr val="009242"/>
                </a:solidFill>
              </a:rPr>
              <a:t>Symbol</a:t>
            </a:r>
            <a:r>
              <a:rPr lang="en-US" dirty="0"/>
              <a:t>: A unique and immutable primitive value, often used as keys for object properties</a:t>
            </a:r>
          </a:p>
          <a:p>
            <a:endParaRPr lang="en-GH" dirty="0"/>
          </a:p>
        </p:txBody>
      </p:sp>
      <p:pic>
        <p:nvPicPr>
          <p:cNvPr id="5" name="Picture 4">
            <a:extLst>
              <a:ext uri="{FF2B5EF4-FFF2-40B4-BE49-F238E27FC236}">
                <a16:creationId xmlns:a16="http://schemas.microsoft.com/office/drawing/2014/main" id="{EBE47F77-5C7C-612F-63A7-6756AB4CF75E}"/>
              </a:ext>
            </a:extLst>
          </p:cNvPr>
          <p:cNvPicPr>
            <a:picLocks noChangeAspect="1"/>
          </p:cNvPicPr>
          <p:nvPr/>
        </p:nvPicPr>
        <p:blipFill>
          <a:blip r:embed="rId2"/>
          <a:stretch>
            <a:fillRect/>
          </a:stretch>
        </p:blipFill>
        <p:spPr>
          <a:xfrm>
            <a:off x="583415" y="4176230"/>
            <a:ext cx="6697010" cy="2152950"/>
          </a:xfrm>
          <a:prstGeom prst="rect">
            <a:avLst/>
          </a:prstGeom>
        </p:spPr>
      </p:pic>
      <p:pic>
        <p:nvPicPr>
          <p:cNvPr id="7" name="Picture 6">
            <a:extLst>
              <a:ext uri="{FF2B5EF4-FFF2-40B4-BE49-F238E27FC236}">
                <a16:creationId xmlns:a16="http://schemas.microsoft.com/office/drawing/2014/main" id="{B1642B8C-A1A2-F906-3439-D142D8FB9D73}"/>
              </a:ext>
            </a:extLst>
          </p:cNvPr>
          <p:cNvPicPr>
            <a:picLocks noChangeAspect="1"/>
          </p:cNvPicPr>
          <p:nvPr/>
        </p:nvPicPr>
        <p:blipFill>
          <a:blip r:embed="rId3"/>
          <a:stretch>
            <a:fillRect/>
          </a:stretch>
        </p:blipFill>
        <p:spPr>
          <a:xfrm>
            <a:off x="583415" y="2633341"/>
            <a:ext cx="7535327" cy="1105054"/>
          </a:xfrm>
          <a:prstGeom prst="rect">
            <a:avLst/>
          </a:prstGeom>
        </p:spPr>
      </p:pic>
    </p:spTree>
    <p:extLst>
      <p:ext uri="{BB962C8B-B14F-4D97-AF65-F5344CB8AC3E}">
        <p14:creationId xmlns:p14="http://schemas.microsoft.com/office/powerpoint/2010/main" val="966903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E14FD-9A1E-44B2-A0DA-88C4A115B9C1}"/>
              </a:ext>
            </a:extLst>
          </p:cNvPr>
          <p:cNvSpPr>
            <a:spLocks noGrp="1"/>
          </p:cNvSpPr>
          <p:nvPr>
            <p:ph type="title"/>
          </p:nvPr>
        </p:nvSpPr>
        <p:spPr/>
        <p:txBody>
          <a:bodyPr/>
          <a:lstStyle/>
          <a:p>
            <a:r>
              <a:rPr lang="en-IN" dirty="0"/>
              <a:t>Datatypes: Primitive</a:t>
            </a:r>
            <a:endParaRPr lang="en-GH" dirty="0"/>
          </a:p>
        </p:txBody>
      </p:sp>
      <p:sp>
        <p:nvSpPr>
          <p:cNvPr id="3" name="Content Placeholder 2">
            <a:extLst>
              <a:ext uri="{FF2B5EF4-FFF2-40B4-BE49-F238E27FC236}">
                <a16:creationId xmlns:a16="http://schemas.microsoft.com/office/drawing/2014/main" id="{060A5B76-BF46-5890-77ED-D718696B6A99}"/>
              </a:ext>
            </a:extLst>
          </p:cNvPr>
          <p:cNvSpPr>
            <a:spLocks noGrp="1"/>
          </p:cNvSpPr>
          <p:nvPr>
            <p:ph idx="1"/>
          </p:nvPr>
        </p:nvSpPr>
        <p:spPr/>
        <p:txBody>
          <a:bodyPr/>
          <a:lstStyle/>
          <a:p>
            <a:r>
              <a:rPr lang="en-US" dirty="0">
                <a:solidFill>
                  <a:srgbClr val="0070C0"/>
                </a:solidFill>
              </a:rPr>
              <a:t>Simplest forms of data, which are </a:t>
            </a:r>
            <a:r>
              <a:rPr lang="en-US" b="1" dirty="0">
                <a:solidFill>
                  <a:srgbClr val="0070C0"/>
                </a:solidFill>
              </a:rPr>
              <a:t>immutable</a:t>
            </a:r>
            <a:r>
              <a:rPr lang="en-US" dirty="0">
                <a:solidFill>
                  <a:srgbClr val="0070C0"/>
                </a:solidFill>
              </a:rPr>
              <a:t> (cannot be changed)</a:t>
            </a:r>
          </a:p>
          <a:p>
            <a:r>
              <a:rPr lang="en-US" b="1" dirty="0" err="1">
                <a:solidFill>
                  <a:srgbClr val="009242"/>
                </a:solidFill>
              </a:rPr>
              <a:t>BigInt</a:t>
            </a:r>
            <a:r>
              <a:rPr lang="en-US" b="1" dirty="0">
                <a:solidFill>
                  <a:srgbClr val="009242"/>
                </a:solidFill>
              </a:rPr>
              <a:t>: </a:t>
            </a:r>
            <a:r>
              <a:rPr lang="en-US" dirty="0"/>
              <a:t>Used for integers larger than the maximum safe integer for the Number type.</a:t>
            </a:r>
          </a:p>
          <a:p>
            <a:endParaRPr lang="en-US" dirty="0"/>
          </a:p>
          <a:p>
            <a:endParaRPr lang="en-US" dirty="0"/>
          </a:p>
          <a:p>
            <a:r>
              <a:rPr lang="en-US" dirty="0"/>
              <a:t>JavaScript's Number type, which is based on the IEEE 754 double-precision floating-point, can accurately represent integer values only up to 2^53 - 1 (which is 9007199254740991). </a:t>
            </a:r>
          </a:p>
          <a:p>
            <a:r>
              <a:rPr lang="en-US" dirty="0"/>
              <a:t>This is referred to as </a:t>
            </a:r>
            <a:r>
              <a:rPr lang="en-US" dirty="0" err="1"/>
              <a:t>Number.MAX_SAFE_INTEGER</a:t>
            </a:r>
            <a:r>
              <a:rPr lang="en-US" dirty="0"/>
              <a:t>.</a:t>
            </a:r>
            <a:endParaRPr lang="en-GH" dirty="0"/>
          </a:p>
        </p:txBody>
      </p:sp>
      <p:pic>
        <p:nvPicPr>
          <p:cNvPr id="6" name="Picture 5">
            <a:extLst>
              <a:ext uri="{FF2B5EF4-FFF2-40B4-BE49-F238E27FC236}">
                <a16:creationId xmlns:a16="http://schemas.microsoft.com/office/drawing/2014/main" id="{104E5D3A-C8D5-2966-CB9B-82DF8A29D46E}"/>
              </a:ext>
            </a:extLst>
          </p:cNvPr>
          <p:cNvPicPr>
            <a:picLocks noChangeAspect="1"/>
          </p:cNvPicPr>
          <p:nvPr/>
        </p:nvPicPr>
        <p:blipFill>
          <a:blip r:embed="rId2"/>
          <a:stretch>
            <a:fillRect/>
          </a:stretch>
        </p:blipFill>
        <p:spPr>
          <a:xfrm>
            <a:off x="619177" y="2757458"/>
            <a:ext cx="4653863" cy="524872"/>
          </a:xfrm>
          <a:prstGeom prst="rect">
            <a:avLst/>
          </a:prstGeom>
        </p:spPr>
      </p:pic>
    </p:spTree>
    <p:extLst>
      <p:ext uri="{BB962C8B-B14F-4D97-AF65-F5344CB8AC3E}">
        <p14:creationId xmlns:p14="http://schemas.microsoft.com/office/powerpoint/2010/main" val="497082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E14FD-9A1E-44B2-A0DA-88C4A115B9C1}"/>
              </a:ext>
            </a:extLst>
          </p:cNvPr>
          <p:cNvSpPr>
            <a:spLocks noGrp="1"/>
          </p:cNvSpPr>
          <p:nvPr>
            <p:ph type="title"/>
          </p:nvPr>
        </p:nvSpPr>
        <p:spPr/>
        <p:txBody>
          <a:bodyPr/>
          <a:lstStyle/>
          <a:p>
            <a:r>
              <a:rPr lang="en-IN" dirty="0"/>
              <a:t>Datatypes: Primitive</a:t>
            </a:r>
            <a:endParaRPr lang="en-GH" dirty="0"/>
          </a:p>
        </p:txBody>
      </p:sp>
      <p:sp>
        <p:nvSpPr>
          <p:cNvPr id="3" name="Content Placeholder 2">
            <a:extLst>
              <a:ext uri="{FF2B5EF4-FFF2-40B4-BE49-F238E27FC236}">
                <a16:creationId xmlns:a16="http://schemas.microsoft.com/office/drawing/2014/main" id="{060A5B76-BF46-5890-77ED-D718696B6A99}"/>
              </a:ext>
            </a:extLst>
          </p:cNvPr>
          <p:cNvSpPr>
            <a:spLocks noGrp="1"/>
          </p:cNvSpPr>
          <p:nvPr>
            <p:ph idx="1"/>
          </p:nvPr>
        </p:nvSpPr>
        <p:spPr/>
        <p:txBody>
          <a:bodyPr/>
          <a:lstStyle/>
          <a:p>
            <a:r>
              <a:rPr lang="en-US" dirty="0">
                <a:solidFill>
                  <a:srgbClr val="0070C0"/>
                </a:solidFill>
              </a:rPr>
              <a:t>Simplest forms of data, which are </a:t>
            </a:r>
            <a:r>
              <a:rPr lang="en-US" b="1" dirty="0">
                <a:solidFill>
                  <a:srgbClr val="0070C0"/>
                </a:solidFill>
              </a:rPr>
              <a:t>immutable</a:t>
            </a:r>
            <a:r>
              <a:rPr lang="en-US" dirty="0">
                <a:solidFill>
                  <a:srgbClr val="0070C0"/>
                </a:solidFill>
              </a:rPr>
              <a:t> (cannot be changed)</a:t>
            </a:r>
          </a:p>
          <a:p>
            <a:r>
              <a:rPr lang="en-US" b="1" dirty="0" err="1">
                <a:solidFill>
                  <a:srgbClr val="009242"/>
                </a:solidFill>
              </a:rPr>
              <a:t>BigInt</a:t>
            </a:r>
            <a:r>
              <a:rPr lang="en-US" b="1" dirty="0">
                <a:solidFill>
                  <a:srgbClr val="009242"/>
                </a:solidFill>
              </a:rPr>
              <a:t>: </a:t>
            </a:r>
            <a:r>
              <a:rPr lang="en-US" dirty="0"/>
              <a:t>Used for integers larger than the maximum safe integer for the Number type.</a:t>
            </a:r>
          </a:p>
          <a:p>
            <a:r>
              <a:rPr lang="en-US" dirty="0"/>
              <a:t>To create a </a:t>
            </a:r>
            <a:r>
              <a:rPr lang="en-US" dirty="0" err="1"/>
              <a:t>BigInt</a:t>
            </a:r>
            <a:r>
              <a:rPr lang="en-US" dirty="0"/>
              <a:t>, you can either add the </a:t>
            </a:r>
            <a:r>
              <a:rPr lang="en-US" b="1" dirty="0">
                <a:solidFill>
                  <a:srgbClr val="FF0000"/>
                </a:solidFill>
              </a:rPr>
              <a:t>n</a:t>
            </a:r>
            <a:r>
              <a:rPr lang="en-US" dirty="0"/>
              <a:t> suffix to a number literal, for example, 9007199254740991n, or use the </a:t>
            </a:r>
            <a:r>
              <a:rPr lang="en-US" dirty="0" err="1"/>
              <a:t>BigInt</a:t>
            </a:r>
            <a:r>
              <a:rPr lang="en-US" dirty="0"/>
              <a:t>() function.</a:t>
            </a:r>
          </a:p>
        </p:txBody>
      </p:sp>
      <p:pic>
        <p:nvPicPr>
          <p:cNvPr id="5" name="Picture 4">
            <a:extLst>
              <a:ext uri="{FF2B5EF4-FFF2-40B4-BE49-F238E27FC236}">
                <a16:creationId xmlns:a16="http://schemas.microsoft.com/office/drawing/2014/main" id="{301D5DDB-88C2-67C2-27DB-EEA0856662FA}"/>
              </a:ext>
            </a:extLst>
          </p:cNvPr>
          <p:cNvPicPr>
            <a:picLocks noChangeAspect="1"/>
          </p:cNvPicPr>
          <p:nvPr/>
        </p:nvPicPr>
        <p:blipFill>
          <a:blip r:embed="rId2"/>
          <a:stretch>
            <a:fillRect/>
          </a:stretch>
        </p:blipFill>
        <p:spPr>
          <a:xfrm>
            <a:off x="607252" y="3857608"/>
            <a:ext cx="7029810" cy="1984391"/>
          </a:xfrm>
          <a:prstGeom prst="rect">
            <a:avLst/>
          </a:prstGeom>
        </p:spPr>
      </p:pic>
    </p:spTree>
    <p:extLst>
      <p:ext uri="{BB962C8B-B14F-4D97-AF65-F5344CB8AC3E}">
        <p14:creationId xmlns:p14="http://schemas.microsoft.com/office/powerpoint/2010/main" val="1375692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2F99-9DE7-14A4-A313-BD2778E5E3B7}"/>
              </a:ext>
            </a:extLst>
          </p:cNvPr>
          <p:cNvSpPr>
            <a:spLocks noGrp="1"/>
          </p:cNvSpPr>
          <p:nvPr>
            <p:ph type="title"/>
          </p:nvPr>
        </p:nvSpPr>
        <p:spPr/>
        <p:txBody>
          <a:bodyPr/>
          <a:lstStyle/>
          <a:p>
            <a:r>
              <a:rPr lang="en-IN" dirty="0"/>
              <a:t>Datatypes: Non-Primitive (Reference)</a:t>
            </a:r>
            <a:endParaRPr lang="en-GH" dirty="0"/>
          </a:p>
        </p:txBody>
      </p:sp>
      <p:sp>
        <p:nvSpPr>
          <p:cNvPr id="3" name="Content Placeholder 2">
            <a:extLst>
              <a:ext uri="{FF2B5EF4-FFF2-40B4-BE49-F238E27FC236}">
                <a16:creationId xmlns:a16="http://schemas.microsoft.com/office/drawing/2014/main" id="{1E4BFE66-5733-2E5F-9266-D1F9FA5EE14E}"/>
              </a:ext>
            </a:extLst>
          </p:cNvPr>
          <p:cNvSpPr>
            <a:spLocks noGrp="1"/>
          </p:cNvSpPr>
          <p:nvPr>
            <p:ph idx="1"/>
          </p:nvPr>
        </p:nvSpPr>
        <p:spPr/>
        <p:txBody>
          <a:bodyPr/>
          <a:lstStyle/>
          <a:p>
            <a:r>
              <a:rPr lang="en-US" dirty="0">
                <a:solidFill>
                  <a:srgbClr val="0070C0"/>
                </a:solidFill>
              </a:rPr>
              <a:t>Complex forms of data, which are </a:t>
            </a:r>
            <a:r>
              <a:rPr lang="en-US" dirty="0">
                <a:solidFill>
                  <a:srgbClr val="FF0000"/>
                </a:solidFill>
              </a:rPr>
              <a:t>mutable</a:t>
            </a:r>
            <a:r>
              <a:rPr lang="en-US" dirty="0"/>
              <a:t>.</a:t>
            </a:r>
          </a:p>
          <a:p>
            <a:r>
              <a:rPr lang="en-US" b="1" dirty="0">
                <a:solidFill>
                  <a:srgbClr val="009242"/>
                </a:solidFill>
              </a:rPr>
              <a:t>Object</a:t>
            </a:r>
            <a:r>
              <a:rPr lang="en-US" dirty="0"/>
              <a:t>: A collection of key-value pairs, where the keys are strings (or symbols) and the values can be any type.</a:t>
            </a:r>
          </a:p>
          <a:p>
            <a:endParaRPr lang="en-US" dirty="0"/>
          </a:p>
          <a:p>
            <a:endParaRPr lang="en-US" dirty="0"/>
          </a:p>
          <a:p>
            <a:endParaRPr lang="en-US" dirty="0"/>
          </a:p>
          <a:p>
            <a:endParaRPr lang="en-US" dirty="0"/>
          </a:p>
          <a:p>
            <a:r>
              <a:rPr lang="en-US" b="1" dirty="0">
                <a:solidFill>
                  <a:srgbClr val="009242"/>
                </a:solidFill>
              </a:rPr>
              <a:t>Array</a:t>
            </a:r>
            <a:r>
              <a:rPr lang="en-US" dirty="0"/>
              <a:t>: A special type of object used to                                                                 store ordered collections of values,                                                                              which can be of any type.</a:t>
            </a:r>
          </a:p>
          <a:p>
            <a:pPr marL="0" indent="0">
              <a:buNone/>
            </a:pPr>
            <a:endParaRPr lang="en-GH" dirty="0"/>
          </a:p>
        </p:txBody>
      </p:sp>
      <p:pic>
        <p:nvPicPr>
          <p:cNvPr id="5" name="Picture 4">
            <a:extLst>
              <a:ext uri="{FF2B5EF4-FFF2-40B4-BE49-F238E27FC236}">
                <a16:creationId xmlns:a16="http://schemas.microsoft.com/office/drawing/2014/main" id="{C987C5FB-A9BB-6CCD-9698-B1EE2D9EE537}"/>
              </a:ext>
            </a:extLst>
          </p:cNvPr>
          <p:cNvPicPr>
            <a:picLocks noChangeAspect="1"/>
          </p:cNvPicPr>
          <p:nvPr/>
        </p:nvPicPr>
        <p:blipFill>
          <a:blip r:embed="rId2"/>
          <a:stretch>
            <a:fillRect/>
          </a:stretch>
        </p:blipFill>
        <p:spPr>
          <a:xfrm>
            <a:off x="590194" y="2747867"/>
            <a:ext cx="2238066" cy="1584373"/>
          </a:xfrm>
          <a:prstGeom prst="rect">
            <a:avLst/>
          </a:prstGeom>
        </p:spPr>
      </p:pic>
      <p:pic>
        <p:nvPicPr>
          <p:cNvPr id="7" name="Picture 6">
            <a:extLst>
              <a:ext uri="{FF2B5EF4-FFF2-40B4-BE49-F238E27FC236}">
                <a16:creationId xmlns:a16="http://schemas.microsoft.com/office/drawing/2014/main" id="{DFB8050F-B474-E0E6-6A72-E0A5939BD3E3}"/>
              </a:ext>
            </a:extLst>
          </p:cNvPr>
          <p:cNvPicPr>
            <a:picLocks noChangeAspect="1"/>
          </p:cNvPicPr>
          <p:nvPr/>
        </p:nvPicPr>
        <p:blipFill>
          <a:blip r:embed="rId3"/>
          <a:stretch>
            <a:fillRect/>
          </a:stretch>
        </p:blipFill>
        <p:spPr>
          <a:xfrm>
            <a:off x="4067040" y="3084951"/>
            <a:ext cx="4720350" cy="688097"/>
          </a:xfrm>
          <a:prstGeom prst="rect">
            <a:avLst/>
          </a:prstGeom>
        </p:spPr>
      </p:pic>
      <p:pic>
        <p:nvPicPr>
          <p:cNvPr id="9" name="Picture 8">
            <a:extLst>
              <a:ext uri="{FF2B5EF4-FFF2-40B4-BE49-F238E27FC236}">
                <a16:creationId xmlns:a16="http://schemas.microsoft.com/office/drawing/2014/main" id="{DCA3A641-8267-484D-1EC0-DB795CAFD660}"/>
              </a:ext>
            </a:extLst>
          </p:cNvPr>
          <p:cNvPicPr>
            <a:picLocks noChangeAspect="1"/>
          </p:cNvPicPr>
          <p:nvPr/>
        </p:nvPicPr>
        <p:blipFill>
          <a:blip r:embed="rId4"/>
          <a:stretch>
            <a:fillRect/>
          </a:stretch>
        </p:blipFill>
        <p:spPr>
          <a:xfrm>
            <a:off x="5699052" y="4013630"/>
            <a:ext cx="2756904" cy="2412291"/>
          </a:xfrm>
          <a:prstGeom prst="rect">
            <a:avLst/>
          </a:prstGeom>
        </p:spPr>
      </p:pic>
      <p:cxnSp>
        <p:nvCxnSpPr>
          <p:cNvPr id="11" name="Straight Arrow Connector 10">
            <a:extLst>
              <a:ext uri="{FF2B5EF4-FFF2-40B4-BE49-F238E27FC236}">
                <a16:creationId xmlns:a16="http://schemas.microsoft.com/office/drawing/2014/main" id="{E74DB232-30BE-4DFA-7FE1-9655B8E56814}"/>
              </a:ext>
            </a:extLst>
          </p:cNvPr>
          <p:cNvCxnSpPr/>
          <p:nvPr/>
        </p:nvCxnSpPr>
        <p:spPr>
          <a:xfrm flipV="1">
            <a:off x="3338623" y="3773048"/>
            <a:ext cx="1105786" cy="66072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6EFAF368-0AF9-1B3A-39FB-3B140D04E3B6}"/>
              </a:ext>
            </a:extLst>
          </p:cNvPr>
          <p:cNvCxnSpPr/>
          <p:nvPr/>
        </p:nvCxnSpPr>
        <p:spPr>
          <a:xfrm flipV="1">
            <a:off x="3359888" y="4332240"/>
            <a:ext cx="2203935" cy="12890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0DA0CB93-448F-73D5-83E1-B5914DD7C04A}"/>
              </a:ext>
            </a:extLst>
          </p:cNvPr>
          <p:cNvSpPr txBox="1"/>
          <p:nvPr/>
        </p:nvSpPr>
        <p:spPr>
          <a:xfrm>
            <a:off x="6427215" y="2715619"/>
            <a:ext cx="1701210" cy="369332"/>
          </a:xfrm>
          <a:prstGeom prst="rect">
            <a:avLst/>
          </a:prstGeom>
          <a:noFill/>
        </p:spPr>
        <p:txBody>
          <a:bodyPr wrap="square" rtlCol="0">
            <a:spAutoFit/>
          </a:bodyPr>
          <a:lstStyle/>
          <a:p>
            <a:r>
              <a:rPr lang="en-IN" dirty="0">
                <a:solidFill>
                  <a:srgbClr val="C00000"/>
                </a:solidFill>
              </a:rPr>
              <a:t>1-D Array</a:t>
            </a:r>
            <a:endParaRPr lang="en-GH" dirty="0">
              <a:solidFill>
                <a:srgbClr val="C00000"/>
              </a:solidFill>
            </a:endParaRPr>
          </a:p>
        </p:txBody>
      </p:sp>
      <p:sp>
        <p:nvSpPr>
          <p:cNvPr id="15" name="TextBox 14">
            <a:extLst>
              <a:ext uri="{FF2B5EF4-FFF2-40B4-BE49-F238E27FC236}">
                <a16:creationId xmlns:a16="http://schemas.microsoft.com/office/drawing/2014/main" id="{D1EFF1C8-C10B-CE42-86C0-D22EF5D89912}"/>
              </a:ext>
            </a:extLst>
          </p:cNvPr>
          <p:cNvSpPr txBox="1"/>
          <p:nvPr/>
        </p:nvSpPr>
        <p:spPr>
          <a:xfrm>
            <a:off x="4581224" y="5568688"/>
            <a:ext cx="1701210" cy="369332"/>
          </a:xfrm>
          <a:prstGeom prst="rect">
            <a:avLst/>
          </a:prstGeom>
          <a:noFill/>
        </p:spPr>
        <p:txBody>
          <a:bodyPr wrap="square" rtlCol="0">
            <a:spAutoFit/>
          </a:bodyPr>
          <a:lstStyle/>
          <a:p>
            <a:r>
              <a:rPr lang="en-IN" dirty="0">
                <a:solidFill>
                  <a:srgbClr val="C00000"/>
                </a:solidFill>
              </a:rPr>
              <a:t>2-D Array</a:t>
            </a:r>
            <a:endParaRPr lang="en-GH" dirty="0">
              <a:solidFill>
                <a:srgbClr val="C00000"/>
              </a:solidFill>
            </a:endParaRPr>
          </a:p>
        </p:txBody>
      </p:sp>
    </p:spTree>
    <p:extLst>
      <p:ext uri="{BB962C8B-B14F-4D97-AF65-F5344CB8AC3E}">
        <p14:creationId xmlns:p14="http://schemas.microsoft.com/office/powerpoint/2010/main" val="30804008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2F99-9DE7-14A4-A313-BD2778E5E3B7}"/>
              </a:ext>
            </a:extLst>
          </p:cNvPr>
          <p:cNvSpPr>
            <a:spLocks noGrp="1"/>
          </p:cNvSpPr>
          <p:nvPr>
            <p:ph type="title"/>
          </p:nvPr>
        </p:nvSpPr>
        <p:spPr/>
        <p:txBody>
          <a:bodyPr/>
          <a:lstStyle/>
          <a:p>
            <a:r>
              <a:rPr lang="en-IN" dirty="0"/>
              <a:t>Datatypes: Non-Primitive (Reference)</a:t>
            </a:r>
            <a:endParaRPr lang="en-GH" dirty="0"/>
          </a:p>
        </p:txBody>
      </p:sp>
      <p:sp>
        <p:nvSpPr>
          <p:cNvPr id="3" name="Content Placeholder 2">
            <a:extLst>
              <a:ext uri="{FF2B5EF4-FFF2-40B4-BE49-F238E27FC236}">
                <a16:creationId xmlns:a16="http://schemas.microsoft.com/office/drawing/2014/main" id="{1E4BFE66-5733-2E5F-9266-D1F9FA5EE14E}"/>
              </a:ext>
            </a:extLst>
          </p:cNvPr>
          <p:cNvSpPr>
            <a:spLocks noGrp="1"/>
          </p:cNvSpPr>
          <p:nvPr>
            <p:ph idx="1"/>
          </p:nvPr>
        </p:nvSpPr>
        <p:spPr/>
        <p:txBody>
          <a:bodyPr/>
          <a:lstStyle/>
          <a:p>
            <a:r>
              <a:rPr lang="en-US" dirty="0">
                <a:solidFill>
                  <a:srgbClr val="0070C0"/>
                </a:solidFill>
              </a:rPr>
              <a:t>Complex forms of data, which are </a:t>
            </a:r>
            <a:r>
              <a:rPr lang="en-US" dirty="0">
                <a:solidFill>
                  <a:srgbClr val="FF0000"/>
                </a:solidFill>
              </a:rPr>
              <a:t>mutable</a:t>
            </a:r>
            <a:r>
              <a:rPr lang="en-US" dirty="0"/>
              <a:t>.</a:t>
            </a:r>
          </a:p>
          <a:p>
            <a:r>
              <a:rPr lang="en-US" b="1" dirty="0">
                <a:solidFill>
                  <a:srgbClr val="009242"/>
                </a:solidFill>
              </a:rPr>
              <a:t>Function</a:t>
            </a:r>
            <a:r>
              <a:rPr lang="en-US" dirty="0"/>
              <a:t>: A block of code designed to perform a particular task, which can be called (executed) as needed.</a:t>
            </a:r>
          </a:p>
          <a:p>
            <a:pPr marL="0" indent="0">
              <a:buNone/>
            </a:pPr>
            <a:endParaRPr lang="en-GH" dirty="0"/>
          </a:p>
        </p:txBody>
      </p:sp>
      <p:pic>
        <p:nvPicPr>
          <p:cNvPr id="6" name="Picture 5">
            <a:extLst>
              <a:ext uri="{FF2B5EF4-FFF2-40B4-BE49-F238E27FC236}">
                <a16:creationId xmlns:a16="http://schemas.microsoft.com/office/drawing/2014/main" id="{09C11126-790E-07F9-48EF-443C5A9BA500}"/>
              </a:ext>
            </a:extLst>
          </p:cNvPr>
          <p:cNvPicPr>
            <a:picLocks noChangeAspect="1"/>
          </p:cNvPicPr>
          <p:nvPr/>
        </p:nvPicPr>
        <p:blipFill>
          <a:blip r:embed="rId2"/>
          <a:stretch>
            <a:fillRect/>
          </a:stretch>
        </p:blipFill>
        <p:spPr>
          <a:xfrm>
            <a:off x="565026" y="2706690"/>
            <a:ext cx="2859802" cy="1259254"/>
          </a:xfrm>
          <a:prstGeom prst="rect">
            <a:avLst/>
          </a:prstGeom>
        </p:spPr>
      </p:pic>
      <p:pic>
        <p:nvPicPr>
          <p:cNvPr id="10" name="Picture 9">
            <a:extLst>
              <a:ext uri="{FF2B5EF4-FFF2-40B4-BE49-F238E27FC236}">
                <a16:creationId xmlns:a16="http://schemas.microsoft.com/office/drawing/2014/main" id="{731DD623-0DBD-1A35-09A3-328DC89F3409}"/>
              </a:ext>
            </a:extLst>
          </p:cNvPr>
          <p:cNvPicPr>
            <a:picLocks noChangeAspect="1"/>
          </p:cNvPicPr>
          <p:nvPr/>
        </p:nvPicPr>
        <p:blipFill>
          <a:blip r:embed="rId3"/>
          <a:stretch>
            <a:fillRect/>
          </a:stretch>
        </p:blipFill>
        <p:spPr>
          <a:xfrm>
            <a:off x="565026" y="4261613"/>
            <a:ext cx="5646904" cy="2067567"/>
          </a:xfrm>
          <a:prstGeom prst="rect">
            <a:avLst/>
          </a:prstGeom>
        </p:spPr>
      </p:pic>
      <p:pic>
        <p:nvPicPr>
          <p:cNvPr id="16" name="Picture 15">
            <a:extLst>
              <a:ext uri="{FF2B5EF4-FFF2-40B4-BE49-F238E27FC236}">
                <a16:creationId xmlns:a16="http://schemas.microsoft.com/office/drawing/2014/main" id="{DF77EDC2-F883-2CE4-2EFE-87B6E96CFE08}"/>
              </a:ext>
            </a:extLst>
          </p:cNvPr>
          <p:cNvPicPr>
            <a:picLocks noChangeAspect="1"/>
          </p:cNvPicPr>
          <p:nvPr/>
        </p:nvPicPr>
        <p:blipFill>
          <a:blip r:embed="rId4"/>
          <a:stretch>
            <a:fillRect/>
          </a:stretch>
        </p:blipFill>
        <p:spPr>
          <a:xfrm>
            <a:off x="3752983" y="3153504"/>
            <a:ext cx="5169001" cy="812440"/>
          </a:xfrm>
          <a:prstGeom prst="rect">
            <a:avLst/>
          </a:prstGeom>
        </p:spPr>
      </p:pic>
      <p:cxnSp>
        <p:nvCxnSpPr>
          <p:cNvPr id="18" name="Straight Arrow Connector 17">
            <a:extLst>
              <a:ext uri="{FF2B5EF4-FFF2-40B4-BE49-F238E27FC236}">
                <a16:creationId xmlns:a16="http://schemas.microsoft.com/office/drawing/2014/main" id="{D7F122F6-F9B8-A791-ADEA-FD6EFEC5C0AC}"/>
              </a:ext>
            </a:extLst>
          </p:cNvPr>
          <p:cNvCxnSpPr/>
          <p:nvPr/>
        </p:nvCxnSpPr>
        <p:spPr>
          <a:xfrm flipV="1">
            <a:off x="6549656" y="2706690"/>
            <a:ext cx="372139" cy="446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15D4BCB-77BD-20D0-D3B3-99AF919E1A0C}"/>
              </a:ext>
            </a:extLst>
          </p:cNvPr>
          <p:cNvSpPr txBox="1"/>
          <p:nvPr/>
        </p:nvSpPr>
        <p:spPr>
          <a:xfrm>
            <a:off x="6778255" y="2440555"/>
            <a:ext cx="1637414" cy="369332"/>
          </a:xfrm>
          <a:prstGeom prst="rect">
            <a:avLst/>
          </a:prstGeom>
          <a:noFill/>
        </p:spPr>
        <p:txBody>
          <a:bodyPr wrap="square" rtlCol="0">
            <a:spAutoFit/>
          </a:bodyPr>
          <a:lstStyle/>
          <a:p>
            <a:r>
              <a:rPr lang="en-IN" b="1" dirty="0">
                <a:solidFill>
                  <a:srgbClr val="C00000"/>
                </a:solidFill>
              </a:rPr>
              <a:t>Arrow function</a:t>
            </a:r>
            <a:endParaRPr lang="en-GH" b="1" dirty="0">
              <a:solidFill>
                <a:srgbClr val="C00000"/>
              </a:solidFill>
            </a:endParaRPr>
          </a:p>
        </p:txBody>
      </p:sp>
    </p:spTree>
    <p:extLst>
      <p:ext uri="{BB962C8B-B14F-4D97-AF65-F5344CB8AC3E}">
        <p14:creationId xmlns:p14="http://schemas.microsoft.com/office/powerpoint/2010/main" val="39601753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2F99-9DE7-14A4-A313-BD2778E5E3B7}"/>
              </a:ext>
            </a:extLst>
          </p:cNvPr>
          <p:cNvSpPr>
            <a:spLocks noGrp="1"/>
          </p:cNvSpPr>
          <p:nvPr>
            <p:ph type="title"/>
          </p:nvPr>
        </p:nvSpPr>
        <p:spPr/>
        <p:txBody>
          <a:bodyPr/>
          <a:lstStyle/>
          <a:p>
            <a:r>
              <a:rPr lang="en-IN" dirty="0"/>
              <a:t>Datatypes: Non-Primitive (Reference)</a:t>
            </a:r>
            <a:endParaRPr lang="en-GH" dirty="0"/>
          </a:p>
        </p:txBody>
      </p:sp>
      <p:sp>
        <p:nvSpPr>
          <p:cNvPr id="3" name="Content Placeholder 2">
            <a:extLst>
              <a:ext uri="{FF2B5EF4-FFF2-40B4-BE49-F238E27FC236}">
                <a16:creationId xmlns:a16="http://schemas.microsoft.com/office/drawing/2014/main" id="{1E4BFE66-5733-2E5F-9266-D1F9FA5EE14E}"/>
              </a:ext>
            </a:extLst>
          </p:cNvPr>
          <p:cNvSpPr>
            <a:spLocks noGrp="1"/>
          </p:cNvSpPr>
          <p:nvPr>
            <p:ph idx="1"/>
          </p:nvPr>
        </p:nvSpPr>
        <p:spPr/>
        <p:txBody>
          <a:bodyPr/>
          <a:lstStyle/>
          <a:p>
            <a:r>
              <a:rPr lang="en-US" dirty="0">
                <a:solidFill>
                  <a:srgbClr val="0070C0"/>
                </a:solidFill>
              </a:rPr>
              <a:t>More examples of functions: </a:t>
            </a:r>
            <a:endParaRPr lang="en-US" dirty="0"/>
          </a:p>
          <a:p>
            <a:pPr marL="0" indent="0">
              <a:buNone/>
            </a:pPr>
            <a:endParaRPr lang="en-GH" dirty="0"/>
          </a:p>
        </p:txBody>
      </p:sp>
      <p:pic>
        <p:nvPicPr>
          <p:cNvPr id="5" name="Picture 4">
            <a:extLst>
              <a:ext uri="{FF2B5EF4-FFF2-40B4-BE49-F238E27FC236}">
                <a16:creationId xmlns:a16="http://schemas.microsoft.com/office/drawing/2014/main" id="{04D08A68-94BE-3B59-A0F7-4A0CD1775B80}"/>
              </a:ext>
            </a:extLst>
          </p:cNvPr>
          <p:cNvPicPr>
            <a:picLocks noChangeAspect="1"/>
          </p:cNvPicPr>
          <p:nvPr/>
        </p:nvPicPr>
        <p:blipFill>
          <a:blip r:embed="rId2"/>
          <a:stretch>
            <a:fillRect/>
          </a:stretch>
        </p:blipFill>
        <p:spPr>
          <a:xfrm>
            <a:off x="535001" y="2032076"/>
            <a:ext cx="2945781" cy="1242752"/>
          </a:xfrm>
          <a:prstGeom prst="rect">
            <a:avLst/>
          </a:prstGeom>
        </p:spPr>
      </p:pic>
      <p:pic>
        <p:nvPicPr>
          <p:cNvPr id="8" name="Picture 7">
            <a:extLst>
              <a:ext uri="{FF2B5EF4-FFF2-40B4-BE49-F238E27FC236}">
                <a16:creationId xmlns:a16="http://schemas.microsoft.com/office/drawing/2014/main" id="{68891F44-510D-51A0-8B77-1D5E5D0FA73E}"/>
              </a:ext>
            </a:extLst>
          </p:cNvPr>
          <p:cNvPicPr>
            <a:picLocks noChangeAspect="1"/>
          </p:cNvPicPr>
          <p:nvPr/>
        </p:nvPicPr>
        <p:blipFill>
          <a:blip r:embed="rId3"/>
          <a:stretch>
            <a:fillRect/>
          </a:stretch>
        </p:blipFill>
        <p:spPr>
          <a:xfrm>
            <a:off x="535001" y="3404851"/>
            <a:ext cx="5007205" cy="1242752"/>
          </a:xfrm>
          <a:prstGeom prst="rect">
            <a:avLst/>
          </a:prstGeom>
        </p:spPr>
      </p:pic>
      <p:sp>
        <p:nvSpPr>
          <p:cNvPr id="12" name="TextBox 11">
            <a:extLst>
              <a:ext uri="{FF2B5EF4-FFF2-40B4-BE49-F238E27FC236}">
                <a16:creationId xmlns:a16="http://schemas.microsoft.com/office/drawing/2014/main" id="{563ED255-3CCE-8624-3B45-F19212CB3CBD}"/>
              </a:ext>
            </a:extLst>
          </p:cNvPr>
          <p:cNvSpPr txBox="1"/>
          <p:nvPr/>
        </p:nvSpPr>
        <p:spPr>
          <a:xfrm>
            <a:off x="5542206" y="3454191"/>
            <a:ext cx="2775097" cy="923330"/>
          </a:xfrm>
          <a:prstGeom prst="rect">
            <a:avLst/>
          </a:prstGeom>
          <a:noFill/>
          <a:ln>
            <a:solidFill>
              <a:srgbClr val="FF0066"/>
            </a:solidFill>
          </a:ln>
        </p:spPr>
        <p:txBody>
          <a:bodyPr wrap="square" rtlCol="0">
            <a:spAutoFit/>
          </a:bodyPr>
          <a:lstStyle/>
          <a:p>
            <a:pPr marL="285750" indent="-285750">
              <a:buFont typeface="Arial" panose="020B0604020202020204" pitchFamily="34" charset="0"/>
              <a:buChar char="•"/>
            </a:pPr>
            <a:r>
              <a:rPr lang="en-IN" dirty="0"/>
              <a:t>Function expression (assigned to a variable). </a:t>
            </a:r>
          </a:p>
          <a:p>
            <a:pPr marL="285750" indent="-285750">
              <a:buFont typeface="Arial" panose="020B0604020202020204" pitchFamily="34" charset="0"/>
              <a:buChar char="•"/>
            </a:pPr>
            <a:r>
              <a:rPr lang="en-IN" dirty="0"/>
              <a:t>Not hoisted</a:t>
            </a:r>
            <a:endParaRPr lang="en-GH" dirty="0"/>
          </a:p>
        </p:txBody>
      </p:sp>
      <p:pic>
        <p:nvPicPr>
          <p:cNvPr id="17" name="Picture 16">
            <a:extLst>
              <a:ext uri="{FF2B5EF4-FFF2-40B4-BE49-F238E27FC236}">
                <a16:creationId xmlns:a16="http://schemas.microsoft.com/office/drawing/2014/main" id="{5DA2EDF6-42E6-5312-C4C7-D6079B82A2C6}"/>
              </a:ext>
            </a:extLst>
          </p:cNvPr>
          <p:cNvPicPr>
            <a:picLocks noChangeAspect="1"/>
          </p:cNvPicPr>
          <p:nvPr/>
        </p:nvPicPr>
        <p:blipFill>
          <a:blip r:embed="rId4"/>
          <a:stretch>
            <a:fillRect/>
          </a:stretch>
        </p:blipFill>
        <p:spPr>
          <a:xfrm>
            <a:off x="3664404" y="2082413"/>
            <a:ext cx="5238496" cy="626064"/>
          </a:xfrm>
          <a:prstGeom prst="rect">
            <a:avLst/>
          </a:prstGeom>
        </p:spPr>
      </p:pic>
      <p:pic>
        <p:nvPicPr>
          <p:cNvPr id="21" name="Picture 20">
            <a:extLst>
              <a:ext uri="{FF2B5EF4-FFF2-40B4-BE49-F238E27FC236}">
                <a16:creationId xmlns:a16="http://schemas.microsoft.com/office/drawing/2014/main" id="{442BAA3A-405E-6DA4-F7E6-D34E2AC8F359}"/>
              </a:ext>
            </a:extLst>
          </p:cNvPr>
          <p:cNvPicPr>
            <a:picLocks noChangeAspect="1"/>
          </p:cNvPicPr>
          <p:nvPr/>
        </p:nvPicPr>
        <p:blipFill>
          <a:blip r:embed="rId5"/>
          <a:stretch>
            <a:fillRect/>
          </a:stretch>
        </p:blipFill>
        <p:spPr>
          <a:xfrm>
            <a:off x="705683" y="4726624"/>
            <a:ext cx="5468113" cy="1810003"/>
          </a:xfrm>
          <a:prstGeom prst="rect">
            <a:avLst/>
          </a:prstGeom>
        </p:spPr>
      </p:pic>
      <p:sp>
        <p:nvSpPr>
          <p:cNvPr id="22" name="TextBox 21">
            <a:extLst>
              <a:ext uri="{FF2B5EF4-FFF2-40B4-BE49-F238E27FC236}">
                <a16:creationId xmlns:a16="http://schemas.microsoft.com/office/drawing/2014/main" id="{7F67E0CA-6067-1979-7B4C-337D981FE4B0}"/>
              </a:ext>
            </a:extLst>
          </p:cNvPr>
          <p:cNvSpPr txBox="1"/>
          <p:nvPr/>
        </p:nvSpPr>
        <p:spPr>
          <a:xfrm>
            <a:off x="6283652" y="5123235"/>
            <a:ext cx="2264521" cy="646331"/>
          </a:xfrm>
          <a:prstGeom prst="rect">
            <a:avLst/>
          </a:prstGeom>
          <a:noFill/>
          <a:ln>
            <a:solidFill>
              <a:srgbClr val="FF0066"/>
            </a:solidFill>
          </a:ln>
        </p:spPr>
        <p:txBody>
          <a:bodyPr wrap="square" rtlCol="0">
            <a:spAutoFit/>
          </a:bodyPr>
          <a:lstStyle/>
          <a:p>
            <a:r>
              <a:rPr lang="en-IN" dirty="0"/>
              <a:t>With default parameter value</a:t>
            </a:r>
            <a:endParaRPr lang="en-GH" dirty="0"/>
          </a:p>
        </p:txBody>
      </p:sp>
    </p:spTree>
    <p:extLst>
      <p:ext uri="{BB962C8B-B14F-4D97-AF65-F5344CB8AC3E}">
        <p14:creationId xmlns:p14="http://schemas.microsoft.com/office/powerpoint/2010/main" val="34421162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2F99-9DE7-14A4-A313-BD2778E5E3B7}"/>
              </a:ext>
            </a:extLst>
          </p:cNvPr>
          <p:cNvSpPr>
            <a:spLocks noGrp="1"/>
          </p:cNvSpPr>
          <p:nvPr>
            <p:ph type="title"/>
          </p:nvPr>
        </p:nvSpPr>
        <p:spPr/>
        <p:txBody>
          <a:bodyPr/>
          <a:lstStyle/>
          <a:p>
            <a:r>
              <a:rPr lang="en-IN" dirty="0"/>
              <a:t>Datatypes: Non-Primitive (Reference)</a:t>
            </a:r>
            <a:endParaRPr lang="en-GH" dirty="0"/>
          </a:p>
        </p:txBody>
      </p:sp>
      <p:sp>
        <p:nvSpPr>
          <p:cNvPr id="3" name="Content Placeholder 2">
            <a:extLst>
              <a:ext uri="{FF2B5EF4-FFF2-40B4-BE49-F238E27FC236}">
                <a16:creationId xmlns:a16="http://schemas.microsoft.com/office/drawing/2014/main" id="{1E4BFE66-5733-2E5F-9266-D1F9FA5EE14E}"/>
              </a:ext>
            </a:extLst>
          </p:cNvPr>
          <p:cNvSpPr>
            <a:spLocks noGrp="1"/>
          </p:cNvSpPr>
          <p:nvPr>
            <p:ph idx="1"/>
          </p:nvPr>
        </p:nvSpPr>
        <p:spPr/>
        <p:txBody>
          <a:bodyPr/>
          <a:lstStyle/>
          <a:p>
            <a:r>
              <a:rPr lang="en-US" dirty="0">
                <a:solidFill>
                  <a:srgbClr val="0070C0"/>
                </a:solidFill>
              </a:rPr>
              <a:t>Complex forms of data, which are </a:t>
            </a:r>
            <a:r>
              <a:rPr lang="en-US" dirty="0">
                <a:solidFill>
                  <a:srgbClr val="FF0000"/>
                </a:solidFill>
              </a:rPr>
              <a:t>mutable</a:t>
            </a:r>
            <a:r>
              <a:rPr lang="en-US" dirty="0"/>
              <a:t>.</a:t>
            </a:r>
          </a:p>
          <a:p>
            <a:r>
              <a:rPr lang="en-US" b="1" dirty="0">
                <a:solidFill>
                  <a:srgbClr val="009242"/>
                </a:solidFill>
              </a:rPr>
              <a:t>Date</a:t>
            </a:r>
            <a:r>
              <a:rPr lang="en-US" dirty="0"/>
              <a:t>: Represents dates and times.</a:t>
            </a:r>
          </a:p>
          <a:p>
            <a:endParaRPr lang="en-GH" dirty="0"/>
          </a:p>
        </p:txBody>
      </p:sp>
      <p:pic>
        <p:nvPicPr>
          <p:cNvPr id="5" name="Picture 4">
            <a:extLst>
              <a:ext uri="{FF2B5EF4-FFF2-40B4-BE49-F238E27FC236}">
                <a16:creationId xmlns:a16="http://schemas.microsoft.com/office/drawing/2014/main" id="{10FC36F6-19E7-03BD-DCAE-BC7401AF9BC9}"/>
              </a:ext>
            </a:extLst>
          </p:cNvPr>
          <p:cNvPicPr>
            <a:picLocks noChangeAspect="1"/>
          </p:cNvPicPr>
          <p:nvPr/>
        </p:nvPicPr>
        <p:blipFill>
          <a:blip r:embed="rId2"/>
          <a:stretch>
            <a:fillRect/>
          </a:stretch>
        </p:blipFill>
        <p:spPr>
          <a:xfrm>
            <a:off x="600671" y="2324840"/>
            <a:ext cx="3328268" cy="631010"/>
          </a:xfrm>
          <a:prstGeom prst="rect">
            <a:avLst/>
          </a:prstGeom>
        </p:spPr>
      </p:pic>
      <p:pic>
        <p:nvPicPr>
          <p:cNvPr id="8" name="Picture 7">
            <a:extLst>
              <a:ext uri="{FF2B5EF4-FFF2-40B4-BE49-F238E27FC236}">
                <a16:creationId xmlns:a16="http://schemas.microsoft.com/office/drawing/2014/main" id="{0DEFBDFA-F15F-81BD-2E57-35B659DFB794}"/>
              </a:ext>
            </a:extLst>
          </p:cNvPr>
          <p:cNvPicPr>
            <a:picLocks noChangeAspect="1"/>
          </p:cNvPicPr>
          <p:nvPr/>
        </p:nvPicPr>
        <p:blipFill>
          <a:blip r:embed="rId3"/>
          <a:stretch>
            <a:fillRect/>
          </a:stretch>
        </p:blipFill>
        <p:spPr>
          <a:xfrm>
            <a:off x="600671" y="3258843"/>
            <a:ext cx="6680206" cy="2440208"/>
          </a:xfrm>
          <a:prstGeom prst="rect">
            <a:avLst/>
          </a:prstGeom>
        </p:spPr>
      </p:pic>
      <p:sp>
        <p:nvSpPr>
          <p:cNvPr id="4" name="TextBox 3">
            <a:extLst>
              <a:ext uri="{FF2B5EF4-FFF2-40B4-BE49-F238E27FC236}">
                <a16:creationId xmlns:a16="http://schemas.microsoft.com/office/drawing/2014/main" id="{560ABFA3-9B65-2812-EF7E-BA9CF8135730}"/>
              </a:ext>
            </a:extLst>
          </p:cNvPr>
          <p:cNvSpPr txBox="1"/>
          <p:nvPr/>
        </p:nvSpPr>
        <p:spPr>
          <a:xfrm>
            <a:off x="6437984" y="1907017"/>
            <a:ext cx="2464916" cy="1200329"/>
          </a:xfrm>
          <a:prstGeom prst="rect">
            <a:avLst/>
          </a:prstGeom>
          <a:noFill/>
        </p:spPr>
        <p:txBody>
          <a:bodyPr wrap="square" rtlCol="0">
            <a:spAutoFit/>
          </a:bodyPr>
          <a:lstStyle/>
          <a:p>
            <a:r>
              <a:rPr lang="en-IN" dirty="0"/>
              <a:t>Some more functions:</a:t>
            </a:r>
          </a:p>
          <a:p>
            <a:r>
              <a:rPr lang="en-IN" dirty="0" err="1">
                <a:solidFill>
                  <a:srgbClr val="C00000"/>
                </a:solidFill>
              </a:rPr>
              <a:t>setMonth</a:t>
            </a:r>
            <a:r>
              <a:rPr lang="en-IN" dirty="0">
                <a:solidFill>
                  <a:srgbClr val="C00000"/>
                </a:solidFill>
              </a:rPr>
              <a:t>()</a:t>
            </a:r>
          </a:p>
          <a:p>
            <a:r>
              <a:rPr lang="en-IN" dirty="0" err="1">
                <a:solidFill>
                  <a:srgbClr val="C00000"/>
                </a:solidFill>
              </a:rPr>
              <a:t>setDate</a:t>
            </a:r>
            <a:r>
              <a:rPr lang="en-IN" dirty="0">
                <a:solidFill>
                  <a:srgbClr val="C00000"/>
                </a:solidFill>
              </a:rPr>
              <a:t>()</a:t>
            </a:r>
          </a:p>
          <a:p>
            <a:r>
              <a:rPr lang="en-IN" dirty="0" err="1">
                <a:solidFill>
                  <a:srgbClr val="C00000"/>
                </a:solidFill>
              </a:rPr>
              <a:t>setHours</a:t>
            </a:r>
            <a:r>
              <a:rPr lang="en-IN" dirty="0">
                <a:solidFill>
                  <a:srgbClr val="C00000"/>
                </a:solidFill>
              </a:rPr>
              <a:t>()</a:t>
            </a:r>
            <a:endParaRPr lang="en-GH" dirty="0">
              <a:solidFill>
                <a:srgbClr val="C00000"/>
              </a:solidFill>
            </a:endParaRPr>
          </a:p>
        </p:txBody>
      </p:sp>
      <p:cxnSp>
        <p:nvCxnSpPr>
          <p:cNvPr id="7" name="Straight Arrow Connector 6">
            <a:extLst>
              <a:ext uri="{FF2B5EF4-FFF2-40B4-BE49-F238E27FC236}">
                <a16:creationId xmlns:a16="http://schemas.microsoft.com/office/drawing/2014/main" id="{DE20FC7D-1483-3BC8-B251-7FDC3D8F1C45}"/>
              </a:ext>
            </a:extLst>
          </p:cNvPr>
          <p:cNvCxnSpPr/>
          <p:nvPr/>
        </p:nvCxnSpPr>
        <p:spPr>
          <a:xfrm flipV="1">
            <a:off x="3817088" y="2743200"/>
            <a:ext cx="2456121" cy="2339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7799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2F99-9DE7-14A4-A313-BD2778E5E3B7}"/>
              </a:ext>
            </a:extLst>
          </p:cNvPr>
          <p:cNvSpPr>
            <a:spLocks noGrp="1"/>
          </p:cNvSpPr>
          <p:nvPr>
            <p:ph type="title"/>
          </p:nvPr>
        </p:nvSpPr>
        <p:spPr/>
        <p:txBody>
          <a:bodyPr/>
          <a:lstStyle/>
          <a:p>
            <a:r>
              <a:rPr lang="en-IN" dirty="0"/>
              <a:t>Datatypes: Non-Primitive (Reference)</a:t>
            </a:r>
            <a:endParaRPr lang="en-GH" dirty="0"/>
          </a:p>
        </p:txBody>
      </p:sp>
      <p:sp>
        <p:nvSpPr>
          <p:cNvPr id="3" name="Content Placeholder 2">
            <a:extLst>
              <a:ext uri="{FF2B5EF4-FFF2-40B4-BE49-F238E27FC236}">
                <a16:creationId xmlns:a16="http://schemas.microsoft.com/office/drawing/2014/main" id="{1E4BFE66-5733-2E5F-9266-D1F9FA5EE14E}"/>
              </a:ext>
            </a:extLst>
          </p:cNvPr>
          <p:cNvSpPr>
            <a:spLocks noGrp="1"/>
          </p:cNvSpPr>
          <p:nvPr>
            <p:ph idx="1"/>
          </p:nvPr>
        </p:nvSpPr>
        <p:spPr/>
        <p:txBody>
          <a:bodyPr/>
          <a:lstStyle/>
          <a:p>
            <a:r>
              <a:rPr lang="en-US" dirty="0">
                <a:solidFill>
                  <a:srgbClr val="0070C0"/>
                </a:solidFill>
              </a:rPr>
              <a:t>Complex forms of data, which are </a:t>
            </a:r>
            <a:r>
              <a:rPr lang="en-US" dirty="0">
                <a:solidFill>
                  <a:srgbClr val="FF0000"/>
                </a:solidFill>
              </a:rPr>
              <a:t>mutable</a:t>
            </a:r>
            <a:r>
              <a:rPr lang="en-US" dirty="0"/>
              <a:t>.</a:t>
            </a:r>
          </a:p>
          <a:p>
            <a:r>
              <a:rPr lang="en-US" b="1" dirty="0" err="1">
                <a:solidFill>
                  <a:srgbClr val="009242"/>
                </a:solidFill>
              </a:rPr>
              <a:t>RegExp</a:t>
            </a:r>
            <a:r>
              <a:rPr lang="en-US" dirty="0"/>
              <a:t>: Regular expressions for pattern matching within strings.</a:t>
            </a:r>
          </a:p>
          <a:p>
            <a:endParaRPr lang="en-US" dirty="0"/>
          </a:p>
          <a:p>
            <a:endParaRPr lang="en-GH" dirty="0"/>
          </a:p>
        </p:txBody>
      </p:sp>
      <p:pic>
        <p:nvPicPr>
          <p:cNvPr id="6" name="Picture 5">
            <a:extLst>
              <a:ext uri="{FF2B5EF4-FFF2-40B4-BE49-F238E27FC236}">
                <a16:creationId xmlns:a16="http://schemas.microsoft.com/office/drawing/2014/main" id="{4AD45807-CC52-0499-58F6-363347E705F9}"/>
              </a:ext>
            </a:extLst>
          </p:cNvPr>
          <p:cNvPicPr>
            <a:picLocks noChangeAspect="1"/>
          </p:cNvPicPr>
          <p:nvPr/>
        </p:nvPicPr>
        <p:blipFill>
          <a:blip r:embed="rId2"/>
          <a:stretch>
            <a:fillRect/>
          </a:stretch>
        </p:blipFill>
        <p:spPr>
          <a:xfrm>
            <a:off x="575996" y="2366603"/>
            <a:ext cx="3260499" cy="557350"/>
          </a:xfrm>
          <a:prstGeom prst="rect">
            <a:avLst/>
          </a:prstGeom>
        </p:spPr>
      </p:pic>
      <p:pic>
        <p:nvPicPr>
          <p:cNvPr id="9" name="Picture 8">
            <a:extLst>
              <a:ext uri="{FF2B5EF4-FFF2-40B4-BE49-F238E27FC236}">
                <a16:creationId xmlns:a16="http://schemas.microsoft.com/office/drawing/2014/main" id="{BB232176-CA66-387F-9491-7C203625A46B}"/>
              </a:ext>
            </a:extLst>
          </p:cNvPr>
          <p:cNvPicPr>
            <a:picLocks noChangeAspect="1"/>
          </p:cNvPicPr>
          <p:nvPr/>
        </p:nvPicPr>
        <p:blipFill>
          <a:blip r:embed="rId3"/>
          <a:stretch>
            <a:fillRect/>
          </a:stretch>
        </p:blipFill>
        <p:spPr>
          <a:xfrm>
            <a:off x="575996" y="3238473"/>
            <a:ext cx="4667808" cy="557350"/>
          </a:xfrm>
          <a:prstGeom prst="rect">
            <a:avLst/>
          </a:prstGeom>
        </p:spPr>
      </p:pic>
      <p:pic>
        <p:nvPicPr>
          <p:cNvPr id="11" name="Picture 10">
            <a:extLst>
              <a:ext uri="{FF2B5EF4-FFF2-40B4-BE49-F238E27FC236}">
                <a16:creationId xmlns:a16="http://schemas.microsoft.com/office/drawing/2014/main" id="{C9EAE15E-4D13-1140-D28A-6E55E019DF7A}"/>
              </a:ext>
            </a:extLst>
          </p:cNvPr>
          <p:cNvPicPr>
            <a:picLocks noChangeAspect="1"/>
          </p:cNvPicPr>
          <p:nvPr/>
        </p:nvPicPr>
        <p:blipFill>
          <a:blip r:embed="rId4"/>
          <a:stretch>
            <a:fillRect/>
          </a:stretch>
        </p:blipFill>
        <p:spPr>
          <a:xfrm>
            <a:off x="575996" y="4110343"/>
            <a:ext cx="6574204" cy="557350"/>
          </a:xfrm>
          <a:prstGeom prst="rect">
            <a:avLst/>
          </a:prstGeom>
        </p:spPr>
      </p:pic>
      <p:pic>
        <p:nvPicPr>
          <p:cNvPr id="13" name="Picture 12">
            <a:extLst>
              <a:ext uri="{FF2B5EF4-FFF2-40B4-BE49-F238E27FC236}">
                <a16:creationId xmlns:a16="http://schemas.microsoft.com/office/drawing/2014/main" id="{4608DCCE-A14D-126B-4280-E906FEB1428F}"/>
              </a:ext>
            </a:extLst>
          </p:cNvPr>
          <p:cNvPicPr>
            <a:picLocks noChangeAspect="1"/>
          </p:cNvPicPr>
          <p:nvPr/>
        </p:nvPicPr>
        <p:blipFill>
          <a:blip r:embed="rId5"/>
          <a:stretch>
            <a:fillRect/>
          </a:stretch>
        </p:blipFill>
        <p:spPr>
          <a:xfrm>
            <a:off x="1897011" y="4884656"/>
            <a:ext cx="7005889" cy="1549749"/>
          </a:xfrm>
          <a:prstGeom prst="rect">
            <a:avLst/>
          </a:prstGeom>
        </p:spPr>
      </p:pic>
      <p:sp>
        <p:nvSpPr>
          <p:cNvPr id="14" name="TextBox 13">
            <a:extLst>
              <a:ext uri="{FF2B5EF4-FFF2-40B4-BE49-F238E27FC236}">
                <a16:creationId xmlns:a16="http://schemas.microsoft.com/office/drawing/2014/main" id="{9EFE40F5-41B9-F3A1-BFCC-E9C7533DDAC4}"/>
              </a:ext>
            </a:extLst>
          </p:cNvPr>
          <p:cNvSpPr txBox="1"/>
          <p:nvPr/>
        </p:nvSpPr>
        <p:spPr>
          <a:xfrm>
            <a:off x="1005714" y="5463591"/>
            <a:ext cx="891297" cy="369332"/>
          </a:xfrm>
          <a:prstGeom prst="rect">
            <a:avLst/>
          </a:prstGeom>
          <a:noFill/>
        </p:spPr>
        <p:txBody>
          <a:bodyPr wrap="square" rtlCol="0">
            <a:spAutoFit/>
          </a:bodyPr>
          <a:lstStyle/>
          <a:p>
            <a:r>
              <a:rPr lang="en-IN" dirty="0">
                <a:solidFill>
                  <a:srgbClr val="C00000"/>
                </a:solidFill>
              </a:rPr>
              <a:t>Usage:</a:t>
            </a:r>
            <a:endParaRPr lang="en-GH" dirty="0">
              <a:solidFill>
                <a:srgbClr val="C00000"/>
              </a:solidFill>
            </a:endParaRPr>
          </a:p>
        </p:txBody>
      </p:sp>
      <p:sp>
        <p:nvSpPr>
          <p:cNvPr id="15" name="TextBox 14">
            <a:extLst>
              <a:ext uri="{FF2B5EF4-FFF2-40B4-BE49-F238E27FC236}">
                <a16:creationId xmlns:a16="http://schemas.microsoft.com/office/drawing/2014/main" id="{D22465AA-4E9C-263E-C64A-ABB27DFAD2C8}"/>
              </a:ext>
            </a:extLst>
          </p:cNvPr>
          <p:cNvSpPr txBox="1"/>
          <p:nvPr/>
        </p:nvSpPr>
        <p:spPr>
          <a:xfrm>
            <a:off x="6103088" y="2923953"/>
            <a:ext cx="2464916" cy="923330"/>
          </a:xfrm>
          <a:prstGeom prst="rect">
            <a:avLst/>
          </a:prstGeom>
          <a:noFill/>
        </p:spPr>
        <p:txBody>
          <a:bodyPr wrap="square" rtlCol="0">
            <a:spAutoFit/>
          </a:bodyPr>
          <a:lstStyle/>
          <a:p>
            <a:r>
              <a:rPr lang="en-IN" dirty="0">
                <a:solidFill>
                  <a:srgbClr val="C00000"/>
                </a:solidFill>
              </a:rPr>
              <a:t>g (global search), </a:t>
            </a:r>
          </a:p>
          <a:p>
            <a:r>
              <a:rPr lang="en-IN" dirty="0" err="1">
                <a:solidFill>
                  <a:srgbClr val="C00000"/>
                </a:solidFill>
              </a:rPr>
              <a:t>i</a:t>
            </a:r>
            <a:r>
              <a:rPr lang="en-IN" dirty="0">
                <a:solidFill>
                  <a:srgbClr val="C00000"/>
                </a:solidFill>
              </a:rPr>
              <a:t> (case sensitive search), m (multiline search) etc.</a:t>
            </a:r>
            <a:endParaRPr lang="en-GH" dirty="0">
              <a:solidFill>
                <a:srgbClr val="C00000"/>
              </a:solidFill>
            </a:endParaRPr>
          </a:p>
        </p:txBody>
      </p:sp>
      <p:cxnSp>
        <p:nvCxnSpPr>
          <p:cNvPr id="17" name="Straight Arrow Connector 16">
            <a:extLst>
              <a:ext uri="{FF2B5EF4-FFF2-40B4-BE49-F238E27FC236}">
                <a16:creationId xmlns:a16="http://schemas.microsoft.com/office/drawing/2014/main" id="{0686BEE5-09F4-46AF-CACE-D790625EB5E4}"/>
              </a:ext>
            </a:extLst>
          </p:cNvPr>
          <p:cNvCxnSpPr/>
          <p:nvPr/>
        </p:nvCxnSpPr>
        <p:spPr>
          <a:xfrm flipV="1">
            <a:off x="4710223" y="3083442"/>
            <a:ext cx="1414130" cy="206491"/>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5DEDEDD7-2BD8-772F-1C13-131304F2D86D}"/>
              </a:ext>
            </a:extLst>
          </p:cNvPr>
          <p:cNvCxnSpPr>
            <a:cxnSpLocks/>
            <a:endCxn id="15" idx="1"/>
          </p:cNvCxnSpPr>
          <p:nvPr/>
        </p:nvCxnSpPr>
        <p:spPr>
          <a:xfrm flipV="1">
            <a:off x="5964636" y="3385618"/>
            <a:ext cx="138452" cy="7686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700039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9F0E-4FC1-5D85-43A0-4F50CE9BD666}"/>
              </a:ext>
            </a:extLst>
          </p:cNvPr>
          <p:cNvSpPr>
            <a:spLocks noGrp="1"/>
          </p:cNvSpPr>
          <p:nvPr>
            <p:ph type="title"/>
          </p:nvPr>
        </p:nvSpPr>
        <p:spPr/>
        <p:txBody>
          <a:bodyPr/>
          <a:lstStyle/>
          <a:p>
            <a:r>
              <a:rPr lang="en-IN" dirty="0"/>
              <a:t>Datatypes: Non-Primitive (Reference)</a:t>
            </a:r>
            <a:endParaRPr lang="en-GH" dirty="0"/>
          </a:p>
        </p:txBody>
      </p:sp>
      <p:sp>
        <p:nvSpPr>
          <p:cNvPr id="3" name="Content Placeholder 2">
            <a:extLst>
              <a:ext uri="{FF2B5EF4-FFF2-40B4-BE49-F238E27FC236}">
                <a16:creationId xmlns:a16="http://schemas.microsoft.com/office/drawing/2014/main" id="{94292BD4-D170-295F-51F0-67B935EA9BDA}"/>
              </a:ext>
            </a:extLst>
          </p:cNvPr>
          <p:cNvSpPr>
            <a:spLocks noGrp="1"/>
          </p:cNvSpPr>
          <p:nvPr>
            <p:ph idx="1"/>
          </p:nvPr>
        </p:nvSpPr>
        <p:spPr/>
        <p:txBody>
          <a:bodyPr/>
          <a:lstStyle/>
          <a:p>
            <a:r>
              <a:rPr lang="en-US" dirty="0">
                <a:solidFill>
                  <a:srgbClr val="0070C0"/>
                </a:solidFill>
              </a:rPr>
              <a:t>Complex forms of data, which are </a:t>
            </a:r>
            <a:r>
              <a:rPr lang="en-US" dirty="0">
                <a:solidFill>
                  <a:srgbClr val="FF0000"/>
                </a:solidFill>
              </a:rPr>
              <a:t>mutable</a:t>
            </a:r>
            <a:r>
              <a:rPr lang="en-US" dirty="0"/>
              <a:t>.</a:t>
            </a:r>
          </a:p>
          <a:p>
            <a:r>
              <a:rPr lang="en-US" b="1" dirty="0">
                <a:solidFill>
                  <a:srgbClr val="009242"/>
                </a:solidFill>
              </a:rPr>
              <a:t>Map</a:t>
            </a:r>
            <a:r>
              <a:rPr lang="en-US" dirty="0"/>
              <a:t>: A collection of key-value pairs where keys can be of any type</a:t>
            </a:r>
          </a:p>
          <a:p>
            <a:endParaRPr lang="en-GH" dirty="0"/>
          </a:p>
        </p:txBody>
      </p:sp>
      <p:pic>
        <p:nvPicPr>
          <p:cNvPr id="9" name="Picture 8">
            <a:extLst>
              <a:ext uri="{FF2B5EF4-FFF2-40B4-BE49-F238E27FC236}">
                <a16:creationId xmlns:a16="http://schemas.microsoft.com/office/drawing/2014/main" id="{D0D23E85-1572-BC5C-9FD4-A57D44FFF08E}"/>
              </a:ext>
            </a:extLst>
          </p:cNvPr>
          <p:cNvPicPr>
            <a:picLocks noChangeAspect="1"/>
          </p:cNvPicPr>
          <p:nvPr/>
        </p:nvPicPr>
        <p:blipFill>
          <a:blip r:embed="rId2"/>
          <a:stretch>
            <a:fillRect/>
          </a:stretch>
        </p:blipFill>
        <p:spPr>
          <a:xfrm>
            <a:off x="361439" y="2369976"/>
            <a:ext cx="4210561" cy="3350339"/>
          </a:xfrm>
          <a:prstGeom prst="rect">
            <a:avLst/>
          </a:prstGeom>
        </p:spPr>
      </p:pic>
      <p:pic>
        <p:nvPicPr>
          <p:cNvPr id="13" name="Picture 12">
            <a:extLst>
              <a:ext uri="{FF2B5EF4-FFF2-40B4-BE49-F238E27FC236}">
                <a16:creationId xmlns:a16="http://schemas.microsoft.com/office/drawing/2014/main" id="{08C3BF8F-E65F-984C-9AF1-9CA4ED0D05ED}"/>
              </a:ext>
            </a:extLst>
          </p:cNvPr>
          <p:cNvPicPr>
            <a:picLocks noChangeAspect="1"/>
          </p:cNvPicPr>
          <p:nvPr/>
        </p:nvPicPr>
        <p:blipFill>
          <a:blip r:embed="rId3"/>
          <a:srcRect r="44461"/>
          <a:stretch/>
        </p:blipFill>
        <p:spPr>
          <a:xfrm>
            <a:off x="5088402" y="2369976"/>
            <a:ext cx="3814498" cy="1125046"/>
          </a:xfrm>
          <a:prstGeom prst="rect">
            <a:avLst/>
          </a:prstGeom>
        </p:spPr>
      </p:pic>
      <p:pic>
        <p:nvPicPr>
          <p:cNvPr id="15" name="Picture 14">
            <a:extLst>
              <a:ext uri="{FF2B5EF4-FFF2-40B4-BE49-F238E27FC236}">
                <a16:creationId xmlns:a16="http://schemas.microsoft.com/office/drawing/2014/main" id="{0586E2FA-1DA9-9A5A-32E8-68CD1DFCC6C6}"/>
              </a:ext>
            </a:extLst>
          </p:cNvPr>
          <p:cNvPicPr>
            <a:picLocks noChangeAspect="1"/>
          </p:cNvPicPr>
          <p:nvPr/>
        </p:nvPicPr>
        <p:blipFill>
          <a:blip r:embed="rId4"/>
          <a:stretch>
            <a:fillRect/>
          </a:stretch>
        </p:blipFill>
        <p:spPr>
          <a:xfrm>
            <a:off x="5088402" y="3875783"/>
            <a:ext cx="3564616" cy="749379"/>
          </a:xfrm>
          <a:prstGeom prst="rect">
            <a:avLst/>
          </a:prstGeom>
        </p:spPr>
      </p:pic>
      <p:pic>
        <p:nvPicPr>
          <p:cNvPr id="17" name="Picture 16">
            <a:extLst>
              <a:ext uri="{FF2B5EF4-FFF2-40B4-BE49-F238E27FC236}">
                <a16:creationId xmlns:a16="http://schemas.microsoft.com/office/drawing/2014/main" id="{6552DBB8-802A-F786-2061-0137BD40C2C6}"/>
              </a:ext>
            </a:extLst>
          </p:cNvPr>
          <p:cNvPicPr>
            <a:picLocks noChangeAspect="1"/>
          </p:cNvPicPr>
          <p:nvPr/>
        </p:nvPicPr>
        <p:blipFill>
          <a:blip r:embed="rId5"/>
          <a:stretch>
            <a:fillRect/>
          </a:stretch>
        </p:blipFill>
        <p:spPr>
          <a:xfrm>
            <a:off x="5088402" y="4886273"/>
            <a:ext cx="1981477" cy="743054"/>
          </a:xfrm>
          <a:prstGeom prst="rect">
            <a:avLst/>
          </a:prstGeom>
        </p:spPr>
      </p:pic>
      <p:pic>
        <p:nvPicPr>
          <p:cNvPr id="5" name="Picture 4">
            <a:extLst>
              <a:ext uri="{FF2B5EF4-FFF2-40B4-BE49-F238E27FC236}">
                <a16:creationId xmlns:a16="http://schemas.microsoft.com/office/drawing/2014/main" id="{F2AD9E14-7ED6-A8FD-DE6C-5BDF8C526146}"/>
              </a:ext>
            </a:extLst>
          </p:cNvPr>
          <p:cNvPicPr>
            <a:picLocks noChangeAspect="1"/>
          </p:cNvPicPr>
          <p:nvPr/>
        </p:nvPicPr>
        <p:blipFill>
          <a:blip r:embed="rId6"/>
          <a:stretch>
            <a:fillRect/>
          </a:stretch>
        </p:blipFill>
        <p:spPr>
          <a:xfrm>
            <a:off x="677711" y="5776507"/>
            <a:ext cx="5401429" cy="743054"/>
          </a:xfrm>
          <a:prstGeom prst="rect">
            <a:avLst/>
          </a:prstGeom>
        </p:spPr>
      </p:pic>
      <p:pic>
        <p:nvPicPr>
          <p:cNvPr id="7" name="Picture 6">
            <a:extLst>
              <a:ext uri="{FF2B5EF4-FFF2-40B4-BE49-F238E27FC236}">
                <a16:creationId xmlns:a16="http://schemas.microsoft.com/office/drawing/2014/main" id="{C0AD43EE-2FDD-880B-2836-8B43D9C3FA55}"/>
              </a:ext>
            </a:extLst>
          </p:cNvPr>
          <p:cNvPicPr>
            <a:picLocks noChangeAspect="1"/>
          </p:cNvPicPr>
          <p:nvPr/>
        </p:nvPicPr>
        <p:blipFill>
          <a:blip r:embed="rId7"/>
          <a:stretch>
            <a:fillRect/>
          </a:stretch>
        </p:blipFill>
        <p:spPr>
          <a:xfrm>
            <a:off x="6237962" y="5776507"/>
            <a:ext cx="2664938" cy="521401"/>
          </a:xfrm>
          <a:prstGeom prst="rect">
            <a:avLst/>
          </a:prstGeom>
        </p:spPr>
      </p:pic>
    </p:spTree>
    <p:extLst>
      <p:ext uri="{BB962C8B-B14F-4D97-AF65-F5344CB8AC3E}">
        <p14:creationId xmlns:p14="http://schemas.microsoft.com/office/powerpoint/2010/main" val="7553053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9F0E-4FC1-5D85-43A0-4F50CE9BD666}"/>
              </a:ext>
            </a:extLst>
          </p:cNvPr>
          <p:cNvSpPr>
            <a:spLocks noGrp="1"/>
          </p:cNvSpPr>
          <p:nvPr>
            <p:ph type="title"/>
          </p:nvPr>
        </p:nvSpPr>
        <p:spPr/>
        <p:txBody>
          <a:bodyPr/>
          <a:lstStyle/>
          <a:p>
            <a:r>
              <a:rPr lang="en-IN" dirty="0"/>
              <a:t>Datatypes: Non-Primitive (Reference)</a:t>
            </a:r>
            <a:endParaRPr lang="en-GH" dirty="0"/>
          </a:p>
        </p:txBody>
      </p:sp>
      <p:sp>
        <p:nvSpPr>
          <p:cNvPr id="3" name="Content Placeholder 2">
            <a:extLst>
              <a:ext uri="{FF2B5EF4-FFF2-40B4-BE49-F238E27FC236}">
                <a16:creationId xmlns:a16="http://schemas.microsoft.com/office/drawing/2014/main" id="{94292BD4-D170-295F-51F0-67B935EA9BDA}"/>
              </a:ext>
            </a:extLst>
          </p:cNvPr>
          <p:cNvSpPr>
            <a:spLocks noGrp="1"/>
          </p:cNvSpPr>
          <p:nvPr>
            <p:ph idx="1"/>
          </p:nvPr>
        </p:nvSpPr>
        <p:spPr/>
        <p:txBody>
          <a:bodyPr/>
          <a:lstStyle/>
          <a:p>
            <a:r>
              <a:rPr lang="en-US" b="1" dirty="0">
                <a:solidFill>
                  <a:srgbClr val="009242"/>
                </a:solidFill>
              </a:rPr>
              <a:t>Iterating over Map:</a:t>
            </a:r>
            <a:endParaRPr lang="en-US" dirty="0"/>
          </a:p>
          <a:p>
            <a:endParaRPr lang="en-GH" dirty="0"/>
          </a:p>
        </p:txBody>
      </p:sp>
      <p:pic>
        <p:nvPicPr>
          <p:cNvPr id="6" name="Picture 5">
            <a:extLst>
              <a:ext uri="{FF2B5EF4-FFF2-40B4-BE49-F238E27FC236}">
                <a16:creationId xmlns:a16="http://schemas.microsoft.com/office/drawing/2014/main" id="{42C6DE76-B541-9AE1-9C2F-4EA2D3BBE6DA}"/>
              </a:ext>
            </a:extLst>
          </p:cNvPr>
          <p:cNvPicPr>
            <a:picLocks noChangeAspect="1"/>
          </p:cNvPicPr>
          <p:nvPr/>
        </p:nvPicPr>
        <p:blipFill>
          <a:blip r:embed="rId2"/>
          <a:stretch>
            <a:fillRect/>
          </a:stretch>
        </p:blipFill>
        <p:spPr>
          <a:xfrm>
            <a:off x="240465" y="1994443"/>
            <a:ext cx="4406723" cy="3378488"/>
          </a:xfrm>
          <a:prstGeom prst="rect">
            <a:avLst/>
          </a:prstGeom>
        </p:spPr>
      </p:pic>
      <p:pic>
        <p:nvPicPr>
          <p:cNvPr id="10" name="Picture 9">
            <a:extLst>
              <a:ext uri="{FF2B5EF4-FFF2-40B4-BE49-F238E27FC236}">
                <a16:creationId xmlns:a16="http://schemas.microsoft.com/office/drawing/2014/main" id="{E0043485-5972-A1B8-8E5B-F832671A7574}"/>
              </a:ext>
            </a:extLst>
          </p:cNvPr>
          <p:cNvPicPr>
            <a:picLocks noChangeAspect="1"/>
          </p:cNvPicPr>
          <p:nvPr/>
        </p:nvPicPr>
        <p:blipFill>
          <a:blip r:embed="rId3"/>
          <a:stretch>
            <a:fillRect/>
          </a:stretch>
        </p:blipFill>
        <p:spPr>
          <a:xfrm>
            <a:off x="1412558" y="5457383"/>
            <a:ext cx="1895740" cy="1076475"/>
          </a:xfrm>
          <a:prstGeom prst="rect">
            <a:avLst/>
          </a:prstGeom>
        </p:spPr>
      </p:pic>
      <p:sp>
        <p:nvSpPr>
          <p:cNvPr id="11" name="TextBox 10">
            <a:extLst>
              <a:ext uri="{FF2B5EF4-FFF2-40B4-BE49-F238E27FC236}">
                <a16:creationId xmlns:a16="http://schemas.microsoft.com/office/drawing/2014/main" id="{0606309C-80F8-1866-4151-657897A60B7D}"/>
              </a:ext>
            </a:extLst>
          </p:cNvPr>
          <p:cNvSpPr txBox="1"/>
          <p:nvPr/>
        </p:nvSpPr>
        <p:spPr>
          <a:xfrm>
            <a:off x="467833" y="5626288"/>
            <a:ext cx="944725" cy="369332"/>
          </a:xfrm>
          <a:prstGeom prst="rect">
            <a:avLst/>
          </a:prstGeom>
          <a:noFill/>
        </p:spPr>
        <p:txBody>
          <a:bodyPr wrap="square" rtlCol="0">
            <a:spAutoFit/>
          </a:bodyPr>
          <a:lstStyle/>
          <a:p>
            <a:r>
              <a:rPr lang="en-IN" b="1" dirty="0">
                <a:solidFill>
                  <a:srgbClr val="C00000"/>
                </a:solidFill>
              </a:rPr>
              <a:t>Output</a:t>
            </a:r>
            <a:endParaRPr lang="en-GH" b="1" dirty="0">
              <a:solidFill>
                <a:srgbClr val="C00000"/>
              </a:solidFill>
            </a:endParaRPr>
          </a:p>
        </p:txBody>
      </p:sp>
      <p:pic>
        <p:nvPicPr>
          <p:cNvPr id="14" name="Picture 13">
            <a:extLst>
              <a:ext uri="{FF2B5EF4-FFF2-40B4-BE49-F238E27FC236}">
                <a16:creationId xmlns:a16="http://schemas.microsoft.com/office/drawing/2014/main" id="{8BA1C9FE-9021-DAAD-9F22-B4655F31DD6F}"/>
              </a:ext>
            </a:extLst>
          </p:cNvPr>
          <p:cNvPicPr>
            <a:picLocks noChangeAspect="1"/>
          </p:cNvPicPr>
          <p:nvPr/>
        </p:nvPicPr>
        <p:blipFill>
          <a:blip r:embed="rId4"/>
          <a:stretch>
            <a:fillRect/>
          </a:stretch>
        </p:blipFill>
        <p:spPr>
          <a:xfrm>
            <a:off x="4766509" y="3398818"/>
            <a:ext cx="4226979" cy="1041576"/>
          </a:xfrm>
          <a:prstGeom prst="rect">
            <a:avLst/>
          </a:prstGeom>
        </p:spPr>
      </p:pic>
    </p:spTree>
    <p:extLst>
      <p:ext uri="{BB962C8B-B14F-4D97-AF65-F5344CB8AC3E}">
        <p14:creationId xmlns:p14="http://schemas.microsoft.com/office/powerpoint/2010/main" val="19479520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9F0E-4FC1-5D85-43A0-4F50CE9BD666}"/>
              </a:ext>
            </a:extLst>
          </p:cNvPr>
          <p:cNvSpPr>
            <a:spLocks noGrp="1"/>
          </p:cNvSpPr>
          <p:nvPr>
            <p:ph type="title"/>
          </p:nvPr>
        </p:nvSpPr>
        <p:spPr/>
        <p:txBody>
          <a:bodyPr/>
          <a:lstStyle/>
          <a:p>
            <a:r>
              <a:rPr lang="en-IN" dirty="0"/>
              <a:t>Datatypes: Non-Primitive (Reference)</a:t>
            </a:r>
            <a:endParaRPr lang="en-GH" dirty="0"/>
          </a:p>
        </p:txBody>
      </p:sp>
      <p:sp>
        <p:nvSpPr>
          <p:cNvPr id="3" name="Content Placeholder 2">
            <a:extLst>
              <a:ext uri="{FF2B5EF4-FFF2-40B4-BE49-F238E27FC236}">
                <a16:creationId xmlns:a16="http://schemas.microsoft.com/office/drawing/2014/main" id="{94292BD4-D170-295F-51F0-67B935EA9BDA}"/>
              </a:ext>
            </a:extLst>
          </p:cNvPr>
          <p:cNvSpPr>
            <a:spLocks noGrp="1"/>
          </p:cNvSpPr>
          <p:nvPr>
            <p:ph idx="1"/>
          </p:nvPr>
        </p:nvSpPr>
        <p:spPr/>
        <p:txBody>
          <a:bodyPr/>
          <a:lstStyle/>
          <a:p>
            <a:r>
              <a:rPr lang="en-US" dirty="0">
                <a:solidFill>
                  <a:srgbClr val="0070C0"/>
                </a:solidFill>
              </a:rPr>
              <a:t>Complex forms of data, which are </a:t>
            </a:r>
            <a:r>
              <a:rPr lang="en-US" dirty="0">
                <a:solidFill>
                  <a:srgbClr val="FF0000"/>
                </a:solidFill>
              </a:rPr>
              <a:t>mutable</a:t>
            </a:r>
            <a:r>
              <a:rPr lang="en-US" dirty="0"/>
              <a:t>.</a:t>
            </a:r>
          </a:p>
          <a:p>
            <a:r>
              <a:rPr lang="en-US" b="1" dirty="0">
                <a:solidFill>
                  <a:srgbClr val="009242"/>
                </a:solidFill>
              </a:rPr>
              <a:t>Set</a:t>
            </a:r>
            <a:r>
              <a:rPr lang="en-US" dirty="0"/>
              <a:t>: A collection of unique values (no duplicates allowed).</a:t>
            </a:r>
            <a:endParaRPr lang="en-GH" dirty="0"/>
          </a:p>
        </p:txBody>
      </p:sp>
      <p:pic>
        <p:nvPicPr>
          <p:cNvPr id="5" name="Picture 4">
            <a:extLst>
              <a:ext uri="{FF2B5EF4-FFF2-40B4-BE49-F238E27FC236}">
                <a16:creationId xmlns:a16="http://schemas.microsoft.com/office/drawing/2014/main" id="{7C76006C-35B7-36DA-DCFA-A721EAA1CFAA}"/>
              </a:ext>
            </a:extLst>
          </p:cNvPr>
          <p:cNvPicPr>
            <a:picLocks noChangeAspect="1"/>
          </p:cNvPicPr>
          <p:nvPr/>
        </p:nvPicPr>
        <p:blipFill>
          <a:blip r:embed="rId2"/>
          <a:stretch>
            <a:fillRect/>
          </a:stretch>
        </p:blipFill>
        <p:spPr>
          <a:xfrm>
            <a:off x="586995" y="2397057"/>
            <a:ext cx="4873844" cy="654487"/>
          </a:xfrm>
          <a:prstGeom prst="rect">
            <a:avLst/>
          </a:prstGeom>
        </p:spPr>
      </p:pic>
      <p:pic>
        <p:nvPicPr>
          <p:cNvPr id="7" name="Picture 6">
            <a:extLst>
              <a:ext uri="{FF2B5EF4-FFF2-40B4-BE49-F238E27FC236}">
                <a16:creationId xmlns:a16="http://schemas.microsoft.com/office/drawing/2014/main" id="{65B60302-3D7C-777B-9B24-8618505CD8B8}"/>
              </a:ext>
            </a:extLst>
          </p:cNvPr>
          <p:cNvPicPr>
            <a:picLocks noChangeAspect="1"/>
          </p:cNvPicPr>
          <p:nvPr/>
        </p:nvPicPr>
        <p:blipFill>
          <a:blip r:embed="rId3"/>
          <a:stretch>
            <a:fillRect/>
          </a:stretch>
        </p:blipFill>
        <p:spPr>
          <a:xfrm>
            <a:off x="586995" y="3297651"/>
            <a:ext cx="6759463" cy="3125343"/>
          </a:xfrm>
          <a:prstGeom prst="rect">
            <a:avLst/>
          </a:prstGeom>
        </p:spPr>
      </p:pic>
      <p:pic>
        <p:nvPicPr>
          <p:cNvPr id="6" name="Picture 5">
            <a:extLst>
              <a:ext uri="{FF2B5EF4-FFF2-40B4-BE49-F238E27FC236}">
                <a16:creationId xmlns:a16="http://schemas.microsoft.com/office/drawing/2014/main" id="{02D68E81-B95F-D19D-8F03-0C655F2014B4}"/>
              </a:ext>
            </a:extLst>
          </p:cNvPr>
          <p:cNvPicPr>
            <a:picLocks noChangeAspect="1"/>
          </p:cNvPicPr>
          <p:nvPr/>
        </p:nvPicPr>
        <p:blipFill>
          <a:blip r:embed="rId4"/>
          <a:stretch>
            <a:fillRect/>
          </a:stretch>
        </p:blipFill>
        <p:spPr>
          <a:xfrm>
            <a:off x="5603880" y="3429000"/>
            <a:ext cx="3217186" cy="600030"/>
          </a:xfrm>
          <a:prstGeom prst="rect">
            <a:avLst/>
          </a:prstGeom>
        </p:spPr>
      </p:pic>
      <p:cxnSp>
        <p:nvCxnSpPr>
          <p:cNvPr id="9" name="Straight Arrow Connector 8">
            <a:extLst>
              <a:ext uri="{FF2B5EF4-FFF2-40B4-BE49-F238E27FC236}">
                <a16:creationId xmlns:a16="http://schemas.microsoft.com/office/drawing/2014/main" id="{335A7EAA-7FD6-D2C6-F4D5-4B268027540F}"/>
              </a:ext>
            </a:extLst>
          </p:cNvPr>
          <p:cNvCxnSpPr/>
          <p:nvPr/>
        </p:nvCxnSpPr>
        <p:spPr>
          <a:xfrm flipV="1">
            <a:off x="7753849" y="2987130"/>
            <a:ext cx="159489" cy="394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229FC64-E286-E031-E209-DC0C69A0E9DD}"/>
              </a:ext>
            </a:extLst>
          </p:cNvPr>
          <p:cNvSpPr txBox="1"/>
          <p:nvPr/>
        </p:nvSpPr>
        <p:spPr>
          <a:xfrm>
            <a:off x="7474688" y="2647507"/>
            <a:ext cx="1082317" cy="369332"/>
          </a:xfrm>
          <a:prstGeom prst="rect">
            <a:avLst/>
          </a:prstGeom>
          <a:noFill/>
        </p:spPr>
        <p:txBody>
          <a:bodyPr wrap="square" rtlCol="0">
            <a:spAutoFit/>
          </a:bodyPr>
          <a:lstStyle/>
          <a:p>
            <a:r>
              <a:rPr lang="en-IN" dirty="0"/>
              <a:t>Deleting</a:t>
            </a:r>
            <a:endParaRPr lang="en-GH" dirty="0"/>
          </a:p>
        </p:txBody>
      </p:sp>
    </p:spTree>
    <p:extLst>
      <p:ext uri="{BB962C8B-B14F-4D97-AF65-F5344CB8AC3E}">
        <p14:creationId xmlns:p14="http://schemas.microsoft.com/office/powerpoint/2010/main" val="21790075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8C819-FDFD-79D4-195A-3138DCED5C86}"/>
              </a:ext>
            </a:extLst>
          </p:cNvPr>
          <p:cNvSpPr>
            <a:spLocks noGrp="1"/>
          </p:cNvSpPr>
          <p:nvPr>
            <p:ph type="title"/>
          </p:nvPr>
        </p:nvSpPr>
        <p:spPr/>
        <p:txBody>
          <a:bodyPr/>
          <a:lstStyle/>
          <a:p>
            <a:r>
              <a:rPr lang="en-IN" dirty="0"/>
              <a:t>Control Structures : Branching</a:t>
            </a:r>
            <a:endParaRPr lang="en-GH" dirty="0"/>
          </a:p>
        </p:txBody>
      </p:sp>
      <p:sp>
        <p:nvSpPr>
          <p:cNvPr id="3" name="Content Placeholder 2">
            <a:extLst>
              <a:ext uri="{FF2B5EF4-FFF2-40B4-BE49-F238E27FC236}">
                <a16:creationId xmlns:a16="http://schemas.microsoft.com/office/drawing/2014/main" id="{C6923F6A-995B-0C5D-5551-77A62B59D7B3}"/>
              </a:ext>
            </a:extLst>
          </p:cNvPr>
          <p:cNvSpPr>
            <a:spLocks noGrp="1"/>
          </p:cNvSpPr>
          <p:nvPr>
            <p:ph idx="1"/>
          </p:nvPr>
        </p:nvSpPr>
        <p:spPr/>
        <p:txBody>
          <a:bodyPr/>
          <a:lstStyle/>
          <a:p>
            <a:r>
              <a:rPr lang="en-IN" b="1" dirty="0">
                <a:solidFill>
                  <a:srgbClr val="009242"/>
                </a:solidFill>
              </a:rPr>
              <a:t>if-else</a:t>
            </a:r>
            <a:r>
              <a:rPr lang="en-IN" dirty="0"/>
              <a:t> and </a:t>
            </a:r>
            <a:r>
              <a:rPr lang="en-IN" b="1" dirty="0">
                <a:solidFill>
                  <a:srgbClr val="009242"/>
                </a:solidFill>
              </a:rPr>
              <a:t>else if </a:t>
            </a:r>
            <a:r>
              <a:rPr lang="en-IN" dirty="0"/>
              <a:t>statements:</a:t>
            </a:r>
          </a:p>
          <a:p>
            <a:pPr marL="0" indent="0">
              <a:buNone/>
            </a:pPr>
            <a:endParaRPr lang="en-GH" dirty="0"/>
          </a:p>
        </p:txBody>
      </p:sp>
      <p:pic>
        <p:nvPicPr>
          <p:cNvPr id="5" name="Picture 4">
            <a:extLst>
              <a:ext uri="{FF2B5EF4-FFF2-40B4-BE49-F238E27FC236}">
                <a16:creationId xmlns:a16="http://schemas.microsoft.com/office/drawing/2014/main" id="{A8B5E0C8-09F6-3E44-B13D-DDFFBDEDB657}"/>
              </a:ext>
            </a:extLst>
          </p:cNvPr>
          <p:cNvPicPr>
            <a:picLocks noChangeAspect="1"/>
          </p:cNvPicPr>
          <p:nvPr/>
        </p:nvPicPr>
        <p:blipFill>
          <a:blip r:embed="rId2"/>
          <a:stretch>
            <a:fillRect/>
          </a:stretch>
        </p:blipFill>
        <p:spPr>
          <a:xfrm>
            <a:off x="514284" y="2065786"/>
            <a:ext cx="4491815" cy="2726427"/>
          </a:xfrm>
          <a:prstGeom prst="rect">
            <a:avLst/>
          </a:prstGeom>
        </p:spPr>
      </p:pic>
      <p:pic>
        <p:nvPicPr>
          <p:cNvPr id="6" name="Picture 5">
            <a:extLst>
              <a:ext uri="{FF2B5EF4-FFF2-40B4-BE49-F238E27FC236}">
                <a16:creationId xmlns:a16="http://schemas.microsoft.com/office/drawing/2014/main" id="{F5BCDFF2-8B78-63BD-D775-3E80ABAB6D4B}"/>
              </a:ext>
            </a:extLst>
          </p:cNvPr>
          <p:cNvPicPr>
            <a:picLocks noChangeAspect="1"/>
          </p:cNvPicPr>
          <p:nvPr/>
        </p:nvPicPr>
        <p:blipFill>
          <a:blip r:embed="rId3"/>
          <a:stretch>
            <a:fillRect/>
          </a:stretch>
        </p:blipFill>
        <p:spPr>
          <a:xfrm>
            <a:off x="5425856" y="2065785"/>
            <a:ext cx="3477043" cy="3477043"/>
          </a:xfrm>
          <a:prstGeom prst="rect">
            <a:avLst/>
          </a:prstGeom>
        </p:spPr>
      </p:pic>
    </p:spTree>
    <p:extLst>
      <p:ext uri="{BB962C8B-B14F-4D97-AF65-F5344CB8AC3E}">
        <p14:creationId xmlns:p14="http://schemas.microsoft.com/office/powerpoint/2010/main" val="31945759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8C819-FDFD-79D4-195A-3138DCED5C86}"/>
              </a:ext>
            </a:extLst>
          </p:cNvPr>
          <p:cNvSpPr>
            <a:spLocks noGrp="1"/>
          </p:cNvSpPr>
          <p:nvPr>
            <p:ph type="title"/>
          </p:nvPr>
        </p:nvSpPr>
        <p:spPr/>
        <p:txBody>
          <a:bodyPr/>
          <a:lstStyle/>
          <a:p>
            <a:r>
              <a:rPr lang="en-IN" dirty="0"/>
              <a:t>Control Structures : Branching</a:t>
            </a:r>
            <a:endParaRPr lang="en-GH" dirty="0"/>
          </a:p>
        </p:txBody>
      </p:sp>
      <p:sp>
        <p:nvSpPr>
          <p:cNvPr id="3" name="Content Placeholder 2">
            <a:extLst>
              <a:ext uri="{FF2B5EF4-FFF2-40B4-BE49-F238E27FC236}">
                <a16:creationId xmlns:a16="http://schemas.microsoft.com/office/drawing/2014/main" id="{C6923F6A-995B-0C5D-5551-77A62B59D7B3}"/>
              </a:ext>
            </a:extLst>
          </p:cNvPr>
          <p:cNvSpPr>
            <a:spLocks noGrp="1"/>
          </p:cNvSpPr>
          <p:nvPr>
            <p:ph idx="1"/>
          </p:nvPr>
        </p:nvSpPr>
        <p:spPr/>
        <p:txBody>
          <a:bodyPr/>
          <a:lstStyle/>
          <a:p>
            <a:r>
              <a:rPr lang="en-IN" b="1" dirty="0">
                <a:solidFill>
                  <a:srgbClr val="009242"/>
                </a:solidFill>
              </a:rPr>
              <a:t>switch </a:t>
            </a:r>
            <a:r>
              <a:rPr lang="en-IN" dirty="0"/>
              <a:t>statement:</a:t>
            </a:r>
          </a:p>
          <a:p>
            <a:pPr marL="0" indent="0">
              <a:buNone/>
            </a:pPr>
            <a:endParaRPr lang="en-GH" dirty="0"/>
          </a:p>
        </p:txBody>
      </p:sp>
      <p:pic>
        <p:nvPicPr>
          <p:cNvPr id="7" name="Picture 6">
            <a:extLst>
              <a:ext uri="{FF2B5EF4-FFF2-40B4-BE49-F238E27FC236}">
                <a16:creationId xmlns:a16="http://schemas.microsoft.com/office/drawing/2014/main" id="{CB6ECE87-3900-94C9-8CB3-27E0AA64B225}"/>
              </a:ext>
            </a:extLst>
          </p:cNvPr>
          <p:cNvPicPr>
            <a:picLocks noChangeAspect="1"/>
          </p:cNvPicPr>
          <p:nvPr/>
        </p:nvPicPr>
        <p:blipFill>
          <a:blip r:embed="rId2"/>
          <a:stretch>
            <a:fillRect/>
          </a:stretch>
        </p:blipFill>
        <p:spPr>
          <a:xfrm>
            <a:off x="3255026" y="1218815"/>
            <a:ext cx="4474844" cy="5342810"/>
          </a:xfrm>
          <a:prstGeom prst="rect">
            <a:avLst/>
          </a:prstGeom>
        </p:spPr>
      </p:pic>
    </p:spTree>
    <p:extLst>
      <p:ext uri="{BB962C8B-B14F-4D97-AF65-F5344CB8AC3E}">
        <p14:creationId xmlns:p14="http://schemas.microsoft.com/office/powerpoint/2010/main" val="2173390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8C819-FDFD-79D4-195A-3138DCED5C86}"/>
              </a:ext>
            </a:extLst>
          </p:cNvPr>
          <p:cNvSpPr>
            <a:spLocks noGrp="1"/>
          </p:cNvSpPr>
          <p:nvPr>
            <p:ph type="title"/>
          </p:nvPr>
        </p:nvSpPr>
        <p:spPr/>
        <p:txBody>
          <a:bodyPr/>
          <a:lstStyle/>
          <a:p>
            <a:r>
              <a:rPr lang="en-IN" dirty="0"/>
              <a:t>Control Structures : Looping</a:t>
            </a:r>
            <a:endParaRPr lang="en-GH" dirty="0"/>
          </a:p>
        </p:txBody>
      </p:sp>
      <p:sp>
        <p:nvSpPr>
          <p:cNvPr id="3" name="Content Placeholder 2">
            <a:extLst>
              <a:ext uri="{FF2B5EF4-FFF2-40B4-BE49-F238E27FC236}">
                <a16:creationId xmlns:a16="http://schemas.microsoft.com/office/drawing/2014/main" id="{C6923F6A-995B-0C5D-5551-77A62B59D7B3}"/>
              </a:ext>
            </a:extLst>
          </p:cNvPr>
          <p:cNvSpPr>
            <a:spLocks noGrp="1"/>
          </p:cNvSpPr>
          <p:nvPr>
            <p:ph idx="1"/>
          </p:nvPr>
        </p:nvSpPr>
        <p:spPr/>
        <p:txBody>
          <a:bodyPr/>
          <a:lstStyle/>
          <a:p>
            <a:r>
              <a:rPr lang="en-IN" b="1" dirty="0">
                <a:solidFill>
                  <a:srgbClr val="009242"/>
                </a:solidFill>
              </a:rPr>
              <a:t>for </a:t>
            </a:r>
            <a:r>
              <a:rPr lang="en-IN" dirty="0"/>
              <a:t>loop:</a:t>
            </a:r>
          </a:p>
          <a:p>
            <a:endParaRPr lang="en-IN" dirty="0"/>
          </a:p>
          <a:p>
            <a:endParaRPr lang="en-IN" dirty="0"/>
          </a:p>
          <a:p>
            <a:endParaRPr lang="en-IN" dirty="0"/>
          </a:p>
          <a:p>
            <a:endParaRPr lang="en-IN" b="1" dirty="0">
              <a:solidFill>
                <a:srgbClr val="009242"/>
              </a:solidFill>
            </a:endParaRPr>
          </a:p>
          <a:p>
            <a:r>
              <a:rPr lang="en-IN" b="1" dirty="0">
                <a:solidFill>
                  <a:srgbClr val="009242"/>
                </a:solidFill>
              </a:rPr>
              <a:t>while </a:t>
            </a:r>
            <a:r>
              <a:rPr lang="en-IN" dirty="0"/>
              <a:t>loop:</a:t>
            </a:r>
          </a:p>
          <a:p>
            <a:endParaRPr lang="en-IN" dirty="0"/>
          </a:p>
          <a:p>
            <a:pPr marL="0" indent="0">
              <a:buNone/>
            </a:pPr>
            <a:endParaRPr lang="en-GH" dirty="0"/>
          </a:p>
        </p:txBody>
      </p:sp>
      <p:pic>
        <p:nvPicPr>
          <p:cNvPr id="5" name="Picture 4">
            <a:extLst>
              <a:ext uri="{FF2B5EF4-FFF2-40B4-BE49-F238E27FC236}">
                <a16:creationId xmlns:a16="http://schemas.microsoft.com/office/drawing/2014/main" id="{DBA9C29D-FC7A-FDDB-9A8B-CB3CDBBC5414}"/>
              </a:ext>
            </a:extLst>
          </p:cNvPr>
          <p:cNvPicPr>
            <a:picLocks noChangeAspect="1"/>
          </p:cNvPicPr>
          <p:nvPr/>
        </p:nvPicPr>
        <p:blipFill>
          <a:blip r:embed="rId2"/>
          <a:stretch>
            <a:fillRect/>
          </a:stretch>
        </p:blipFill>
        <p:spPr>
          <a:xfrm>
            <a:off x="1790439" y="1814322"/>
            <a:ext cx="4461505" cy="1343005"/>
          </a:xfrm>
          <a:prstGeom prst="rect">
            <a:avLst/>
          </a:prstGeom>
        </p:spPr>
      </p:pic>
      <p:pic>
        <p:nvPicPr>
          <p:cNvPr id="8" name="Picture 7">
            <a:extLst>
              <a:ext uri="{FF2B5EF4-FFF2-40B4-BE49-F238E27FC236}">
                <a16:creationId xmlns:a16="http://schemas.microsoft.com/office/drawing/2014/main" id="{0F57ACAF-FCAC-6834-A350-5589F29F9AF3}"/>
              </a:ext>
            </a:extLst>
          </p:cNvPr>
          <p:cNvPicPr>
            <a:picLocks noChangeAspect="1"/>
          </p:cNvPicPr>
          <p:nvPr/>
        </p:nvPicPr>
        <p:blipFill>
          <a:blip r:embed="rId3"/>
          <a:stretch>
            <a:fillRect/>
          </a:stretch>
        </p:blipFill>
        <p:spPr>
          <a:xfrm>
            <a:off x="1790439" y="4165254"/>
            <a:ext cx="3381847" cy="2257740"/>
          </a:xfrm>
          <a:prstGeom prst="rect">
            <a:avLst/>
          </a:prstGeom>
        </p:spPr>
      </p:pic>
    </p:spTree>
    <p:extLst>
      <p:ext uri="{BB962C8B-B14F-4D97-AF65-F5344CB8AC3E}">
        <p14:creationId xmlns:p14="http://schemas.microsoft.com/office/powerpoint/2010/main" val="17380427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8C819-FDFD-79D4-195A-3138DCED5C86}"/>
              </a:ext>
            </a:extLst>
          </p:cNvPr>
          <p:cNvSpPr>
            <a:spLocks noGrp="1"/>
          </p:cNvSpPr>
          <p:nvPr>
            <p:ph type="title"/>
          </p:nvPr>
        </p:nvSpPr>
        <p:spPr/>
        <p:txBody>
          <a:bodyPr/>
          <a:lstStyle/>
          <a:p>
            <a:r>
              <a:rPr lang="en-IN" dirty="0"/>
              <a:t>Control Structures : Looping</a:t>
            </a:r>
            <a:endParaRPr lang="en-GH" dirty="0"/>
          </a:p>
        </p:txBody>
      </p:sp>
      <p:sp>
        <p:nvSpPr>
          <p:cNvPr id="3" name="Content Placeholder 2">
            <a:extLst>
              <a:ext uri="{FF2B5EF4-FFF2-40B4-BE49-F238E27FC236}">
                <a16:creationId xmlns:a16="http://schemas.microsoft.com/office/drawing/2014/main" id="{C6923F6A-995B-0C5D-5551-77A62B59D7B3}"/>
              </a:ext>
            </a:extLst>
          </p:cNvPr>
          <p:cNvSpPr>
            <a:spLocks noGrp="1"/>
          </p:cNvSpPr>
          <p:nvPr>
            <p:ph idx="1"/>
          </p:nvPr>
        </p:nvSpPr>
        <p:spPr/>
        <p:txBody>
          <a:bodyPr/>
          <a:lstStyle/>
          <a:p>
            <a:r>
              <a:rPr lang="en-IN" b="1" dirty="0">
                <a:solidFill>
                  <a:srgbClr val="009242"/>
                </a:solidFill>
              </a:rPr>
              <a:t>do-while </a:t>
            </a:r>
            <a:r>
              <a:rPr lang="en-IN" dirty="0"/>
              <a:t>loop:</a:t>
            </a:r>
          </a:p>
          <a:p>
            <a:endParaRPr lang="en-IN" dirty="0"/>
          </a:p>
          <a:p>
            <a:pPr marL="0" indent="0">
              <a:buNone/>
            </a:pPr>
            <a:endParaRPr lang="en-GH" dirty="0"/>
          </a:p>
        </p:txBody>
      </p:sp>
      <p:pic>
        <p:nvPicPr>
          <p:cNvPr id="6" name="Picture 5">
            <a:extLst>
              <a:ext uri="{FF2B5EF4-FFF2-40B4-BE49-F238E27FC236}">
                <a16:creationId xmlns:a16="http://schemas.microsoft.com/office/drawing/2014/main" id="{DE360BFF-39E8-4F3A-7D71-E8165B8CE84E}"/>
              </a:ext>
            </a:extLst>
          </p:cNvPr>
          <p:cNvPicPr>
            <a:picLocks noChangeAspect="1"/>
          </p:cNvPicPr>
          <p:nvPr/>
        </p:nvPicPr>
        <p:blipFill>
          <a:blip r:embed="rId2"/>
          <a:stretch>
            <a:fillRect/>
          </a:stretch>
        </p:blipFill>
        <p:spPr>
          <a:xfrm>
            <a:off x="2272131" y="1923903"/>
            <a:ext cx="4209743" cy="2509873"/>
          </a:xfrm>
          <a:prstGeom prst="rect">
            <a:avLst/>
          </a:prstGeom>
        </p:spPr>
      </p:pic>
    </p:spTree>
    <p:extLst>
      <p:ext uri="{BB962C8B-B14F-4D97-AF65-F5344CB8AC3E}">
        <p14:creationId xmlns:p14="http://schemas.microsoft.com/office/powerpoint/2010/main" val="31864284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8C819-FDFD-79D4-195A-3138DCED5C86}"/>
              </a:ext>
            </a:extLst>
          </p:cNvPr>
          <p:cNvSpPr>
            <a:spLocks noGrp="1"/>
          </p:cNvSpPr>
          <p:nvPr>
            <p:ph type="title"/>
          </p:nvPr>
        </p:nvSpPr>
        <p:spPr/>
        <p:txBody>
          <a:bodyPr/>
          <a:lstStyle/>
          <a:p>
            <a:r>
              <a:rPr lang="en-IN" dirty="0"/>
              <a:t>Control Structures : Looping</a:t>
            </a:r>
            <a:endParaRPr lang="en-GH" dirty="0"/>
          </a:p>
        </p:txBody>
      </p:sp>
      <p:sp>
        <p:nvSpPr>
          <p:cNvPr id="3" name="Content Placeholder 2">
            <a:extLst>
              <a:ext uri="{FF2B5EF4-FFF2-40B4-BE49-F238E27FC236}">
                <a16:creationId xmlns:a16="http://schemas.microsoft.com/office/drawing/2014/main" id="{C6923F6A-995B-0C5D-5551-77A62B59D7B3}"/>
              </a:ext>
            </a:extLst>
          </p:cNvPr>
          <p:cNvSpPr>
            <a:spLocks noGrp="1"/>
          </p:cNvSpPr>
          <p:nvPr>
            <p:ph idx="1"/>
          </p:nvPr>
        </p:nvSpPr>
        <p:spPr/>
        <p:txBody>
          <a:bodyPr/>
          <a:lstStyle/>
          <a:p>
            <a:r>
              <a:rPr lang="en-IN" b="1" dirty="0" err="1">
                <a:solidFill>
                  <a:srgbClr val="009242"/>
                </a:solidFill>
              </a:rPr>
              <a:t>forEach</a:t>
            </a:r>
            <a:r>
              <a:rPr lang="en-IN" b="1" dirty="0">
                <a:solidFill>
                  <a:srgbClr val="009242"/>
                </a:solidFill>
              </a:rPr>
              <a:t>() </a:t>
            </a:r>
            <a:r>
              <a:rPr lang="en-IN" dirty="0"/>
              <a:t>Method: </a:t>
            </a:r>
          </a:p>
          <a:p>
            <a:r>
              <a:rPr lang="en-IN" dirty="0"/>
              <a:t>s</a:t>
            </a:r>
            <a:r>
              <a:rPr lang="en-US" dirty="0" err="1"/>
              <a:t>pecifically</a:t>
            </a:r>
            <a:r>
              <a:rPr lang="en-US" dirty="0"/>
              <a:t> used to iterate over arrays. </a:t>
            </a:r>
          </a:p>
          <a:p>
            <a:r>
              <a:rPr lang="en-US" dirty="0"/>
              <a:t>It calls a </a:t>
            </a:r>
            <a:r>
              <a:rPr lang="en-US" b="1" dirty="0"/>
              <a:t>callback function </a:t>
            </a:r>
            <a:r>
              <a:rPr lang="en-US" dirty="0"/>
              <a:t>once for each element in the array, passing the </a:t>
            </a:r>
            <a:r>
              <a:rPr lang="en-US" u="sng" dirty="0"/>
              <a:t>element, the index, and the entire array </a:t>
            </a:r>
            <a:r>
              <a:rPr lang="en-US" dirty="0"/>
              <a:t>to the callback</a:t>
            </a:r>
            <a:endParaRPr lang="en-IN" dirty="0"/>
          </a:p>
          <a:p>
            <a:endParaRPr lang="en-IN" dirty="0"/>
          </a:p>
          <a:p>
            <a:pPr marL="0" indent="0">
              <a:buNone/>
            </a:pPr>
            <a:endParaRPr lang="en-GH" dirty="0"/>
          </a:p>
        </p:txBody>
      </p:sp>
      <p:cxnSp>
        <p:nvCxnSpPr>
          <p:cNvPr id="5" name="Straight Arrow Connector 4">
            <a:extLst>
              <a:ext uri="{FF2B5EF4-FFF2-40B4-BE49-F238E27FC236}">
                <a16:creationId xmlns:a16="http://schemas.microsoft.com/office/drawing/2014/main" id="{427A5D43-410F-18D9-E18D-5D6B7EEEFCF4}"/>
              </a:ext>
            </a:extLst>
          </p:cNvPr>
          <p:cNvCxnSpPr>
            <a:cxnSpLocks/>
          </p:cNvCxnSpPr>
          <p:nvPr/>
        </p:nvCxnSpPr>
        <p:spPr>
          <a:xfrm flipV="1">
            <a:off x="3296093" y="2009553"/>
            <a:ext cx="3285461" cy="393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11E6DE8-CAA5-1F2A-0A79-CB130B2E439D}"/>
              </a:ext>
            </a:extLst>
          </p:cNvPr>
          <p:cNvSpPr txBox="1"/>
          <p:nvPr/>
        </p:nvSpPr>
        <p:spPr>
          <a:xfrm>
            <a:off x="6581554" y="1330318"/>
            <a:ext cx="1924493" cy="923330"/>
          </a:xfrm>
          <a:prstGeom prst="rect">
            <a:avLst/>
          </a:prstGeom>
          <a:noFill/>
          <a:ln>
            <a:solidFill>
              <a:srgbClr val="FF0066"/>
            </a:solidFill>
          </a:ln>
        </p:spPr>
        <p:txBody>
          <a:bodyPr wrap="square" rtlCol="0">
            <a:spAutoFit/>
          </a:bodyPr>
          <a:lstStyle/>
          <a:p>
            <a:r>
              <a:rPr lang="en-IN" dirty="0"/>
              <a:t>A function passed as an argument to another function</a:t>
            </a:r>
            <a:endParaRPr lang="en-GH" dirty="0"/>
          </a:p>
        </p:txBody>
      </p:sp>
      <p:pic>
        <p:nvPicPr>
          <p:cNvPr id="10" name="Picture 9">
            <a:extLst>
              <a:ext uri="{FF2B5EF4-FFF2-40B4-BE49-F238E27FC236}">
                <a16:creationId xmlns:a16="http://schemas.microsoft.com/office/drawing/2014/main" id="{210B77E5-3AF8-6B98-A600-A6E33CAA6DCE}"/>
              </a:ext>
            </a:extLst>
          </p:cNvPr>
          <p:cNvPicPr>
            <a:picLocks noChangeAspect="1"/>
          </p:cNvPicPr>
          <p:nvPr/>
        </p:nvPicPr>
        <p:blipFill>
          <a:blip r:embed="rId2"/>
          <a:stretch>
            <a:fillRect/>
          </a:stretch>
        </p:blipFill>
        <p:spPr>
          <a:xfrm>
            <a:off x="743828" y="3809360"/>
            <a:ext cx="5923894" cy="1219287"/>
          </a:xfrm>
          <a:prstGeom prst="rect">
            <a:avLst/>
          </a:prstGeom>
        </p:spPr>
      </p:pic>
      <p:sp>
        <p:nvSpPr>
          <p:cNvPr id="13" name="TextBox 12">
            <a:extLst>
              <a:ext uri="{FF2B5EF4-FFF2-40B4-BE49-F238E27FC236}">
                <a16:creationId xmlns:a16="http://schemas.microsoft.com/office/drawing/2014/main" id="{1618E599-FF80-AD5C-C1A7-FA4C20EB140F}"/>
              </a:ext>
            </a:extLst>
          </p:cNvPr>
          <p:cNvSpPr txBox="1"/>
          <p:nvPr/>
        </p:nvSpPr>
        <p:spPr>
          <a:xfrm>
            <a:off x="776177" y="3402418"/>
            <a:ext cx="2753832" cy="400110"/>
          </a:xfrm>
          <a:prstGeom prst="rect">
            <a:avLst/>
          </a:prstGeom>
          <a:noFill/>
        </p:spPr>
        <p:txBody>
          <a:bodyPr wrap="square" rtlCol="0">
            <a:spAutoFit/>
          </a:bodyPr>
          <a:lstStyle/>
          <a:p>
            <a:r>
              <a:rPr lang="en-IN" sz="2000" b="1" dirty="0">
                <a:solidFill>
                  <a:srgbClr val="C00000"/>
                </a:solidFill>
              </a:rPr>
              <a:t>Syntax:</a:t>
            </a:r>
            <a:endParaRPr lang="en-GH" sz="2000" b="1" dirty="0">
              <a:solidFill>
                <a:srgbClr val="C00000"/>
              </a:solidFill>
            </a:endParaRPr>
          </a:p>
        </p:txBody>
      </p:sp>
      <p:cxnSp>
        <p:nvCxnSpPr>
          <p:cNvPr id="15" name="Straight Arrow Connector 14">
            <a:extLst>
              <a:ext uri="{FF2B5EF4-FFF2-40B4-BE49-F238E27FC236}">
                <a16:creationId xmlns:a16="http://schemas.microsoft.com/office/drawing/2014/main" id="{05A81F61-3313-A987-3096-FE4AA47D1598}"/>
              </a:ext>
            </a:extLst>
          </p:cNvPr>
          <p:cNvCxnSpPr/>
          <p:nvPr/>
        </p:nvCxnSpPr>
        <p:spPr>
          <a:xfrm flipV="1">
            <a:off x="5209953" y="3556590"/>
            <a:ext cx="372140" cy="356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700C9CC-4951-5231-FC03-5964DC53A005}"/>
              </a:ext>
            </a:extLst>
          </p:cNvPr>
          <p:cNvSpPr txBox="1"/>
          <p:nvPr/>
        </p:nvSpPr>
        <p:spPr>
          <a:xfrm>
            <a:off x="5613993" y="3303820"/>
            <a:ext cx="3625700" cy="369332"/>
          </a:xfrm>
          <a:prstGeom prst="rect">
            <a:avLst/>
          </a:prstGeom>
          <a:noFill/>
        </p:spPr>
        <p:txBody>
          <a:bodyPr wrap="square" rtlCol="0">
            <a:spAutoFit/>
          </a:bodyPr>
          <a:lstStyle/>
          <a:p>
            <a:r>
              <a:rPr lang="en-IN" dirty="0"/>
              <a:t>Passing the array again is optional</a:t>
            </a:r>
            <a:endParaRPr lang="en-GH" dirty="0"/>
          </a:p>
        </p:txBody>
      </p:sp>
    </p:spTree>
    <p:extLst>
      <p:ext uri="{BB962C8B-B14F-4D97-AF65-F5344CB8AC3E}">
        <p14:creationId xmlns:p14="http://schemas.microsoft.com/office/powerpoint/2010/main" val="23050174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8C819-FDFD-79D4-195A-3138DCED5C86}"/>
              </a:ext>
            </a:extLst>
          </p:cNvPr>
          <p:cNvSpPr>
            <a:spLocks noGrp="1"/>
          </p:cNvSpPr>
          <p:nvPr>
            <p:ph type="title"/>
          </p:nvPr>
        </p:nvSpPr>
        <p:spPr/>
        <p:txBody>
          <a:bodyPr/>
          <a:lstStyle/>
          <a:p>
            <a:r>
              <a:rPr lang="en-IN" dirty="0"/>
              <a:t>Control Structures : Looping</a:t>
            </a:r>
            <a:endParaRPr lang="en-GH" dirty="0"/>
          </a:p>
        </p:txBody>
      </p:sp>
      <p:sp>
        <p:nvSpPr>
          <p:cNvPr id="3" name="Content Placeholder 2">
            <a:extLst>
              <a:ext uri="{FF2B5EF4-FFF2-40B4-BE49-F238E27FC236}">
                <a16:creationId xmlns:a16="http://schemas.microsoft.com/office/drawing/2014/main" id="{C6923F6A-995B-0C5D-5551-77A62B59D7B3}"/>
              </a:ext>
            </a:extLst>
          </p:cNvPr>
          <p:cNvSpPr>
            <a:spLocks noGrp="1"/>
          </p:cNvSpPr>
          <p:nvPr>
            <p:ph idx="1"/>
          </p:nvPr>
        </p:nvSpPr>
        <p:spPr/>
        <p:txBody>
          <a:bodyPr/>
          <a:lstStyle/>
          <a:p>
            <a:r>
              <a:rPr lang="en-IN" b="1" dirty="0" err="1">
                <a:solidFill>
                  <a:srgbClr val="009242"/>
                </a:solidFill>
              </a:rPr>
              <a:t>forEach</a:t>
            </a:r>
            <a:r>
              <a:rPr lang="en-IN" b="1" dirty="0">
                <a:solidFill>
                  <a:srgbClr val="009242"/>
                </a:solidFill>
              </a:rPr>
              <a:t>() </a:t>
            </a:r>
            <a:r>
              <a:rPr lang="en-IN" dirty="0"/>
              <a:t>Method: </a:t>
            </a:r>
          </a:p>
          <a:p>
            <a:r>
              <a:rPr lang="en-IN" dirty="0"/>
              <a:t>s</a:t>
            </a:r>
            <a:r>
              <a:rPr lang="en-US" dirty="0" err="1"/>
              <a:t>pecifically</a:t>
            </a:r>
            <a:r>
              <a:rPr lang="en-US" dirty="0"/>
              <a:t> used to iterate over arrays. </a:t>
            </a:r>
          </a:p>
          <a:p>
            <a:r>
              <a:rPr lang="en-US" dirty="0"/>
              <a:t>It calls a </a:t>
            </a:r>
            <a:r>
              <a:rPr lang="en-US" b="1" dirty="0"/>
              <a:t>callback function </a:t>
            </a:r>
            <a:r>
              <a:rPr lang="en-US" dirty="0"/>
              <a:t>once for each element in the array, passing the </a:t>
            </a:r>
            <a:r>
              <a:rPr lang="en-US" u="sng" dirty="0"/>
              <a:t>element, the index, and the entire array </a:t>
            </a:r>
            <a:r>
              <a:rPr lang="en-US" dirty="0"/>
              <a:t>to the callback</a:t>
            </a:r>
            <a:endParaRPr lang="en-IN" dirty="0"/>
          </a:p>
          <a:p>
            <a:endParaRPr lang="en-IN" dirty="0"/>
          </a:p>
          <a:p>
            <a:pPr marL="0" indent="0">
              <a:buNone/>
            </a:pPr>
            <a:endParaRPr lang="en-GH" dirty="0"/>
          </a:p>
        </p:txBody>
      </p:sp>
      <p:cxnSp>
        <p:nvCxnSpPr>
          <p:cNvPr id="5" name="Straight Arrow Connector 4">
            <a:extLst>
              <a:ext uri="{FF2B5EF4-FFF2-40B4-BE49-F238E27FC236}">
                <a16:creationId xmlns:a16="http://schemas.microsoft.com/office/drawing/2014/main" id="{427A5D43-410F-18D9-E18D-5D6B7EEEFCF4}"/>
              </a:ext>
            </a:extLst>
          </p:cNvPr>
          <p:cNvCxnSpPr>
            <a:cxnSpLocks/>
          </p:cNvCxnSpPr>
          <p:nvPr/>
        </p:nvCxnSpPr>
        <p:spPr>
          <a:xfrm flipV="1">
            <a:off x="3296093" y="2009553"/>
            <a:ext cx="3285461" cy="393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11E6DE8-CAA5-1F2A-0A79-CB130B2E439D}"/>
              </a:ext>
            </a:extLst>
          </p:cNvPr>
          <p:cNvSpPr txBox="1"/>
          <p:nvPr/>
        </p:nvSpPr>
        <p:spPr>
          <a:xfrm>
            <a:off x="6581554" y="1330318"/>
            <a:ext cx="1924493" cy="923330"/>
          </a:xfrm>
          <a:prstGeom prst="rect">
            <a:avLst/>
          </a:prstGeom>
          <a:noFill/>
          <a:ln>
            <a:solidFill>
              <a:srgbClr val="FF0066"/>
            </a:solidFill>
          </a:ln>
        </p:spPr>
        <p:txBody>
          <a:bodyPr wrap="square" rtlCol="0">
            <a:spAutoFit/>
          </a:bodyPr>
          <a:lstStyle/>
          <a:p>
            <a:r>
              <a:rPr lang="en-IN" dirty="0"/>
              <a:t>A function passed as an argument to another function</a:t>
            </a:r>
            <a:endParaRPr lang="en-GH" dirty="0"/>
          </a:p>
        </p:txBody>
      </p:sp>
      <p:pic>
        <p:nvPicPr>
          <p:cNvPr id="12" name="Picture 11">
            <a:extLst>
              <a:ext uri="{FF2B5EF4-FFF2-40B4-BE49-F238E27FC236}">
                <a16:creationId xmlns:a16="http://schemas.microsoft.com/office/drawing/2014/main" id="{D658FF1C-CD82-D281-65F5-5A9246314511}"/>
              </a:ext>
            </a:extLst>
          </p:cNvPr>
          <p:cNvPicPr>
            <a:picLocks noChangeAspect="1"/>
          </p:cNvPicPr>
          <p:nvPr/>
        </p:nvPicPr>
        <p:blipFill>
          <a:blip r:embed="rId2"/>
          <a:stretch>
            <a:fillRect/>
          </a:stretch>
        </p:blipFill>
        <p:spPr>
          <a:xfrm>
            <a:off x="2211269" y="3154068"/>
            <a:ext cx="5353797" cy="3400900"/>
          </a:xfrm>
          <a:prstGeom prst="rect">
            <a:avLst/>
          </a:prstGeom>
        </p:spPr>
      </p:pic>
      <p:sp>
        <p:nvSpPr>
          <p:cNvPr id="4" name="TextBox 3">
            <a:extLst>
              <a:ext uri="{FF2B5EF4-FFF2-40B4-BE49-F238E27FC236}">
                <a16:creationId xmlns:a16="http://schemas.microsoft.com/office/drawing/2014/main" id="{B52F54D9-ED99-80B7-A877-8E5ACA8F70B4}"/>
              </a:ext>
            </a:extLst>
          </p:cNvPr>
          <p:cNvSpPr txBox="1"/>
          <p:nvPr/>
        </p:nvSpPr>
        <p:spPr>
          <a:xfrm>
            <a:off x="978195" y="3405510"/>
            <a:ext cx="2753832" cy="400110"/>
          </a:xfrm>
          <a:prstGeom prst="rect">
            <a:avLst/>
          </a:prstGeom>
          <a:noFill/>
        </p:spPr>
        <p:txBody>
          <a:bodyPr wrap="square" rtlCol="0">
            <a:spAutoFit/>
          </a:bodyPr>
          <a:lstStyle/>
          <a:p>
            <a:r>
              <a:rPr lang="en-IN" sz="2000" b="1" dirty="0">
                <a:solidFill>
                  <a:srgbClr val="C00000"/>
                </a:solidFill>
              </a:rPr>
              <a:t>Example:</a:t>
            </a:r>
            <a:endParaRPr lang="en-GH" sz="2000" b="1" dirty="0">
              <a:solidFill>
                <a:srgbClr val="C00000"/>
              </a:solidFill>
            </a:endParaRPr>
          </a:p>
        </p:txBody>
      </p:sp>
    </p:spTree>
    <p:extLst>
      <p:ext uri="{BB962C8B-B14F-4D97-AF65-F5344CB8AC3E}">
        <p14:creationId xmlns:p14="http://schemas.microsoft.com/office/powerpoint/2010/main" val="21957113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E05-6AA9-9F3E-6BE9-F8B6F040F966}"/>
              </a:ext>
            </a:extLst>
          </p:cNvPr>
          <p:cNvSpPr>
            <a:spLocks noGrp="1"/>
          </p:cNvSpPr>
          <p:nvPr>
            <p:ph type="title"/>
          </p:nvPr>
        </p:nvSpPr>
        <p:spPr/>
        <p:txBody>
          <a:bodyPr/>
          <a:lstStyle/>
          <a:p>
            <a:r>
              <a:rPr lang="en-IN" dirty="0"/>
              <a:t>Control Structures : Looping</a:t>
            </a:r>
            <a:endParaRPr lang="en-GH" dirty="0"/>
          </a:p>
        </p:txBody>
      </p:sp>
      <p:sp>
        <p:nvSpPr>
          <p:cNvPr id="3" name="Content Placeholder 2">
            <a:extLst>
              <a:ext uri="{FF2B5EF4-FFF2-40B4-BE49-F238E27FC236}">
                <a16:creationId xmlns:a16="http://schemas.microsoft.com/office/drawing/2014/main" id="{ED9F3F91-BC5D-AC1A-2E92-E3EFEA1F1E55}"/>
              </a:ext>
            </a:extLst>
          </p:cNvPr>
          <p:cNvSpPr>
            <a:spLocks noGrp="1"/>
          </p:cNvSpPr>
          <p:nvPr>
            <p:ph idx="1"/>
          </p:nvPr>
        </p:nvSpPr>
        <p:spPr/>
        <p:txBody>
          <a:bodyPr/>
          <a:lstStyle/>
          <a:p>
            <a:r>
              <a:rPr lang="en-IN" b="1" dirty="0">
                <a:solidFill>
                  <a:srgbClr val="009242"/>
                </a:solidFill>
              </a:rPr>
              <a:t>for...of</a:t>
            </a:r>
            <a:r>
              <a:rPr lang="en-IN" dirty="0"/>
              <a:t> Loop: </a:t>
            </a:r>
            <a:r>
              <a:rPr lang="en-US" dirty="0"/>
              <a:t>designed to iterate over </a:t>
            </a:r>
            <a:r>
              <a:rPr lang="en-US" dirty="0" err="1"/>
              <a:t>iterable</a:t>
            </a:r>
            <a:r>
              <a:rPr lang="en-US" dirty="0"/>
              <a:t> objects like arrays, strings, sets, maps, etc.</a:t>
            </a:r>
          </a:p>
          <a:p>
            <a:pPr marL="0" indent="0">
              <a:buNone/>
            </a:pPr>
            <a:endParaRPr lang="en-GH" dirty="0"/>
          </a:p>
        </p:txBody>
      </p:sp>
      <p:pic>
        <p:nvPicPr>
          <p:cNvPr id="5" name="Picture 4">
            <a:extLst>
              <a:ext uri="{FF2B5EF4-FFF2-40B4-BE49-F238E27FC236}">
                <a16:creationId xmlns:a16="http://schemas.microsoft.com/office/drawing/2014/main" id="{C52B0379-81EB-367A-E3EB-472AAD0FA704}"/>
              </a:ext>
            </a:extLst>
          </p:cNvPr>
          <p:cNvPicPr>
            <a:picLocks noChangeAspect="1"/>
          </p:cNvPicPr>
          <p:nvPr/>
        </p:nvPicPr>
        <p:blipFill>
          <a:blip r:embed="rId2"/>
          <a:stretch>
            <a:fillRect/>
          </a:stretch>
        </p:blipFill>
        <p:spPr>
          <a:xfrm>
            <a:off x="221381" y="2645497"/>
            <a:ext cx="4859366" cy="1212112"/>
          </a:xfrm>
          <a:prstGeom prst="rect">
            <a:avLst/>
          </a:prstGeom>
        </p:spPr>
      </p:pic>
      <p:pic>
        <p:nvPicPr>
          <p:cNvPr id="7" name="Picture 6">
            <a:extLst>
              <a:ext uri="{FF2B5EF4-FFF2-40B4-BE49-F238E27FC236}">
                <a16:creationId xmlns:a16="http://schemas.microsoft.com/office/drawing/2014/main" id="{007640EC-AD1F-CD07-4B95-451CDBED4863}"/>
              </a:ext>
            </a:extLst>
          </p:cNvPr>
          <p:cNvPicPr>
            <a:picLocks noChangeAspect="1"/>
          </p:cNvPicPr>
          <p:nvPr/>
        </p:nvPicPr>
        <p:blipFill>
          <a:blip r:embed="rId3"/>
          <a:stretch>
            <a:fillRect/>
          </a:stretch>
        </p:blipFill>
        <p:spPr>
          <a:xfrm>
            <a:off x="5117708" y="3067492"/>
            <a:ext cx="3785191" cy="3500754"/>
          </a:xfrm>
          <a:prstGeom prst="rect">
            <a:avLst/>
          </a:prstGeom>
        </p:spPr>
      </p:pic>
      <p:sp>
        <p:nvSpPr>
          <p:cNvPr id="8" name="TextBox 7">
            <a:extLst>
              <a:ext uri="{FF2B5EF4-FFF2-40B4-BE49-F238E27FC236}">
                <a16:creationId xmlns:a16="http://schemas.microsoft.com/office/drawing/2014/main" id="{D452468A-B567-6AF3-B737-C39001CC3EDE}"/>
              </a:ext>
            </a:extLst>
          </p:cNvPr>
          <p:cNvSpPr txBox="1"/>
          <p:nvPr/>
        </p:nvSpPr>
        <p:spPr>
          <a:xfrm>
            <a:off x="3870250" y="4410755"/>
            <a:ext cx="2753832" cy="400110"/>
          </a:xfrm>
          <a:prstGeom prst="rect">
            <a:avLst/>
          </a:prstGeom>
          <a:noFill/>
        </p:spPr>
        <p:txBody>
          <a:bodyPr wrap="square" rtlCol="0">
            <a:spAutoFit/>
          </a:bodyPr>
          <a:lstStyle/>
          <a:p>
            <a:r>
              <a:rPr lang="en-IN" sz="2000" b="1" dirty="0">
                <a:solidFill>
                  <a:srgbClr val="C00000"/>
                </a:solidFill>
              </a:rPr>
              <a:t>Example:</a:t>
            </a:r>
            <a:endParaRPr lang="en-GH" sz="2000" b="1" dirty="0">
              <a:solidFill>
                <a:srgbClr val="C00000"/>
              </a:solidFill>
            </a:endParaRPr>
          </a:p>
        </p:txBody>
      </p:sp>
      <p:sp>
        <p:nvSpPr>
          <p:cNvPr id="9" name="TextBox 8">
            <a:extLst>
              <a:ext uri="{FF2B5EF4-FFF2-40B4-BE49-F238E27FC236}">
                <a16:creationId xmlns:a16="http://schemas.microsoft.com/office/drawing/2014/main" id="{52A6044D-0775-9AFE-B45B-3B467F91B7EE}"/>
              </a:ext>
            </a:extLst>
          </p:cNvPr>
          <p:cNvSpPr txBox="1"/>
          <p:nvPr/>
        </p:nvSpPr>
        <p:spPr>
          <a:xfrm>
            <a:off x="701749" y="2245387"/>
            <a:ext cx="2753832" cy="400110"/>
          </a:xfrm>
          <a:prstGeom prst="rect">
            <a:avLst/>
          </a:prstGeom>
          <a:noFill/>
        </p:spPr>
        <p:txBody>
          <a:bodyPr wrap="square" rtlCol="0">
            <a:spAutoFit/>
          </a:bodyPr>
          <a:lstStyle/>
          <a:p>
            <a:r>
              <a:rPr lang="en-IN" sz="2000" b="1" dirty="0">
                <a:solidFill>
                  <a:srgbClr val="C00000"/>
                </a:solidFill>
              </a:rPr>
              <a:t>Syntax:</a:t>
            </a:r>
            <a:endParaRPr lang="en-GH" sz="2000" b="1" dirty="0">
              <a:solidFill>
                <a:srgbClr val="C00000"/>
              </a:solidFill>
            </a:endParaRPr>
          </a:p>
        </p:txBody>
      </p:sp>
    </p:spTree>
    <p:extLst>
      <p:ext uri="{BB962C8B-B14F-4D97-AF65-F5344CB8AC3E}">
        <p14:creationId xmlns:p14="http://schemas.microsoft.com/office/powerpoint/2010/main" val="20078746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E05-6AA9-9F3E-6BE9-F8B6F040F966}"/>
              </a:ext>
            </a:extLst>
          </p:cNvPr>
          <p:cNvSpPr>
            <a:spLocks noGrp="1"/>
          </p:cNvSpPr>
          <p:nvPr>
            <p:ph type="title"/>
          </p:nvPr>
        </p:nvSpPr>
        <p:spPr/>
        <p:txBody>
          <a:bodyPr/>
          <a:lstStyle/>
          <a:p>
            <a:r>
              <a:rPr lang="en-IN" dirty="0"/>
              <a:t>Control Structures : Looping</a:t>
            </a:r>
            <a:endParaRPr lang="en-GH" dirty="0"/>
          </a:p>
        </p:txBody>
      </p:sp>
      <p:sp>
        <p:nvSpPr>
          <p:cNvPr id="3" name="Content Placeholder 2">
            <a:extLst>
              <a:ext uri="{FF2B5EF4-FFF2-40B4-BE49-F238E27FC236}">
                <a16:creationId xmlns:a16="http://schemas.microsoft.com/office/drawing/2014/main" id="{ED9F3F91-BC5D-AC1A-2E92-E3EFEA1F1E55}"/>
              </a:ext>
            </a:extLst>
          </p:cNvPr>
          <p:cNvSpPr>
            <a:spLocks noGrp="1"/>
          </p:cNvSpPr>
          <p:nvPr>
            <p:ph idx="1"/>
          </p:nvPr>
        </p:nvSpPr>
        <p:spPr/>
        <p:txBody>
          <a:bodyPr/>
          <a:lstStyle/>
          <a:p>
            <a:r>
              <a:rPr lang="en-IN" b="1" dirty="0">
                <a:solidFill>
                  <a:srgbClr val="009242"/>
                </a:solidFill>
              </a:rPr>
              <a:t>for...in </a:t>
            </a:r>
            <a:r>
              <a:rPr lang="en-IN" dirty="0"/>
              <a:t>Loop: </a:t>
            </a:r>
            <a:r>
              <a:rPr lang="en-US" dirty="0"/>
              <a:t>iterates over enumerable properties of an object.</a:t>
            </a:r>
          </a:p>
          <a:p>
            <a:pPr marL="0" indent="0">
              <a:buNone/>
            </a:pPr>
            <a:endParaRPr lang="en-GH" dirty="0"/>
          </a:p>
        </p:txBody>
      </p:sp>
      <p:sp>
        <p:nvSpPr>
          <p:cNvPr id="8" name="TextBox 7">
            <a:extLst>
              <a:ext uri="{FF2B5EF4-FFF2-40B4-BE49-F238E27FC236}">
                <a16:creationId xmlns:a16="http://schemas.microsoft.com/office/drawing/2014/main" id="{D452468A-B567-6AF3-B737-C39001CC3EDE}"/>
              </a:ext>
            </a:extLst>
          </p:cNvPr>
          <p:cNvSpPr txBox="1"/>
          <p:nvPr/>
        </p:nvSpPr>
        <p:spPr>
          <a:xfrm>
            <a:off x="701749" y="4006585"/>
            <a:ext cx="2753832" cy="400110"/>
          </a:xfrm>
          <a:prstGeom prst="rect">
            <a:avLst/>
          </a:prstGeom>
          <a:noFill/>
        </p:spPr>
        <p:txBody>
          <a:bodyPr wrap="square" rtlCol="0">
            <a:spAutoFit/>
          </a:bodyPr>
          <a:lstStyle/>
          <a:p>
            <a:r>
              <a:rPr lang="en-IN" sz="2000" b="1" dirty="0">
                <a:solidFill>
                  <a:srgbClr val="C00000"/>
                </a:solidFill>
              </a:rPr>
              <a:t>Example:</a:t>
            </a:r>
            <a:endParaRPr lang="en-GH" sz="2000" b="1" dirty="0">
              <a:solidFill>
                <a:srgbClr val="C00000"/>
              </a:solidFill>
            </a:endParaRPr>
          </a:p>
        </p:txBody>
      </p:sp>
      <p:sp>
        <p:nvSpPr>
          <p:cNvPr id="9" name="TextBox 8">
            <a:extLst>
              <a:ext uri="{FF2B5EF4-FFF2-40B4-BE49-F238E27FC236}">
                <a16:creationId xmlns:a16="http://schemas.microsoft.com/office/drawing/2014/main" id="{52A6044D-0775-9AFE-B45B-3B467F91B7EE}"/>
              </a:ext>
            </a:extLst>
          </p:cNvPr>
          <p:cNvSpPr txBox="1"/>
          <p:nvPr/>
        </p:nvSpPr>
        <p:spPr>
          <a:xfrm>
            <a:off x="701749" y="2245387"/>
            <a:ext cx="2753832" cy="400110"/>
          </a:xfrm>
          <a:prstGeom prst="rect">
            <a:avLst/>
          </a:prstGeom>
          <a:noFill/>
        </p:spPr>
        <p:txBody>
          <a:bodyPr wrap="square" rtlCol="0">
            <a:spAutoFit/>
          </a:bodyPr>
          <a:lstStyle/>
          <a:p>
            <a:r>
              <a:rPr lang="en-IN" sz="2000" b="1" dirty="0">
                <a:solidFill>
                  <a:srgbClr val="C00000"/>
                </a:solidFill>
              </a:rPr>
              <a:t>Syntax:</a:t>
            </a:r>
            <a:endParaRPr lang="en-GH" sz="2000" b="1" dirty="0">
              <a:solidFill>
                <a:srgbClr val="C00000"/>
              </a:solidFill>
            </a:endParaRPr>
          </a:p>
        </p:txBody>
      </p:sp>
      <p:pic>
        <p:nvPicPr>
          <p:cNvPr id="6" name="Picture 5">
            <a:extLst>
              <a:ext uri="{FF2B5EF4-FFF2-40B4-BE49-F238E27FC236}">
                <a16:creationId xmlns:a16="http://schemas.microsoft.com/office/drawing/2014/main" id="{ABD41E43-F701-8334-E460-5D9A70720EBE}"/>
              </a:ext>
            </a:extLst>
          </p:cNvPr>
          <p:cNvPicPr>
            <a:picLocks noChangeAspect="1"/>
          </p:cNvPicPr>
          <p:nvPr/>
        </p:nvPicPr>
        <p:blipFill>
          <a:blip r:embed="rId2"/>
          <a:stretch>
            <a:fillRect/>
          </a:stretch>
        </p:blipFill>
        <p:spPr>
          <a:xfrm>
            <a:off x="1655378" y="1997627"/>
            <a:ext cx="4730697" cy="1149610"/>
          </a:xfrm>
          <a:prstGeom prst="rect">
            <a:avLst/>
          </a:prstGeom>
        </p:spPr>
      </p:pic>
      <p:pic>
        <p:nvPicPr>
          <p:cNvPr id="11" name="Picture 10">
            <a:extLst>
              <a:ext uri="{FF2B5EF4-FFF2-40B4-BE49-F238E27FC236}">
                <a16:creationId xmlns:a16="http://schemas.microsoft.com/office/drawing/2014/main" id="{B93079D6-B937-CF86-E496-B5EAD70E9EDD}"/>
              </a:ext>
            </a:extLst>
          </p:cNvPr>
          <p:cNvPicPr>
            <a:picLocks noChangeAspect="1"/>
          </p:cNvPicPr>
          <p:nvPr/>
        </p:nvPicPr>
        <p:blipFill>
          <a:blip r:embed="rId3"/>
          <a:stretch>
            <a:fillRect/>
          </a:stretch>
        </p:blipFill>
        <p:spPr>
          <a:xfrm>
            <a:off x="1869577" y="3394997"/>
            <a:ext cx="5343525" cy="3027997"/>
          </a:xfrm>
          <a:prstGeom prst="rect">
            <a:avLst/>
          </a:prstGeom>
        </p:spPr>
      </p:pic>
    </p:spTree>
    <p:extLst>
      <p:ext uri="{BB962C8B-B14F-4D97-AF65-F5344CB8AC3E}">
        <p14:creationId xmlns:p14="http://schemas.microsoft.com/office/powerpoint/2010/main" val="24054727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B76D-33AA-57BB-F001-098D624793AF}"/>
              </a:ext>
            </a:extLst>
          </p:cNvPr>
          <p:cNvSpPr>
            <a:spLocks noGrp="1"/>
          </p:cNvSpPr>
          <p:nvPr>
            <p:ph type="title"/>
          </p:nvPr>
        </p:nvSpPr>
        <p:spPr/>
        <p:txBody>
          <a:bodyPr/>
          <a:lstStyle/>
          <a:p>
            <a:r>
              <a:rPr lang="en-IN" dirty="0"/>
              <a:t>Document Object Model (DOM)</a:t>
            </a:r>
            <a:endParaRPr lang="en-GH" dirty="0"/>
          </a:p>
        </p:txBody>
      </p:sp>
      <p:sp>
        <p:nvSpPr>
          <p:cNvPr id="3" name="Content Placeholder 2">
            <a:extLst>
              <a:ext uri="{FF2B5EF4-FFF2-40B4-BE49-F238E27FC236}">
                <a16:creationId xmlns:a16="http://schemas.microsoft.com/office/drawing/2014/main" id="{992E3FEE-FEB5-1477-96F5-156C20575A35}"/>
              </a:ext>
            </a:extLst>
          </p:cNvPr>
          <p:cNvSpPr>
            <a:spLocks noGrp="1"/>
          </p:cNvSpPr>
          <p:nvPr>
            <p:ph idx="1"/>
          </p:nvPr>
        </p:nvSpPr>
        <p:spPr/>
        <p:txBody>
          <a:bodyPr/>
          <a:lstStyle/>
          <a:p>
            <a:r>
              <a:rPr lang="en-US" dirty="0"/>
              <a:t>The </a:t>
            </a:r>
            <a:r>
              <a:rPr lang="en-US" b="1" dirty="0">
                <a:solidFill>
                  <a:srgbClr val="FF0000"/>
                </a:solidFill>
              </a:rPr>
              <a:t>DOM (Document Object Model) </a:t>
            </a:r>
            <a:r>
              <a:rPr lang="en-US" dirty="0"/>
              <a:t>is a programming interface for web documents.</a:t>
            </a:r>
          </a:p>
          <a:p>
            <a:r>
              <a:rPr lang="en-US" dirty="0"/>
              <a:t>It represents the </a:t>
            </a:r>
            <a:r>
              <a:rPr lang="en-US" u="sng" dirty="0"/>
              <a:t>structure of a web page as a tree of nodes </a:t>
            </a:r>
            <a:r>
              <a:rPr lang="en-US" dirty="0"/>
              <a:t>(or objects) created based on the HTML content. </a:t>
            </a:r>
          </a:p>
          <a:p>
            <a:r>
              <a:rPr lang="en-US" dirty="0"/>
              <a:t>Each element, attribute, or piece of text in HTML is represented as an object in this model, which </a:t>
            </a:r>
            <a:r>
              <a:rPr lang="en-US" u="sng" dirty="0"/>
              <a:t>can be manipulated using JavaScript</a:t>
            </a:r>
            <a:r>
              <a:rPr lang="en-US" dirty="0"/>
              <a:t>.</a:t>
            </a:r>
          </a:p>
          <a:p>
            <a:endParaRPr lang="en-US" dirty="0"/>
          </a:p>
          <a:p>
            <a:r>
              <a:rPr lang="en-US" dirty="0"/>
              <a:t>The DOM </a:t>
            </a:r>
            <a:r>
              <a:rPr lang="en-US" dirty="0">
                <a:solidFill>
                  <a:srgbClr val="0070C0"/>
                </a:solidFill>
              </a:rPr>
              <a:t>allows you to interact with a webpage </a:t>
            </a:r>
            <a:r>
              <a:rPr lang="en-US" dirty="0"/>
              <a:t>dynamically using JavaScript, turning a static HTML document into a dynamic, interactive application.</a:t>
            </a:r>
          </a:p>
          <a:p>
            <a:endParaRPr lang="en-US" dirty="0"/>
          </a:p>
        </p:txBody>
      </p:sp>
    </p:spTree>
    <p:extLst>
      <p:ext uri="{BB962C8B-B14F-4D97-AF65-F5344CB8AC3E}">
        <p14:creationId xmlns:p14="http://schemas.microsoft.com/office/powerpoint/2010/main" val="11905623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B76D-33AA-57BB-F001-098D624793AF}"/>
              </a:ext>
            </a:extLst>
          </p:cNvPr>
          <p:cNvSpPr>
            <a:spLocks noGrp="1"/>
          </p:cNvSpPr>
          <p:nvPr>
            <p:ph type="title"/>
          </p:nvPr>
        </p:nvSpPr>
        <p:spPr/>
        <p:txBody>
          <a:bodyPr/>
          <a:lstStyle/>
          <a:p>
            <a:r>
              <a:rPr lang="en-IN" dirty="0"/>
              <a:t>Document Object Model (DOM)</a:t>
            </a:r>
            <a:endParaRPr lang="en-GH" dirty="0"/>
          </a:p>
        </p:txBody>
      </p:sp>
      <p:sp>
        <p:nvSpPr>
          <p:cNvPr id="3" name="Content Placeholder 2">
            <a:extLst>
              <a:ext uri="{FF2B5EF4-FFF2-40B4-BE49-F238E27FC236}">
                <a16:creationId xmlns:a16="http://schemas.microsoft.com/office/drawing/2014/main" id="{992E3FEE-FEB5-1477-96F5-156C20575A35}"/>
              </a:ext>
            </a:extLst>
          </p:cNvPr>
          <p:cNvSpPr>
            <a:spLocks noGrp="1"/>
          </p:cNvSpPr>
          <p:nvPr>
            <p:ph idx="1"/>
          </p:nvPr>
        </p:nvSpPr>
        <p:spPr/>
        <p:txBody>
          <a:bodyPr/>
          <a:lstStyle/>
          <a:p>
            <a:r>
              <a:rPr lang="en-US" dirty="0">
                <a:solidFill>
                  <a:srgbClr val="FF0000"/>
                </a:solidFill>
              </a:rPr>
              <a:t>Node</a:t>
            </a:r>
            <a:r>
              <a:rPr lang="en-US" dirty="0"/>
              <a:t>: Everything in the DOM is a node. The document is a node, as are all the elements and attributes.</a:t>
            </a:r>
          </a:p>
          <a:p>
            <a:r>
              <a:rPr lang="en-US" dirty="0">
                <a:solidFill>
                  <a:srgbClr val="FF0000"/>
                </a:solidFill>
              </a:rPr>
              <a:t>Element</a:t>
            </a:r>
            <a:r>
              <a:rPr lang="en-US" dirty="0"/>
              <a:t>: HTML elements such as </a:t>
            </a:r>
            <a:r>
              <a:rPr lang="en-US" dirty="0">
                <a:solidFill>
                  <a:srgbClr val="C00000"/>
                </a:solidFill>
              </a:rPr>
              <a:t>&lt;div&gt;</a:t>
            </a:r>
            <a:r>
              <a:rPr lang="en-US" dirty="0"/>
              <a:t>, </a:t>
            </a:r>
            <a:r>
              <a:rPr lang="en-US" dirty="0">
                <a:solidFill>
                  <a:srgbClr val="C00000"/>
                </a:solidFill>
              </a:rPr>
              <a:t>&lt;p&gt;</a:t>
            </a:r>
            <a:r>
              <a:rPr lang="en-US" dirty="0"/>
              <a:t>, </a:t>
            </a:r>
            <a:r>
              <a:rPr lang="en-US" dirty="0">
                <a:solidFill>
                  <a:srgbClr val="C00000"/>
                </a:solidFill>
              </a:rPr>
              <a:t>&lt;h1&gt;</a:t>
            </a:r>
            <a:r>
              <a:rPr lang="en-US" dirty="0"/>
              <a:t>, etc., are </a:t>
            </a:r>
            <a:r>
              <a:rPr lang="en-US" u="sng" dirty="0"/>
              <a:t>element nodes</a:t>
            </a:r>
            <a:r>
              <a:rPr lang="en-US" dirty="0"/>
              <a:t>.</a:t>
            </a:r>
          </a:p>
          <a:p>
            <a:r>
              <a:rPr lang="en-US" dirty="0">
                <a:solidFill>
                  <a:srgbClr val="FF0000"/>
                </a:solidFill>
              </a:rPr>
              <a:t>Attribute</a:t>
            </a:r>
            <a:r>
              <a:rPr lang="en-US" dirty="0"/>
              <a:t>: Attributes like </a:t>
            </a:r>
            <a:r>
              <a:rPr lang="en-US" dirty="0">
                <a:solidFill>
                  <a:srgbClr val="C00000"/>
                </a:solidFill>
              </a:rPr>
              <a:t>class</a:t>
            </a:r>
            <a:r>
              <a:rPr lang="en-US" dirty="0"/>
              <a:t>, </a:t>
            </a:r>
            <a:r>
              <a:rPr lang="en-US" dirty="0">
                <a:solidFill>
                  <a:srgbClr val="C00000"/>
                </a:solidFill>
              </a:rPr>
              <a:t>id</a:t>
            </a:r>
            <a:r>
              <a:rPr lang="en-US" dirty="0"/>
              <a:t>, and </a:t>
            </a:r>
            <a:r>
              <a:rPr lang="en-US" dirty="0">
                <a:solidFill>
                  <a:srgbClr val="C00000"/>
                </a:solidFill>
              </a:rPr>
              <a:t>style</a:t>
            </a:r>
            <a:r>
              <a:rPr lang="en-US" dirty="0"/>
              <a:t> are attribute nodes.</a:t>
            </a:r>
          </a:p>
          <a:p>
            <a:r>
              <a:rPr lang="en-US" dirty="0">
                <a:solidFill>
                  <a:srgbClr val="FF0000"/>
                </a:solidFill>
              </a:rPr>
              <a:t>Text</a:t>
            </a:r>
            <a:r>
              <a:rPr lang="en-US" dirty="0"/>
              <a:t>: The content inside an HTML element is a text node.</a:t>
            </a:r>
            <a:endParaRPr lang="en-GH" dirty="0"/>
          </a:p>
        </p:txBody>
      </p:sp>
    </p:spTree>
    <p:extLst>
      <p:ext uri="{BB962C8B-B14F-4D97-AF65-F5344CB8AC3E}">
        <p14:creationId xmlns:p14="http://schemas.microsoft.com/office/powerpoint/2010/main" val="1371951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B76D-33AA-57BB-F001-098D624793AF}"/>
              </a:ext>
            </a:extLst>
          </p:cNvPr>
          <p:cNvSpPr>
            <a:spLocks noGrp="1"/>
          </p:cNvSpPr>
          <p:nvPr>
            <p:ph type="title"/>
          </p:nvPr>
        </p:nvSpPr>
        <p:spPr/>
        <p:txBody>
          <a:bodyPr/>
          <a:lstStyle/>
          <a:p>
            <a:r>
              <a:rPr lang="en-IN" dirty="0"/>
              <a:t>Document Object Model (DOM)</a:t>
            </a:r>
            <a:endParaRPr lang="en-GH" dirty="0"/>
          </a:p>
        </p:txBody>
      </p:sp>
      <p:sp>
        <p:nvSpPr>
          <p:cNvPr id="3" name="Content Placeholder 2">
            <a:extLst>
              <a:ext uri="{FF2B5EF4-FFF2-40B4-BE49-F238E27FC236}">
                <a16:creationId xmlns:a16="http://schemas.microsoft.com/office/drawing/2014/main" id="{992E3FEE-FEB5-1477-96F5-156C20575A35}"/>
              </a:ext>
            </a:extLst>
          </p:cNvPr>
          <p:cNvSpPr>
            <a:spLocks noGrp="1"/>
          </p:cNvSpPr>
          <p:nvPr>
            <p:ph idx="1"/>
          </p:nvPr>
        </p:nvSpPr>
        <p:spPr/>
        <p:txBody>
          <a:bodyPr/>
          <a:lstStyle/>
          <a:p>
            <a:r>
              <a:rPr lang="en-US" dirty="0">
                <a:solidFill>
                  <a:srgbClr val="FF0000"/>
                </a:solidFill>
              </a:rPr>
              <a:t>Example:</a:t>
            </a:r>
            <a:endParaRPr lang="en-GH" dirty="0"/>
          </a:p>
        </p:txBody>
      </p:sp>
      <p:pic>
        <p:nvPicPr>
          <p:cNvPr id="5" name="Picture 4">
            <a:extLst>
              <a:ext uri="{FF2B5EF4-FFF2-40B4-BE49-F238E27FC236}">
                <a16:creationId xmlns:a16="http://schemas.microsoft.com/office/drawing/2014/main" id="{88E25CB3-5DE6-280B-5445-FD9F2C53DD72}"/>
              </a:ext>
            </a:extLst>
          </p:cNvPr>
          <p:cNvPicPr>
            <a:picLocks noChangeAspect="1"/>
          </p:cNvPicPr>
          <p:nvPr/>
        </p:nvPicPr>
        <p:blipFill>
          <a:blip r:embed="rId2"/>
          <a:stretch>
            <a:fillRect/>
          </a:stretch>
        </p:blipFill>
        <p:spPr>
          <a:xfrm>
            <a:off x="3791234" y="810866"/>
            <a:ext cx="3858163" cy="2762636"/>
          </a:xfrm>
          <a:prstGeom prst="rect">
            <a:avLst/>
          </a:prstGeom>
        </p:spPr>
      </p:pic>
      <p:pic>
        <p:nvPicPr>
          <p:cNvPr id="7" name="Picture 6">
            <a:extLst>
              <a:ext uri="{FF2B5EF4-FFF2-40B4-BE49-F238E27FC236}">
                <a16:creationId xmlns:a16="http://schemas.microsoft.com/office/drawing/2014/main" id="{8CEC0797-86B7-9990-4884-2903DE59AA15}"/>
              </a:ext>
            </a:extLst>
          </p:cNvPr>
          <p:cNvPicPr>
            <a:picLocks noChangeAspect="1"/>
          </p:cNvPicPr>
          <p:nvPr/>
        </p:nvPicPr>
        <p:blipFill>
          <a:blip r:embed="rId3"/>
          <a:stretch>
            <a:fillRect/>
          </a:stretch>
        </p:blipFill>
        <p:spPr>
          <a:xfrm>
            <a:off x="530170" y="3573502"/>
            <a:ext cx="5039428" cy="2819794"/>
          </a:xfrm>
          <a:prstGeom prst="rect">
            <a:avLst/>
          </a:prstGeom>
        </p:spPr>
      </p:pic>
      <p:sp>
        <p:nvSpPr>
          <p:cNvPr id="8" name="TextBox 7">
            <a:extLst>
              <a:ext uri="{FF2B5EF4-FFF2-40B4-BE49-F238E27FC236}">
                <a16:creationId xmlns:a16="http://schemas.microsoft.com/office/drawing/2014/main" id="{EBE40C37-0E73-6853-F159-180A31E7525C}"/>
              </a:ext>
            </a:extLst>
          </p:cNvPr>
          <p:cNvSpPr txBox="1"/>
          <p:nvPr/>
        </p:nvSpPr>
        <p:spPr>
          <a:xfrm>
            <a:off x="1401837" y="3250936"/>
            <a:ext cx="1648047" cy="400110"/>
          </a:xfrm>
          <a:prstGeom prst="rect">
            <a:avLst/>
          </a:prstGeom>
          <a:noFill/>
        </p:spPr>
        <p:txBody>
          <a:bodyPr wrap="square" rtlCol="0">
            <a:spAutoFit/>
          </a:bodyPr>
          <a:lstStyle/>
          <a:p>
            <a:r>
              <a:rPr lang="en-IN" sz="2000" b="1" dirty="0">
                <a:solidFill>
                  <a:srgbClr val="C00000"/>
                </a:solidFill>
              </a:rPr>
              <a:t>DOM Tree</a:t>
            </a:r>
            <a:endParaRPr lang="en-GH" sz="2000" b="1" dirty="0">
              <a:solidFill>
                <a:srgbClr val="C00000"/>
              </a:solidFill>
            </a:endParaRPr>
          </a:p>
        </p:txBody>
      </p:sp>
      <p:cxnSp>
        <p:nvCxnSpPr>
          <p:cNvPr id="10" name="Straight Arrow Connector 9">
            <a:extLst>
              <a:ext uri="{FF2B5EF4-FFF2-40B4-BE49-F238E27FC236}">
                <a16:creationId xmlns:a16="http://schemas.microsoft.com/office/drawing/2014/main" id="{FFDB0BC0-F70A-3B9A-6777-BE6A42C9E0EF}"/>
              </a:ext>
            </a:extLst>
          </p:cNvPr>
          <p:cNvCxnSpPr>
            <a:stCxn id="5" idx="1"/>
          </p:cNvCxnSpPr>
          <p:nvPr/>
        </p:nvCxnSpPr>
        <p:spPr>
          <a:xfrm flipH="1">
            <a:off x="2870791" y="2192184"/>
            <a:ext cx="920443" cy="1253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0595262-0A82-1CB1-B36C-115733952AF6}"/>
              </a:ext>
            </a:extLst>
          </p:cNvPr>
          <p:cNvSpPr txBox="1"/>
          <p:nvPr/>
        </p:nvSpPr>
        <p:spPr>
          <a:xfrm>
            <a:off x="5720315" y="3743857"/>
            <a:ext cx="2945090" cy="2585323"/>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002060"/>
                </a:solidFill>
              </a:rPr>
              <a:t>The &lt;html&gt; element is the child of the Document node.</a:t>
            </a:r>
          </a:p>
          <a:p>
            <a:pPr marL="285750" indent="-285750">
              <a:buFont typeface="Arial" panose="020B0604020202020204" pitchFamily="34" charset="0"/>
              <a:buChar char="•"/>
            </a:pPr>
            <a:r>
              <a:rPr lang="en-US" dirty="0">
                <a:solidFill>
                  <a:srgbClr val="002060"/>
                </a:solidFill>
              </a:rPr>
              <a:t>The &lt;body&gt; element is a child of &lt;html&gt;.</a:t>
            </a:r>
          </a:p>
          <a:p>
            <a:pPr marL="285750" indent="-285750">
              <a:buFont typeface="Arial" panose="020B0604020202020204" pitchFamily="34" charset="0"/>
              <a:buChar char="•"/>
            </a:pPr>
            <a:r>
              <a:rPr lang="en-US" dirty="0">
                <a:solidFill>
                  <a:srgbClr val="002060"/>
                </a:solidFill>
              </a:rPr>
              <a:t>The &lt;div&gt; is a child of &lt;body&gt;, and so on.</a:t>
            </a:r>
          </a:p>
          <a:p>
            <a:pPr marL="285750" indent="-285750">
              <a:buFont typeface="Arial" panose="020B0604020202020204" pitchFamily="34" charset="0"/>
              <a:buChar char="•"/>
            </a:pPr>
            <a:r>
              <a:rPr lang="en-US" dirty="0">
                <a:solidFill>
                  <a:srgbClr val="002060"/>
                </a:solidFill>
              </a:rPr>
              <a:t>Text nodes like "Hello World" are the leaf nodes.</a:t>
            </a:r>
            <a:endParaRPr lang="en-GH" dirty="0">
              <a:solidFill>
                <a:srgbClr val="002060"/>
              </a:solidFill>
            </a:endParaRPr>
          </a:p>
        </p:txBody>
      </p:sp>
    </p:spTree>
    <p:extLst>
      <p:ext uri="{BB962C8B-B14F-4D97-AF65-F5344CB8AC3E}">
        <p14:creationId xmlns:p14="http://schemas.microsoft.com/office/powerpoint/2010/main" val="30075447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A969-1EB7-D564-2687-F8DBBA009C00}"/>
              </a:ext>
            </a:extLst>
          </p:cNvPr>
          <p:cNvSpPr>
            <a:spLocks noGrp="1"/>
          </p:cNvSpPr>
          <p:nvPr>
            <p:ph type="title"/>
          </p:nvPr>
        </p:nvSpPr>
        <p:spPr/>
        <p:txBody>
          <a:bodyPr/>
          <a:lstStyle/>
          <a:p>
            <a:r>
              <a:rPr lang="en-IN" dirty="0"/>
              <a:t>Accessing DOM Tree Elements</a:t>
            </a:r>
            <a:endParaRPr lang="en-GH" dirty="0"/>
          </a:p>
        </p:txBody>
      </p:sp>
      <p:sp>
        <p:nvSpPr>
          <p:cNvPr id="3" name="Content Placeholder 2">
            <a:extLst>
              <a:ext uri="{FF2B5EF4-FFF2-40B4-BE49-F238E27FC236}">
                <a16:creationId xmlns:a16="http://schemas.microsoft.com/office/drawing/2014/main" id="{B6F5C751-25D4-D261-03C9-B23B071D7FC2}"/>
              </a:ext>
            </a:extLst>
          </p:cNvPr>
          <p:cNvSpPr>
            <a:spLocks noGrp="1"/>
          </p:cNvSpPr>
          <p:nvPr>
            <p:ph idx="1"/>
          </p:nvPr>
        </p:nvSpPr>
        <p:spPr/>
        <p:txBody>
          <a:bodyPr/>
          <a:lstStyle/>
          <a:p>
            <a:r>
              <a:rPr lang="en-US" dirty="0"/>
              <a:t>JavaScript can locate elements in the DOM tree and interact with them. </a:t>
            </a:r>
          </a:p>
          <a:p>
            <a:r>
              <a:rPr lang="en-US" dirty="0"/>
              <a:t>As the elements are represented as nodes in the DOM tree, JavaScript provides methods to access them based on attributes like id, class, tag name, or CSS selectors.</a:t>
            </a:r>
          </a:p>
          <a:p>
            <a:r>
              <a:rPr lang="en-IN" dirty="0"/>
              <a:t>Common ways to access DOM elements:</a:t>
            </a:r>
          </a:p>
          <a:p>
            <a:pPr>
              <a:buFont typeface="Wingdings" panose="05000000000000000000" pitchFamily="2" charset="2"/>
              <a:buChar char="ü"/>
            </a:pPr>
            <a:r>
              <a:rPr lang="en-IN" dirty="0"/>
              <a:t>By ID: </a:t>
            </a:r>
            <a:r>
              <a:rPr lang="en-IN" dirty="0" err="1">
                <a:solidFill>
                  <a:srgbClr val="C00000"/>
                </a:solidFill>
              </a:rPr>
              <a:t>document.getElementById</a:t>
            </a:r>
            <a:r>
              <a:rPr lang="en-IN" dirty="0">
                <a:solidFill>
                  <a:srgbClr val="C00000"/>
                </a:solidFill>
              </a:rPr>
              <a:t>('element-id')</a:t>
            </a:r>
          </a:p>
          <a:p>
            <a:pPr>
              <a:buFont typeface="Wingdings" panose="05000000000000000000" pitchFamily="2" charset="2"/>
              <a:buChar char="ü"/>
            </a:pPr>
            <a:r>
              <a:rPr lang="en-IN" dirty="0"/>
              <a:t>By Class Name: </a:t>
            </a:r>
            <a:r>
              <a:rPr lang="en-IN" dirty="0" err="1">
                <a:solidFill>
                  <a:srgbClr val="C00000"/>
                </a:solidFill>
              </a:rPr>
              <a:t>document.getElementsByClassName</a:t>
            </a:r>
            <a:r>
              <a:rPr lang="en-IN" dirty="0">
                <a:solidFill>
                  <a:srgbClr val="C00000"/>
                </a:solidFill>
              </a:rPr>
              <a:t>('class-name')</a:t>
            </a:r>
          </a:p>
          <a:p>
            <a:pPr>
              <a:buFont typeface="Wingdings" panose="05000000000000000000" pitchFamily="2" charset="2"/>
              <a:buChar char="ü"/>
            </a:pPr>
            <a:r>
              <a:rPr lang="en-IN" dirty="0"/>
              <a:t>By Tag Name: </a:t>
            </a:r>
            <a:r>
              <a:rPr lang="en-IN" dirty="0" err="1">
                <a:solidFill>
                  <a:srgbClr val="C00000"/>
                </a:solidFill>
              </a:rPr>
              <a:t>document.getElementsByTagName</a:t>
            </a:r>
            <a:r>
              <a:rPr lang="en-IN" dirty="0">
                <a:solidFill>
                  <a:srgbClr val="C00000"/>
                </a:solidFill>
              </a:rPr>
              <a:t>('tag-name')</a:t>
            </a:r>
          </a:p>
          <a:p>
            <a:pPr>
              <a:buFont typeface="Wingdings" panose="05000000000000000000" pitchFamily="2" charset="2"/>
              <a:buChar char="ü"/>
            </a:pPr>
            <a:r>
              <a:rPr lang="en-IN" dirty="0"/>
              <a:t>By CSS Selector: </a:t>
            </a:r>
            <a:r>
              <a:rPr lang="en-IN" dirty="0" err="1">
                <a:solidFill>
                  <a:srgbClr val="C00000"/>
                </a:solidFill>
              </a:rPr>
              <a:t>document.querySelector</a:t>
            </a:r>
            <a:r>
              <a:rPr lang="en-IN" dirty="0">
                <a:solidFill>
                  <a:srgbClr val="C00000"/>
                </a:solidFill>
              </a:rPr>
              <a:t>('selector') </a:t>
            </a:r>
            <a:r>
              <a:rPr lang="en-IN" dirty="0"/>
              <a:t>or </a:t>
            </a:r>
            <a:r>
              <a:rPr lang="en-IN" dirty="0" err="1">
                <a:solidFill>
                  <a:srgbClr val="C00000"/>
                </a:solidFill>
              </a:rPr>
              <a:t>document.querySelectorAll</a:t>
            </a:r>
            <a:r>
              <a:rPr lang="en-IN" dirty="0">
                <a:solidFill>
                  <a:srgbClr val="C00000"/>
                </a:solidFill>
              </a:rPr>
              <a:t>('selector')</a:t>
            </a:r>
            <a:endParaRPr lang="en-GH" dirty="0">
              <a:solidFill>
                <a:srgbClr val="C00000"/>
              </a:solidFill>
            </a:endParaRPr>
          </a:p>
        </p:txBody>
      </p:sp>
    </p:spTree>
    <p:extLst>
      <p:ext uri="{BB962C8B-B14F-4D97-AF65-F5344CB8AC3E}">
        <p14:creationId xmlns:p14="http://schemas.microsoft.com/office/powerpoint/2010/main" val="12759511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A969-1EB7-D564-2687-F8DBBA009C00}"/>
              </a:ext>
            </a:extLst>
          </p:cNvPr>
          <p:cNvSpPr>
            <a:spLocks noGrp="1"/>
          </p:cNvSpPr>
          <p:nvPr>
            <p:ph type="title"/>
          </p:nvPr>
        </p:nvSpPr>
        <p:spPr/>
        <p:txBody>
          <a:bodyPr/>
          <a:lstStyle/>
          <a:p>
            <a:r>
              <a:rPr lang="en-IN" dirty="0"/>
              <a:t>Accessing DOM Tree Elements</a:t>
            </a:r>
            <a:endParaRPr lang="en-GH" dirty="0"/>
          </a:p>
        </p:txBody>
      </p:sp>
      <p:sp>
        <p:nvSpPr>
          <p:cNvPr id="3" name="Content Placeholder 2">
            <a:extLst>
              <a:ext uri="{FF2B5EF4-FFF2-40B4-BE49-F238E27FC236}">
                <a16:creationId xmlns:a16="http://schemas.microsoft.com/office/drawing/2014/main" id="{B6F5C751-25D4-D261-03C9-B23B071D7FC2}"/>
              </a:ext>
            </a:extLst>
          </p:cNvPr>
          <p:cNvSpPr>
            <a:spLocks noGrp="1"/>
          </p:cNvSpPr>
          <p:nvPr>
            <p:ph idx="1"/>
          </p:nvPr>
        </p:nvSpPr>
        <p:spPr/>
        <p:txBody>
          <a:bodyPr/>
          <a:lstStyle/>
          <a:p>
            <a:r>
              <a:rPr lang="en-IN" dirty="0">
                <a:solidFill>
                  <a:srgbClr val="FF0066"/>
                </a:solidFill>
              </a:rPr>
              <a:t>Example:</a:t>
            </a:r>
          </a:p>
          <a:p>
            <a:pPr marL="0" indent="0">
              <a:buNone/>
            </a:pPr>
            <a:endParaRPr lang="en-GH" dirty="0">
              <a:solidFill>
                <a:srgbClr val="FF0066"/>
              </a:solidFill>
            </a:endParaRPr>
          </a:p>
        </p:txBody>
      </p:sp>
      <p:pic>
        <p:nvPicPr>
          <p:cNvPr id="5" name="Picture 4">
            <a:extLst>
              <a:ext uri="{FF2B5EF4-FFF2-40B4-BE49-F238E27FC236}">
                <a16:creationId xmlns:a16="http://schemas.microsoft.com/office/drawing/2014/main" id="{A168FF15-8ADE-95C4-0D84-F48E16A21E5E}"/>
              </a:ext>
            </a:extLst>
          </p:cNvPr>
          <p:cNvPicPr>
            <a:picLocks noChangeAspect="1"/>
          </p:cNvPicPr>
          <p:nvPr/>
        </p:nvPicPr>
        <p:blipFill>
          <a:blip r:embed="rId2"/>
          <a:stretch>
            <a:fillRect/>
          </a:stretch>
        </p:blipFill>
        <p:spPr>
          <a:xfrm>
            <a:off x="240465" y="1895185"/>
            <a:ext cx="8592749" cy="1962424"/>
          </a:xfrm>
          <a:prstGeom prst="rect">
            <a:avLst/>
          </a:prstGeom>
        </p:spPr>
      </p:pic>
    </p:spTree>
    <p:extLst>
      <p:ext uri="{BB962C8B-B14F-4D97-AF65-F5344CB8AC3E}">
        <p14:creationId xmlns:p14="http://schemas.microsoft.com/office/powerpoint/2010/main" val="4750444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A969-1EB7-D564-2687-F8DBBA009C00}"/>
              </a:ext>
            </a:extLst>
          </p:cNvPr>
          <p:cNvSpPr>
            <a:spLocks noGrp="1"/>
          </p:cNvSpPr>
          <p:nvPr>
            <p:ph type="title"/>
          </p:nvPr>
        </p:nvSpPr>
        <p:spPr/>
        <p:txBody>
          <a:bodyPr/>
          <a:lstStyle/>
          <a:p>
            <a:r>
              <a:rPr lang="en-IN" dirty="0"/>
              <a:t>Accessing DOM Tree Elements</a:t>
            </a:r>
            <a:endParaRPr lang="en-GH" dirty="0"/>
          </a:p>
        </p:txBody>
      </p:sp>
      <p:sp>
        <p:nvSpPr>
          <p:cNvPr id="3" name="Content Placeholder 2">
            <a:extLst>
              <a:ext uri="{FF2B5EF4-FFF2-40B4-BE49-F238E27FC236}">
                <a16:creationId xmlns:a16="http://schemas.microsoft.com/office/drawing/2014/main" id="{B6F5C751-25D4-D261-03C9-B23B071D7FC2}"/>
              </a:ext>
            </a:extLst>
          </p:cNvPr>
          <p:cNvSpPr>
            <a:spLocks noGrp="1"/>
          </p:cNvSpPr>
          <p:nvPr>
            <p:ph idx="1"/>
          </p:nvPr>
        </p:nvSpPr>
        <p:spPr/>
        <p:txBody>
          <a:bodyPr/>
          <a:lstStyle/>
          <a:p>
            <a:r>
              <a:rPr lang="en-IN" dirty="0">
                <a:solidFill>
                  <a:srgbClr val="FF0066"/>
                </a:solidFill>
              </a:rPr>
              <a:t>Example: </a:t>
            </a:r>
            <a:r>
              <a:rPr lang="en-IN" dirty="0"/>
              <a:t>Changing the content and style of elements</a:t>
            </a:r>
            <a:endParaRPr lang="en-IN" dirty="0">
              <a:solidFill>
                <a:srgbClr val="FF0066"/>
              </a:solidFill>
            </a:endParaRPr>
          </a:p>
          <a:p>
            <a:pPr marL="0" indent="0">
              <a:buNone/>
            </a:pPr>
            <a:endParaRPr lang="en-GH" dirty="0">
              <a:solidFill>
                <a:srgbClr val="FF0066"/>
              </a:solidFill>
            </a:endParaRPr>
          </a:p>
        </p:txBody>
      </p:sp>
      <p:pic>
        <p:nvPicPr>
          <p:cNvPr id="6" name="Picture 5">
            <a:extLst>
              <a:ext uri="{FF2B5EF4-FFF2-40B4-BE49-F238E27FC236}">
                <a16:creationId xmlns:a16="http://schemas.microsoft.com/office/drawing/2014/main" id="{002B99A9-5524-2E9D-21AE-D7F6D7F428BE}"/>
              </a:ext>
            </a:extLst>
          </p:cNvPr>
          <p:cNvPicPr>
            <a:picLocks noChangeAspect="1"/>
          </p:cNvPicPr>
          <p:nvPr/>
        </p:nvPicPr>
        <p:blipFill>
          <a:blip r:embed="rId2"/>
          <a:stretch>
            <a:fillRect/>
          </a:stretch>
        </p:blipFill>
        <p:spPr>
          <a:xfrm>
            <a:off x="659968" y="1957106"/>
            <a:ext cx="7868471" cy="4465888"/>
          </a:xfrm>
          <a:prstGeom prst="rect">
            <a:avLst/>
          </a:prstGeom>
        </p:spPr>
      </p:pic>
    </p:spTree>
    <p:extLst>
      <p:ext uri="{BB962C8B-B14F-4D97-AF65-F5344CB8AC3E}">
        <p14:creationId xmlns:p14="http://schemas.microsoft.com/office/powerpoint/2010/main" val="33362820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9E28A-18E4-9C15-CD5F-6EF98C0F9391}"/>
              </a:ext>
            </a:extLst>
          </p:cNvPr>
          <p:cNvSpPr>
            <a:spLocks noGrp="1"/>
          </p:cNvSpPr>
          <p:nvPr>
            <p:ph type="title"/>
          </p:nvPr>
        </p:nvSpPr>
        <p:spPr/>
        <p:txBody>
          <a:bodyPr/>
          <a:lstStyle/>
          <a:p>
            <a:r>
              <a:rPr lang="en-IN" dirty="0"/>
              <a:t>More on Working with Functions</a:t>
            </a:r>
            <a:endParaRPr lang="en-GH" dirty="0"/>
          </a:p>
        </p:txBody>
      </p:sp>
      <p:sp>
        <p:nvSpPr>
          <p:cNvPr id="3" name="Content Placeholder 2">
            <a:extLst>
              <a:ext uri="{FF2B5EF4-FFF2-40B4-BE49-F238E27FC236}">
                <a16:creationId xmlns:a16="http://schemas.microsoft.com/office/drawing/2014/main" id="{22ACBD67-5E7E-9040-62B7-7945339CD8D8}"/>
              </a:ext>
            </a:extLst>
          </p:cNvPr>
          <p:cNvSpPr>
            <a:spLocks noGrp="1"/>
          </p:cNvSpPr>
          <p:nvPr>
            <p:ph idx="1"/>
          </p:nvPr>
        </p:nvSpPr>
        <p:spPr/>
        <p:txBody>
          <a:bodyPr/>
          <a:lstStyle/>
          <a:p>
            <a:r>
              <a:rPr lang="en-IN" b="1" dirty="0">
                <a:solidFill>
                  <a:srgbClr val="FF0000"/>
                </a:solidFill>
              </a:rPr>
              <a:t>Recap</a:t>
            </a:r>
            <a:r>
              <a:rPr lang="en-IN" dirty="0"/>
              <a:t>:</a:t>
            </a:r>
          </a:p>
          <a:p>
            <a:r>
              <a:rPr lang="en-IN" dirty="0"/>
              <a:t>Defining functions-</a:t>
            </a:r>
            <a:r>
              <a:rPr lang="en-IN" b="1" dirty="0">
                <a:solidFill>
                  <a:srgbClr val="7030A0"/>
                </a:solidFill>
              </a:rPr>
              <a:t>Example1</a:t>
            </a:r>
            <a:r>
              <a:rPr lang="en-IN" dirty="0"/>
              <a:t>:</a:t>
            </a:r>
          </a:p>
          <a:p>
            <a:endParaRPr lang="en-IN" dirty="0"/>
          </a:p>
          <a:p>
            <a:endParaRPr lang="en-IN" dirty="0"/>
          </a:p>
          <a:p>
            <a:endParaRPr lang="en-IN" dirty="0"/>
          </a:p>
          <a:p>
            <a:r>
              <a:rPr lang="en-IN" dirty="0"/>
              <a:t>Defining functions-</a:t>
            </a:r>
            <a:r>
              <a:rPr lang="en-IN" b="1" dirty="0">
                <a:solidFill>
                  <a:srgbClr val="7030A0"/>
                </a:solidFill>
              </a:rPr>
              <a:t>Example2</a:t>
            </a:r>
            <a:r>
              <a:rPr lang="en-IN" dirty="0"/>
              <a:t>: </a:t>
            </a:r>
          </a:p>
          <a:p>
            <a:pPr marL="0" indent="0">
              <a:buNone/>
            </a:pPr>
            <a:r>
              <a:rPr lang="en-IN" dirty="0"/>
              <a:t>   </a:t>
            </a:r>
            <a:r>
              <a:rPr lang="en-IN" dirty="0">
                <a:solidFill>
                  <a:srgbClr val="0070C0"/>
                </a:solidFill>
              </a:rPr>
              <a:t>Function expression and Anonymous function </a:t>
            </a:r>
          </a:p>
          <a:p>
            <a:endParaRPr lang="en-IN" dirty="0"/>
          </a:p>
          <a:p>
            <a:endParaRPr lang="en-IN" dirty="0"/>
          </a:p>
          <a:p>
            <a:endParaRPr lang="en-IN" dirty="0"/>
          </a:p>
          <a:p>
            <a:endParaRPr lang="en-GH" dirty="0"/>
          </a:p>
        </p:txBody>
      </p:sp>
      <p:pic>
        <p:nvPicPr>
          <p:cNvPr id="5" name="Picture 4">
            <a:extLst>
              <a:ext uri="{FF2B5EF4-FFF2-40B4-BE49-F238E27FC236}">
                <a16:creationId xmlns:a16="http://schemas.microsoft.com/office/drawing/2014/main" id="{6344D356-A1CE-2CE7-91EA-73E80D7CE291}"/>
              </a:ext>
            </a:extLst>
          </p:cNvPr>
          <p:cNvPicPr>
            <a:picLocks noChangeAspect="1"/>
          </p:cNvPicPr>
          <p:nvPr/>
        </p:nvPicPr>
        <p:blipFill>
          <a:blip r:embed="rId2"/>
          <a:stretch>
            <a:fillRect/>
          </a:stretch>
        </p:blipFill>
        <p:spPr>
          <a:xfrm>
            <a:off x="525932" y="2244385"/>
            <a:ext cx="3839111" cy="1381318"/>
          </a:xfrm>
          <a:prstGeom prst="rect">
            <a:avLst/>
          </a:prstGeom>
        </p:spPr>
      </p:pic>
      <p:pic>
        <p:nvPicPr>
          <p:cNvPr id="7" name="Picture 6">
            <a:extLst>
              <a:ext uri="{FF2B5EF4-FFF2-40B4-BE49-F238E27FC236}">
                <a16:creationId xmlns:a16="http://schemas.microsoft.com/office/drawing/2014/main" id="{346F3CD3-CBA1-0138-D6E9-DF4E20C45CC2}"/>
              </a:ext>
            </a:extLst>
          </p:cNvPr>
          <p:cNvPicPr>
            <a:picLocks noChangeAspect="1"/>
          </p:cNvPicPr>
          <p:nvPr/>
        </p:nvPicPr>
        <p:blipFill>
          <a:blip r:embed="rId3"/>
          <a:stretch>
            <a:fillRect/>
          </a:stretch>
        </p:blipFill>
        <p:spPr>
          <a:xfrm>
            <a:off x="4572000" y="1577542"/>
            <a:ext cx="4258269" cy="2048161"/>
          </a:xfrm>
          <a:prstGeom prst="rect">
            <a:avLst/>
          </a:prstGeom>
        </p:spPr>
      </p:pic>
      <p:pic>
        <p:nvPicPr>
          <p:cNvPr id="9" name="Picture 8">
            <a:extLst>
              <a:ext uri="{FF2B5EF4-FFF2-40B4-BE49-F238E27FC236}">
                <a16:creationId xmlns:a16="http://schemas.microsoft.com/office/drawing/2014/main" id="{8EB7683D-5538-0C86-40B0-F2A4553C89AF}"/>
              </a:ext>
            </a:extLst>
          </p:cNvPr>
          <p:cNvPicPr>
            <a:picLocks noChangeAspect="1"/>
          </p:cNvPicPr>
          <p:nvPr/>
        </p:nvPicPr>
        <p:blipFill>
          <a:blip r:embed="rId4"/>
          <a:stretch>
            <a:fillRect/>
          </a:stretch>
        </p:blipFill>
        <p:spPr>
          <a:xfrm>
            <a:off x="525932" y="4595388"/>
            <a:ext cx="4334480" cy="1733792"/>
          </a:xfrm>
          <a:prstGeom prst="rect">
            <a:avLst/>
          </a:prstGeom>
        </p:spPr>
      </p:pic>
    </p:spTree>
    <p:extLst>
      <p:ext uri="{BB962C8B-B14F-4D97-AF65-F5344CB8AC3E}">
        <p14:creationId xmlns:p14="http://schemas.microsoft.com/office/powerpoint/2010/main" val="22776376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9E28A-18E4-9C15-CD5F-6EF98C0F9391}"/>
              </a:ext>
            </a:extLst>
          </p:cNvPr>
          <p:cNvSpPr>
            <a:spLocks noGrp="1"/>
          </p:cNvSpPr>
          <p:nvPr>
            <p:ph type="title"/>
          </p:nvPr>
        </p:nvSpPr>
        <p:spPr/>
        <p:txBody>
          <a:bodyPr/>
          <a:lstStyle/>
          <a:p>
            <a:r>
              <a:rPr lang="en-IN" dirty="0"/>
              <a:t>More on Working with Functions</a:t>
            </a:r>
            <a:endParaRPr lang="en-GH" dirty="0"/>
          </a:p>
        </p:txBody>
      </p:sp>
      <p:sp>
        <p:nvSpPr>
          <p:cNvPr id="3" name="Content Placeholder 2">
            <a:extLst>
              <a:ext uri="{FF2B5EF4-FFF2-40B4-BE49-F238E27FC236}">
                <a16:creationId xmlns:a16="http://schemas.microsoft.com/office/drawing/2014/main" id="{22ACBD67-5E7E-9040-62B7-7945339CD8D8}"/>
              </a:ext>
            </a:extLst>
          </p:cNvPr>
          <p:cNvSpPr>
            <a:spLocks noGrp="1"/>
          </p:cNvSpPr>
          <p:nvPr>
            <p:ph idx="1"/>
          </p:nvPr>
        </p:nvSpPr>
        <p:spPr/>
        <p:txBody>
          <a:bodyPr/>
          <a:lstStyle/>
          <a:p>
            <a:r>
              <a:rPr lang="en-IN" b="1" dirty="0">
                <a:solidFill>
                  <a:srgbClr val="FF0000"/>
                </a:solidFill>
              </a:rPr>
              <a:t>Recap (Continued...)</a:t>
            </a:r>
            <a:r>
              <a:rPr lang="en-IN" dirty="0"/>
              <a:t>:</a:t>
            </a:r>
          </a:p>
          <a:p>
            <a:r>
              <a:rPr lang="en-IN" dirty="0"/>
              <a:t>Defining functions-</a:t>
            </a:r>
            <a:r>
              <a:rPr lang="en-IN" b="1" dirty="0">
                <a:solidFill>
                  <a:srgbClr val="7030A0"/>
                </a:solidFill>
              </a:rPr>
              <a:t>Example3</a:t>
            </a:r>
            <a:r>
              <a:rPr lang="en-IN" dirty="0"/>
              <a:t>: </a:t>
            </a:r>
            <a:r>
              <a:rPr lang="en-IN" dirty="0">
                <a:solidFill>
                  <a:srgbClr val="FF0066"/>
                </a:solidFill>
              </a:rPr>
              <a:t>Arrow Functions </a:t>
            </a:r>
            <a:r>
              <a:rPr lang="en-IN" dirty="0"/>
              <a:t>(ES6)</a:t>
            </a:r>
          </a:p>
          <a:p>
            <a:endParaRPr lang="en-IN" dirty="0"/>
          </a:p>
          <a:p>
            <a:endParaRPr lang="en-IN" dirty="0"/>
          </a:p>
          <a:p>
            <a:endParaRPr lang="en-IN" dirty="0"/>
          </a:p>
          <a:p>
            <a:endParaRPr lang="en-IN" dirty="0"/>
          </a:p>
          <a:p>
            <a:r>
              <a:rPr lang="en-US" dirty="0"/>
              <a:t>In arrow functions, you can skip </a:t>
            </a:r>
            <a:r>
              <a:rPr lang="en-US" b="1" dirty="0"/>
              <a:t>{ }</a:t>
            </a:r>
            <a:r>
              <a:rPr lang="en-US" dirty="0"/>
              <a:t> and </a:t>
            </a:r>
            <a:r>
              <a:rPr lang="en-US" b="1" dirty="0"/>
              <a:t>return</a:t>
            </a:r>
            <a:r>
              <a:rPr lang="en-US" dirty="0"/>
              <a:t> </a:t>
            </a:r>
            <a:r>
              <a:rPr lang="en-US" u="sng" dirty="0"/>
              <a:t>if there's only one statement</a:t>
            </a:r>
            <a:r>
              <a:rPr lang="en-US" dirty="0"/>
              <a:t> (shorthand syntax).</a:t>
            </a:r>
          </a:p>
          <a:p>
            <a:endParaRPr lang="en-IN" dirty="0"/>
          </a:p>
          <a:p>
            <a:pPr marL="0" indent="0">
              <a:buNone/>
            </a:pPr>
            <a:r>
              <a:rPr lang="en-IN" dirty="0"/>
              <a:t>   </a:t>
            </a:r>
          </a:p>
          <a:p>
            <a:endParaRPr lang="en-IN" dirty="0"/>
          </a:p>
          <a:p>
            <a:endParaRPr lang="en-IN" dirty="0"/>
          </a:p>
          <a:p>
            <a:endParaRPr lang="en-IN" dirty="0"/>
          </a:p>
          <a:p>
            <a:endParaRPr lang="en-GH" dirty="0"/>
          </a:p>
        </p:txBody>
      </p:sp>
      <p:pic>
        <p:nvPicPr>
          <p:cNvPr id="6" name="Picture 5">
            <a:extLst>
              <a:ext uri="{FF2B5EF4-FFF2-40B4-BE49-F238E27FC236}">
                <a16:creationId xmlns:a16="http://schemas.microsoft.com/office/drawing/2014/main" id="{F1F0A95A-37CD-4A50-E1E2-0E1ED6786D86}"/>
              </a:ext>
            </a:extLst>
          </p:cNvPr>
          <p:cNvPicPr>
            <a:picLocks noChangeAspect="1"/>
          </p:cNvPicPr>
          <p:nvPr/>
        </p:nvPicPr>
        <p:blipFill>
          <a:blip r:embed="rId2"/>
          <a:stretch>
            <a:fillRect/>
          </a:stretch>
        </p:blipFill>
        <p:spPr>
          <a:xfrm>
            <a:off x="604228" y="2319000"/>
            <a:ext cx="5553850" cy="1667108"/>
          </a:xfrm>
          <a:prstGeom prst="rect">
            <a:avLst/>
          </a:prstGeom>
        </p:spPr>
      </p:pic>
      <p:pic>
        <p:nvPicPr>
          <p:cNvPr id="10" name="Picture 9">
            <a:extLst>
              <a:ext uri="{FF2B5EF4-FFF2-40B4-BE49-F238E27FC236}">
                <a16:creationId xmlns:a16="http://schemas.microsoft.com/office/drawing/2014/main" id="{8087EA5C-475F-7D4F-CA6B-57AD179368FC}"/>
              </a:ext>
            </a:extLst>
          </p:cNvPr>
          <p:cNvPicPr>
            <a:picLocks noChangeAspect="1"/>
          </p:cNvPicPr>
          <p:nvPr/>
        </p:nvPicPr>
        <p:blipFill>
          <a:blip r:embed="rId3"/>
          <a:stretch>
            <a:fillRect/>
          </a:stretch>
        </p:blipFill>
        <p:spPr>
          <a:xfrm>
            <a:off x="604228" y="4919069"/>
            <a:ext cx="4486901" cy="676369"/>
          </a:xfrm>
          <a:prstGeom prst="rect">
            <a:avLst/>
          </a:prstGeom>
        </p:spPr>
      </p:pic>
      <p:sp>
        <p:nvSpPr>
          <p:cNvPr id="11" name="TextBox 10">
            <a:extLst>
              <a:ext uri="{FF2B5EF4-FFF2-40B4-BE49-F238E27FC236}">
                <a16:creationId xmlns:a16="http://schemas.microsoft.com/office/drawing/2014/main" id="{E947560B-0D24-55BC-EEE3-3C6FC8A0E264}"/>
              </a:ext>
            </a:extLst>
          </p:cNvPr>
          <p:cNvSpPr txBox="1"/>
          <p:nvPr/>
        </p:nvSpPr>
        <p:spPr>
          <a:xfrm>
            <a:off x="487689" y="5615034"/>
            <a:ext cx="8187070" cy="1015663"/>
          </a:xfrm>
          <a:prstGeom prst="rect">
            <a:avLst/>
          </a:prstGeom>
          <a:noFill/>
        </p:spPr>
        <p:txBody>
          <a:bodyPr wrap="square" rtlCol="0">
            <a:spAutoFit/>
          </a:bodyPr>
          <a:lstStyle/>
          <a:p>
            <a:r>
              <a:rPr lang="en-IN" sz="2000" dirty="0">
                <a:solidFill>
                  <a:srgbClr val="FF0066"/>
                </a:solidFill>
              </a:rPr>
              <a:t>Did you notice anything here?</a:t>
            </a:r>
          </a:p>
          <a:p>
            <a:r>
              <a:rPr lang="en-IN" sz="2000" dirty="0"/>
              <a:t>Parentheses in an arrow function definition are optional </a:t>
            </a:r>
            <a:r>
              <a:rPr lang="en-IN" sz="2000" u="sng" dirty="0"/>
              <a:t>when there is a single parameter</a:t>
            </a:r>
            <a:r>
              <a:rPr lang="en-IN" sz="2000" dirty="0"/>
              <a:t>.</a:t>
            </a:r>
            <a:endParaRPr lang="en-GH" sz="2000" dirty="0"/>
          </a:p>
        </p:txBody>
      </p:sp>
      <p:cxnSp>
        <p:nvCxnSpPr>
          <p:cNvPr id="13" name="Straight Arrow Connector 12">
            <a:extLst>
              <a:ext uri="{FF2B5EF4-FFF2-40B4-BE49-F238E27FC236}">
                <a16:creationId xmlns:a16="http://schemas.microsoft.com/office/drawing/2014/main" id="{9E0929A4-22FA-9089-27E6-40C127F24626}"/>
              </a:ext>
            </a:extLst>
          </p:cNvPr>
          <p:cNvCxnSpPr>
            <a:cxnSpLocks/>
          </p:cNvCxnSpPr>
          <p:nvPr/>
        </p:nvCxnSpPr>
        <p:spPr>
          <a:xfrm>
            <a:off x="2636874" y="5220586"/>
            <a:ext cx="1148317" cy="794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98062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IN" dirty="0">
                <a:solidFill>
                  <a:srgbClr val="FF0000"/>
                </a:solidFill>
              </a:rPr>
              <a:t>alert()</a:t>
            </a:r>
            <a:r>
              <a:rPr lang="en-IN" dirty="0"/>
              <a:t>:</a:t>
            </a:r>
          </a:p>
          <a:p>
            <a:r>
              <a:rPr lang="en-IN" dirty="0">
                <a:solidFill>
                  <a:srgbClr val="FF0000"/>
                </a:solidFill>
              </a:rPr>
              <a:t>console.log()</a:t>
            </a:r>
            <a:r>
              <a:rPr lang="en-IN" dirty="0"/>
              <a:t>:</a:t>
            </a:r>
          </a:p>
          <a:p>
            <a:endParaRPr lang="en-IN" dirty="0"/>
          </a:p>
          <a:p>
            <a:endParaRPr lang="en-IN" dirty="0"/>
          </a:p>
          <a:p>
            <a:r>
              <a:rPr lang="en-IN" dirty="0">
                <a:solidFill>
                  <a:srgbClr val="FF0000"/>
                </a:solidFill>
              </a:rPr>
              <a:t>prompt()</a:t>
            </a:r>
            <a:r>
              <a:rPr lang="en-IN" dirty="0"/>
              <a:t>: </a:t>
            </a:r>
          </a:p>
          <a:p>
            <a:endParaRPr lang="en-IN" dirty="0"/>
          </a:p>
          <a:p>
            <a:endParaRPr lang="en-IN" dirty="0"/>
          </a:p>
          <a:p>
            <a:r>
              <a:rPr lang="en-US" dirty="0" err="1">
                <a:solidFill>
                  <a:srgbClr val="FF0000"/>
                </a:solidFill>
              </a:rPr>
              <a:t>parseInt</a:t>
            </a:r>
            <a:r>
              <a:rPr lang="en-US" dirty="0">
                <a:solidFill>
                  <a:srgbClr val="FF0000"/>
                </a:solidFill>
              </a:rPr>
              <a:t>()</a:t>
            </a:r>
            <a:r>
              <a:rPr lang="en-US" dirty="0"/>
              <a:t> and </a:t>
            </a:r>
            <a:r>
              <a:rPr lang="en-US" dirty="0" err="1"/>
              <a:t>parseFloat</a:t>
            </a:r>
            <a:r>
              <a:rPr lang="en-US" dirty="0"/>
              <a:t>() (Converting Strings to Numbers)</a:t>
            </a:r>
          </a:p>
          <a:p>
            <a:endParaRPr lang="en-GH" dirty="0"/>
          </a:p>
        </p:txBody>
      </p:sp>
      <p:pic>
        <p:nvPicPr>
          <p:cNvPr id="5" name="Picture 4">
            <a:extLst>
              <a:ext uri="{FF2B5EF4-FFF2-40B4-BE49-F238E27FC236}">
                <a16:creationId xmlns:a16="http://schemas.microsoft.com/office/drawing/2014/main" id="{E80FFC48-67E1-18C1-1A27-D423451BA704}"/>
              </a:ext>
            </a:extLst>
          </p:cNvPr>
          <p:cNvPicPr>
            <a:picLocks noChangeAspect="1"/>
          </p:cNvPicPr>
          <p:nvPr/>
        </p:nvPicPr>
        <p:blipFill>
          <a:blip r:embed="rId2"/>
          <a:stretch>
            <a:fillRect/>
          </a:stretch>
        </p:blipFill>
        <p:spPr>
          <a:xfrm>
            <a:off x="1569770" y="1462836"/>
            <a:ext cx="2772162" cy="381053"/>
          </a:xfrm>
          <a:prstGeom prst="rect">
            <a:avLst/>
          </a:prstGeom>
        </p:spPr>
      </p:pic>
      <p:pic>
        <p:nvPicPr>
          <p:cNvPr id="7" name="Picture 6">
            <a:extLst>
              <a:ext uri="{FF2B5EF4-FFF2-40B4-BE49-F238E27FC236}">
                <a16:creationId xmlns:a16="http://schemas.microsoft.com/office/drawing/2014/main" id="{655F0966-A281-67F1-EDC6-BD9F83D389FC}"/>
              </a:ext>
            </a:extLst>
          </p:cNvPr>
          <p:cNvPicPr>
            <a:picLocks noChangeAspect="1"/>
          </p:cNvPicPr>
          <p:nvPr/>
        </p:nvPicPr>
        <p:blipFill>
          <a:blip r:embed="rId3"/>
          <a:stretch>
            <a:fillRect/>
          </a:stretch>
        </p:blipFill>
        <p:spPr>
          <a:xfrm>
            <a:off x="1569770" y="2242513"/>
            <a:ext cx="4448796" cy="990738"/>
          </a:xfrm>
          <a:prstGeom prst="rect">
            <a:avLst/>
          </a:prstGeom>
        </p:spPr>
      </p:pic>
      <p:pic>
        <p:nvPicPr>
          <p:cNvPr id="9" name="Picture 8">
            <a:extLst>
              <a:ext uri="{FF2B5EF4-FFF2-40B4-BE49-F238E27FC236}">
                <a16:creationId xmlns:a16="http://schemas.microsoft.com/office/drawing/2014/main" id="{9407C0A4-5314-5F01-DCF4-8E6F7BA729EE}"/>
              </a:ext>
            </a:extLst>
          </p:cNvPr>
          <p:cNvPicPr>
            <a:picLocks noChangeAspect="1"/>
          </p:cNvPicPr>
          <p:nvPr/>
        </p:nvPicPr>
        <p:blipFill>
          <a:blip r:embed="rId4"/>
          <a:stretch>
            <a:fillRect/>
          </a:stretch>
        </p:blipFill>
        <p:spPr>
          <a:xfrm>
            <a:off x="1569770" y="3700925"/>
            <a:ext cx="4610743" cy="628738"/>
          </a:xfrm>
          <a:prstGeom prst="rect">
            <a:avLst/>
          </a:prstGeom>
        </p:spPr>
      </p:pic>
      <p:pic>
        <p:nvPicPr>
          <p:cNvPr id="11" name="Picture 10">
            <a:extLst>
              <a:ext uri="{FF2B5EF4-FFF2-40B4-BE49-F238E27FC236}">
                <a16:creationId xmlns:a16="http://schemas.microsoft.com/office/drawing/2014/main" id="{B8AE319C-5716-15BC-095D-D0E0074C3C1D}"/>
              </a:ext>
            </a:extLst>
          </p:cNvPr>
          <p:cNvPicPr>
            <a:picLocks noChangeAspect="1"/>
          </p:cNvPicPr>
          <p:nvPr/>
        </p:nvPicPr>
        <p:blipFill>
          <a:blip r:embed="rId5"/>
          <a:stretch>
            <a:fillRect/>
          </a:stretch>
        </p:blipFill>
        <p:spPr>
          <a:xfrm>
            <a:off x="644236" y="5119486"/>
            <a:ext cx="7223320" cy="749685"/>
          </a:xfrm>
          <a:prstGeom prst="rect">
            <a:avLst/>
          </a:prstGeom>
        </p:spPr>
      </p:pic>
    </p:spTree>
    <p:extLst>
      <p:ext uri="{BB962C8B-B14F-4D97-AF65-F5344CB8AC3E}">
        <p14:creationId xmlns:p14="http://schemas.microsoft.com/office/powerpoint/2010/main" val="22278360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IN" dirty="0">
                <a:solidFill>
                  <a:srgbClr val="FF0000"/>
                </a:solidFill>
              </a:rPr>
              <a:t>setTimeout()</a:t>
            </a:r>
            <a:r>
              <a:rPr lang="en-IN" dirty="0"/>
              <a:t>:</a:t>
            </a:r>
            <a:r>
              <a:rPr lang="en-US" dirty="0"/>
              <a:t> executes a function after a specified time delay</a:t>
            </a:r>
          </a:p>
          <a:p>
            <a:endParaRPr lang="en-US" dirty="0"/>
          </a:p>
          <a:p>
            <a:endParaRPr lang="en-US" dirty="0"/>
          </a:p>
          <a:p>
            <a:endParaRPr lang="en-US" dirty="0"/>
          </a:p>
          <a:p>
            <a:r>
              <a:rPr lang="en-US" dirty="0" err="1">
                <a:solidFill>
                  <a:srgbClr val="FF0000"/>
                </a:solidFill>
              </a:rPr>
              <a:t>setInterval</a:t>
            </a:r>
            <a:r>
              <a:rPr lang="en-US" dirty="0">
                <a:solidFill>
                  <a:srgbClr val="FF0000"/>
                </a:solidFill>
              </a:rPr>
              <a:t>()</a:t>
            </a:r>
            <a:r>
              <a:rPr lang="en-US" dirty="0"/>
              <a:t> repeatedly executes a function at specified intervals</a:t>
            </a:r>
            <a:endParaRPr lang="en-IN" dirty="0"/>
          </a:p>
          <a:p>
            <a:endParaRPr lang="en-GH" dirty="0"/>
          </a:p>
        </p:txBody>
      </p:sp>
      <p:pic>
        <p:nvPicPr>
          <p:cNvPr id="6" name="Picture 5">
            <a:extLst>
              <a:ext uri="{FF2B5EF4-FFF2-40B4-BE49-F238E27FC236}">
                <a16:creationId xmlns:a16="http://schemas.microsoft.com/office/drawing/2014/main" id="{1B92B88B-32DF-B5B2-2B82-0DFD46002068}"/>
              </a:ext>
            </a:extLst>
          </p:cNvPr>
          <p:cNvPicPr>
            <a:picLocks noChangeAspect="1"/>
          </p:cNvPicPr>
          <p:nvPr/>
        </p:nvPicPr>
        <p:blipFill>
          <a:blip r:embed="rId2"/>
          <a:stretch>
            <a:fillRect/>
          </a:stretch>
        </p:blipFill>
        <p:spPr>
          <a:xfrm>
            <a:off x="971541" y="1915886"/>
            <a:ext cx="6477904" cy="1133633"/>
          </a:xfrm>
          <a:prstGeom prst="rect">
            <a:avLst/>
          </a:prstGeom>
        </p:spPr>
      </p:pic>
      <p:pic>
        <p:nvPicPr>
          <p:cNvPr id="12" name="Picture 11">
            <a:extLst>
              <a:ext uri="{FF2B5EF4-FFF2-40B4-BE49-F238E27FC236}">
                <a16:creationId xmlns:a16="http://schemas.microsoft.com/office/drawing/2014/main" id="{BD609EB4-3BAA-534E-BDBA-E014F09E2097}"/>
              </a:ext>
            </a:extLst>
          </p:cNvPr>
          <p:cNvPicPr>
            <a:picLocks noChangeAspect="1"/>
          </p:cNvPicPr>
          <p:nvPr/>
        </p:nvPicPr>
        <p:blipFill>
          <a:blip r:embed="rId3"/>
          <a:stretch>
            <a:fillRect/>
          </a:stretch>
        </p:blipFill>
        <p:spPr>
          <a:xfrm>
            <a:off x="484598" y="3671079"/>
            <a:ext cx="8437386" cy="2658101"/>
          </a:xfrm>
          <a:prstGeom prst="rect">
            <a:avLst/>
          </a:prstGeom>
        </p:spPr>
      </p:pic>
    </p:spTree>
    <p:extLst>
      <p:ext uri="{BB962C8B-B14F-4D97-AF65-F5344CB8AC3E}">
        <p14:creationId xmlns:p14="http://schemas.microsoft.com/office/powerpoint/2010/main" val="37529026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US" dirty="0" err="1">
                <a:solidFill>
                  <a:srgbClr val="FF0000"/>
                </a:solidFill>
              </a:rPr>
              <a:t>Math.random</a:t>
            </a:r>
            <a:r>
              <a:rPr lang="en-US" dirty="0">
                <a:solidFill>
                  <a:srgbClr val="FF0000"/>
                </a:solidFill>
              </a:rPr>
              <a:t>()</a:t>
            </a:r>
            <a:r>
              <a:rPr lang="en-US" dirty="0"/>
              <a:t> generates a random decimal between 0 and 1</a:t>
            </a:r>
          </a:p>
          <a:p>
            <a:r>
              <a:rPr lang="en-US" dirty="0" err="1">
                <a:solidFill>
                  <a:srgbClr val="FF0000"/>
                </a:solidFill>
              </a:rPr>
              <a:t>Math.floor</a:t>
            </a:r>
            <a:r>
              <a:rPr lang="en-US" dirty="0">
                <a:solidFill>
                  <a:srgbClr val="FF0000"/>
                </a:solidFill>
              </a:rPr>
              <a:t>()</a:t>
            </a:r>
            <a:r>
              <a:rPr lang="en-US" dirty="0"/>
              <a:t> rounds a number down to the nearest integer.</a:t>
            </a:r>
          </a:p>
          <a:p>
            <a:pPr marL="0" indent="0">
              <a:buNone/>
            </a:pPr>
            <a:endParaRPr lang="en-US" dirty="0"/>
          </a:p>
          <a:p>
            <a:endParaRPr lang="en-US" dirty="0"/>
          </a:p>
          <a:p>
            <a:endParaRPr lang="en-GH" dirty="0"/>
          </a:p>
        </p:txBody>
      </p:sp>
      <p:pic>
        <p:nvPicPr>
          <p:cNvPr id="5" name="Picture 4">
            <a:extLst>
              <a:ext uri="{FF2B5EF4-FFF2-40B4-BE49-F238E27FC236}">
                <a16:creationId xmlns:a16="http://schemas.microsoft.com/office/drawing/2014/main" id="{382880A5-1671-05EE-C7EF-334402F662EE}"/>
              </a:ext>
            </a:extLst>
          </p:cNvPr>
          <p:cNvPicPr>
            <a:picLocks noChangeAspect="1"/>
          </p:cNvPicPr>
          <p:nvPr/>
        </p:nvPicPr>
        <p:blipFill>
          <a:blip r:embed="rId2"/>
          <a:stretch>
            <a:fillRect/>
          </a:stretch>
        </p:blipFill>
        <p:spPr>
          <a:xfrm>
            <a:off x="259549" y="2965744"/>
            <a:ext cx="8662435" cy="926512"/>
          </a:xfrm>
          <a:prstGeom prst="rect">
            <a:avLst/>
          </a:prstGeom>
        </p:spPr>
      </p:pic>
    </p:spTree>
    <p:extLst>
      <p:ext uri="{BB962C8B-B14F-4D97-AF65-F5344CB8AC3E}">
        <p14:creationId xmlns:p14="http://schemas.microsoft.com/office/powerpoint/2010/main" val="37209527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US" dirty="0"/>
              <a:t>String and Array '</a:t>
            </a:r>
            <a:r>
              <a:rPr lang="en-US" dirty="0">
                <a:solidFill>
                  <a:srgbClr val="FF0000"/>
                </a:solidFill>
              </a:rPr>
              <a:t>length</a:t>
            </a:r>
            <a:r>
              <a:rPr lang="en-US" dirty="0"/>
              <a:t>': Returns the number of characters in a string or the number of elements in an array.</a:t>
            </a:r>
          </a:p>
          <a:p>
            <a:endParaRPr lang="en-GH" dirty="0"/>
          </a:p>
        </p:txBody>
      </p:sp>
      <p:pic>
        <p:nvPicPr>
          <p:cNvPr id="6" name="Picture 5">
            <a:extLst>
              <a:ext uri="{FF2B5EF4-FFF2-40B4-BE49-F238E27FC236}">
                <a16:creationId xmlns:a16="http://schemas.microsoft.com/office/drawing/2014/main" id="{CDAAD0BA-D758-1299-7E1A-717F89AAEC56}"/>
              </a:ext>
            </a:extLst>
          </p:cNvPr>
          <p:cNvPicPr>
            <a:picLocks noChangeAspect="1"/>
          </p:cNvPicPr>
          <p:nvPr/>
        </p:nvPicPr>
        <p:blipFill>
          <a:blip r:embed="rId2"/>
          <a:stretch>
            <a:fillRect/>
          </a:stretch>
        </p:blipFill>
        <p:spPr>
          <a:xfrm>
            <a:off x="622239" y="2407379"/>
            <a:ext cx="5257566" cy="1978420"/>
          </a:xfrm>
          <a:prstGeom prst="rect">
            <a:avLst/>
          </a:prstGeom>
        </p:spPr>
      </p:pic>
    </p:spTree>
    <p:extLst>
      <p:ext uri="{BB962C8B-B14F-4D97-AF65-F5344CB8AC3E}">
        <p14:creationId xmlns:p14="http://schemas.microsoft.com/office/powerpoint/2010/main" val="3019069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US" dirty="0">
                <a:solidFill>
                  <a:srgbClr val="FF0000"/>
                </a:solidFill>
              </a:rPr>
              <a:t>push() </a:t>
            </a:r>
            <a:r>
              <a:rPr lang="en-US" dirty="0"/>
              <a:t>adds an element to the </a:t>
            </a:r>
            <a:r>
              <a:rPr lang="en-US" b="1" dirty="0"/>
              <a:t>end</a:t>
            </a:r>
            <a:r>
              <a:rPr lang="en-US" dirty="0"/>
              <a:t> of an array, while </a:t>
            </a:r>
            <a:r>
              <a:rPr lang="en-US" dirty="0">
                <a:solidFill>
                  <a:srgbClr val="FF0000"/>
                </a:solidFill>
              </a:rPr>
              <a:t>pop() </a:t>
            </a:r>
            <a:r>
              <a:rPr lang="en-US" dirty="0"/>
              <a:t>removes the last element.</a:t>
            </a:r>
          </a:p>
          <a:p>
            <a:endParaRPr lang="en-GH" dirty="0"/>
          </a:p>
        </p:txBody>
      </p:sp>
      <p:pic>
        <p:nvPicPr>
          <p:cNvPr id="5" name="Picture 4">
            <a:extLst>
              <a:ext uri="{FF2B5EF4-FFF2-40B4-BE49-F238E27FC236}">
                <a16:creationId xmlns:a16="http://schemas.microsoft.com/office/drawing/2014/main" id="{BB9239EB-53C7-3CCF-2E78-C50067B69DBB}"/>
              </a:ext>
            </a:extLst>
          </p:cNvPr>
          <p:cNvPicPr>
            <a:picLocks noChangeAspect="1"/>
          </p:cNvPicPr>
          <p:nvPr/>
        </p:nvPicPr>
        <p:blipFill>
          <a:blip r:embed="rId2"/>
          <a:stretch>
            <a:fillRect/>
          </a:stretch>
        </p:blipFill>
        <p:spPr>
          <a:xfrm>
            <a:off x="614513" y="2432053"/>
            <a:ext cx="7914974" cy="2341965"/>
          </a:xfrm>
          <a:prstGeom prst="rect">
            <a:avLst/>
          </a:prstGeom>
        </p:spPr>
      </p:pic>
    </p:spTree>
    <p:extLst>
      <p:ext uri="{BB962C8B-B14F-4D97-AF65-F5344CB8AC3E}">
        <p14:creationId xmlns:p14="http://schemas.microsoft.com/office/powerpoint/2010/main" val="13710566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US" dirty="0">
                <a:solidFill>
                  <a:srgbClr val="FF0000"/>
                </a:solidFill>
              </a:rPr>
              <a:t>shift() </a:t>
            </a:r>
            <a:r>
              <a:rPr lang="en-US" b="1" dirty="0"/>
              <a:t>removes</a:t>
            </a:r>
            <a:r>
              <a:rPr lang="en-US" dirty="0"/>
              <a:t> an element from the </a:t>
            </a:r>
            <a:r>
              <a:rPr lang="en-US" b="1" dirty="0"/>
              <a:t>beginning</a:t>
            </a:r>
            <a:r>
              <a:rPr lang="en-US" dirty="0"/>
              <a:t> of the array, while </a:t>
            </a:r>
            <a:r>
              <a:rPr lang="en-US" dirty="0">
                <a:solidFill>
                  <a:srgbClr val="FF0000"/>
                </a:solidFill>
              </a:rPr>
              <a:t>unshift() </a:t>
            </a:r>
            <a:r>
              <a:rPr lang="en-US" b="1" dirty="0"/>
              <a:t>adds</a:t>
            </a:r>
            <a:r>
              <a:rPr lang="en-US" dirty="0"/>
              <a:t> one or more elements to the </a:t>
            </a:r>
            <a:r>
              <a:rPr lang="en-US" b="1" dirty="0"/>
              <a:t>beginning</a:t>
            </a:r>
            <a:r>
              <a:rPr lang="en-US" dirty="0"/>
              <a:t> of the array.</a:t>
            </a:r>
          </a:p>
          <a:p>
            <a:endParaRPr lang="en-GH" dirty="0"/>
          </a:p>
        </p:txBody>
      </p:sp>
      <p:pic>
        <p:nvPicPr>
          <p:cNvPr id="6" name="Picture 5">
            <a:extLst>
              <a:ext uri="{FF2B5EF4-FFF2-40B4-BE49-F238E27FC236}">
                <a16:creationId xmlns:a16="http://schemas.microsoft.com/office/drawing/2014/main" id="{0EA8C6B5-AF6A-C107-F1E8-C03F98B98AC6}"/>
              </a:ext>
            </a:extLst>
          </p:cNvPr>
          <p:cNvPicPr>
            <a:picLocks noChangeAspect="1"/>
          </p:cNvPicPr>
          <p:nvPr/>
        </p:nvPicPr>
        <p:blipFill>
          <a:blip r:embed="rId2"/>
          <a:stretch>
            <a:fillRect/>
          </a:stretch>
        </p:blipFill>
        <p:spPr>
          <a:xfrm>
            <a:off x="1337358" y="2226371"/>
            <a:ext cx="6469283" cy="4302019"/>
          </a:xfrm>
          <a:prstGeom prst="rect">
            <a:avLst/>
          </a:prstGeom>
        </p:spPr>
      </p:pic>
    </p:spTree>
    <p:extLst>
      <p:ext uri="{BB962C8B-B14F-4D97-AF65-F5344CB8AC3E}">
        <p14:creationId xmlns:p14="http://schemas.microsoft.com/office/powerpoint/2010/main" val="17671255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US" dirty="0">
                <a:solidFill>
                  <a:srgbClr val="FF0000"/>
                </a:solidFill>
              </a:rPr>
              <a:t>shift() </a:t>
            </a:r>
            <a:r>
              <a:rPr lang="en-US" b="1" dirty="0"/>
              <a:t>removes</a:t>
            </a:r>
            <a:r>
              <a:rPr lang="en-US" dirty="0"/>
              <a:t> an element from the </a:t>
            </a:r>
            <a:r>
              <a:rPr lang="en-US" b="1" dirty="0"/>
              <a:t>beginning</a:t>
            </a:r>
            <a:r>
              <a:rPr lang="en-US" dirty="0"/>
              <a:t> of the array, while </a:t>
            </a:r>
            <a:r>
              <a:rPr lang="en-US" dirty="0">
                <a:solidFill>
                  <a:srgbClr val="FF0000"/>
                </a:solidFill>
              </a:rPr>
              <a:t>unshift() </a:t>
            </a:r>
            <a:r>
              <a:rPr lang="en-US" b="1" dirty="0"/>
              <a:t>adds</a:t>
            </a:r>
            <a:r>
              <a:rPr lang="en-US" dirty="0"/>
              <a:t> elements to the </a:t>
            </a:r>
            <a:r>
              <a:rPr lang="en-US" b="1" dirty="0"/>
              <a:t>beginning</a:t>
            </a:r>
            <a:r>
              <a:rPr lang="en-US" dirty="0"/>
              <a:t> of the array.</a:t>
            </a:r>
          </a:p>
          <a:p>
            <a:endParaRPr lang="en-GH" dirty="0"/>
          </a:p>
        </p:txBody>
      </p:sp>
      <p:pic>
        <p:nvPicPr>
          <p:cNvPr id="5" name="Picture 4">
            <a:extLst>
              <a:ext uri="{FF2B5EF4-FFF2-40B4-BE49-F238E27FC236}">
                <a16:creationId xmlns:a16="http://schemas.microsoft.com/office/drawing/2014/main" id="{ED5349F4-8277-6ADE-BB4C-2D936CE0628E}"/>
              </a:ext>
            </a:extLst>
          </p:cNvPr>
          <p:cNvPicPr>
            <a:picLocks noChangeAspect="1"/>
          </p:cNvPicPr>
          <p:nvPr/>
        </p:nvPicPr>
        <p:blipFill>
          <a:blip r:embed="rId2"/>
          <a:stretch>
            <a:fillRect/>
          </a:stretch>
        </p:blipFill>
        <p:spPr>
          <a:xfrm>
            <a:off x="1117495" y="2274024"/>
            <a:ext cx="6909009" cy="3733369"/>
          </a:xfrm>
          <a:prstGeom prst="rect">
            <a:avLst/>
          </a:prstGeom>
        </p:spPr>
      </p:pic>
    </p:spTree>
    <p:extLst>
      <p:ext uri="{BB962C8B-B14F-4D97-AF65-F5344CB8AC3E}">
        <p14:creationId xmlns:p14="http://schemas.microsoft.com/office/powerpoint/2010/main" val="35391505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US" dirty="0" err="1">
                <a:solidFill>
                  <a:srgbClr val="FF0000"/>
                </a:solidFill>
              </a:rPr>
              <a:t>Array.map</a:t>
            </a:r>
            <a:r>
              <a:rPr lang="en-US" dirty="0">
                <a:solidFill>
                  <a:srgbClr val="FF0000"/>
                </a:solidFill>
              </a:rPr>
              <a:t>() </a:t>
            </a:r>
            <a:r>
              <a:rPr lang="en-US" dirty="0"/>
              <a:t>and </a:t>
            </a:r>
            <a:r>
              <a:rPr lang="en-US" dirty="0" err="1">
                <a:solidFill>
                  <a:srgbClr val="FF0000"/>
                </a:solidFill>
              </a:rPr>
              <a:t>Array.filter</a:t>
            </a:r>
            <a:r>
              <a:rPr lang="en-US" dirty="0">
                <a:solidFill>
                  <a:srgbClr val="FF0000"/>
                </a:solidFill>
              </a:rPr>
              <a:t>()</a:t>
            </a:r>
            <a:r>
              <a:rPr lang="en-US" dirty="0"/>
              <a:t>  for Array Transformation: </a:t>
            </a:r>
          </a:p>
          <a:p>
            <a:r>
              <a:rPr lang="en-US" b="1" dirty="0"/>
              <a:t>map() </a:t>
            </a:r>
            <a:r>
              <a:rPr lang="en-US" dirty="0"/>
              <a:t>creates a new array by applying a function to each element, while </a:t>
            </a:r>
            <a:r>
              <a:rPr lang="en-US" b="1" dirty="0"/>
              <a:t>filter() </a:t>
            </a:r>
            <a:r>
              <a:rPr lang="en-US" dirty="0"/>
              <a:t>creates a new array with elements that pass a test.</a:t>
            </a:r>
          </a:p>
          <a:p>
            <a:endParaRPr lang="en-GH" dirty="0"/>
          </a:p>
        </p:txBody>
      </p:sp>
      <p:pic>
        <p:nvPicPr>
          <p:cNvPr id="7" name="Picture 6">
            <a:extLst>
              <a:ext uri="{FF2B5EF4-FFF2-40B4-BE49-F238E27FC236}">
                <a16:creationId xmlns:a16="http://schemas.microsoft.com/office/drawing/2014/main" id="{19430EEA-0CB8-B29D-B75B-1F498C842C89}"/>
              </a:ext>
            </a:extLst>
          </p:cNvPr>
          <p:cNvPicPr>
            <a:picLocks noChangeAspect="1"/>
          </p:cNvPicPr>
          <p:nvPr/>
        </p:nvPicPr>
        <p:blipFill>
          <a:blip r:embed="rId2"/>
          <a:stretch>
            <a:fillRect/>
          </a:stretch>
        </p:blipFill>
        <p:spPr>
          <a:xfrm>
            <a:off x="519752" y="2700023"/>
            <a:ext cx="6007793" cy="1266568"/>
          </a:xfrm>
          <a:prstGeom prst="rect">
            <a:avLst/>
          </a:prstGeom>
        </p:spPr>
      </p:pic>
      <p:pic>
        <p:nvPicPr>
          <p:cNvPr id="9" name="Picture 8">
            <a:extLst>
              <a:ext uri="{FF2B5EF4-FFF2-40B4-BE49-F238E27FC236}">
                <a16:creationId xmlns:a16="http://schemas.microsoft.com/office/drawing/2014/main" id="{BE82209A-71E1-2D42-BB06-406AE87D6A28}"/>
              </a:ext>
            </a:extLst>
          </p:cNvPr>
          <p:cNvPicPr>
            <a:picLocks noChangeAspect="1"/>
          </p:cNvPicPr>
          <p:nvPr/>
        </p:nvPicPr>
        <p:blipFill>
          <a:blip r:embed="rId3"/>
          <a:stretch>
            <a:fillRect/>
          </a:stretch>
        </p:blipFill>
        <p:spPr>
          <a:xfrm>
            <a:off x="519752" y="4376432"/>
            <a:ext cx="7346088" cy="1266567"/>
          </a:xfrm>
          <a:prstGeom prst="rect">
            <a:avLst/>
          </a:prstGeom>
        </p:spPr>
      </p:pic>
    </p:spTree>
    <p:extLst>
      <p:ext uri="{BB962C8B-B14F-4D97-AF65-F5344CB8AC3E}">
        <p14:creationId xmlns:p14="http://schemas.microsoft.com/office/powerpoint/2010/main" val="3685481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US" b="1" dirty="0">
                <a:solidFill>
                  <a:srgbClr val="0070C0"/>
                </a:solidFill>
              </a:rPr>
              <a:t>DOM Manipulation</a:t>
            </a:r>
            <a:r>
              <a:rPr lang="en-US" dirty="0"/>
              <a:t>:</a:t>
            </a:r>
          </a:p>
          <a:p>
            <a:r>
              <a:rPr lang="en-US" dirty="0"/>
              <a:t>Refer to slides No. 17, 61-64.</a:t>
            </a:r>
          </a:p>
          <a:p>
            <a:endParaRPr lang="en-US" dirty="0"/>
          </a:p>
          <a:p>
            <a:r>
              <a:rPr lang="en-US" u="sng" dirty="0"/>
              <a:t>Another useful function</a:t>
            </a:r>
            <a:r>
              <a:rPr lang="en-US" dirty="0"/>
              <a:t>:</a:t>
            </a:r>
          </a:p>
          <a:p>
            <a:pPr marL="0" indent="0">
              <a:buNone/>
            </a:pPr>
            <a:r>
              <a:rPr lang="en-US" dirty="0"/>
              <a:t>   Creating a new element (</a:t>
            </a:r>
            <a:r>
              <a:rPr lang="en-US" dirty="0" err="1">
                <a:solidFill>
                  <a:srgbClr val="FF0000"/>
                </a:solidFill>
              </a:rPr>
              <a:t>createElement</a:t>
            </a:r>
            <a:r>
              <a:rPr lang="en-US" dirty="0">
                <a:solidFill>
                  <a:srgbClr val="FF0000"/>
                </a:solidFill>
              </a:rPr>
              <a:t> </a:t>
            </a:r>
            <a:r>
              <a:rPr lang="en-US" dirty="0"/>
              <a:t>and</a:t>
            </a:r>
            <a:r>
              <a:rPr lang="en-US" dirty="0">
                <a:solidFill>
                  <a:srgbClr val="FF0000"/>
                </a:solidFill>
              </a:rPr>
              <a:t> </a:t>
            </a:r>
            <a:r>
              <a:rPr lang="en-US" dirty="0" err="1">
                <a:solidFill>
                  <a:srgbClr val="FF0000"/>
                </a:solidFill>
              </a:rPr>
              <a:t>appendChild</a:t>
            </a:r>
            <a:r>
              <a:rPr lang="en-US" dirty="0"/>
              <a:t>):</a:t>
            </a:r>
          </a:p>
          <a:p>
            <a:endParaRPr lang="en-GH" dirty="0"/>
          </a:p>
        </p:txBody>
      </p:sp>
      <p:pic>
        <p:nvPicPr>
          <p:cNvPr id="5" name="Picture 4">
            <a:extLst>
              <a:ext uri="{FF2B5EF4-FFF2-40B4-BE49-F238E27FC236}">
                <a16:creationId xmlns:a16="http://schemas.microsoft.com/office/drawing/2014/main" id="{56EB6E41-B4C1-B4DC-0C0E-6FD074090FD5}"/>
              </a:ext>
            </a:extLst>
          </p:cNvPr>
          <p:cNvPicPr>
            <a:picLocks noChangeAspect="1"/>
          </p:cNvPicPr>
          <p:nvPr/>
        </p:nvPicPr>
        <p:blipFill>
          <a:blip r:embed="rId2"/>
          <a:stretch>
            <a:fillRect/>
          </a:stretch>
        </p:blipFill>
        <p:spPr>
          <a:xfrm>
            <a:off x="263702" y="3657172"/>
            <a:ext cx="8634063" cy="1522641"/>
          </a:xfrm>
          <a:prstGeom prst="rect">
            <a:avLst/>
          </a:prstGeom>
        </p:spPr>
      </p:pic>
    </p:spTree>
    <p:extLst>
      <p:ext uri="{BB962C8B-B14F-4D97-AF65-F5344CB8AC3E}">
        <p14:creationId xmlns:p14="http://schemas.microsoft.com/office/powerpoint/2010/main" val="10701313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44B-47EB-EF54-44DA-DBECAFADFD31}"/>
              </a:ext>
            </a:extLst>
          </p:cNvPr>
          <p:cNvSpPr>
            <a:spLocks noGrp="1"/>
          </p:cNvSpPr>
          <p:nvPr>
            <p:ph type="title"/>
          </p:nvPr>
        </p:nvSpPr>
        <p:spPr/>
        <p:txBody>
          <a:bodyPr/>
          <a:lstStyle/>
          <a:p>
            <a:r>
              <a:rPr lang="en-IN" dirty="0"/>
              <a:t>Commonly used Functions (Built-in)</a:t>
            </a:r>
            <a:endParaRPr lang="en-GH" dirty="0"/>
          </a:p>
        </p:txBody>
      </p:sp>
      <p:sp>
        <p:nvSpPr>
          <p:cNvPr id="3" name="Content Placeholder 2">
            <a:extLst>
              <a:ext uri="{FF2B5EF4-FFF2-40B4-BE49-F238E27FC236}">
                <a16:creationId xmlns:a16="http://schemas.microsoft.com/office/drawing/2014/main" id="{79738ACF-6B93-7FE7-B189-8BE85E1991C6}"/>
              </a:ext>
            </a:extLst>
          </p:cNvPr>
          <p:cNvSpPr>
            <a:spLocks noGrp="1"/>
          </p:cNvSpPr>
          <p:nvPr>
            <p:ph idx="1"/>
          </p:nvPr>
        </p:nvSpPr>
        <p:spPr/>
        <p:txBody>
          <a:bodyPr/>
          <a:lstStyle/>
          <a:p>
            <a:r>
              <a:rPr lang="en-US" b="1" dirty="0" err="1">
                <a:solidFill>
                  <a:srgbClr val="0070C0"/>
                </a:solidFill>
              </a:rPr>
              <a:t>JSON.stringify</a:t>
            </a:r>
            <a:r>
              <a:rPr lang="en-US" b="1" dirty="0">
                <a:solidFill>
                  <a:srgbClr val="0070C0"/>
                </a:solidFill>
              </a:rPr>
              <a:t>() </a:t>
            </a:r>
            <a:r>
              <a:rPr lang="en-US" dirty="0"/>
              <a:t>and </a:t>
            </a:r>
            <a:r>
              <a:rPr lang="en-US" b="1" dirty="0" err="1">
                <a:solidFill>
                  <a:srgbClr val="0070C0"/>
                </a:solidFill>
              </a:rPr>
              <a:t>JSON.parse</a:t>
            </a:r>
            <a:r>
              <a:rPr lang="en-US" b="1" dirty="0">
                <a:solidFill>
                  <a:srgbClr val="0070C0"/>
                </a:solidFill>
              </a:rPr>
              <a:t>() </a:t>
            </a:r>
            <a:r>
              <a:rPr lang="en-US" dirty="0"/>
              <a:t>converts between Objects and JSON.</a:t>
            </a:r>
          </a:p>
          <a:p>
            <a:r>
              <a:rPr lang="en-US" dirty="0" err="1"/>
              <a:t>JSON.stringify</a:t>
            </a:r>
            <a:r>
              <a:rPr lang="en-US" dirty="0"/>
              <a:t>() converts a JavaScript object to a JSON string, and </a:t>
            </a:r>
            <a:r>
              <a:rPr lang="en-US" dirty="0" err="1"/>
              <a:t>JSON.parse</a:t>
            </a:r>
            <a:r>
              <a:rPr lang="en-US" dirty="0"/>
              <a:t>() parses a JSON string back into an object.</a:t>
            </a:r>
            <a:endParaRPr lang="en-GH" dirty="0"/>
          </a:p>
        </p:txBody>
      </p:sp>
      <p:pic>
        <p:nvPicPr>
          <p:cNvPr id="5" name="Picture 4">
            <a:extLst>
              <a:ext uri="{FF2B5EF4-FFF2-40B4-BE49-F238E27FC236}">
                <a16:creationId xmlns:a16="http://schemas.microsoft.com/office/drawing/2014/main" id="{97F2C722-5BD4-5CE7-B97A-C513DA384551}"/>
              </a:ext>
            </a:extLst>
          </p:cNvPr>
          <p:cNvPicPr>
            <a:picLocks noChangeAspect="1"/>
          </p:cNvPicPr>
          <p:nvPr/>
        </p:nvPicPr>
        <p:blipFill>
          <a:blip r:embed="rId2"/>
          <a:stretch>
            <a:fillRect/>
          </a:stretch>
        </p:blipFill>
        <p:spPr>
          <a:xfrm>
            <a:off x="259549" y="3130540"/>
            <a:ext cx="8662435" cy="2080818"/>
          </a:xfrm>
          <a:prstGeom prst="rect">
            <a:avLst/>
          </a:prstGeom>
        </p:spPr>
      </p:pic>
    </p:spTree>
    <p:extLst>
      <p:ext uri="{BB962C8B-B14F-4D97-AF65-F5344CB8AC3E}">
        <p14:creationId xmlns:p14="http://schemas.microsoft.com/office/powerpoint/2010/main" val="9517701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26E54-FE1F-24BB-C9A8-2132C8D7AC28}"/>
              </a:ext>
            </a:extLst>
          </p:cNvPr>
          <p:cNvSpPr>
            <a:spLocks noGrp="1"/>
          </p:cNvSpPr>
          <p:nvPr>
            <p:ph type="title"/>
          </p:nvPr>
        </p:nvSpPr>
        <p:spPr/>
        <p:txBody>
          <a:bodyPr/>
          <a:lstStyle/>
          <a:p>
            <a:r>
              <a:rPr lang="en-IN" dirty="0"/>
              <a:t>What is JSON?</a:t>
            </a:r>
            <a:endParaRPr lang="en-GH" dirty="0"/>
          </a:p>
        </p:txBody>
      </p:sp>
      <p:sp>
        <p:nvSpPr>
          <p:cNvPr id="3" name="Content Placeholder 2">
            <a:extLst>
              <a:ext uri="{FF2B5EF4-FFF2-40B4-BE49-F238E27FC236}">
                <a16:creationId xmlns:a16="http://schemas.microsoft.com/office/drawing/2014/main" id="{EB528ECD-2742-1638-F741-6B76B6091A3B}"/>
              </a:ext>
            </a:extLst>
          </p:cNvPr>
          <p:cNvSpPr>
            <a:spLocks noGrp="1"/>
          </p:cNvSpPr>
          <p:nvPr>
            <p:ph idx="1"/>
          </p:nvPr>
        </p:nvSpPr>
        <p:spPr/>
        <p:txBody>
          <a:bodyPr/>
          <a:lstStyle/>
          <a:p>
            <a:r>
              <a:rPr lang="en-IN" b="1" dirty="0"/>
              <a:t>JSON</a:t>
            </a:r>
            <a:r>
              <a:rPr lang="en-IN" dirty="0"/>
              <a:t> stands for </a:t>
            </a:r>
            <a:r>
              <a:rPr lang="en-IN" b="1" dirty="0"/>
              <a:t>JavaScript Object Notation</a:t>
            </a:r>
            <a:r>
              <a:rPr lang="en-IN" dirty="0"/>
              <a:t>.</a:t>
            </a:r>
            <a:endParaRPr lang="en-GH" dirty="0"/>
          </a:p>
          <a:p>
            <a:pPr algn="just"/>
            <a:r>
              <a:rPr lang="en-US" u="sng" dirty="0"/>
              <a:t>Data Interchange Format</a:t>
            </a:r>
            <a:r>
              <a:rPr lang="en-US" dirty="0"/>
              <a:t>: </a:t>
            </a:r>
          </a:p>
          <a:p>
            <a:pPr lvl="1"/>
            <a:r>
              <a:rPr lang="en-US" dirty="0"/>
              <a:t>JSON is primarily used to send data over the web, often in client-server communications (e.g., fetching data from an API).</a:t>
            </a:r>
          </a:p>
          <a:p>
            <a:r>
              <a:rPr lang="en-US" u="sng" dirty="0"/>
              <a:t>Language Independent</a:t>
            </a:r>
            <a:r>
              <a:rPr lang="en-US" dirty="0"/>
              <a:t>: </a:t>
            </a:r>
          </a:p>
          <a:p>
            <a:pPr lvl="1"/>
            <a:r>
              <a:rPr lang="en-US" dirty="0"/>
              <a:t>Although it's based on JavaScript object syntax, JSON is language-agnostic, meaning it can be used in many programming languages like Python, Java, C#, and others.</a:t>
            </a:r>
          </a:p>
          <a:p>
            <a:r>
              <a:rPr lang="en-US" u="sng" dirty="0"/>
              <a:t>Text-Based</a:t>
            </a:r>
            <a:r>
              <a:rPr lang="en-US" dirty="0"/>
              <a:t>: </a:t>
            </a:r>
          </a:p>
          <a:p>
            <a:pPr lvl="1"/>
            <a:r>
              <a:rPr lang="en-US" dirty="0"/>
              <a:t>JSON data is stored as text, making it easy to transmit over networks.</a:t>
            </a:r>
          </a:p>
        </p:txBody>
      </p:sp>
    </p:spTree>
    <p:extLst>
      <p:ext uri="{BB962C8B-B14F-4D97-AF65-F5344CB8AC3E}">
        <p14:creationId xmlns:p14="http://schemas.microsoft.com/office/powerpoint/2010/main" val="4407628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D8965-DF3A-DB72-5765-585198DE38E1}"/>
              </a:ext>
            </a:extLst>
          </p:cNvPr>
          <p:cNvSpPr>
            <a:spLocks noGrp="1"/>
          </p:cNvSpPr>
          <p:nvPr>
            <p:ph type="title"/>
          </p:nvPr>
        </p:nvSpPr>
        <p:spPr/>
        <p:txBody>
          <a:bodyPr/>
          <a:lstStyle/>
          <a:p>
            <a:r>
              <a:rPr lang="en-IN" dirty="0"/>
              <a:t>Example of JSON</a:t>
            </a:r>
            <a:endParaRPr lang="en-GH" dirty="0"/>
          </a:p>
        </p:txBody>
      </p:sp>
      <p:pic>
        <p:nvPicPr>
          <p:cNvPr id="5" name="Content Placeholder 4">
            <a:extLst>
              <a:ext uri="{FF2B5EF4-FFF2-40B4-BE49-F238E27FC236}">
                <a16:creationId xmlns:a16="http://schemas.microsoft.com/office/drawing/2014/main" id="{84ACDE1E-0536-AE98-154B-594038C5C6E5}"/>
              </a:ext>
            </a:extLst>
          </p:cNvPr>
          <p:cNvPicPr>
            <a:picLocks noGrp="1" noChangeAspect="1"/>
          </p:cNvPicPr>
          <p:nvPr>
            <p:ph idx="1"/>
          </p:nvPr>
        </p:nvPicPr>
        <p:blipFill>
          <a:blip r:embed="rId2"/>
          <a:stretch>
            <a:fillRect/>
          </a:stretch>
        </p:blipFill>
        <p:spPr>
          <a:xfrm>
            <a:off x="4089555" y="1798901"/>
            <a:ext cx="4789897" cy="4275860"/>
          </a:xfrm>
        </p:spPr>
      </p:pic>
      <p:sp>
        <p:nvSpPr>
          <p:cNvPr id="7" name="TextBox 6">
            <a:extLst>
              <a:ext uri="{FF2B5EF4-FFF2-40B4-BE49-F238E27FC236}">
                <a16:creationId xmlns:a16="http://schemas.microsoft.com/office/drawing/2014/main" id="{388A5789-B042-0F78-0A89-B8CE6B8A5F67}"/>
              </a:ext>
            </a:extLst>
          </p:cNvPr>
          <p:cNvSpPr txBox="1"/>
          <p:nvPr/>
        </p:nvSpPr>
        <p:spPr>
          <a:xfrm>
            <a:off x="240465" y="1674674"/>
            <a:ext cx="3672316" cy="4524315"/>
          </a:xfrm>
          <a:prstGeom prst="rect">
            <a:avLst/>
          </a:prstGeom>
          <a:noFill/>
        </p:spPr>
        <p:txBody>
          <a:bodyPr wrap="square">
            <a:spAutoFit/>
          </a:bodyPr>
          <a:lstStyle/>
          <a:p>
            <a:r>
              <a:rPr lang="en-US" sz="2400" b="1" dirty="0"/>
              <a:t>JSON Syntax</a:t>
            </a:r>
            <a:r>
              <a:rPr lang="en-US" sz="2400" dirty="0"/>
              <a:t>: </a:t>
            </a:r>
          </a:p>
          <a:p>
            <a:r>
              <a:rPr lang="en-US" sz="2400" dirty="0"/>
              <a:t>JSON data consists of key-value pairs. </a:t>
            </a:r>
          </a:p>
          <a:p>
            <a:endParaRPr lang="en-US" sz="2400" dirty="0"/>
          </a:p>
          <a:p>
            <a:r>
              <a:rPr lang="en-US" sz="2400" dirty="0"/>
              <a:t>Keys are always strings, and values can be strings, numbers, arrays, </a:t>
            </a:r>
            <a:r>
              <a:rPr lang="en-US" sz="2400" dirty="0" err="1"/>
              <a:t>booleans</a:t>
            </a:r>
            <a:r>
              <a:rPr lang="en-US" sz="2400" dirty="0"/>
              <a:t>, null, or other objects. </a:t>
            </a:r>
          </a:p>
          <a:p>
            <a:endParaRPr lang="en-US" sz="2400" dirty="0"/>
          </a:p>
          <a:p>
            <a:r>
              <a:rPr lang="en-US" sz="2400" dirty="0"/>
              <a:t>JSON uses curly braces { } to define objects and square brackets [ ] to define arrays.</a:t>
            </a:r>
          </a:p>
        </p:txBody>
      </p:sp>
    </p:spTree>
    <p:extLst>
      <p:ext uri="{BB962C8B-B14F-4D97-AF65-F5344CB8AC3E}">
        <p14:creationId xmlns:p14="http://schemas.microsoft.com/office/powerpoint/2010/main" val="40494941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02005-0543-01CF-4D44-510BF31735E4}"/>
              </a:ext>
            </a:extLst>
          </p:cNvPr>
          <p:cNvSpPr>
            <a:spLocks noGrp="1"/>
          </p:cNvSpPr>
          <p:nvPr>
            <p:ph type="title"/>
          </p:nvPr>
        </p:nvSpPr>
        <p:spPr/>
        <p:txBody>
          <a:bodyPr/>
          <a:lstStyle/>
          <a:p>
            <a:r>
              <a:rPr lang="en-IN" dirty="0"/>
              <a:t>A Simple Form Validation Exercise</a:t>
            </a:r>
            <a:endParaRPr lang="en-GH" dirty="0"/>
          </a:p>
        </p:txBody>
      </p:sp>
      <p:sp>
        <p:nvSpPr>
          <p:cNvPr id="3" name="Content Placeholder 2">
            <a:extLst>
              <a:ext uri="{FF2B5EF4-FFF2-40B4-BE49-F238E27FC236}">
                <a16:creationId xmlns:a16="http://schemas.microsoft.com/office/drawing/2014/main" id="{38C42E19-DEAF-46B8-C7EB-C53C590947A0}"/>
              </a:ext>
            </a:extLst>
          </p:cNvPr>
          <p:cNvSpPr>
            <a:spLocks noGrp="1"/>
          </p:cNvSpPr>
          <p:nvPr>
            <p:ph idx="1"/>
          </p:nvPr>
        </p:nvSpPr>
        <p:spPr/>
        <p:txBody>
          <a:bodyPr/>
          <a:lstStyle/>
          <a:p>
            <a:r>
              <a:rPr lang="en-IN" dirty="0"/>
              <a:t>Create a form that accepts the user name as input. If the user enters the name and clicks submit, no error occurs. If the user clicks the submit button without a name, an alert message should be generated indicating the error.</a:t>
            </a:r>
            <a:endParaRPr lang="en-GH" dirty="0"/>
          </a:p>
        </p:txBody>
      </p:sp>
    </p:spTree>
    <p:extLst>
      <p:ext uri="{BB962C8B-B14F-4D97-AF65-F5344CB8AC3E}">
        <p14:creationId xmlns:p14="http://schemas.microsoft.com/office/powerpoint/2010/main" val="3385715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9736C-B29F-283F-19B0-95B27029BFF1}"/>
              </a:ext>
            </a:extLst>
          </p:cNvPr>
          <p:cNvSpPr>
            <a:spLocks noGrp="1"/>
          </p:cNvSpPr>
          <p:nvPr>
            <p:ph type="title"/>
          </p:nvPr>
        </p:nvSpPr>
        <p:spPr/>
        <p:txBody>
          <a:bodyPr/>
          <a:lstStyle/>
          <a:p>
            <a:r>
              <a:rPr lang="en-IN" dirty="0"/>
              <a:t>Practice (Homework)</a:t>
            </a:r>
            <a:endParaRPr lang="en-GH" dirty="0"/>
          </a:p>
        </p:txBody>
      </p:sp>
      <p:sp>
        <p:nvSpPr>
          <p:cNvPr id="3" name="Content Placeholder 2">
            <a:extLst>
              <a:ext uri="{FF2B5EF4-FFF2-40B4-BE49-F238E27FC236}">
                <a16:creationId xmlns:a16="http://schemas.microsoft.com/office/drawing/2014/main" id="{18D6F677-CCBF-C41B-7D07-CA7FC8A2D1DF}"/>
              </a:ext>
            </a:extLst>
          </p:cNvPr>
          <p:cNvSpPr>
            <a:spLocks noGrp="1"/>
          </p:cNvSpPr>
          <p:nvPr>
            <p:ph idx="1"/>
          </p:nvPr>
        </p:nvSpPr>
        <p:spPr/>
        <p:txBody>
          <a:bodyPr/>
          <a:lstStyle/>
          <a:p>
            <a:r>
              <a:rPr lang="en-US" dirty="0"/>
              <a:t>Create a simple function-based calculator that adds, subtracts, multiplies, and divides two numbers.</a:t>
            </a:r>
          </a:p>
          <a:p>
            <a:r>
              <a:rPr lang="en-US" dirty="0"/>
              <a:t>There will be three input fields (for two operands and result) with 6 buttons: Add, Sub, Mul, Div, Result, and Reset. </a:t>
            </a:r>
          </a:p>
          <a:p>
            <a:r>
              <a:rPr lang="en-US" dirty="0"/>
              <a:t>When the user enters values and presses an appropriate button, the calculator behaves correctly.</a:t>
            </a:r>
            <a:endParaRPr lang="en-GH" dirty="0"/>
          </a:p>
        </p:txBody>
      </p:sp>
    </p:spTree>
    <p:extLst>
      <p:ext uri="{BB962C8B-B14F-4D97-AF65-F5344CB8AC3E}">
        <p14:creationId xmlns:p14="http://schemas.microsoft.com/office/powerpoint/2010/main" val="23676930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B4D3B-8255-1948-4EC3-A2F03C616377}"/>
              </a:ext>
            </a:extLst>
          </p:cNvPr>
          <p:cNvSpPr>
            <a:spLocks noGrp="1"/>
          </p:cNvSpPr>
          <p:nvPr>
            <p:ph type="title"/>
          </p:nvPr>
        </p:nvSpPr>
        <p:spPr/>
        <p:txBody>
          <a:bodyPr/>
          <a:lstStyle/>
          <a:p>
            <a:r>
              <a:rPr lang="en-IN" dirty="0"/>
              <a:t>DOM Manipulation Functions (Exercise)</a:t>
            </a:r>
            <a:endParaRPr lang="en-GH" dirty="0"/>
          </a:p>
        </p:txBody>
      </p:sp>
      <p:sp>
        <p:nvSpPr>
          <p:cNvPr id="3" name="Content Placeholder 2">
            <a:extLst>
              <a:ext uri="{FF2B5EF4-FFF2-40B4-BE49-F238E27FC236}">
                <a16:creationId xmlns:a16="http://schemas.microsoft.com/office/drawing/2014/main" id="{A7DB67AE-3BF4-837F-503A-C2EBB30045FC}"/>
              </a:ext>
            </a:extLst>
          </p:cNvPr>
          <p:cNvSpPr>
            <a:spLocks noGrp="1"/>
          </p:cNvSpPr>
          <p:nvPr>
            <p:ph idx="1"/>
          </p:nvPr>
        </p:nvSpPr>
        <p:spPr/>
        <p:txBody>
          <a:bodyPr/>
          <a:lstStyle/>
          <a:p>
            <a:r>
              <a:rPr lang="en-IN" dirty="0"/>
              <a:t>Take this as homework.</a:t>
            </a:r>
          </a:p>
          <a:p>
            <a:r>
              <a:rPr lang="en-IN" dirty="0"/>
              <a:t>Create a list of commonly used DOM manipulation functions and state their use with an example.</a:t>
            </a:r>
            <a:endParaRPr lang="en-GH" dirty="0"/>
          </a:p>
        </p:txBody>
      </p:sp>
    </p:spTree>
    <p:extLst>
      <p:ext uri="{BB962C8B-B14F-4D97-AF65-F5344CB8AC3E}">
        <p14:creationId xmlns:p14="http://schemas.microsoft.com/office/powerpoint/2010/main" val="30620479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A95E8-D073-BB79-4D5E-890A35CF6B3E}"/>
              </a:ext>
            </a:extLst>
          </p:cNvPr>
          <p:cNvSpPr>
            <a:spLocks noGrp="1"/>
          </p:cNvSpPr>
          <p:nvPr>
            <p:ph type="title"/>
          </p:nvPr>
        </p:nvSpPr>
        <p:spPr/>
        <p:txBody>
          <a:bodyPr/>
          <a:lstStyle/>
          <a:p>
            <a:r>
              <a:rPr lang="en-IN" dirty="0"/>
              <a:t>Events</a:t>
            </a:r>
            <a:endParaRPr lang="en-GH" dirty="0"/>
          </a:p>
        </p:txBody>
      </p:sp>
      <p:sp>
        <p:nvSpPr>
          <p:cNvPr id="3" name="Content Placeholder 2">
            <a:extLst>
              <a:ext uri="{FF2B5EF4-FFF2-40B4-BE49-F238E27FC236}">
                <a16:creationId xmlns:a16="http://schemas.microsoft.com/office/drawing/2014/main" id="{C9ADBF16-4D7E-13C4-67CC-C338D5321040}"/>
              </a:ext>
            </a:extLst>
          </p:cNvPr>
          <p:cNvSpPr>
            <a:spLocks noGrp="1"/>
          </p:cNvSpPr>
          <p:nvPr>
            <p:ph idx="1"/>
          </p:nvPr>
        </p:nvSpPr>
        <p:spPr/>
        <p:txBody>
          <a:bodyPr/>
          <a:lstStyle/>
          <a:p>
            <a:r>
              <a:rPr lang="en-US" dirty="0"/>
              <a:t>An </a:t>
            </a:r>
            <a:r>
              <a:rPr lang="en-US" b="1" dirty="0">
                <a:solidFill>
                  <a:srgbClr val="FF0066"/>
                </a:solidFill>
              </a:rPr>
              <a:t>event</a:t>
            </a:r>
            <a:r>
              <a:rPr lang="en-US" dirty="0"/>
              <a:t> is </a:t>
            </a:r>
            <a:r>
              <a:rPr lang="en-US" u="sng" dirty="0"/>
              <a:t>an action or occurrence </a:t>
            </a:r>
            <a:r>
              <a:rPr lang="en-US" dirty="0"/>
              <a:t>that happens in the browser, such as clicking a button, hovering over an element, typing in a text box, submitting a form, etc. </a:t>
            </a:r>
          </a:p>
          <a:p>
            <a:r>
              <a:rPr lang="en-US" dirty="0"/>
              <a:t>JavaScript can respond to these events by executing code, which allows developers to create interactive experiences.</a:t>
            </a:r>
          </a:p>
          <a:p>
            <a:endParaRPr lang="en-US" dirty="0"/>
          </a:p>
          <a:p>
            <a:r>
              <a:rPr lang="en-US" b="1" dirty="0">
                <a:solidFill>
                  <a:srgbClr val="002060"/>
                </a:solidFill>
              </a:rPr>
              <a:t>Examples of Common Events</a:t>
            </a:r>
            <a:r>
              <a:rPr lang="en-US" b="1" dirty="0"/>
              <a:t>:</a:t>
            </a:r>
          </a:p>
          <a:p>
            <a:pPr marL="457200" lvl="1" indent="0">
              <a:buNone/>
            </a:pPr>
            <a:r>
              <a:rPr lang="en-US" b="1" dirty="0"/>
              <a:t>Click</a:t>
            </a:r>
            <a:r>
              <a:rPr lang="en-US" dirty="0"/>
              <a:t>: Triggered when a user clicks on an element (e.g., a button).</a:t>
            </a:r>
          </a:p>
          <a:p>
            <a:pPr marL="457200" lvl="1" indent="0">
              <a:buNone/>
            </a:pPr>
            <a:r>
              <a:rPr lang="en-US" b="1" dirty="0"/>
              <a:t>Keypress</a:t>
            </a:r>
            <a:r>
              <a:rPr lang="en-US" dirty="0"/>
              <a:t>: Triggered when the user presses a key on the keyboard.</a:t>
            </a:r>
          </a:p>
          <a:p>
            <a:pPr marL="457200" lvl="1" indent="0">
              <a:buNone/>
            </a:pPr>
            <a:r>
              <a:rPr lang="en-US" b="1" dirty="0"/>
              <a:t>Mouseover</a:t>
            </a:r>
            <a:r>
              <a:rPr lang="en-US" dirty="0"/>
              <a:t>: Triggered when the mouse pointer hovers over an element.</a:t>
            </a:r>
          </a:p>
          <a:p>
            <a:pPr marL="457200" lvl="1" indent="0">
              <a:buNone/>
            </a:pPr>
            <a:r>
              <a:rPr lang="en-US" b="1" dirty="0"/>
              <a:t>Submit</a:t>
            </a:r>
            <a:r>
              <a:rPr lang="en-US" dirty="0"/>
              <a:t>: Triggered when a form is submitted.</a:t>
            </a:r>
          </a:p>
          <a:p>
            <a:endParaRPr lang="en-GH" dirty="0"/>
          </a:p>
        </p:txBody>
      </p:sp>
    </p:spTree>
    <p:extLst>
      <p:ext uri="{BB962C8B-B14F-4D97-AF65-F5344CB8AC3E}">
        <p14:creationId xmlns:p14="http://schemas.microsoft.com/office/powerpoint/2010/main" val="5974341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A95E8-D073-BB79-4D5E-890A35CF6B3E}"/>
              </a:ext>
            </a:extLst>
          </p:cNvPr>
          <p:cNvSpPr>
            <a:spLocks noGrp="1"/>
          </p:cNvSpPr>
          <p:nvPr>
            <p:ph type="title"/>
          </p:nvPr>
        </p:nvSpPr>
        <p:spPr/>
        <p:txBody>
          <a:bodyPr/>
          <a:lstStyle/>
          <a:p>
            <a:r>
              <a:rPr lang="en-IN" dirty="0"/>
              <a:t>Event Handling</a:t>
            </a:r>
            <a:endParaRPr lang="en-GH" dirty="0"/>
          </a:p>
        </p:txBody>
      </p:sp>
      <p:sp>
        <p:nvSpPr>
          <p:cNvPr id="3" name="Content Placeholder 2">
            <a:extLst>
              <a:ext uri="{FF2B5EF4-FFF2-40B4-BE49-F238E27FC236}">
                <a16:creationId xmlns:a16="http://schemas.microsoft.com/office/drawing/2014/main" id="{C9ADBF16-4D7E-13C4-67CC-C338D5321040}"/>
              </a:ext>
            </a:extLst>
          </p:cNvPr>
          <p:cNvSpPr>
            <a:spLocks noGrp="1"/>
          </p:cNvSpPr>
          <p:nvPr>
            <p:ph idx="1"/>
          </p:nvPr>
        </p:nvSpPr>
        <p:spPr/>
        <p:txBody>
          <a:bodyPr/>
          <a:lstStyle/>
          <a:p>
            <a:r>
              <a:rPr lang="en-US" dirty="0"/>
              <a:t>Event handling refers to capturing the events and executing JavaScript code in response to them. </a:t>
            </a:r>
          </a:p>
          <a:p>
            <a:r>
              <a:rPr lang="en-US" dirty="0"/>
              <a:t>The function that handles an event is called an </a:t>
            </a:r>
            <a:r>
              <a:rPr lang="en-US" b="1" dirty="0">
                <a:solidFill>
                  <a:srgbClr val="FF0066"/>
                </a:solidFill>
              </a:rPr>
              <a:t>event handler </a:t>
            </a:r>
            <a:r>
              <a:rPr lang="en-US" dirty="0"/>
              <a:t>or </a:t>
            </a:r>
            <a:r>
              <a:rPr lang="en-US" b="1" dirty="0">
                <a:solidFill>
                  <a:srgbClr val="FF0066"/>
                </a:solidFill>
              </a:rPr>
              <a:t>event listener</a:t>
            </a:r>
            <a:r>
              <a:rPr lang="en-US" dirty="0"/>
              <a:t>.</a:t>
            </a:r>
            <a:endParaRPr lang="en-GH" dirty="0"/>
          </a:p>
        </p:txBody>
      </p:sp>
    </p:spTree>
    <p:extLst>
      <p:ext uri="{BB962C8B-B14F-4D97-AF65-F5344CB8AC3E}">
        <p14:creationId xmlns:p14="http://schemas.microsoft.com/office/powerpoint/2010/main" val="34443113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A95E8-D073-BB79-4D5E-890A35CF6B3E}"/>
              </a:ext>
            </a:extLst>
          </p:cNvPr>
          <p:cNvSpPr>
            <a:spLocks noGrp="1"/>
          </p:cNvSpPr>
          <p:nvPr>
            <p:ph type="title"/>
          </p:nvPr>
        </p:nvSpPr>
        <p:spPr/>
        <p:txBody>
          <a:bodyPr/>
          <a:lstStyle/>
          <a:p>
            <a:r>
              <a:rPr lang="en-IN" dirty="0"/>
              <a:t>Event Handling</a:t>
            </a:r>
            <a:endParaRPr lang="en-GH" dirty="0"/>
          </a:p>
        </p:txBody>
      </p:sp>
      <p:sp>
        <p:nvSpPr>
          <p:cNvPr id="3" name="Content Placeholder 2">
            <a:extLst>
              <a:ext uri="{FF2B5EF4-FFF2-40B4-BE49-F238E27FC236}">
                <a16:creationId xmlns:a16="http://schemas.microsoft.com/office/drawing/2014/main" id="{C9ADBF16-4D7E-13C4-67CC-C338D5321040}"/>
              </a:ext>
            </a:extLst>
          </p:cNvPr>
          <p:cNvSpPr>
            <a:spLocks noGrp="1"/>
          </p:cNvSpPr>
          <p:nvPr>
            <p:ph idx="1"/>
          </p:nvPr>
        </p:nvSpPr>
        <p:spPr/>
        <p:txBody>
          <a:bodyPr/>
          <a:lstStyle/>
          <a:p>
            <a:r>
              <a:rPr lang="en-US" b="1" dirty="0">
                <a:solidFill>
                  <a:srgbClr val="002060"/>
                </a:solidFill>
              </a:rPr>
              <a:t>Ways to attach event handler</a:t>
            </a:r>
            <a:r>
              <a:rPr lang="en-US" dirty="0"/>
              <a:t>:</a:t>
            </a:r>
          </a:p>
          <a:p>
            <a:pPr marL="457200" indent="-457200">
              <a:buFont typeface="+mj-lt"/>
              <a:buAutoNum type="arabicParenR"/>
            </a:pPr>
            <a:r>
              <a:rPr lang="en-US" u="sng" dirty="0"/>
              <a:t>Inline HTML Attribute</a:t>
            </a:r>
            <a:r>
              <a:rPr lang="en-US" dirty="0"/>
              <a:t>: Use HTML attributes directly (like onclick, </a:t>
            </a:r>
            <a:r>
              <a:rPr lang="en-US" dirty="0" err="1"/>
              <a:t>onmouseover</a:t>
            </a:r>
            <a:r>
              <a:rPr lang="en-US" dirty="0"/>
              <a:t>, etc.), to call a function when an event occurs.</a:t>
            </a:r>
          </a:p>
          <a:p>
            <a:pPr marL="457200" indent="-457200">
              <a:buFont typeface="+mj-lt"/>
              <a:buAutoNum type="arabicParenR"/>
            </a:pPr>
            <a:endParaRPr lang="en-US" dirty="0"/>
          </a:p>
          <a:p>
            <a:pPr marL="914400" lvl="1" indent="-457200">
              <a:buFont typeface="+mj-lt"/>
              <a:buAutoNum type="arabicPeriod"/>
            </a:pPr>
            <a:endParaRPr lang="en-US" dirty="0"/>
          </a:p>
          <a:p>
            <a:pPr marL="457200" lvl="1" indent="0">
              <a:buNone/>
            </a:pPr>
            <a:r>
              <a:rPr lang="en-US" dirty="0"/>
              <a:t>Attaches the onclick event handler to the button element, which will trigger an alert when clicked.</a:t>
            </a:r>
          </a:p>
        </p:txBody>
      </p:sp>
      <p:pic>
        <p:nvPicPr>
          <p:cNvPr id="5" name="Picture 4">
            <a:extLst>
              <a:ext uri="{FF2B5EF4-FFF2-40B4-BE49-F238E27FC236}">
                <a16:creationId xmlns:a16="http://schemas.microsoft.com/office/drawing/2014/main" id="{165D3BFB-0CB4-D6F0-F141-E208D050E58E}"/>
              </a:ext>
            </a:extLst>
          </p:cNvPr>
          <p:cNvPicPr>
            <a:picLocks noChangeAspect="1"/>
          </p:cNvPicPr>
          <p:nvPr/>
        </p:nvPicPr>
        <p:blipFill>
          <a:blip r:embed="rId2"/>
          <a:stretch>
            <a:fillRect/>
          </a:stretch>
        </p:blipFill>
        <p:spPr>
          <a:xfrm>
            <a:off x="750561" y="2742400"/>
            <a:ext cx="7186659" cy="372940"/>
          </a:xfrm>
          <a:prstGeom prst="rect">
            <a:avLst/>
          </a:prstGeom>
        </p:spPr>
      </p:pic>
      <p:cxnSp>
        <p:nvCxnSpPr>
          <p:cNvPr id="8" name="Straight Arrow Connector 7">
            <a:extLst>
              <a:ext uri="{FF2B5EF4-FFF2-40B4-BE49-F238E27FC236}">
                <a16:creationId xmlns:a16="http://schemas.microsoft.com/office/drawing/2014/main" id="{391C46E2-E205-0DC3-4686-AF1060FFA188}"/>
              </a:ext>
            </a:extLst>
          </p:cNvPr>
          <p:cNvCxnSpPr/>
          <p:nvPr/>
        </p:nvCxnSpPr>
        <p:spPr>
          <a:xfrm flipH="1">
            <a:off x="2923953" y="3200400"/>
            <a:ext cx="212652"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90253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A95E8-D073-BB79-4D5E-890A35CF6B3E}"/>
              </a:ext>
            </a:extLst>
          </p:cNvPr>
          <p:cNvSpPr>
            <a:spLocks noGrp="1"/>
          </p:cNvSpPr>
          <p:nvPr>
            <p:ph type="title"/>
          </p:nvPr>
        </p:nvSpPr>
        <p:spPr/>
        <p:txBody>
          <a:bodyPr/>
          <a:lstStyle/>
          <a:p>
            <a:r>
              <a:rPr lang="en-IN" dirty="0"/>
              <a:t>Event Handling</a:t>
            </a:r>
            <a:endParaRPr lang="en-GH" dirty="0"/>
          </a:p>
        </p:txBody>
      </p:sp>
      <p:sp>
        <p:nvSpPr>
          <p:cNvPr id="3" name="Content Placeholder 2">
            <a:extLst>
              <a:ext uri="{FF2B5EF4-FFF2-40B4-BE49-F238E27FC236}">
                <a16:creationId xmlns:a16="http://schemas.microsoft.com/office/drawing/2014/main" id="{C9ADBF16-4D7E-13C4-67CC-C338D5321040}"/>
              </a:ext>
            </a:extLst>
          </p:cNvPr>
          <p:cNvSpPr>
            <a:spLocks noGrp="1"/>
          </p:cNvSpPr>
          <p:nvPr>
            <p:ph idx="1"/>
          </p:nvPr>
        </p:nvSpPr>
        <p:spPr/>
        <p:txBody>
          <a:bodyPr/>
          <a:lstStyle/>
          <a:p>
            <a:r>
              <a:rPr lang="en-US" b="1" dirty="0">
                <a:solidFill>
                  <a:srgbClr val="002060"/>
                </a:solidFill>
              </a:rPr>
              <a:t>Ways to attach event handler</a:t>
            </a:r>
            <a:r>
              <a:rPr lang="en-US" dirty="0"/>
              <a:t>:</a:t>
            </a:r>
          </a:p>
          <a:p>
            <a:pPr marL="457200" indent="-457200">
              <a:buFont typeface="+mj-lt"/>
              <a:buAutoNum type="arabicParenR" startAt="2"/>
            </a:pPr>
            <a:r>
              <a:rPr lang="en-US" u="sng" dirty="0"/>
              <a:t>JavaScript Event Listener </a:t>
            </a:r>
            <a:r>
              <a:rPr lang="en-US" dirty="0"/>
              <a:t>(Recommended): Use </a:t>
            </a:r>
            <a:r>
              <a:rPr lang="en-US" b="1" dirty="0" err="1"/>
              <a:t>addEventListener</a:t>
            </a:r>
            <a:r>
              <a:rPr lang="en-US" b="1" dirty="0"/>
              <a:t>() </a:t>
            </a:r>
            <a:r>
              <a:rPr lang="en-US" dirty="0"/>
              <a:t>which allows multiple events to be attached to the same element and keeps the JavaScript logic separate from HTML.</a:t>
            </a:r>
          </a:p>
          <a:p>
            <a:pPr marL="0" indent="0">
              <a:buNone/>
            </a:pPr>
            <a:endParaRPr lang="en-GH" dirty="0"/>
          </a:p>
        </p:txBody>
      </p:sp>
      <p:pic>
        <p:nvPicPr>
          <p:cNvPr id="6" name="Picture 5">
            <a:extLst>
              <a:ext uri="{FF2B5EF4-FFF2-40B4-BE49-F238E27FC236}">
                <a16:creationId xmlns:a16="http://schemas.microsoft.com/office/drawing/2014/main" id="{4D31040E-FCF8-25DF-9C31-2D96576C8228}"/>
              </a:ext>
            </a:extLst>
          </p:cNvPr>
          <p:cNvPicPr>
            <a:picLocks noChangeAspect="1"/>
          </p:cNvPicPr>
          <p:nvPr/>
        </p:nvPicPr>
        <p:blipFill>
          <a:blip r:embed="rId2"/>
          <a:stretch>
            <a:fillRect/>
          </a:stretch>
        </p:blipFill>
        <p:spPr>
          <a:xfrm>
            <a:off x="1159465" y="3310798"/>
            <a:ext cx="6825069" cy="3018382"/>
          </a:xfrm>
          <a:prstGeom prst="rect">
            <a:avLst/>
          </a:prstGeom>
        </p:spPr>
      </p:pic>
    </p:spTree>
    <p:extLst>
      <p:ext uri="{BB962C8B-B14F-4D97-AF65-F5344CB8AC3E}">
        <p14:creationId xmlns:p14="http://schemas.microsoft.com/office/powerpoint/2010/main" val="14943823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3136-2835-0267-C79C-5284CECFD6E3}"/>
              </a:ext>
            </a:extLst>
          </p:cNvPr>
          <p:cNvSpPr>
            <a:spLocks noGrp="1"/>
          </p:cNvSpPr>
          <p:nvPr>
            <p:ph type="title"/>
          </p:nvPr>
        </p:nvSpPr>
        <p:spPr/>
        <p:txBody>
          <a:bodyPr/>
          <a:lstStyle/>
          <a:p>
            <a:r>
              <a:rPr lang="en-IN" dirty="0"/>
              <a:t>Event Handling: Common Event Types</a:t>
            </a:r>
            <a:endParaRPr lang="en-GH" dirty="0"/>
          </a:p>
        </p:txBody>
      </p:sp>
      <p:sp>
        <p:nvSpPr>
          <p:cNvPr id="3" name="Content Placeholder 2">
            <a:extLst>
              <a:ext uri="{FF2B5EF4-FFF2-40B4-BE49-F238E27FC236}">
                <a16:creationId xmlns:a16="http://schemas.microsoft.com/office/drawing/2014/main" id="{9AE389AF-0679-32E8-57B1-30293B28CC00}"/>
              </a:ext>
            </a:extLst>
          </p:cNvPr>
          <p:cNvSpPr>
            <a:spLocks noGrp="1"/>
          </p:cNvSpPr>
          <p:nvPr>
            <p:ph idx="1"/>
          </p:nvPr>
        </p:nvSpPr>
        <p:spPr>
          <a:xfrm>
            <a:off x="240465" y="1407305"/>
            <a:ext cx="8681519" cy="4943141"/>
          </a:xfrm>
        </p:spPr>
        <p:txBody>
          <a:bodyPr/>
          <a:lstStyle/>
          <a:p>
            <a:r>
              <a:rPr lang="en-US" dirty="0">
                <a:solidFill>
                  <a:srgbClr val="0070C0"/>
                </a:solidFill>
              </a:rPr>
              <a:t>Mouse Events</a:t>
            </a:r>
            <a:r>
              <a:rPr lang="en-US" dirty="0"/>
              <a:t>:</a:t>
            </a:r>
          </a:p>
          <a:p>
            <a:pPr>
              <a:spcBef>
                <a:spcPts val="600"/>
              </a:spcBef>
              <a:buFont typeface="Wingdings" panose="05000000000000000000" pitchFamily="2" charset="2"/>
              <a:buChar char="ü"/>
            </a:pPr>
            <a:r>
              <a:rPr lang="en-US" dirty="0">
                <a:solidFill>
                  <a:srgbClr val="FF0066"/>
                </a:solidFill>
              </a:rPr>
              <a:t>click</a:t>
            </a:r>
            <a:r>
              <a:rPr lang="en-US" dirty="0"/>
              <a:t>: Triggered when an element is clicked.</a:t>
            </a:r>
          </a:p>
          <a:p>
            <a:pPr>
              <a:spcBef>
                <a:spcPts val="600"/>
              </a:spcBef>
              <a:buFont typeface="Wingdings" panose="05000000000000000000" pitchFamily="2" charset="2"/>
              <a:buChar char="ü"/>
            </a:pPr>
            <a:r>
              <a:rPr lang="en-US" dirty="0" err="1">
                <a:solidFill>
                  <a:srgbClr val="FF0066"/>
                </a:solidFill>
              </a:rPr>
              <a:t>dblclick</a:t>
            </a:r>
            <a:r>
              <a:rPr lang="en-US" dirty="0"/>
              <a:t>: Triggered when an element is double-clicked.</a:t>
            </a:r>
          </a:p>
          <a:p>
            <a:pPr>
              <a:spcBef>
                <a:spcPts val="600"/>
              </a:spcBef>
              <a:buFont typeface="Wingdings" panose="05000000000000000000" pitchFamily="2" charset="2"/>
              <a:buChar char="ü"/>
            </a:pPr>
            <a:r>
              <a:rPr lang="en-US" dirty="0">
                <a:solidFill>
                  <a:srgbClr val="FF0066"/>
                </a:solidFill>
              </a:rPr>
              <a:t>mouseover</a:t>
            </a:r>
            <a:r>
              <a:rPr lang="en-US" dirty="0"/>
              <a:t>: Triggered when the mouse pointer moves over an element.</a:t>
            </a:r>
          </a:p>
          <a:p>
            <a:pPr>
              <a:spcBef>
                <a:spcPts val="600"/>
              </a:spcBef>
              <a:buFont typeface="Wingdings" panose="05000000000000000000" pitchFamily="2" charset="2"/>
              <a:buChar char="ü"/>
            </a:pPr>
            <a:r>
              <a:rPr lang="en-US" dirty="0" err="1">
                <a:solidFill>
                  <a:srgbClr val="FF0066"/>
                </a:solidFill>
              </a:rPr>
              <a:t>mouseout</a:t>
            </a:r>
            <a:r>
              <a:rPr lang="en-US" dirty="0"/>
              <a:t>: Triggered when the mouse pointer moves away from an element.</a:t>
            </a:r>
          </a:p>
          <a:p>
            <a:r>
              <a:rPr lang="en-US" dirty="0">
                <a:solidFill>
                  <a:srgbClr val="0070C0"/>
                </a:solidFill>
              </a:rPr>
              <a:t>Keyboard Events</a:t>
            </a:r>
            <a:r>
              <a:rPr lang="en-US" dirty="0"/>
              <a:t>:</a:t>
            </a:r>
          </a:p>
          <a:p>
            <a:pPr>
              <a:spcBef>
                <a:spcPts val="600"/>
              </a:spcBef>
              <a:buFont typeface="Wingdings" panose="05000000000000000000" pitchFamily="2" charset="2"/>
              <a:buChar char="ü"/>
            </a:pPr>
            <a:r>
              <a:rPr lang="en-US" dirty="0" err="1">
                <a:solidFill>
                  <a:srgbClr val="FF0066"/>
                </a:solidFill>
              </a:rPr>
              <a:t>keydown</a:t>
            </a:r>
            <a:r>
              <a:rPr lang="en-US" dirty="0"/>
              <a:t>: Triggered when a key is pressed down.</a:t>
            </a:r>
          </a:p>
          <a:p>
            <a:pPr>
              <a:spcBef>
                <a:spcPts val="600"/>
              </a:spcBef>
              <a:buFont typeface="Wingdings" panose="05000000000000000000" pitchFamily="2" charset="2"/>
              <a:buChar char="ü"/>
            </a:pPr>
            <a:r>
              <a:rPr lang="en-US" dirty="0" err="1">
                <a:solidFill>
                  <a:srgbClr val="FF0066"/>
                </a:solidFill>
              </a:rPr>
              <a:t>keyup</a:t>
            </a:r>
            <a:r>
              <a:rPr lang="en-US" dirty="0"/>
              <a:t>: Triggered when a key is released.</a:t>
            </a:r>
          </a:p>
          <a:p>
            <a:pPr>
              <a:spcBef>
                <a:spcPts val="600"/>
              </a:spcBef>
              <a:buFont typeface="Wingdings" panose="05000000000000000000" pitchFamily="2" charset="2"/>
              <a:buChar char="ü"/>
            </a:pPr>
            <a:r>
              <a:rPr lang="en-US" dirty="0">
                <a:solidFill>
                  <a:srgbClr val="FF0066"/>
                </a:solidFill>
              </a:rPr>
              <a:t>keypress</a:t>
            </a:r>
            <a:r>
              <a:rPr lang="en-US" dirty="0"/>
              <a:t>: Triggered when a key is pressed (deprecated in modern browsers; use </a:t>
            </a:r>
            <a:r>
              <a:rPr lang="en-US" dirty="0" err="1"/>
              <a:t>keydown</a:t>
            </a:r>
            <a:r>
              <a:rPr lang="en-US" dirty="0"/>
              <a:t>).</a:t>
            </a:r>
          </a:p>
        </p:txBody>
      </p:sp>
    </p:spTree>
    <p:extLst>
      <p:ext uri="{BB962C8B-B14F-4D97-AF65-F5344CB8AC3E}">
        <p14:creationId xmlns:p14="http://schemas.microsoft.com/office/powerpoint/2010/main" val="19165463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3136-2835-0267-C79C-5284CECFD6E3}"/>
              </a:ext>
            </a:extLst>
          </p:cNvPr>
          <p:cNvSpPr>
            <a:spLocks noGrp="1"/>
          </p:cNvSpPr>
          <p:nvPr>
            <p:ph type="title"/>
          </p:nvPr>
        </p:nvSpPr>
        <p:spPr/>
        <p:txBody>
          <a:bodyPr/>
          <a:lstStyle/>
          <a:p>
            <a:r>
              <a:rPr lang="en-IN" dirty="0"/>
              <a:t>Event Handling: Common Event Types</a:t>
            </a:r>
            <a:endParaRPr lang="en-GH" dirty="0"/>
          </a:p>
        </p:txBody>
      </p:sp>
      <p:sp>
        <p:nvSpPr>
          <p:cNvPr id="3" name="Content Placeholder 2">
            <a:extLst>
              <a:ext uri="{FF2B5EF4-FFF2-40B4-BE49-F238E27FC236}">
                <a16:creationId xmlns:a16="http://schemas.microsoft.com/office/drawing/2014/main" id="{9AE389AF-0679-32E8-57B1-30293B28CC00}"/>
              </a:ext>
            </a:extLst>
          </p:cNvPr>
          <p:cNvSpPr>
            <a:spLocks noGrp="1"/>
          </p:cNvSpPr>
          <p:nvPr>
            <p:ph idx="1"/>
          </p:nvPr>
        </p:nvSpPr>
        <p:spPr>
          <a:xfrm>
            <a:off x="240465" y="1407305"/>
            <a:ext cx="8681519" cy="4943141"/>
          </a:xfrm>
        </p:spPr>
        <p:txBody>
          <a:bodyPr/>
          <a:lstStyle/>
          <a:p>
            <a:pPr marL="0" indent="0">
              <a:buNone/>
            </a:pPr>
            <a:r>
              <a:rPr lang="en-US" dirty="0">
                <a:solidFill>
                  <a:srgbClr val="0070C0"/>
                </a:solidFill>
              </a:rPr>
              <a:t>Form Events</a:t>
            </a:r>
            <a:r>
              <a:rPr lang="en-US" dirty="0"/>
              <a:t>:</a:t>
            </a:r>
          </a:p>
          <a:p>
            <a:pPr>
              <a:spcBef>
                <a:spcPts val="600"/>
              </a:spcBef>
              <a:buFont typeface="Wingdings" panose="05000000000000000000" pitchFamily="2" charset="2"/>
              <a:buChar char="ü"/>
            </a:pPr>
            <a:r>
              <a:rPr lang="en-US" dirty="0">
                <a:solidFill>
                  <a:srgbClr val="FF0066"/>
                </a:solidFill>
              </a:rPr>
              <a:t>submit</a:t>
            </a:r>
            <a:r>
              <a:rPr lang="en-US" dirty="0"/>
              <a:t>: Triggered when a form is submitted.</a:t>
            </a:r>
          </a:p>
          <a:p>
            <a:pPr>
              <a:spcBef>
                <a:spcPts val="600"/>
              </a:spcBef>
              <a:buFont typeface="Wingdings" panose="05000000000000000000" pitchFamily="2" charset="2"/>
              <a:buChar char="ü"/>
            </a:pPr>
            <a:r>
              <a:rPr lang="en-US" dirty="0">
                <a:solidFill>
                  <a:srgbClr val="FF0066"/>
                </a:solidFill>
              </a:rPr>
              <a:t>focus</a:t>
            </a:r>
            <a:r>
              <a:rPr lang="en-US" dirty="0"/>
              <a:t>: Triggered when an element gains focus (e.g., when a text input is clicked).</a:t>
            </a:r>
          </a:p>
          <a:p>
            <a:pPr>
              <a:spcBef>
                <a:spcPts val="600"/>
              </a:spcBef>
              <a:buFont typeface="Wingdings" panose="05000000000000000000" pitchFamily="2" charset="2"/>
              <a:buChar char="ü"/>
            </a:pPr>
            <a:r>
              <a:rPr lang="en-US" dirty="0">
                <a:solidFill>
                  <a:srgbClr val="FF0066"/>
                </a:solidFill>
              </a:rPr>
              <a:t>blur</a:t>
            </a:r>
            <a:r>
              <a:rPr lang="en-US" dirty="0"/>
              <a:t>: Triggered when an element loses focus.</a:t>
            </a:r>
          </a:p>
          <a:p>
            <a:pPr marL="0" indent="0">
              <a:buNone/>
            </a:pPr>
            <a:r>
              <a:rPr lang="en-US" dirty="0">
                <a:solidFill>
                  <a:srgbClr val="0070C0"/>
                </a:solidFill>
              </a:rPr>
              <a:t>Document Events</a:t>
            </a:r>
            <a:r>
              <a:rPr lang="en-US" dirty="0"/>
              <a:t>:</a:t>
            </a:r>
          </a:p>
          <a:p>
            <a:pPr>
              <a:buFont typeface="Wingdings" panose="05000000000000000000" pitchFamily="2" charset="2"/>
              <a:buChar char="ü"/>
            </a:pPr>
            <a:r>
              <a:rPr lang="en-US" dirty="0" err="1">
                <a:solidFill>
                  <a:srgbClr val="FF0066"/>
                </a:solidFill>
              </a:rPr>
              <a:t>DOMContentLoaded</a:t>
            </a:r>
            <a:r>
              <a:rPr lang="en-US" dirty="0"/>
              <a:t>: Triggered when the HTML document has been fully loaded and parsed.</a:t>
            </a:r>
          </a:p>
          <a:p>
            <a:pPr>
              <a:buFont typeface="Wingdings" panose="05000000000000000000" pitchFamily="2" charset="2"/>
              <a:buChar char="ü"/>
            </a:pPr>
            <a:r>
              <a:rPr lang="en-US" dirty="0">
                <a:solidFill>
                  <a:srgbClr val="FF0066"/>
                </a:solidFill>
              </a:rPr>
              <a:t>load</a:t>
            </a:r>
            <a:r>
              <a:rPr lang="en-US" dirty="0"/>
              <a:t>: Fired when the entire page has finished loading, including all dependent resources such as images, stylesheets, and </a:t>
            </a:r>
            <a:r>
              <a:rPr lang="en-US" dirty="0" err="1"/>
              <a:t>iframes</a:t>
            </a:r>
            <a:r>
              <a:rPr lang="en-US" dirty="0"/>
              <a:t>.</a:t>
            </a:r>
          </a:p>
          <a:p>
            <a:pPr>
              <a:buFont typeface="Wingdings" panose="05000000000000000000" pitchFamily="2" charset="2"/>
              <a:buChar char="ü"/>
            </a:pPr>
            <a:r>
              <a:rPr lang="en-US" dirty="0">
                <a:solidFill>
                  <a:srgbClr val="FF0066"/>
                </a:solidFill>
              </a:rPr>
              <a:t>resize</a:t>
            </a:r>
            <a:r>
              <a:rPr lang="en-US" dirty="0"/>
              <a:t>: Triggered when the browser window is resized. You may adjust the layout or elements for responsiveness.</a:t>
            </a:r>
          </a:p>
        </p:txBody>
      </p:sp>
    </p:spTree>
    <p:extLst>
      <p:ext uri="{BB962C8B-B14F-4D97-AF65-F5344CB8AC3E}">
        <p14:creationId xmlns:p14="http://schemas.microsoft.com/office/powerpoint/2010/main" val="29143380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2070-10F1-CDF0-437D-B660B0924827}"/>
              </a:ext>
            </a:extLst>
          </p:cNvPr>
          <p:cNvSpPr>
            <a:spLocks noGrp="1"/>
          </p:cNvSpPr>
          <p:nvPr>
            <p:ph type="title"/>
          </p:nvPr>
        </p:nvSpPr>
        <p:spPr/>
        <p:txBody>
          <a:bodyPr/>
          <a:lstStyle/>
          <a:p>
            <a:r>
              <a:rPr lang="en-IN" dirty="0"/>
              <a:t>Asynchronous JavaScript</a:t>
            </a:r>
            <a:endParaRPr lang="en-GH" dirty="0"/>
          </a:p>
        </p:txBody>
      </p:sp>
      <p:sp>
        <p:nvSpPr>
          <p:cNvPr id="3" name="Content Placeholder 2">
            <a:extLst>
              <a:ext uri="{FF2B5EF4-FFF2-40B4-BE49-F238E27FC236}">
                <a16:creationId xmlns:a16="http://schemas.microsoft.com/office/drawing/2014/main" id="{2A4B8600-2B5C-52E9-3CF6-3977FB4F8695}"/>
              </a:ext>
            </a:extLst>
          </p:cNvPr>
          <p:cNvSpPr>
            <a:spLocks noGrp="1"/>
          </p:cNvSpPr>
          <p:nvPr>
            <p:ph idx="1"/>
          </p:nvPr>
        </p:nvSpPr>
        <p:spPr/>
        <p:txBody>
          <a:bodyPr/>
          <a:lstStyle/>
          <a:p>
            <a:r>
              <a:rPr lang="en-US" dirty="0"/>
              <a:t>JavaScript is traditionally a </a:t>
            </a:r>
            <a:r>
              <a:rPr lang="en-US" u="sng" dirty="0"/>
              <a:t>single-threaded, synchronous language</a:t>
            </a:r>
            <a:r>
              <a:rPr lang="en-US" dirty="0"/>
              <a:t>, meaning that it executes code one line at a time, in order.</a:t>
            </a:r>
          </a:p>
          <a:p>
            <a:r>
              <a:rPr lang="en-US" dirty="0"/>
              <a:t>However, in many real-world scenarios, you need to perform multiple tasks, some of which take time, like fetching data from a server, without blocking other tasks. </a:t>
            </a:r>
          </a:p>
          <a:p>
            <a:r>
              <a:rPr lang="en-US" dirty="0"/>
              <a:t>Asynchronous JavaScript allows JavaScript to perform long-running tasks without stopping the entire program.</a:t>
            </a:r>
          </a:p>
        </p:txBody>
      </p:sp>
    </p:spTree>
    <p:extLst>
      <p:ext uri="{BB962C8B-B14F-4D97-AF65-F5344CB8AC3E}">
        <p14:creationId xmlns:p14="http://schemas.microsoft.com/office/powerpoint/2010/main" val="6719332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2070-10F1-CDF0-437D-B660B0924827}"/>
              </a:ext>
            </a:extLst>
          </p:cNvPr>
          <p:cNvSpPr>
            <a:spLocks noGrp="1"/>
          </p:cNvSpPr>
          <p:nvPr>
            <p:ph type="title"/>
          </p:nvPr>
        </p:nvSpPr>
        <p:spPr/>
        <p:txBody>
          <a:bodyPr/>
          <a:lstStyle/>
          <a:p>
            <a:r>
              <a:rPr lang="en-IN" dirty="0"/>
              <a:t>Asynchronous JavaScript</a:t>
            </a:r>
            <a:endParaRPr lang="en-GH" dirty="0"/>
          </a:p>
        </p:txBody>
      </p:sp>
      <p:sp>
        <p:nvSpPr>
          <p:cNvPr id="3" name="Content Placeholder 2">
            <a:extLst>
              <a:ext uri="{FF2B5EF4-FFF2-40B4-BE49-F238E27FC236}">
                <a16:creationId xmlns:a16="http://schemas.microsoft.com/office/drawing/2014/main" id="{2A4B8600-2B5C-52E9-3CF6-3977FB4F8695}"/>
              </a:ext>
            </a:extLst>
          </p:cNvPr>
          <p:cNvSpPr>
            <a:spLocks noGrp="1"/>
          </p:cNvSpPr>
          <p:nvPr>
            <p:ph idx="1"/>
          </p:nvPr>
        </p:nvSpPr>
        <p:spPr/>
        <p:txBody>
          <a:bodyPr/>
          <a:lstStyle/>
          <a:p>
            <a:r>
              <a:rPr lang="en-US" b="1" dirty="0"/>
              <a:t>Use cases</a:t>
            </a:r>
            <a:r>
              <a:rPr lang="en-US" dirty="0"/>
              <a:t>:</a:t>
            </a:r>
          </a:p>
          <a:p>
            <a:r>
              <a:rPr lang="en-US" dirty="0">
                <a:solidFill>
                  <a:srgbClr val="FF0066"/>
                </a:solidFill>
              </a:rPr>
              <a:t>Non-blocking operations</a:t>
            </a:r>
            <a:r>
              <a:rPr lang="en-US" dirty="0"/>
              <a:t>: Asynchronous JavaScript allows you to perform tasks like API calls, timers, or file reading without stopping the execution of other code.</a:t>
            </a:r>
          </a:p>
          <a:p>
            <a:r>
              <a:rPr lang="en-US" dirty="0">
                <a:solidFill>
                  <a:srgbClr val="FF0066"/>
                </a:solidFill>
              </a:rPr>
              <a:t>Real-world use</a:t>
            </a:r>
            <a:r>
              <a:rPr lang="en-US" dirty="0"/>
              <a:t>: Tasks like fetching data from a server, handling user input, and waiting for I/O operations need to be done asynchronously to keep the application responsive.</a:t>
            </a:r>
            <a:endParaRPr lang="en-GH" dirty="0"/>
          </a:p>
        </p:txBody>
      </p:sp>
    </p:spTree>
    <p:extLst>
      <p:ext uri="{BB962C8B-B14F-4D97-AF65-F5344CB8AC3E}">
        <p14:creationId xmlns:p14="http://schemas.microsoft.com/office/powerpoint/2010/main" val="22277461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2070-10F1-CDF0-437D-B660B0924827}"/>
              </a:ext>
            </a:extLst>
          </p:cNvPr>
          <p:cNvSpPr>
            <a:spLocks noGrp="1"/>
          </p:cNvSpPr>
          <p:nvPr>
            <p:ph type="title"/>
          </p:nvPr>
        </p:nvSpPr>
        <p:spPr/>
        <p:txBody>
          <a:bodyPr/>
          <a:lstStyle/>
          <a:p>
            <a:r>
              <a:rPr lang="en-IN" dirty="0"/>
              <a:t>Asynchronous JavaScript</a:t>
            </a:r>
            <a:endParaRPr lang="en-GH" dirty="0"/>
          </a:p>
        </p:txBody>
      </p:sp>
      <p:sp>
        <p:nvSpPr>
          <p:cNvPr id="3" name="Content Placeholder 2">
            <a:extLst>
              <a:ext uri="{FF2B5EF4-FFF2-40B4-BE49-F238E27FC236}">
                <a16:creationId xmlns:a16="http://schemas.microsoft.com/office/drawing/2014/main" id="{2A4B8600-2B5C-52E9-3CF6-3977FB4F8695}"/>
              </a:ext>
            </a:extLst>
          </p:cNvPr>
          <p:cNvSpPr>
            <a:spLocks noGrp="1"/>
          </p:cNvSpPr>
          <p:nvPr>
            <p:ph idx="1"/>
          </p:nvPr>
        </p:nvSpPr>
        <p:spPr/>
        <p:txBody>
          <a:bodyPr/>
          <a:lstStyle/>
          <a:p>
            <a:r>
              <a:rPr lang="en-US" b="1" dirty="0">
                <a:solidFill>
                  <a:srgbClr val="0070C0"/>
                </a:solidFill>
              </a:rPr>
              <a:t>Callbacks</a:t>
            </a:r>
            <a:r>
              <a:rPr lang="en-US" b="1" dirty="0"/>
              <a:t>: </a:t>
            </a:r>
            <a:r>
              <a:rPr lang="en-US" dirty="0"/>
              <a:t>A callback function is a function passed as an argument to another function, which will be executed once a task is completed. </a:t>
            </a:r>
          </a:p>
          <a:p>
            <a:r>
              <a:rPr lang="en-US" dirty="0"/>
              <a:t>This was the traditional way to handle asynchronous operations in JavaScript.</a:t>
            </a:r>
          </a:p>
          <a:p>
            <a:endParaRPr lang="en-US" dirty="0"/>
          </a:p>
          <a:p>
            <a:r>
              <a:rPr lang="en-US" dirty="0">
                <a:solidFill>
                  <a:srgbClr val="FF0000"/>
                </a:solidFill>
              </a:rPr>
              <a:t>Problem</a:t>
            </a:r>
            <a:r>
              <a:rPr lang="en-US" dirty="0"/>
              <a:t>: Callback Hell.</a:t>
            </a:r>
          </a:p>
          <a:p>
            <a:r>
              <a:rPr lang="en-US" dirty="0"/>
              <a:t>As applications grow, callbacks can become nested inside other callbacks, leading to hard-to-read code known as callback hell.</a:t>
            </a:r>
            <a:endParaRPr lang="en-GH" dirty="0"/>
          </a:p>
        </p:txBody>
      </p:sp>
    </p:spTree>
    <p:extLst>
      <p:ext uri="{BB962C8B-B14F-4D97-AF65-F5344CB8AC3E}">
        <p14:creationId xmlns:p14="http://schemas.microsoft.com/office/powerpoint/2010/main" val="10680808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2070-10F1-CDF0-437D-B660B0924827}"/>
              </a:ext>
            </a:extLst>
          </p:cNvPr>
          <p:cNvSpPr>
            <a:spLocks noGrp="1"/>
          </p:cNvSpPr>
          <p:nvPr>
            <p:ph type="title"/>
          </p:nvPr>
        </p:nvSpPr>
        <p:spPr/>
        <p:txBody>
          <a:bodyPr/>
          <a:lstStyle/>
          <a:p>
            <a:r>
              <a:rPr lang="en-IN" dirty="0"/>
              <a:t>Asynchronous JavaScript</a:t>
            </a:r>
            <a:endParaRPr lang="en-GH" dirty="0"/>
          </a:p>
        </p:txBody>
      </p:sp>
      <p:sp>
        <p:nvSpPr>
          <p:cNvPr id="3" name="Content Placeholder 2">
            <a:extLst>
              <a:ext uri="{FF2B5EF4-FFF2-40B4-BE49-F238E27FC236}">
                <a16:creationId xmlns:a16="http://schemas.microsoft.com/office/drawing/2014/main" id="{2A4B8600-2B5C-52E9-3CF6-3977FB4F8695}"/>
              </a:ext>
            </a:extLst>
          </p:cNvPr>
          <p:cNvSpPr>
            <a:spLocks noGrp="1"/>
          </p:cNvSpPr>
          <p:nvPr>
            <p:ph idx="1"/>
          </p:nvPr>
        </p:nvSpPr>
        <p:spPr/>
        <p:txBody>
          <a:bodyPr/>
          <a:lstStyle/>
          <a:p>
            <a:r>
              <a:rPr lang="en-US" b="1" dirty="0">
                <a:solidFill>
                  <a:srgbClr val="0070C0"/>
                </a:solidFill>
              </a:rPr>
              <a:t>Callbacks</a:t>
            </a:r>
            <a:r>
              <a:rPr lang="en-US" b="1" dirty="0"/>
              <a:t>: </a:t>
            </a:r>
            <a:r>
              <a:rPr lang="en-US" dirty="0"/>
              <a:t>Example</a:t>
            </a:r>
            <a:endParaRPr lang="en-GH" dirty="0"/>
          </a:p>
        </p:txBody>
      </p:sp>
      <p:pic>
        <p:nvPicPr>
          <p:cNvPr id="5" name="Picture 4">
            <a:extLst>
              <a:ext uri="{FF2B5EF4-FFF2-40B4-BE49-F238E27FC236}">
                <a16:creationId xmlns:a16="http://schemas.microsoft.com/office/drawing/2014/main" id="{B2647BFB-C021-23D5-8810-26E7FFB77CB8}"/>
              </a:ext>
            </a:extLst>
          </p:cNvPr>
          <p:cNvPicPr>
            <a:picLocks noChangeAspect="1"/>
          </p:cNvPicPr>
          <p:nvPr/>
        </p:nvPicPr>
        <p:blipFill>
          <a:blip r:embed="rId2"/>
          <a:stretch>
            <a:fillRect/>
          </a:stretch>
        </p:blipFill>
        <p:spPr>
          <a:xfrm>
            <a:off x="1294640" y="1880384"/>
            <a:ext cx="6573167" cy="4448796"/>
          </a:xfrm>
          <a:prstGeom prst="rect">
            <a:avLst/>
          </a:prstGeom>
        </p:spPr>
      </p:pic>
    </p:spTree>
    <p:extLst>
      <p:ext uri="{BB962C8B-B14F-4D97-AF65-F5344CB8AC3E}">
        <p14:creationId xmlns:p14="http://schemas.microsoft.com/office/powerpoint/2010/main" val="35865562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2070-10F1-CDF0-437D-B660B0924827}"/>
              </a:ext>
            </a:extLst>
          </p:cNvPr>
          <p:cNvSpPr>
            <a:spLocks noGrp="1"/>
          </p:cNvSpPr>
          <p:nvPr>
            <p:ph type="title"/>
          </p:nvPr>
        </p:nvSpPr>
        <p:spPr/>
        <p:txBody>
          <a:bodyPr/>
          <a:lstStyle/>
          <a:p>
            <a:r>
              <a:rPr lang="en-IN" dirty="0"/>
              <a:t>Asynchronous JavaScript</a:t>
            </a:r>
            <a:endParaRPr lang="en-GH" dirty="0"/>
          </a:p>
        </p:txBody>
      </p:sp>
      <p:sp>
        <p:nvSpPr>
          <p:cNvPr id="3" name="Content Placeholder 2">
            <a:extLst>
              <a:ext uri="{FF2B5EF4-FFF2-40B4-BE49-F238E27FC236}">
                <a16:creationId xmlns:a16="http://schemas.microsoft.com/office/drawing/2014/main" id="{2A4B8600-2B5C-52E9-3CF6-3977FB4F8695}"/>
              </a:ext>
            </a:extLst>
          </p:cNvPr>
          <p:cNvSpPr>
            <a:spLocks noGrp="1"/>
          </p:cNvSpPr>
          <p:nvPr>
            <p:ph idx="1"/>
          </p:nvPr>
        </p:nvSpPr>
        <p:spPr/>
        <p:txBody>
          <a:bodyPr/>
          <a:lstStyle/>
          <a:p>
            <a:r>
              <a:rPr lang="en-US" b="1" dirty="0">
                <a:solidFill>
                  <a:srgbClr val="0070C0"/>
                </a:solidFill>
              </a:rPr>
              <a:t>Promises</a:t>
            </a:r>
            <a:r>
              <a:rPr lang="en-US" b="1" dirty="0"/>
              <a:t>: </a:t>
            </a:r>
            <a:r>
              <a:rPr lang="en-US" dirty="0"/>
              <a:t>A Promise is a modern alternative to callbacks. </a:t>
            </a:r>
          </a:p>
          <a:p>
            <a:r>
              <a:rPr lang="en-US" dirty="0"/>
              <a:t>It represents a value that may be available now, or in the future, or never. </a:t>
            </a:r>
          </a:p>
          <a:p>
            <a:r>
              <a:rPr lang="en-US" dirty="0"/>
              <a:t>A Promise can be in one of three states: </a:t>
            </a:r>
          </a:p>
          <a:p>
            <a:pPr>
              <a:buFont typeface="Wingdings" panose="05000000000000000000" pitchFamily="2" charset="2"/>
              <a:buChar char="ü"/>
            </a:pPr>
            <a:r>
              <a:rPr lang="en-US" dirty="0"/>
              <a:t>Pending: The initial state, waiting for the operation to complete.</a:t>
            </a:r>
          </a:p>
          <a:p>
            <a:pPr>
              <a:buFont typeface="Wingdings" panose="05000000000000000000" pitchFamily="2" charset="2"/>
              <a:buChar char="ü"/>
            </a:pPr>
            <a:r>
              <a:rPr lang="en-US" dirty="0"/>
              <a:t>Fulfilled: The operation was completed successfully.</a:t>
            </a:r>
          </a:p>
          <a:p>
            <a:pPr>
              <a:buFont typeface="Wingdings" panose="05000000000000000000" pitchFamily="2" charset="2"/>
              <a:buChar char="ü"/>
            </a:pPr>
            <a:r>
              <a:rPr lang="en-US" dirty="0"/>
              <a:t>Rejected: The operation failed.</a:t>
            </a:r>
            <a:endParaRPr lang="en-GH" dirty="0"/>
          </a:p>
        </p:txBody>
      </p:sp>
    </p:spTree>
    <p:extLst>
      <p:ext uri="{BB962C8B-B14F-4D97-AF65-F5344CB8AC3E}">
        <p14:creationId xmlns:p14="http://schemas.microsoft.com/office/powerpoint/2010/main" val="20503935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2070-10F1-CDF0-437D-B660B0924827}"/>
              </a:ext>
            </a:extLst>
          </p:cNvPr>
          <p:cNvSpPr>
            <a:spLocks noGrp="1"/>
          </p:cNvSpPr>
          <p:nvPr>
            <p:ph type="title"/>
          </p:nvPr>
        </p:nvSpPr>
        <p:spPr/>
        <p:txBody>
          <a:bodyPr/>
          <a:lstStyle/>
          <a:p>
            <a:r>
              <a:rPr lang="en-IN" dirty="0"/>
              <a:t>Asynchronous JavaScript</a:t>
            </a:r>
            <a:endParaRPr lang="en-GH" dirty="0"/>
          </a:p>
        </p:txBody>
      </p:sp>
      <p:sp>
        <p:nvSpPr>
          <p:cNvPr id="3" name="Content Placeholder 2">
            <a:extLst>
              <a:ext uri="{FF2B5EF4-FFF2-40B4-BE49-F238E27FC236}">
                <a16:creationId xmlns:a16="http://schemas.microsoft.com/office/drawing/2014/main" id="{2A4B8600-2B5C-52E9-3CF6-3977FB4F8695}"/>
              </a:ext>
            </a:extLst>
          </p:cNvPr>
          <p:cNvSpPr>
            <a:spLocks noGrp="1"/>
          </p:cNvSpPr>
          <p:nvPr>
            <p:ph idx="1"/>
          </p:nvPr>
        </p:nvSpPr>
        <p:spPr/>
        <p:txBody>
          <a:bodyPr/>
          <a:lstStyle/>
          <a:p>
            <a:r>
              <a:rPr lang="en-US" b="1" dirty="0">
                <a:solidFill>
                  <a:srgbClr val="0070C0"/>
                </a:solidFill>
              </a:rPr>
              <a:t>Promises</a:t>
            </a:r>
            <a:r>
              <a:rPr lang="en-US" b="1" dirty="0"/>
              <a:t>: </a:t>
            </a:r>
            <a:r>
              <a:rPr lang="en-US" dirty="0"/>
              <a:t>Example-Creating a Promise</a:t>
            </a:r>
          </a:p>
          <a:p>
            <a:endParaRPr lang="en-GH" dirty="0"/>
          </a:p>
        </p:txBody>
      </p:sp>
      <p:pic>
        <p:nvPicPr>
          <p:cNvPr id="5" name="Picture 4">
            <a:extLst>
              <a:ext uri="{FF2B5EF4-FFF2-40B4-BE49-F238E27FC236}">
                <a16:creationId xmlns:a16="http://schemas.microsoft.com/office/drawing/2014/main" id="{BA323474-1691-DA2D-B99A-D46AE8E7F9A2}"/>
              </a:ext>
            </a:extLst>
          </p:cNvPr>
          <p:cNvPicPr>
            <a:picLocks noChangeAspect="1"/>
          </p:cNvPicPr>
          <p:nvPr/>
        </p:nvPicPr>
        <p:blipFill>
          <a:blip r:embed="rId2"/>
          <a:stretch>
            <a:fillRect/>
          </a:stretch>
        </p:blipFill>
        <p:spPr>
          <a:xfrm>
            <a:off x="683108" y="2013755"/>
            <a:ext cx="7891865" cy="3791622"/>
          </a:xfrm>
          <a:prstGeom prst="rect">
            <a:avLst/>
          </a:prstGeom>
        </p:spPr>
      </p:pic>
    </p:spTree>
    <p:extLst>
      <p:ext uri="{BB962C8B-B14F-4D97-AF65-F5344CB8AC3E}">
        <p14:creationId xmlns:p14="http://schemas.microsoft.com/office/powerpoint/2010/main" val="33993976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2070-10F1-CDF0-437D-B660B0924827}"/>
              </a:ext>
            </a:extLst>
          </p:cNvPr>
          <p:cNvSpPr>
            <a:spLocks noGrp="1"/>
          </p:cNvSpPr>
          <p:nvPr>
            <p:ph type="title"/>
          </p:nvPr>
        </p:nvSpPr>
        <p:spPr/>
        <p:txBody>
          <a:bodyPr/>
          <a:lstStyle/>
          <a:p>
            <a:r>
              <a:rPr lang="en-IN" dirty="0"/>
              <a:t>Asynchronous JavaScript</a:t>
            </a:r>
            <a:endParaRPr lang="en-GH" dirty="0"/>
          </a:p>
        </p:txBody>
      </p:sp>
      <p:sp>
        <p:nvSpPr>
          <p:cNvPr id="3" name="Content Placeholder 2">
            <a:extLst>
              <a:ext uri="{FF2B5EF4-FFF2-40B4-BE49-F238E27FC236}">
                <a16:creationId xmlns:a16="http://schemas.microsoft.com/office/drawing/2014/main" id="{2A4B8600-2B5C-52E9-3CF6-3977FB4F8695}"/>
              </a:ext>
            </a:extLst>
          </p:cNvPr>
          <p:cNvSpPr>
            <a:spLocks noGrp="1"/>
          </p:cNvSpPr>
          <p:nvPr>
            <p:ph idx="1"/>
          </p:nvPr>
        </p:nvSpPr>
        <p:spPr/>
        <p:txBody>
          <a:bodyPr/>
          <a:lstStyle/>
          <a:p>
            <a:r>
              <a:rPr lang="en-US" b="1" dirty="0">
                <a:solidFill>
                  <a:srgbClr val="0070C0"/>
                </a:solidFill>
              </a:rPr>
              <a:t>Promises</a:t>
            </a:r>
            <a:r>
              <a:rPr lang="en-US" b="1" dirty="0"/>
              <a:t>: </a:t>
            </a:r>
            <a:r>
              <a:rPr lang="en-US" dirty="0"/>
              <a:t>Example-Consuming a Promise</a:t>
            </a:r>
          </a:p>
          <a:p>
            <a:endParaRPr lang="en-GH" dirty="0"/>
          </a:p>
        </p:txBody>
      </p:sp>
      <p:pic>
        <p:nvPicPr>
          <p:cNvPr id="6" name="Picture 5">
            <a:extLst>
              <a:ext uri="{FF2B5EF4-FFF2-40B4-BE49-F238E27FC236}">
                <a16:creationId xmlns:a16="http://schemas.microsoft.com/office/drawing/2014/main" id="{986BE3D7-3AEF-6013-84C7-A460154D7762}"/>
              </a:ext>
            </a:extLst>
          </p:cNvPr>
          <p:cNvPicPr>
            <a:picLocks noChangeAspect="1"/>
          </p:cNvPicPr>
          <p:nvPr/>
        </p:nvPicPr>
        <p:blipFill>
          <a:blip r:embed="rId2"/>
          <a:stretch>
            <a:fillRect/>
          </a:stretch>
        </p:blipFill>
        <p:spPr>
          <a:xfrm>
            <a:off x="389334" y="2124087"/>
            <a:ext cx="8365332" cy="2609825"/>
          </a:xfrm>
          <a:prstGeom prst="rect">
            <a:avLst/>
          </a:prstGeom>
        </p:spPr>
      </p:pic>
    </p:spTree>
    <p:extLst>
      <p:ext uri="{BB962C8B-B14F-4D97-AF65-F5344CB8AC3E}">
        <p14:creationId xmlns:p14="http://schemas.microsoft.com/office/powerpoint/2010/main" val="32922596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2070-10F1-CDF0-437D-B660B0924827}"/>
              </a:ext>
            </a:extLst>
          </p:cNvPr>
          <p:cNvSpPr>
            <a:spLocks noGrp="1"/>
          </p:cNvSpPr>
          <p:nvPr>
            <p:ph type="title"/>
          </p:nvPr>
        </p:nvSpPr>
        <p:spPr/>
        <p:txBody>
          <a:bodyPr/>
          <a:lstStyle/>
          <a:p>
            <a:r>
              <a:rPr lang="en-IN" dirty="0"/>
              <a:t>Asynchronous JavaScript</a:t>
            </a:r>
            <a:endParaRPr lang="en-GH" dirty="0"/>
          </a:p>
        </p:txBody>
      </p:sp>
      <p:sp>
        <p:nvSpPr>
          <p:cNvPr id="3" name="Content Placeholder 2">
            <a:extLst>
              <a:ext uri="{FF2B5EF4-FFF2-40B4-BE49-F238E27FC236}">
                <a16:creationId xmlns:a16="http://schemas.microsoft.com/office/drawing/2014/main" id="{2A4B8600-2B5C-52E9-3CF6-3977FB4F8695}"/>
              </a:ext>
            </a:extLst>
          </p:cNvPr>
          <p:cNvSpPr>
            <a:spLocks noGrp="1"/>
          </p:cNvSpPr>
          <p:nvPr>
            <p:ph idx="1"/>
          </p:nvPr>
        </p:nvSpPr>
        <p:spPr/>
        <p:txBody>
          <a:bodyPr/>
          <a:lstStyle/>
          <a:p>
            <a:r>
              <a:rPr lang="en-US" b="1" dirty="0">
                <a:solidFill>
                  <a:srgbClr val="0070C0"/>
                </a:solidFill>
              </a:rPr>
              <a:t>async/await</a:t>
            </a:r>
            <a:r>
              <a:rPr lang="en-US" dirty="0"/>
              <a:t>:</a:t>
            </a:r>
          </a:p>
          <a:p>
            <a:r>
              <a:rPr lang="en-US" dirty="0"/>
              <a:t>async and await are modern JavaScript features that provide a cleaner and more readable way to handle asynchronous code.</a:t>
            </a:r>
          </a:p>
          <a:p>
            <a:r>
              <a:rPr lang="en-US" dirty="0"/>
              <a:t>async/await is built on top of Promises but allows you to write asynchronous code that looks and behaves more like synchronous code.</a:t>
            </a:r>
          </a:p>
        </p:txBody>
      </p:sp>
    </p:spTree>
    <p:extLst>
      <p:ext uri="{BB962C8B-B14F-4D97-AF65-F5344CB8AC3E}">
        <p14:creationId xmlns:p14="http://schemas.microsoft.com/office/powerpoint/2010/main" val="9727370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2070-10F1-CDF0-437D-B660B0924827}"/>
              </a:ext>
            </a:extLst>
          </p:cNvPr>
          <p:cNvSpPr>
            <a:spLocks noGrp="1"/>
          </p:cNvSpPr>
          <p:nvPr>
            <p:ph type="title"/>
          </p:nvPr>
        </p:nvSpPr>
        <p:spPr/>
        <p:txBody>
          <a:bodyPr/>
          <a:lstStyle/>
          <a:p>
            <a:r>
              <a:rPr lang="en-IN" dirty="0"/>
              <a:t>Asynchronous JavaScript</a:t>
            </a:r>
            <a:endParaRPr lang="en-GH" dirty="0"/>
          </a:p>
        </p:txBody>
      </p:sp>
      <p:pic>
        <p:nvPicPr>
          <p:cNvPr id="5" name="Content Placeholder 4">
            <a:extLst>
              <a:ext uri="{FF2B5EF4-FFF2-40B4-BE49-F238E27FC236}">
                <a16:creationId xmlns:a16="http://schemas.microsoft.com/office/drawing/2014/main" id="{12E16796-64E4-02D7-6B61-E0673A77D023}"/>
              </a:ext>
            </a:extLst>
          </p:cNvPr>
          <p:cNvPicPr>
            <a:picLocks noGrp="1" noChangeAspect="1"/>
          </p:cNvPicPr>
          <p:nvPr>
            <p:ph idx="1"/>
          </p:nvPr>
        </p:nvPicPr>
        <p:blipFill>
          <a:blip r:embed="rId2"/>
          <a:stretch>
            <a:fillRect/>
          </a:stretch>
        </p:blipFill>
        <p:spPr>
          <a:xfrm>
            <a:off x="1061245" y="2315064"/>
            <a:ext cx="7039957" cy="4105848"/>
          </a:xfrm>
        </p:spPr>
      </p:pic>
      <p:sp>
        <p:nvSpPr>
          <p:cNvPr id="7" name="TextBox 6">
            <a:extLst>
              <a:ext uri="{FF2B5EF4-FFF2-40B4-BE49-F238E27FC236}">
                <a16:creationId xmlns:a16="http://schemas.microsoft.com/office/drawing/2014/main" id="{41B2F7B7-F1D6-60A8-93F3-591DEE986B71}"/>
              </a:ext>
            </a:extLst>
          </p:cNvPr>
          <p:cNvSpPr txBox="1"/>
          <p:nvPr/>
        </p:nvSpPr>
        <p:spPr>
          <a:xfrm>
            <a:off x="425302" y="1064981"/>
            <a:ext cx="8367823" cy="1200329"/>
          </a:xfrm>
          <a:prstGeom prst="rect">
            <a:avLst/>
          </a:prstGeom>
          <a:noFill/>
        </p:spPr>
        <p:txBody>
          <a:bodyPr wrap="square">
            <a:spAutoFit/>
          </a:bodyPr>
          <a:lstStyle/>
          <a:p>
            <a:r>
              <a:rPr lang="en-US" sz="2400" b="1" dirty="0">
                <a:solidFill>
                  <a:srgbClr val="0070C0"/>
                </a:solidFill>
              </a:rPr>
              <a:t>async function</a:t>
            </a:r>
            <a:r>
              <a:rPr lang="en-US" sz="2400" dirty="0"/>
              <a:t>: An async function always returns a Promise. Inside an async function, you can use the </a:t>
            </a:r>
            <a:r>
              <a:rPr lang="en-US" sz="2400" b="1" dirty="0">
                <a:solidFill>
                  <a:srgbClr val="0070C0"/>
                </a:solidFill>
              </a:rPr>
              <a:t>await</a:t>
            </a:r>
            <a:r>
              <a:rPr lang="en-US" sz="2400" dirty="0"/>
              <a:t> keyword to pause the execution of the function until the Promise is resolved.</a:t>
            </a:r>
            <a:endParaRPr lang="en-GH" sz="2400" dirty="0"/>
          </a:p>
        </p:txBody>
      </p:sp>
    </p:spTree>
    <p:extLst>
      <p:ext uri="{BB962C8B-B14F-4D97-AF65-F5344CB8AC3E}">
        <p14:creationId xmlns:p14="http://schemas.microsoft.com/office/powerpoint/2010/main" val="7792852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5ADBE-0CED-4B5E-AA44-7678FBC8AF24}"/>
              </a:ext>
            </a:extLst>
          </p:cNvPr>
          <p:cNvSpPr>
            <a:spLocks noGrp="1"/>
          </p:cNvSpPr>
          <p:nvPr>
            <p:ph type="title"/>
          </p:nvPr>
        </p:nvSpPr>
        <p:spPr/>
        <p:txBody>
          <a:bodyPr/>
          <a:lstStyle/>
          <a:p>
            <a:r>
              <a:rPr lang="en-IN" dirty="0"/>
              <a:t>Thank you</a:t>
            </a:r>
            <a:endParaRPr lang="en-GH" dirty="0"/>
          </a:p>
        </p:txBody>
      </p:sp>
      <p:sp>
        <p:nvSpPr>
          <p:cNvPr id="3" name="Content Placeholder 2">
            <a:extLst>
              <a:ext uri="{FF2B5EF4-FFF2-40B4-BE49-F238E27FC236}">
                <a16:creationId xmlns:a16="http://schemas.microsoft.com/office/drawing/2014/main" id="{5D162F7F-A8FA-2635-91C2-8FBD1A40C35E}"/>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dirty="0"/>
              <a:t>Questions???</a:t>
            </a:r>
            <a:endParaRPr lang="en-GH" dirty="0"/>
          </a:p>
        </p:txBody>
      </p:sp>
      <p:sp>
        <p:nvSpPr>
          <p:cNvPr id="4" name="Text Placeholder 3">
            <a:extLst>
              <a:ext uri="{FF2B5EF4-FFF2-40B4-BE49-F238E27FC236}">
                <a16:creationId xmlns:a16="http://schemas.microsoft.com/office/drawing/2014/main" id="{44ED5CE5-C9D7-1978-5960-AF2C70FD652E}"/>
              </a:ext>
            </a:extLst>
          </p:cNvPr>
          <p:cNvSpPr>
            <a:spLocks noGrp="1"/>
          </p:cNvSpPr>
          <p:nvPr>
            <p:ph type="body" sz="half" idx="2"/>
          </p:nvPr>
        </p:nvSpPr>
        <p:spPr/>
        <p:txBody>
          <a:bodyPr/>
          <a:lstStyle/>
          <a:p>
            <a:pPr algn="ctr"/>
            <a:r>
              <a:rPr lang="en-IN" dirty="0"/>
              <a:t>Govindha Yeluripati</a:t>
            </a:r>
            <a:endParaRPr lang="en-GH" dirty="0"/>
          </a:p>
        </p:txBody>
      </p:sp>
    </p:spTree>
    <p:extLst>
      <p:ext uri="{BB962C8B-B14F-4D97-AF65-F5344CB8AC3E}">
        <p14:creationId xmlns:p14="http://schemas.microsoft.com/office/powerpoint/2010/main" val="4277503702"/>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6F9229A-DD42-46FB-AC7D-2F23A646FBDE}" vid="{29738491-4758-454F-8D61-01C0E3071440}"/>
    </a:ext>
  </a:extLst>
</a:theme>
</file>

<file path=docProps/app.xml><?xml version="1.0" encoding="utf-8"?>
<Properties xmlns="http://schemas.openxmlformats.org/officeDocument/2006/extended-properties" xmlns:vt="http://schemas.openxmlformats.org/officeDocument/2006/docPropsVTypes">
  <Template>Govindha-Ashesi-3-4-Five</Template>
  <TotalTime>3838</TotalTime>
  <Words>4652</Words>
  <Application>Microsoft Office PowerPoint</Application>
  <PresentationFormat>On-screen Show (4:3)</PresentationFormat>
  <Paragraphs>661</Paragraphs>
  <Slides>97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97</vt:i4>
      </vt:variant>
    </vt:vector>
  </HeadingPairs>
  <TitlesOfParts>
    <vt:vector size="102" baseType="lpstr">
      <vt:lpstr>Arial</vt:lpstr>
      <vt:lpstr>Calibri</vt:lpstr>
      <vt:lpstr>Calibri Light</vt:lpstr>
      <vt:lpstr>Wingdings</vt:lpstr>
      <vt:lpstr>1_Office Theme</vt:lpstr>
      <vt:lpstr>JavaScript</vt:lpstr>
      <vt:lpstr>What is JavaScript?</vt:lpstr>
      <vt:lpstr>Where is JavaScript Used?</vt:lpstr>
      <vt:lpstr>How is JavaScript Used?</vt:lpstr>
      <vt:lpstr>How is JavaScript Used?</vt:lpstr>
      <vt:lpstr>How is JavaScript Used?</vt:lpstr>
      <vt:lpstr>How is JavaScript Used?</vt:lpstr>
      <vt:lpstr>Is there any relation with Java?  Some History</vt:lpstr>
      <vt:lpstr>Java vs JavaScript</vt:lpstr>
      <vt:lpstr>JavaScript Programming Aspects</vt:lpstr>
      <vt:lpstr>Program Structure</vt:lpstr>
      <vt:lpstr>Syntax Rules</vt:lpstr>
      <vt:lpstr>Sample Programs/Scripts</vt:lpstr>
      <vt:lpstr>Execution Flow</vt:lpstr>
      <vt:lpstr>Execution Flow</vt:lpstr>
      <vt:lpstr>Output</vt:lpstr>
      <vt:lpstr>Output</vt:lpstr>
      <vt:lpstr>Output</vt:lpstr>
      <vt:lpstr>Comments</vt:lpstr>
      <vt:lpstr>Variables</vt:lpstr>
      <vt:lpstr>Variables: var</vt:lpstr>
      <vt:lpstr>Variables: let</vt:lpstr>
      <vt:lpstr>Variables: const</vt:lpstr>
      <vt:lpstr>Variables: no declaration</vt:lpstr>
      <vt:lpstr>Variables: strict mode</vt:lpstr>
      <vt:lpstr>Variable declaration: Best practice</vt:lpstr>
      <vt:lpstr>Variables: Scope</vt:lpstr>
      <vt:lpstr>Identifiers</vt:lpstr>
      <vt:lpstr>Operators</vt:lpstr>
      <vt:lpstr>Operators</vt:lpstr>
      <vt:lpstr>Operators</vt:lpstr>
      <vt:lpstr>Operators</vt:lpstr>
      <vt:lpstr>Operators</vt:lpstr>
      <vt:lpstr>Operators</vt:lpstr>
      <vt:lpstr>Operators</vt:lpstr>
      <vt:lpstr>Operators</vt:lpstr>
      <vt:lpstr>Datatypes</vt:lpstr>
      <vt:lpstr>Datatypes: Primitive</vt:lpstr>
      <vt:lpstr>Datatypes: Primitive</vt:lpstr>
      <vt:lpstr>Datatypes: Primitive</vt:lpstr>
      <vt:lpstr>Datatypes: Primitive</vt:lpstr>
      <vt:lpstr>Datatypes: Primitive</vt:lpstr>
      <vt:lpstr>Datatypes: Non-Primitive (Reference)</vt:lpstr>
      <vt:lpstr>Datatypes: Non-Primitive (Reference)</vt:lpstr>
      <vt:lpstr>Datatypes: Non-Primitive (Reference)</vt:lpstr>
      <vt:lpstr>Datatypes: Non-Primitive (Reference)</vt:lpstr>
      <vt:lpstr>Datatypes: Non-Primitive (Reference)</vt:lpstr>
      <vt:lpstr>Datatypes: Non-Primitive (Reference)</vt:lpstr>
      <vt:lpstr>Datatypes: Non-Primitive (Reference)</vt:lpstr>
      <vt:lpstr>Datatypes: Non-Primitive (Reference)</vt:lpstr>
      <vt:lpstr>Control Structures : Branching</vt:lpstr>
      <vt:lpstr>Control Structures : Branching</vt:lpstr>
      <vt:lpstr>Control Structures : Looping</vt:lpstr>
      <vt:lpstr>Control Structures : Looping</vt:lpstr>
      <vt:lpstr>Control Structures : Looping</vt:lpstr>
      <vt:lpstr>Control Structures : Looping</vt:lpstr>
      <vt:lpstr>Control Structures : Looping</vt:lpstr>
      <vt:lpstr>Control Structures : Looping</vt:lpstr>
      <vt:lpstr>Document Object Model (DOM)</vt:lpstr>
      <vt:lpstr>Document Object Model (DOM)</vt:lpstr>
      <vt:lpstr>Document Object Model (DOM)</vt:lpstr>
      <vt:lpstr>Accessing DOM Tree Elements</vt:lpstr>
      <vt:lpstr>Accessing DOM Tree Elements</vt:lpstr>
      <vt:lpstr>Accessing DOM Tree Elements</vt:lpstr>
      <vt:lpstr>More on Working with Functions</vt:lpstr>
      <vt:lpstr>More on Working with Functions</vt:lpstr>
      <vt:lpstr>Commonly used Functions (Built-in)</vt:lpstr>
      <vt:lpstr>Commonly used Functions (Built-in)</vt:lpstr>
      <vt:lpstr>Commonly used Functions (Built-in)</vt:lpstr>
      <vt:lpstr>Commonly used Functions (Built-in)</vt:lpstr>
      <vt:lpstr>Commonly used Functions (Built-in)</vt:lpstr>
      <vt:lpstr>Commonly used Functions (Built-in)</vt:lpstr>
      <vt:lpstr>Commonly used Functions (Built-in)</vt:lpstr>
      <vt:lpstr>Commonly used Functions (Built-in)</vt:lpstr>
      <vt:lpstr>Commonly used Functions (Built-in)</vt:lpstr>
      <vt:lpstr>Commonly used Functions (Built-in)</vt:lpstr>
      <vt:lpstr>What is JSON?</vt:lpstr>
      <vt:lpstr>Example of JSON</vt:lpstr>
      <vt:lpstr>A Simple Form Validation Exercise</vt:lpstr>
      <vt:lpstr>Practice (Homework)</vt:lpstr>
      <vt:lpstr>DOM Manipulation Functions (Exercise)</vt:lpstr>
      <vt:lpstr>Events</vt:lpstr>
      <vt:lpstr>Event Handling</vt:lpstr>
      <vt:lpstr>Event Handling</vt:lpstr>
      <vt:lpstr>Event Handling</vt:lpstr>
      <vt:lpstr>Event Handling: Common Event Types</vt:lpstr>
      <vt:lpstr>Event Handling: Common Event Types</vt:lpstr>
      <vt:lpstr>Asynchronous JavaScript</vt:lpstr>
      <vt:lpstr>Asynchronous JavaScript</vt:lpstr>
      <vt:lpstr>Asynchronous JavaScript</vt:lpstr>
      <vt:lpstr>Asynchronous JavaScript</vt:lpstr>
      <vt:lpstr>Asynchronous JavaScript</vt:lpstr>
      <vt:lpstr>Asynchronous JavaScript</vt:lpstr>
      <vt:lpstr>Asynchronous JavaScript</vt:lpstr>
      <vt:lpstr>Asynchronous JavaScript</vt:lpstr>
      <vt:lpstr>Asynchronous JavaScript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Govindha R Yeluripati</dc:creator>
  <cp:lastModifiedBy>Govindha  Ramaiah Yeluripati</cp:lastModifiedBy>
  <cp:revision>156</cp:revision>
  <dcterms:created xsi:type="dcterms:W3CDTF">2024-09-11T05:06:52Z</dcterms:created>
  <dcterms:modified xsi:type="dcterms:W3CDTF">2024-10-13T20:34:21Z</dcterms:modified>
</cp:coreProperties>
</file>