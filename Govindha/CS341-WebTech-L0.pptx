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4"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2" autoAdjust="0"/>
    <p:restoredTop sz="94660"/>
  </p:normalViewPr>
  <p:slideViewPr>
    <p:cSldViewPr snapToGrid="0">
      <p:cViewPr varScale="1">
        <p:scale>
          <a:sx n="60" d="100"/>
          <a:sy n="60" d="100"/>
        </p:scale>
        <p:origin x="13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392201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06192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4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06852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01853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43659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96091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229530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219576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839121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500187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77596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s 9">
            <a:extLst>
              <a:ext uri="{FF2B5EF4-FFF2-40B4-BE49-F238E27FC236}">
                <a16:creationId xmlns:a16="http://schemas.microsoft.com/office/drawing/2014/main" id="{ADC1A0AE-A0C7-CD4A-0BAB-8EBC26398050}"/>
              </a:ext>
            </a:extLst>
          </p:cNvPr>
          <p:cNvSpPr/>
          <p:nvPr/>
        </p:nvSpPr>
        <p:spPr>
          <a:xfrm flipV="1">
            <a:off x="222485" y="6626648"/>
            <a:ext cx="8752840" cy="220630"/>
          </a:xfrm>
          <a:prstGeom prst="rect">
            <a:avLst/>
          </a:prstGeom>
          <a:solidFill>
            <a:schemeClr val="accent2">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40465" y="129540"/>
            <a:ext cx="8681519" cy="116268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41100" y="1386039"/>
            <a:ext cx="8681519" cy="4943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3028950" y="6623601"/>
            <a:ext cx="3086100" cy="21548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10341" y="6615830"/>
            <a:ext cx="2057400" cy="231027"/>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pic>
        <p:nvPicPr>
          <p:cNvPr id="8" name="Picture 7" descr="A logo of a university&#10;&#10;Description automatically generated"/>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2820" y="6355380"/>
            <a:ext cx="588010" cy="485140"/>
          </a:xfrm>
          <a:prstGeom prst="rect">
            <a:avLst/>
          </a:prstGeom>
        </p:spPr>
      </p:pic>
      <p:sp>
        <p:nvSpPr>
          <p:cNvPr id="9" name="Rectangles 9">
            <a:extLst>
              <a:ext uri="{FF2B5EF4-FFF2-40B4-BE49-F238E27FC236}">
                <a16:creationId xmlns:a16="http://schemas.microsoft.com/office/drawing/2014/main" id="{E634ECF9-3972-2CC8-4938-4B4BFD28C772}"/>
              </a:ext>
            </a:extLst>
          </p:cNvPr>
          <p:cNvSpPr/>
          <p:nvPr/>
        </p:nvSpPr>
        <p:spPr>
          <a:xfrm flipV="1">
            <a:off x="14806" y="7014"/>
            <a:ext cx="9108241" cy="39062"/>
          </a:xfrm>
          <a:prstGeom prst="rect">
            <a:avLst/>
          </a:prstGeom>
          <a:solidFill>
            <a:schemeClr val="accent5">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810263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lnSpc>
          <a:spcPct val="90000"/>
        </a:lnSpc>
        <a:spcBef>
          <a:spcPct val="0"/>
        </a:spcBef>
        <a:buNone/>
        <a:defRPr sz="3600" b="1" kern="1200">
          <a:solidFill>
            <a:srgbClr val="C00000"/>
          </a:solidFill>
          <a:latin typeface="+mj-lt"/>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w3.org/" TargetMode="External"/><Relationship Id="rId7" Type="http://schemas.openxmlformats.org/officeDocument/2006/relationships/hyperlink" Target="https://webfoundation.org/" TargetMode="External"/><Relationship Id="rId2" Type="http://schemas.openxmlformats.org/officeDocument/2006/relationships/hyperlink" Target="https://en.wikipedia.org/wiki/History_of_the_World_Wide_Web" TargetMode="External"/><Relationship Id="rId1" Type="http://schemas.openxmlformats.org/officeDocument/2006/relationships/slideLayout" Target="../slideLayouts/slideLayout2.xml"/><Relationship Id="rId6" Type="http://schemas.openxmlformats.org/officeDocument/2006/relationships/hyperlink" Target="https://webfoundation.org/web30/" TargetMode="External"/><Relationship Id="rId5" Type="http://schemas.openxmlformats.org/officeDocument/2006/relationships/hyperlink" Target="https://computerhistory.org/" TargetMode="External"/><Relationship Id="rId4" Type="http://schemas.openxmlformats.org/officeDocument/2006/relationships/hyperlink" Target="https://thehistoryoftheweb.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Technologies</a:t>
            </a:r>
          </a:p>
        </p:txBody>
      </p:sp>
      <p:sp>
        <p:nvSpPr>
          <p:cNvPr id="3" name="Subtitle 2"/>
          <p:cNvSpPr>
            <a:spLocks noGrp="1"/>
          </p:cNvSpPr>
          <p:nvPr>
            <p:ph type="subTitle" idx="1"/>
          </p:nvPr>
        </p:nvSpPr>
        <p:spPr/>
        <p:txBody>
          <a:bodyPr/>
          <a:lstStyle/>
          <a:p>
            <a:r>
              <a:rPr lang="en-US" dirty="0"/>
              <a:t>Dr Govindha Ramaiah Yeluripati</a:t>
            </a:r>
          </a:p>
        </p:txBody>
      </p:sp>
    </p:spTree>
    <p:extLst>
      <p:ext uri="{BB962C8B-B14F-4D97-AF65-F5344CB8AC3E}">
        <p14:creationId xmlns:p14="http://schemas.microsoft.com/office/powerpoint/2010/main" val="307201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768AC-CEEE-2837-35FA-CA657F2BE845}"/>
              </a:ext>
            </a:extLst>
          </p:cNvPr>
          <p:cNvSpPr>
            <a:spLocks noGrp="1"/>
          </p:cNvSpPr>
          <p:nvPr>
            <p:ph type="title"/>
          </p:nvPr>
        </p:nvSpPr>
        <p:spPr/>
        <p:txBody>
          <a:bodyPr/>
          <a:lstStyle/>
          <a:p>
            <a:r>
              <a:rPr lang="en-IN" dirty="0"/>
              <a:t>Outline</a:t>
            </a:r>
            <a:endParaRPr lang="en-GH" dirty="0"/>
          </a:p>
        </p:txBody>
      </p:sp>
      <p:sp>
        <p:nvSpPr>
          <p:cNvPr id="3" name="Content Placeholder 2">
            <a:extLst>
              <a:ext uri="{FF2B5EF4-FFF2-40B4-BE49-F238E27FC236}">
                <a16:creationId xmlns:a16="http://schemas.microsoft.com/office/drawing/2014/main" id="{FE9B6F12-7C25-291E-A1F2-74995F542A7C}"/>
              </a:ext>
            </a:extLst>
          </p:cNvPr>
          <p:cNvSpPr>
            <a:spLocks noGrp="1"/>
          </p:cNvSpPr>
          <p:nvPr>
            <p:ph idx="1"/>
          </p:nvPr>
        </p:nvSpPr>
        <p:spPr/>
        <p:txBody>
          <a:bodyPr/>
          <a:lstStyle/>
          <a:p>
            <a:r>
              <a:rPr lang="en-IN" dirty="0"/>
              <a:t>What is this course all about?</a:t>
            </a:r>
          </a:p>
          <a:p>
            <a:r>
              <a:rPr lang="en-IN" dirty="0"/>
              <a:t>Introduction to Web Development and Web Technologies</a:t>
            </a:r>
            <a:endParaRPr lang="en-GH" dirty="0"/>
          </a:p>
        </p:txBody>
      </p:sp>
    </p:spTree>
    <p:extLst>
      <p:ext uri="{BB962C8B-B14F-4D97-AF65-F5344CB8AC3E}">
        <p14:creationId xmlns:p14="http://schemas.microsoft.com/office/powerpoint/2010/main" val="1455555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A8DC9-1F36-91B0-995C-8B69F4F89A84}"/>
              </a:ext>
            </a:extLst>
          </p:cNvPr>
          <p:cNvSpPr>
            <a:spLocks noGrp="1"/>
          </p:cNvSpPr>
          <p:nvPr>
            <p:ph type="title"/>
          </p:nvPr>
        </p:nvSpPr>
        <p:spPr/>
        <p:txBody>
          <a:bodyPr/>
          <a:lstStyle/>
          <a:p>
            <a:r>
              <a:rPr lang="en-IN" dirty="0"/>
              <a:t>What are Web Technologies?</a:t>
            </a:r>
            <a:endParaRPr lang="en-GH" dirty="0"/>
          </a:p>
        </p:txBody>
      </p:sp>
      <p:sp>
        <p:nvSpPr>
          <p:cNvPr id="3" name="Content Placeholder 2">
            <a:extLst>
              <a:ext uri="{FF2B5EF4-FFF2-40B4-BE49-F238E27FC236}">
                <a16:creationId xmlns:a16="http://schemas.microsoft.com/office/drawing/2014/main" id="{0CA9A4B5-55DB-19F7-86F2-F58751A16BB3}"/>
              </a:ext>
            </a:extLst>
          </p:cNvPr>
          <p:cNvSpPr>
            <a:spLocks noGrp="1"/>
          </p:cNvSpPr>
          <p:nvPr>
            <p:ph idx="1"/>
          </p:nvPr>
        </p:nvSpPr>
        <p:spPr/>
        <p:txBody>
          <a:bodyPr/>
          <a:lstStyle/>
          <a:p>
            <a:r>
              <a:rPr lang="en-US" b="1" dirty="0">
                <a:solidFill>
                  <a:srgbClr val="0070C0"/>
                </a:solidFill>
              </a:rPr>
              <a:t>Web technologies </a:t>
            </a:r>
            <a:r>
              <a:rPr lang="en-US" dirty="0"/>
              <a:t>refer to the </a:t>
            </a:r>
            <a:r>
              <a:rPr lang="en-US" dirty="0">
                <a:solidFill>
                  <a:srgbClr val="0070C0"/>
                </a:solidFill>
              </a:rPr>
              <a:t>tools and techniques </a:t>
            </a:r>
            <a:r>
              <a:rPr lang="en-US" dirty="0"/>
              <a:t>used for creating, deploying, delivering, and managing web-based applications and websites. </a:t>
            </a:r>
          </a:p>
          <a:p>
            <a:r>
              <a:rPr lang="en-US" dirty="0"/>
              <a:t>These technologies enable communication between web browsers (clients) and web servers, facilitating the display and interaction of content on the internet.</a:t>
            </a:r>
            <a:endParaRPr lang="en-GH" dirty="0"/>
          </a:p>
        </p:txBody>
      </p:sp>
    </p:spTree>
    <p:extLst>
      <p:ext uri="{BB962C8B-B14F-4D97-AF65-F5344CB8AC3E}">
        <p14:creationId xmlns:p14="http://schemas.microsoft.com/office/powerpoint/2010/main" val="1035832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1ABB5-0730-0E42-04AC-7877FA4C7794}"/>
              </a:ext>
            </a:extLst>
          </p:cNvPr>
          <p:cNvSpPr>
            <a:spLocks noGrp="1"/>
          </p:cNvSpPr>
          <p:nvPr>
            <p:ph type="title"/>
          </p:nvPr>
        </p:nvSpPr>
        <p:spPr/>
        <p:txBody>
          <a:bodyPr/>
          <a:lstStyle/>
          <a:p>
            <a:r>
              <a:rPr lang="en-IN" dirty="0"/>
              <a:t>What is Web Development?</a:t>
            </a:r>
            <a:endParaRPr lang="en-GH" dirty="0"/>
          </a:p>
        </p:txBody>
      </p:sp>
      <p:sp>
        <p:nvSpPr>
          <p:cNvPr id="3" name="Content Placeholder 2">
            <a:extLst>
              <a:ext uri="{FF2B5EF4-FFF2-40B4-BE49-F238E27FC236}">
                <a16:creationId xmlns:a16="http://schemas.microsoft.com/office/drawing/2014/main" id="{2B97B668-FC66-B0A1-8A23-C11B08D5F4CA}"/>
              </a:ext>
            </a:extLst>
          </p:cNvPr>
          <p:cNvSpPr>
            <a:spLocks noGrp="1"/>
          </p:cNvSpPr>
          <p:nvPr>
            <p:ph idx="1"/>
          </p:nvPr>
        </p:nvSpPr>
        <p:spPr/>
        <p:txBody>
          <a:bodyPr/>
          <a:lstStyle/>
          <a:p>
            <a:r>
              <a:rPr lang="en-US" dirty="0"/>
              <a:t>The </a:t>
            </a:r>
            <a:r>
              <a:rPr lang="en-US" b="1" dirty="0">
                <a:solidFill>
                  <a:srgbClr val="0070C0"/>
                </a:solidFill>
              </a:rPr>
              <a:t>process </a:t>
            </a:r>
            <a:r>
              <a:rPr lang="en-US" dirty="0"/>
              <a:t>of creating, deploying, delivering, and managing web-based applications and websites is called </a:t>
            </a:r>
            <a:r>
              <a:rPr lang="en-US" b="1" dirty="0">
                <a:solidFill>
                  <a:srgbClr val="0070C0"/>
                </a:solidFill>
              </a:rPr>
              <a:t>Web Development</a:t>
            </a:r>
            <a:r>
              <a:rPr lang="en-US" dirty="0"/>
              <a:t>. </a:t>
            </a:r>
          </a:p>
          <a:p>
            <a:r>
              <a:rPr lang="en-US" dirty="0"/>
              <a:t>So, Web development encompasses everything from designing the user interface (UI) and writing the code (front-end and back-end) to setting up the infrastructure (deployment) and maintaining the performance, security, and scalability (management) of websites or web applications.</a:t>
            </a:r>
          </a:p>
          <a:p>
            <a:r>
              <a:rPr lang="en-US" dirty="0"/>
              <a:t>Also known as </a:t>
            </a:r>
            <a:r>
              <a:rPr lang="en-US" b="1" dirty="0">
                <a:solidFill>
                  <a:srgbClr val="0070C0"/>
                </a:solidFill>
              </a:rPr>
              <a:t>Web Programming</a:t>
            </a:r>
            <a:r>
              <a:rPr lang="en-US" dirty="0"/>
              <a:t>.</a:t>
            </a:r>
          </a:p>
          <a:p>
            <a:r>
              <a:rPr lang="en-US" dirty="0"/>
              <a:t>Examples of Web Applications:  </a:t>
            </a:r>
          </a:p>
          <a:p>
            <a:pPr lvl="1"/>
            <a:r>
              <a:rPr lang="en-US" dirty="0"/>
              <a:t>Social networking sites like Facebook, X(Twitter) or </a:t>
            </a:r>
          </a:p>
          <a:p>
            <a:pPr lvl="1"/>
            <a:r>
              <a:rPr lang="en-US" dirty="0"/>
              <a:t>E-commerce sites like Amazon, eBay, Shopify, Walmart, AliExpress</a:t>
            </a:r>
          </a:p>
          <a:p>
            <a:pPr lvl="1"/>
            <a:r>
              <a:rPr lang="en-US" dirty="0"/>
              <a:t>.... etc.</a:t>
            </a:r>
          </a:p>
          <a:p>
            <a:pPr lvl="1"/>
            <a:r>
              <a:rPr lang="en-US" dirty="0"/>
              <a:t>Including your </a:t>
            </a:r>
            <a:r>
              <a:rPr lang="en-US" dirty="0" err="1"/>
              <a:t>favourite</a:t>
            </a:r>
            <a:r>
              <a:rPr lang="en-US" dirty="0"/>
              <a:t> ChatGPT.</a:t>
            </a:r>
            <a:endParaRPr lang="en-GH" dirty="0"/>
          </a:p>
        </p:txBody>
      </p:sp>
    </p:spTree>
    <p:extLst>
      <p:ext uri="{BB962C8B-B14F-4D97-AF65-F5344CB8AC3E}">
        <p14:creationId xmlns:p14="http://schemas.microsoft.com/office/powerpoint/2010/main" val="3743740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B109-EF65-93C4-5051-3329B5903C16}"/>
              </a:ext>
            </a:extLst>
          </p:cNvPr>
          <p:cNvSpPr>
            <a:spLocks noGrp="1"/>
          </p:cNvSpPr>
          <p:nvPr>
            <p:ph type="title"/>
          </p:nvPr>
        </p:nvSpPr>
        <p:spPr/>
        <p:txBody>
          <a:bodyPr/>
          <a:lstStyle/>
          <a:p>
            <a:r>
              <a:rPr lang="en-IN" dirty="0"/>
              <a:t>Why is it important to me?</a:t>
            </a:r>
            <a:endParaRPr lang="en-GH" dirty="0"/>
          </a:p>
        </p:txBody>
      </p:sp>
      <p:sp>
        <p:nvSpPr>
          <p:cNvPr id="3" name="Content Placeholder 2">
            <a:extLst>
              <a:ext uri="{FF2B5EF4-FFF2-40B4-BE49-F238E27FC236}">
                <a16:creationId xmlns:a16="http://schemas.microsoft.com/office/drawing/2014/main" id="{83D05458-F1A7-7A45-8987-6258A5018745}"/>
              </a:ext>
            </a:extLst>
          </p:cNvPr>
          <p:cNvSpPr>
            <a:spLocks noGrp="1"/>
          </p:cNvSpPr>
          <p:nvPr>
            <p:ph idx="1"/>
          </p:nvPr>
        </p:nvSpPr>
        <p:spPr/>
        <p:txBody>
          <a:bodyPr/>
          <a:lstStyle/>
          <a:p>
            <a:r>
              <a:rPr lang="en-US" dirty="0"/>
              <a:t>Practical Skill Set for the Modern Job Market</a:t>
            </a:r>
          </a:p>
          <a:p>
            <a:pPr lvl="1"/>
            <a:r>
              <a:rPr lang="en-US" dirty="0"/>
              <a:t>many businesses need professionals who can build, deploy, and maintain web applications</a:t>
            </a:r>
          </a:p>
          <a:p>
            <a:pPr lvl="1"/>
            <a:r>
              <a:rPr lang="en-US" dirty="0"/>
              <a:t>CS/CE: a key skill for software engineers, developers, and system architects</a:t>
            </a:r>
          </a:p>
          <a:p>
            <a:pPr lvl="1"/>
            <a:r>
              <a:rPr lang="en-US" dirty="0"/>
              <a:t>MIS: gets the ability to manage and oversee IT projects, a pre-requisite for e-commerce, makes more versatile in roles such as IT project managers, business analysts, and system administrators</a:t>
            </a:r>
          </a:p>
          <a:p>
            <a:endParaRPr lang="en-US" dirty="0"/>
          </a:p>
          <a:p>
            <a:r>
              <a:rPr lang="en-US" dirty="0"/>
              <a:t>Exposure to a Broad Range of Technologies</a:t>
            </a:r>
          </a:p>
          <a:p>
            <a:r>
              <a:rPr lang="en-IN" dirty="0"/>
              <a:t>Understanding the Client-Server Model</a:t>
            </a:r>
          </a:p>
          <a:p>
            <a:r>
              <a:rPr lang="en-US" dirty="0"/>
              <a:t>Hands-on Experience with Databases and APIs</a:t>
            </a:r>
          </a:p>
          <a:p>
            <a:r>
              <a:rPr lang="en-IN" dirty="0"/>
              <a:t>Problem-Solving and Critical Thinking</a:t>
            </a:r>
          </a:p>
          <a:p>
            <a:r>
              <a:rPr lang="en-US" dirty="0"/>
              <a:t>Foundation for Entrepreneurship and Innovation</a:t>
            </a:r>
            <a:endParaRPr lang="en-GH" dirty="0"/>
          </a:p>
        </p:txBody>
      </p:sp>
    </p:spTree>
    <p:extLst>
      <p:ext uri="{BB962C8B-B14F-4D97-AF65-F5344CB8AC3E}">
        <p14:creationId xmlns:p14="http://schemas.microsoft.com/office/powerpoint/2010/main" val="299956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EB109-EF65-93C4-5051-3329B5903C16}"/>
              </a:ext>
            </a:extLst>
          </p:cNvPr>
          <p:cNvSpPr>
            <a:spLocks noGrp="1"/>
          </p:cNvSpPr>
          <p:nvPr>
            <p:ph type="title"/>
          </p:nvPr>
        </p:nvSpPr>
        <p:spPr/>
        <p:txBody>
          <a:bodyPr/>
          <a:lstStyle/>
          <a:p>
            <a:r>
              <a:rPr lang="en-IN" dirty="0"/>
              <a:t>Why is it important to me?</a:t>
            </a:r>
            <a:endParaRPr lang="en-GH" dirty="0"/>
          </a:p>
        </p:txBody>
      </p:sp>
      <p:sp>
        <p:nvSpPr>
          <p:cNvPr id="3" name="Content Placeholder 2">
            <a:extLst>
              <a:ext uri="{FF2B5EF4-FFF2-40B4-BE49-F238E27FC236}">
                <a16:creationId xmlns:a16="http://schemas.microsoft.com/office/drawing/2014/main" id="{83D05458-F1A7-7A45-8987-6258A5018745}"/>
              </a:ext>
            </a:extLst>
          </p:cNvPr>
          <p:cNvSpPr>
            <a:spLocks noGrp="1"/>
          </p:cNvSpPr>
          <p:nvPr>
            <p:ph idx="1"/>
          </p:nvPr>
        </p:nvSpPr>
        <p:spPr/>
        <p:txBody>
          <a:bodyPr/>
          <a:lstStyle/>
          <a:p>
            <a:r>
              <a:rPr lang="en-US" dirty="0"/>
              <a:t>Adaptability to Future Technologies</a:t>
            </a:r>
          </a:p>
          <a:p>
            <a:r>
              <a:rPr lang="en-IN" dirty="0"/>
              <a:t>Demand Across Industries</a:t>
            </a:r>
          </a:p>
          <a:p>
            <a:r>
              <a:rPr lang="en-US" dirty="0"/>
              <a:t>Understanding User Experience (</a:t>
            </a:r>
            <a:r>
              <a:rPr lang="en-US" dirty="0" err="1"/>
              <a:t>UX</a:t>
            </a:r>
            <a:r>
              <a:rPr lang="en-US" dirty="0"/>
              <a:t>) and Human-Computer Interaction (</a:t>
            </a:r>
            <a:r>
              <a:rPr lang="en-US" dirty="0" err="1"/>
              <a:t>HCI</a:t>
            </a:r>
            <a:r>
              <a:rPr lang="en-US" dirty="0"/>
              <a:t>):</a:t>
            </a:r>
          </a:p>
          <a:p>
            <a:pPr lvl="1"/>
            <a:r>
              <a:rPr lang="en-US" dirty="0"/>
              <a:t>creating user-friendly, accessible, and responsive web applications. This understanding of </a:t>
            </a:r>
            <a:r>
              <a:rPr lang="en-US" dirty="0" err="1"/>
              <a:t>UX</a:t>
            </a:r>
            <a:r>
              <a:rPr lang="en-US" dirty="0"/>
              <a:t>/UI design is crucial for any tech role</a:t>
            </a:r>
            <a:endParaRPr lang="en-GH" dirty="0"/>
          </a:p>
        </p:txBody>
      </p:sp>
    </p:spTree>
    <p:extLst>
      <p:ext uri="{BB962C8B-B14F-4D97-AF65-F5344CB8AC3E}">
        <p14:creationId xmlns:p14="http://schemas.microsoft.com/office/powerpoint/2010/main" val="4072027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1C56D-59E2-5E7F-86A6-7DC38D1E30FE}"/>
              </a:ext>
            </a:extLst>
          </p:cNvPr>
          <p:cNvSpPr>
            <a:spLocks noGrp="1"/>
          </p:cNvSpPr>
          <p:nvPr>
            <p:ph type="title"/>
          </p:nvPr>
        </p:nvSpPr>
        <p:spPr/>
        <p:txBody>
          <a:bodyPr/>
          <a:lstStyle/>
          <a:p>
            <a:r>
              <a:rPr lang="en-US" dirty="0"/>
              <a:t>Website Vs Web app</a:t>
            </a:r>
            <a:endParaRPr lang="en-GH" dirty="0"/>
          </a:p>
        </p:txBody>
      </p:sp>
      <p:sp>
        <p:nvSpPr>
          <p:cNvPr id="3" name="Content Placeholder 2">
            <a:extLst>
              <a:ext uri="{FF2B5EF4-FFF2-40B4-BE49-F238E27FC236}">
                <a16:creationId xmlns:a16="http://schemas.microsoft.com/office/drawing/2014/main" id="{4F5DD0B1-FB51-5313-BEAF-1933447FC83D}"/>
              </a:ext>
            </a:extLst>
          </p:cNvPr>
          <p:cNvSpPr>
            <a:spLocks noGrp="1"/>
          </p:cNvSpPr>
          <p:nvPr>
            <p:ph idx="1"/>
          </p:nvPr>
        </p:nvSpPr>
        <p:spPr>
          <a:xfrm>
            <a:off x="241101" y="1386039"/>
            <a:ext cx="4065086" cy="4943141"/>
          </a:xfrm>
        </p:spPr>
        <p:txBody>
          <a:bodyPr>
            <a:normAutofit/>
          </a:bodyPr>
          <a:lstStyle/>
          <a:p>
            <a:r>
              <a:rPr lang="en-US" sz="2000" dirty="0"/>
              <a:t>A </a:t>
            </a:r>
            <a:r>
              <a:rPr lang="en-US" sz="2000" b="1" dirty="0">
                <a:solidFill>
                  <a:srgbClr val="FF0000"/>
                </a:solidFill>
              </a:rPr>
              <a:t>website</a:t>
            </a:r>
            <a:r>
              <a:rPr lang="en-US" sz="2000" dirty="0"/>
              <a:t> is a collection of static or dynamic web pages accessible over the </a:t>
            </a:r>
            <a:r>
              <a:rPr lang="en-US" sz="2000" dirty="0">
                <a:solidFill>
                  <a:srgbClr val="0070C0"/>
                </a:solidFill>
              </a:rPr>
              <a:t>internet</a:t>
            </a:r>
            <a:r>
              <a:rPr lang="en-US" sz="2000" dirty="0"/>
              <a:t> that </a:t>
            </a:r>
            <a:r>
              <a:rPr lang="en-US" sz="2000" dirty="0">
                <a:solidFill>
                  <a:srgbClr val="0070C0"/>
                </a:solidFill>
              </a:rPr>
              <a:t>primarily provide content </a:t>
            </a:r>
            <a:r>
              <a:rPr lang="en-US" sz="2000" dirty="0"/>
              <a:t>to the user.</a:t>
            </a:r>
          </a:p>
          <a:p>
            <a:r>
              <a:rPr lang="en-US" sz="2000" dirty="0"/>
              <a:t>Purpose: The main goal is to deliver information (e.g., articles, blogs, news, company profiles).</a:t>
            </a:r>
          </a:p>
          <a:p>
            <a:r>
              <a:rPr lang="en-US" sz="2000" dirty="0"/>
              <a:t>User interaction is generally limited to navigating between pages and consuming content (e.g., reading, watching videos, filling out forms).</a:t>
            </a:r>
          </a:p>
          <a:p>
            <a:r>
              <a:rPr lang="en-US" sz="2000" dirty="0"/>
              <a:t>Examples: News websites, personal blogs, informational company websites.</a:t>
            </a:r>
            <a:endParaRPr lang="en-GH" sz="2000" dirty="0"/>
          </a:p>
        </p:txBody>
      </p:sp>
      <p:sp>
        <p:nvSpPr>
          <p:cNvPr id="5" name="Content Placeholder 2">
            <a:extLst>
              <a:ext uri="{FF2B5EF4-FFF2-40B4-BE49-F238E27FC236}">
                <a16:creationId xmlns:a16="http://schemas.microsoft.com/office/drawing/2014/main" id="{41B9715D-DBC7-FC43-48E9-56F36E3960C3}"/>
              </a:ext>
            </a:extLst>
          </p:cNvPr>
          <p:cNvSpPr txBox="1">
            <a:spLocks/>
          </p:cNvSpPr>
          <p:nvPr/>
        </p:nvSpPr>
        <p:spPr>
          <a:xfrm>
            <a:off x="4837815" y="1386039"/>
            <a:ext cx="4108979" cy="494314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A </a:t>
            </a:r>
            <a:r>
              <a:rPr lang="en-US" sz="2000" b="1" dirty="0">
                <a:solidFill>
                  <a:srgbClr val="FF0000"/>
                </a:solidFill>
              </a:rPr>
              <a:t>web app </a:t>
            </a:r>
            <a:r>
              <a:rPr lang="en-US" sz="2000" dirty="0"/>
              <a:t>is a dynamic, interactive application that runs in a web browser, often requiring user input to perform various tasks.</a:t>
            </a:r>
          </a:p>
          <a:p>
            <a:r>
              <a:rPr lang="en-US" sz="2000" dirty="0"/>
              <a:t>Purpose: It is designed to perform complex tasks, interact with databases, and offer a more application-like experience (e.g., performing tasks, creating content, manipulating data).</a:t>
            </a:r>
          </a:p>
          <a:p>
            <a:r>
              <a:rPr lang="en-US" sz="2000" dirty="0"/>
              <a:t>Users can perform various operations such as form submissions, account management, transactions, or real-time interactions.</a:t>
            </a:r>
          </a:p>
          <a:p>
            <a:r>
              <a:rPr lang="en-US" sz="2000" dirty="0"/>
              <a:t>Examples: Google Docs, Gmail, online banking apps, social media platforms.</a:t>
            </a:r>
            <a:endParaRPr lang="en-GH" sz="2000" dirty="0"/>
          </a:p>
        </p:txBody>
      </p:sp>
      <p:cxnSp>
        <p:nvCxnSpPr>
          <p:cNvPr id="7" name="Straight Connector 6">
            <a:extLst>
              <a:ext uri="{FF2B5EF4-FFF2-40B4-BE49-F238E27FC236}">
                <a16:creationId xmlns:a16="http://schemas.microsoft.com/office/drawing/2014/main" id="{EF37BFBA-13AF-5AFD-5D3B-FF183A02D5D8}"/>
              </a:ext>
            </a:extLst>
          </p:cNvPr>
          <p:cNvCxnSpPr/>
          <p:nvPr/>
        </p:nvCxnSpPr>
        <p:spPr>
          <a:xfrm>
            <a:off x="4572000" y="1499191"/>
            <a:ext cx="0" cy="47314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0432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727E3-6CF6-3C58-58A8-8FFA23D8C2E1}"/>
              </a:ext>
            </a:extLst>
          </p:cNvPr>
          <p:cNvSpPr>
            <a:spLocks noGrp="1"/>
          </p:cNvSpPr>
          <p:nvPr>
            <p:ph type="title"/>
          </p:nvPr>
        </p:nvSpPr>
        <p:spPr/>
        <p:txBody>
          <a:bodyPr/>
          <a:lstStyle/>
          <a:p>
            <a:r>
              <a:rPr lang="en-IN" dirty="0"/>
              <a:t>WWW Vs Web</a:t>
            </a:r>
            <a:endParaRPr lang="en-GH" dirty="0"/>
          </a:p>
        </p:txBody>
      </p:sp>
      <p:sp>
        <p:nvSpPr>
          <p:cNvPr id="3" name="Content Placeholder 2">
            <a:extLst>
              <a:ext uri="{FF2B5EF4-FFF2-40B4-BE49-F238E27FC236}">
                <a16:creationId xmlns:a16="http://schemas.microsoft.com/office/drawing/2014/main" id="{2EB0CAA2-AF82-F0A1-6E9F-D31A5F5D58B6}"/>
              </a:ext>
            </a:extLst>
          </p:cNvPr>
          <p:cNvSpPr>
            <a:spLocks noGrp="1"/>
          </p:cNvSpPr>
          <p:nvPr>
            <p:ph idx="1"/>
          </p:nvPr>
        </p:nvSpPr>
        <p:spPr/>
        <p:txBody>
          <a:bodyPr/>
          <a:lstStyle/>
          <a:p>
            <a:r>
              <a:rPr lang="en-US" dirty="0"/>
              <a:t>Often used interchangeably. But they can have nuanced differences</a:t>
            </a:r>
          </a:p>
          <a:p>
            <a:r>
              <a:rPr lang="en-US" b="1" dirty="0">
                <a:solidFill>
                  <a:srgbClr val="0070C0"/>
                </a:solidFill>
              </a:rPr>
              <a:t>WWW (World Wide Web)</a:t>
            </a:r>
            <a:r>
              <a:rPr lang="en-US" dirty="0"/>
              <a:t>: </a:t>
            </a:r>
          </a:p>
          <a:p>
            <a:pPr lvl="1"/>
            <a:r>
              <a:rPr lang="en-US" dirty="0"/>
              <a:t>The original system of hyperlinked documents accessible over the internet, commonly used as part of URLs. </a:t>
            </a:r>
          </a:p>
          <a:p>
            <a:pPr lvl="1"/>
            <a:r>
              <a:rPr lang="en-US" dirty="0"/>
              <a:t>Historically significant but now often used synonymously with the Web.</a:t>
            </a:r>
          </a:p>
          <a:p>
            <a:pPr marL="457200" lvl="1" indent="0">
              <a:buNone/>
            </a:pPr>
            <a:endParaRPr lang="en-US" dirty="0"/>
          </a:p>
          <a:p>
            <a:r>
              <a:rPr lang="en-US" b="1" dirty="0">
                <a:solidFill>
                  <a:srgbClr val="0070C0"/>
                </a:solidFill>
              </a:rPr>
              <a:t>Web</a:t>
            </a:r>
            <a:r>
              <a:rPr lang="en-US" dirty="0"/>
              <a:t>: </a:t>
            </a:r>
          </a:p>
          <a:p>
            <a:pPr lvl="1"/>
            <a:r>
              <a:rPr lang="en-US" dirty="0"/>
              <a:t>A broader term that refers to all websites, web applications, and services accessed via the Internet. </a:t>
            </a:r>
          </a:p>
          <a:p>
            <a:pPr lvl="1"/>
            <a:r>
              <a:rPr lang="en-US" dirty="0"/>
              <a:t>It includes the WWW but also encompasses modern developments like dynamic web apps, APIs, and more.</a:t>
            </a:r>
            <a:endParaRPr lang="en-IN" dirty="0"/>
          </a:p>
          <a:p>
            <a:pPr marL="457200" lvl="1" indent="0">
              <a:buNone/>
            </a:pPr>
            <a:endParaRPr lang="en-US" dirty="0"/>
          </a:p>
        </p:txBody>
      </p:sp>
    </p:spTree>
    <p:extLst>
      <p:ext uri="{BB962C8B-B14F-4D97-AF65-F5344CB8AC3E}">
        <p14:creationId xmlns:p14="http://schemas.microsoft.com/office/powerpoint/2010/main" val="3341079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727E3-6CF6-3C58-58A8-8FFA23D8C2E1}"/>
              </a:ext>
            </a:extLst>
          </p:cNvPr>
          <p:cNvSpPr>
            <a:spLocks noGrp="1"/>
          </p:cNvSpPr>
          <p:nvPr>
            <p:ph type="title"/>
          </p:nvPr>
        </p:nvSpPr>
        <p:spPr/>
        <p:txBody>
          <a:bodyPr/>
          <a:lstStyle/>
          <a:p>
            <a:r>
              <a:rPr lang="en-IN" dirty="0"/>
              <a:t>WWW Vs Web: Key Differences</a:t>
            </a:r>
            <a:endParaRPr lang="en-GH" dirty="0"/>
          </a:p>
        </p:txBody>
      </p:sp>
      <p:pic>
        <p:nvPicPr>
          <p:cNvPr id="5" name="Content Placeholder 4">
            <a:extLst>
              <a:ext uri="{FF2B5EF4-FFF2-40B4-BE49-F238E27FC236}">
                <a16:creationId xmlns:a16="http://schemas.microsoft.com/office/drawing/2014/main" id="{0AB5DF36-A536-CC4B-6FA7-3B62F61D3C37}"/>
              </a:ext>
            </a:extLst>
          </p:cNvPr>
          <p:cNvPicPr>
            <a:picLocks noGrp="1" noChangeAspect="1"/>
          </p:cNvPicPr>
          <p:nvPr>
            <p:ph idx="1"/>
          </p:nvPr>
        </p:nvPicPr>
        <p:blipFill>
          <a:blip r:embed="rId2"/>
          <a:stretch>
            <a:fillRect/>
          </a:stretch>
        </p:blipFill>
        <p:spPr>
          <a:xfrm>
            <a:off x="241300" y="1508555"/>
            <a:ext cx="8682038" cy="4698141"/>
          </a:xfrm>
        </p:spPr>
      </p:pic>
    </p:spTree>
    <p:extLst>
      <p:ext uri="{BB962C8B-B14F-4D97-AF65-F5344CB8AC3E}">
        <p14:creationId xmlns:p14="http://schemas.microsoft.com/office/powerpoint/2010/main" val="1460272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F64A3-87F0-F269-B7D7-D1787B35A1E8}"/>
              </a:ext>
            </a:extLst>
          </p:cNvPr>
          <p:cNvSpPr>
            <a:spLocks noGrp="1"/>
          </p:cNvSpPr>
          <p:nvPr>
            <p:ph type="title"/>
          </p:nvPr>
        </p:nvSpPr>
        <p:spPr/>
        <p:txBody>
          <a:bodyPr/>
          <a:lstStyle/>
          <a:p>
            <a:r>
              <a:rPr lang="en-IN" dirty="0"/>
              <a:t>History of the Web (WWW)</a:t>
            </a:r>
            <a:endParaRPr lang="en-GH" dirty="0"/>
          </a:p>
        </p:txBody>
      </p:sp>
      <p:sp>
        <p:nvSpPr>
          <p:cNvPr id="3" name="Content Placeholder 2">
            <a:extLst>
              <a:ext uri="{FF2B5EF4-FFF2-40B4-BE49-F238E27FC236}">
                <a16:creationId xmlns:a16="http://schemas.microsoft.com/office/drawing/2014/main" id="{E73A237A-DCAE-5D4B-7D78-DE5B9BFA0782}"/>
              </a:ext>
            </a:extLst>
          </p:cNvPr>
          <p:cNvSpPr>
            <a:spLocks noGrp="1"/>
          </p:cNvSpPr>
          <p:nvPr>
            <p:ph idx="1"/>
          </p:nvPr>
        </p:nvSpPr>
        <p:spPr/>
        <p:txBody>
          <a:bodyPr/>
          <a:lstStyle/>
          <a:p>
            <a:pPr marL="0" indent="0">
              <a:buNone/>
            </a:pPr>
            <a:r>
              <a:rPr lang="en-US" dirty="0"/>
              <a:t>Useful Reading:</a:t>
            </a:r>
          </a:p>
          <a:p>
            <a:pPr marL="457200" lvl="1" indent="0">
              <a:buNone/>
            </a:pPr>
            <a:r>
              <a:rPr lang="en-US" dirty="0">
                <a:hlinkClick r:id="rId2"/>
              </a:rPr>
              <a:t>https://en.wikipedia.org/wiki/History_of_the_World_Wide_Web</a:t>
            </a:r>
            <a:r>
              <a:rPr lang="en-US" dirty="0"/>
              <a:t> </a:t>
            </a:r>
            <a:endParaRPr lang="en-IN" dirty="0"/>
          </a:p>
          <a:p>
            <a:pPr marL="457200" lvl="1" indent="0">
              <a:buNone/>
            </a:pPr>
            <a:r>
              <a:rPr lang="en-US" dirty="0">
                <a:hlinkClick r:id="rId3"/>
              </a:rPr>
              <a:t>World Wide Web Consortium</a:t>
            </a:r>
            <a:endParaRPr lang="en-US" dirty="0"/>
          </a:p>
          <a:p>
            <a:pPr marL="457200" lvl="1" indent="0">
              <a:buNone/>
            </a:pPr>
            <a:r>
              <a:rPr lang="en-US" dirty="0">
                <a:hlinkClick r:id="rId4"/>
              </a:rPr>
              <a:t>The History of the Web</a:t>
            </a:r>
            <a:endParaRPr lang="en-US" dirty="0"/>
          </a:p>
          <a:p>
            <a:pPr marL="457200" lvl="1" indent="0">
              <a:buNone/>
            </a:pPr>
            <a:r>
              <a:rPr lang="en-US" dirty="0">
                <a:hlinkClick r:id="rId5"/>
              </a:rPr>
              <a:t>Computer History Museum</a:t>
            </a:r>
            <a:r>
              <a:rPr lang="en-US" dirty="0"/>
              <a:t> </a:t>
            </a:r>
          </a:p>
          <a:p>
            <a:pPr marL="457200" lvl="1" indent="0">
              <a:buNone/>
            </a:pPr>
            <a:r>
              <a:rPr lang="en-US" dirty="0">
                <a:hlinkClick r:id="rId6"/>
              </a:rPr>
              <a:t>World Wide Web Foundation’s Web at 30</a:t>
            </a:r>
            <a:r>
              <a:rPr lang="en-US" dirty="0"/>
              <a:t> </a:t>
            </a:r>
          </a:p>
          <a:p>
            <a:pPr marL="457200" lvl="1" indent="0">
              <a:buNone/>
            </a:pPr>
            <a:r>
              <a:rPr lang="en-US" dirty="0">
                <a:hlinkClick r:id="rId7"/>
              </a:rPr>
              <a:t>The Web Foundation</a:t>
            </a:r>
            <a:endParaRPr lang="en-US" dirty="0"/>
          </a:p>
          <a:p>
            <a:pPr marL="457200" lvl="1" indent="0">
              <a:buNone/>
            </a:pPr>
            <a:endParaRPr lang="en-US" dirty="0"/>
          </a:p>
        </p:txBody>
      </p:sp>
    </p:spTree>
    <p:extLst>
      <p:ext uri="{BB962C8B-B14F-4D97-AF65-F5344CB8AC3E}">
        <p14:creationId xmlns:p14="http://schemas.microsoft.com/office/powerpoint/2010/main" val="2392896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CFE89-2468-EDBB-40C7-7DB606D7AC42}"/>
              </a:ext>
            </a:extLst>
          </p:cNvPr>
          <p:cNvSpPr>
            <a:spLocks noGrp="1"/>
          </p:cNvSpPr>
          <p:nvPr>
            <p:ph type="title"/>
          </p:nvPr>
        </p:nvSpPr>
        <p:spPr/>
        <p:txBody>
          <a:bodyPr/>
          <a:lstStyle/>
          <a:p>
            <a:r>
              <a:rPr lang="en-IN" dirty="0"/>
              <a:t>Internet vs Web</a:t>
            </a:r>
            <a:endParaRPr lang="en-GH" dirty="0"/>
          </a:p>
        </p:txBody>
      </p:sp>
      <p:sp>
        <p:nvSpPr>
          <p:cNvPr id="3" name="Content Placeholder 2">
            <a:extLst>
              <a:ext uri="{FF2B5EF4-FFF2-40B4-BE49-F238E27FC236}">
                <a16:creationId xmlns:a16="http://schemas.microsoft.com/office/drawing/2014/main" id="{9FC045DC-AD73-0982-886F-6F3914F1124F}"/>
              </a:ext>
            </a:extLst>
          </p:cNvPr>
          <p:cNvSpPr>
            <a:spLocks noGrp="1"/>
          </p:cNvSpPr>
          <p:nvPr>
            <p:ph idx="1"/>
          </p:nvPr>
        </p:nvSpPr>
        <p:spPr/>
        <p:txBody>
          <a:bodyPr/>
          <a:lstStyle/>
          <a:p>
            <a:r>
              <a:rPr lang="en-US" dirty="0"/>
              <a:t>The </a:t>
            </a:r>
            <a:r>
              <a:rPr lang="en-US" b="1" dirty="0">
                <a:solidFill>
                  <a:srgbClr val="0070C0"/>
                </a:solidFill>
              </a:rPr>
              <a:t>Internet</a:t>
            </a:r>
            <a:r>
              <a:rPr lang="en-US" dirty="0"/>
              <a:t> is the global network of interconnected computers and servers that communicate with each other. It’s a </a:t>
            </a:r>
            <a:r>
              <a:rPr lang="en-US" dirty="0">
                <a:solidFill>
                  <a:srgbClr val="0070C0"/>
                </a:solidFill>
              </a:rPr>
              <a:t>massive infrastructure</a:t>
            </a:r>
            <a:r>
              <a:rPr lang="en-US" dirty="0"/>
              <a:t> that allows computers worldwide to exchange information using a variety of protocols.</a:t>
            </a:r>
          </a:p>
          <a:p>
            <a:r>
              <a:rPr lang="en-US" dirty="0"/>
              <a:t>The </a:t>
            </a:r>
            <a:r>
              <a:rPr lang="en-US" b="1" dirty="0">
                <a:solidFill>
                  <a:srgbClr val="0070C0"/>
                </a:solidFill>
              </a:rPr>
              <a:t>Web (or World Wide Web)</a:t>
            </a:r>
            <a:r>
              <a:rPr lang="en-US" dirty="0"/>
              <a:t> is one of the services that run on the Internet. It consists of interconnected documents and resources (such as websites, web pages, images, videos, etc.) that are accessed via browsers like Chrome, Firefox, or Safari.</a:t>
            </a:r>
          </a:p>
          <a:p>
            <a:endParaRPr lang="en-US" dirty="0"/>
          </a:p>
          <a:p>
            <a:r>
              <a:rPr lang="en-US" b="1" dirty="0">
                <a:solidFill>
                  <a:srgbClr val="FF0000"/>
                </a:solidFill>
              </a:rPr>
              <a:t>Analogy</a:t>
            </a:r>
            <a:r>
              <a:rPr lang="en-US" dirty="0"/>
              <a:t>: If the Internet is the roads and highways, the Web is like the shops, homes, and other places you visit while travelling on those roads.</a:t>
            </a:r>
          </a:p>
          <a:p>
            <a:endParaRPr lang="en-GH" dirty="0"/>
          </a:p>
        </p:txBody>
      </p:sp>
    </p:spTree>
    <p:extLst>
      <p:ext uri="{BB962C8B-B14F-4D97-AF65-F5344CB8AC3E}">
        <p14:creationId xmlns:p14="http://schemas.microsoft.com/office/powerpoint/2010/main" val="3907837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CFE89-2468-EDBB-40C7-7DB606D7AC42}"/>
              </a:ext>
            </a:extLst>
          </p:cNvPr>
          <p:cNvSpPr>
            <a:spLocks noGrp="1"/>
          </p:cNvSpPr>
          <p:nvPr>
            <p:ph type="title"/>
          </p:nvPr>
        </p:nvSpPr>
        <p:spPr/>
        <p:txBody>
          <a:bodyPr/>
          <a:lstStyle/>
          <a:p>
            <a:r>
              <a:rPr lang="en-IN" dirty="0"/>
              <a:t>Internet vs Web: Key Differences</a:t>
            </a:r>
            <a:endParaRPr lang="en-GH" dirty="0"/>
          </a:p>
        </p:txBody>
      </p:sp>
      <p:pic>
        <p:nvPicPr>
          <p:cNvPr id="5" name="Content Placeholder 4">
            <a:extLst>
              <a:ext uri="{FF2B5EF4-FFF2-40B4-BE49-F238E27FC236}">
                <a16:creationId xmlns:a16="http://schemas.microsoft.com/office/drawing/2014/main" id="{9DD2480E-1491-2CD9-FDB9-7D6190AC24A5}"/>
              </a:ext>
            </a:extLst>
          </p:cNvPr>
          <p:cNvPicPr>
            <a:picLocks noGrp="1" noChangeAspect="1"/>
          </p:cNvPicPr>
          <p:nvPr>
            <p:ph idx="1"/>
          </p:nvPr>
        </p:nvPicPr>
        <p:blipFill>
          <a:blip r:embed="rId2"/>
          <a:stretch>
            <a:fillRect/>
          </a:stretch>
        </p:blipFill>
        <p:spPr>
          <a:xfrm>
            <a:off x="241300" y="1876198"/>
            <a:ext cx="8682038" cy="3962854"/>
          </a:xfrm>
        </p:spPr>
      </p:pic>
    </p:spTree>
    <p:extLst>
      <p:ext uri="{BB962C8B-B14F-4D97-AF65-F5344CB8AC3E}">
        <p14:creationId xmlns:p14="http://schemas.microsoft.com/office/powerpoint/2010/main" val="3080826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8CB67-8464-C9CF-1D98-E59C908C566C}"/>
              </a:ext>
            </a:extLst>
          </p:cNvPr>
          <p:cNvSpPr>
            <a:spLocks noGrp="1"/>
          </p:cNvSpPr>
          <p:nvPr>
            <p:ph type="title"/>
          </p:nvPr>
        </p:nvSpPr>
        <p:spPr/>
        <p:txBody>
          <a:bodyPr/>
          <a:lstStyle/>
          <a:p>
            <a:r>
              <a:rPr lang="en-IN" dirty="0"/>
              <a:t>The Web Development</a:t>
            </a:r>
            <a:endParaRPr lang="en-GH" dirty="0"/>
          </a:p>
        </p:txBody>
      </p:sp>
      <p:sp>
        <p:nvSpPr>
          <p:cNvPr id="3" name="Content Placeholder 2">
            <a:extLst>
              <a:ext uri="{FF2B5EF4-FFF2-40B4-BE49-F238E27FC236}">
                <a16:creationId xmlns:a16="http://schemas.microsoft.com/office/drawing/2014/main" id="{06C7647B-EBBB-4EFA-38D2-75013CAD59BC}"/>
              </a:ext>
            </a:extLst>
          </p:cNvPr>
          <p:cNvSpPr>
            <a:spLocks noGrp="1"/>
          </p:cNvSpPr>
          <p:nvPr>
            <p:ph idx="1"/>
          </p:nvPr>
        </p:nvSpPr>
        <p:spPr/>
        <p:txBody>
          <a:bodyPr/>
          <a:lstStyle/>
          <a:p>
            <a:pPr marL="0" indent="0">
              <a:buNone/>
            </a:pPr>
            <a:r>
              <a:rPr lang="en-US" dirty="0"/>
              <a:t>The process of Web development is typically divided into:</a:t>
            </a:r>
          </a:p>
          <a:p>
            <a:pPr marL="457200" indent="-457200">
              <a:buFont typeface="+mj-lt"/>
              <a:buAutoNum type="arabicParenR"/>
            </a:pPr>
            <a:r>
              <a:rPr lang="en-US" dirty="0">
                <a:solidFill>
                  <a:srgbClr val="FF0000"/>
                </a:solidFill>
              </a:rPr>
              <a:t>Front-End Development</a:t>
            </a:r>
            <a:r>
              <a:rPr lang="en-US" dirty="0"/>
              <a:t>: Focuses on the client side, working with technologies like HTML, CSS, and JavaScript to create the user interface.</a:t>
            </a:r>
          </a:p>
          <a:p>
            <a:pPr marL="457200" indent="-457200">
              <a:buFont typeface="+mj-lt"/>
              <a:buAutoNum type="arabicParenR"/>
            </a:pPr>
            <a:r>
              <a:rPr lang="en-US" dirty="0">
                <a:solidFill>
                  <a:srgbClr val="FF0000"/>
                </a:solidFill>
              </a:rPr>
              <a:t>Back-End Development</a:t>
            </a:r>
            <a:r>
              <a:rPr lang="en-US" dirty="0"/>
              <a:t>: Involves server-side programming, databases, and APIs to handle the application’s business logic and data processing.</a:t>
            </a:r>
          </a:p>
          <a:p>
            <a:pPr marL="457200" indent="-457200">
              <a:buFont typeface="+mj-lt"/>
              <a:buAutoNum type="arabicParenR"/>
            </a:pPr>
            <a:r>
              <a:rPr lang="en-US" dirty="0">
                <a:solidFill>
                  <a:srgbClr val="FF0000"/>
                </a:solidFill>
              </a:rPr>
              <a:t>Full-Stack Development</a:t>
            </a:r>
            <a:r>
              <a:rPr lang="en-US" dirty="0"/>
              <a:t>: Combines both front-end and back-end development, managing the entire stack of web technologies.</a:t>
            </a:r>
          </a:p>
          <a:p>
            <a:pPr marL="0" indent="0">
              <a:buNone/>
            </a:pPr>
            <a:endParaRPr lang="en-US" dirty="0"/>
          </a:p>
          <a:p>
            <a:pPr marL="0" indent="0">
              <a:buNone/>
            </a:pPr>
            <a:r>
              <a:rPr lang="en-US" dirty="0"/>
              <a:t>It's an iterative process that often involves collaboration between developers, designers, system administrators, and other IT professionals.</a:t>
            </a:r>
            <a:endParaRPr lang="en-GH" dirty="0"/>
          </a:p>
        </p:txBody>
      </p:sp>
    </p:spTree>
    <p:extLst>
      <p:ext uri="{BB962C8B-B14F-4D97-AF65-F5344CB8AC3E}">
        <p14:creationId xmlns:p14="http://schemas.microsoft.com/office/powerpoint/2010/main" val="2394199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E8E0-97E0-C2A8-F10D-2E7835DC0E11}"/>
              </a:ext>
            </a:extLst>
          </p:cNvPr>
          <p:cNvSpPr>
            <a:spLocks noGrp="1"/>
          </p:cNvSpPr>
          <p:nvPr>
            <p:ph type="title"/>
          </p:nvPr>
        </p:nvSpPr>
        <p:spPr/>
        <p:txBody>
          <a:bodyPr/>
          <a:lstStyle/>
          <a:p>
            <a:r>
              <a:rPr lang="en-IN" dirty="0"/>
              <a:t>Web Technologies</a:t>
            </a:r>
            <a:endParaRPr lang="en-GH" dirty="0"/>
          </a:p>
        </p:txBody>
      </p:sp>
      <p:sp>
        <p:nvSpPr>
          <p:cNvPr id="3" name="Content Placeholder 2">
            <a:extLst>
              <a:ext uri="{FF2B5EF4-FFF2-40B4-BE49-F238E27FC236}">
                <a16:creationId xmlns:a16="http://schemas.microsoft.com/office/drawing/2014/main" id="{12250A9E-4953-2C16-1DF2-6495C9E749BF}"/>
              </a:ext>
            </a:extLst>
          </p:cNvPr>
          <p:cNvSpPr>
            <a:spLocks noGrp="1"/>
          </p:cNvSpPr>
          <p:nvPr>
            <p:ph idx="1"/>
          </p:nvPr>
        </p:nvSpPr>
        <p:spPr/>
        <p:txBody>
          <a:bodyPr/>
          <a:lstStyle/>
          <a:p>
            <a:r>
              <a:rPr lang="en-IN" b="1" dirty="0">
                <a:solidFill>
                  <a:srgbClr val="0070C0"/>
                </a:solidFill>
              </a:rPr>
              <a:t>Front-End (Client-Side) Technologies</a:t>
            </a:r>
            <a:r>
              <a:rPr lang="en-IN" dirty="0"/>
              <a:t>:</a:t>
            </a:r>
          </a:p>
          <a:p>
            <a:r>
              <a:rPr lang="en-IN" dirty="0">
                <a:solidFill>
                  <a:srgbClr val="C00000"/>
                </a:solidFill>
              </a:rPr>
              <a:t>HTML</a:t>
            </a:r>
            <a:r>
              <a:rPr lang="en-IN" dirty="0"/>
              <a:t> (Hypertext Markup Language): Defines the structure of web pages using elements like headings, paragraphs, and links.</a:t>
            </a:r>
          </a:p>
          <a:p>
            <a:r>
              <a:rPr lang="en-IN" dirty="0">
                <a:solidFill>
                  <a:srgbClr val="C00000"/>
                </a:solidFill>
              </a:rPr>
              <a:t>CSS</a:t>
            </a:r>
            <a:r>
              <a:rPr lang="en-IN" dirty="0"/>
              <a:t> (Cascading Style Sheets): Controls the appearance and layout of web pages, such as fonts, colours, and positioning.</a:t>
            </a:r>
          </a:p>
          <a:p>
            <a:r>
              <a:rPr lang="en-IN" dirty="0">
                <a:solidFill>
                  <a:srgbClr val="C00000"/>
                </a:solidFill>
              </a:rPr>
              <a:t>JavaScript</a:t>
            </a:r>
            <a:r>
              <a:rPr lang="en-IN" dirty="0"/>
              <a:t>: A programming language that enables dynamic content and interactivity on websites, such as form validation, animations, and real-time updates.</a:t>
            </a:r>
          </a:p>
          <a:p>
            <a:r>
              <a:rPr lang="en-IN" dirty="0">
                <a:solidFill>
                  <a:srgbClr val="C00000"/>
                </a:solidFill>
              </a:rPr>
              <a:t>Frameworks &amp; Libraries</a:t>
            </a:r>
            <a:r>
              <a:rPr lang="en-IN" dirty="0"/>
              <a:t>: Tools that simplify web development like</a:t>
            </a:r>
          </a:p>
          <a:p>
            <a:pPr lvl="1"/>
            <a:r>
              <a:rPr lang="en-IN" dirty="0"/>
              <a:t>React, Angular, Vue.js (JavaScript frameworks) for building user interfaces.</a:t>
            </a:r>
          </a:p>
          <a:p>
            <a:pPr lvl="1"/>
            <a:r>
              <a:rPr lang="en-IN" dirty="0"/>
              <a:t>Bootstrap and Tailwind CSS (CSS frameworks) for responsive design.</a:t>
            </a:r>
            <a:endParaRPr lang="en-GH" dirty="0"/>
          </a:p>
        </p:txBody>
      </p:sp>
    </p:spTree>
    <p:extLst>
      <p:ext uri="{BB962C8B-B14F-4D97-AF65-F5344CB8AC3E}">
        <p14:creationId xmlns:p14="http://schemas.microsoft.com/office/powerpoint/2010/main" val="2880335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E8E0-97E0-C2A8-F10D-2E7835DC0E11}"/>
              </a:ext>
            </a:extLst>
          </p:cNvPr>
          <p:cNvSpPr>
            <a:spLocks noGrp="1"/>
          </p:cNvSpPr>
          <p:nvPr>
            <p:ph type="title"/>
          </p:nvPr>
        </p:nvSpPr>
        <p:spPr/>
        <p:txBody>
          <a:bodyPr/>
          <a:lstStyle/>
          <a:p>
            <a:r>
              <a:rPr lang="en-IN" dirty="0"/>
              <a:t>Web Technologies</a:t>
            </a:r>
            <a:endParaRPr lang="en-GH" dirty="0"/>
          </a:p>
        </p:txBody>
      </p:sp>
      <p:sp>
        <p:nvSpPr>
          <p:cNvPr id="3" name="Content Placeholder 2">
            <a:extLst>
              <a:ext uri="{FF2B5EF4-FFF2-40B4-BE49-F238E27FC236}">
                <a16:creationId xmlns:a16="http://schemas.microsoft.com/office/drawing/2014/main" id="{12250A9E-4953-2C16-1DF2-6495C9E749BF}"/>
              </a:ext>
            </a:extLst>
          </p:cNvPr>
          <p:cNvSpPr>
            <a:spLocks noGrp="1"/>
          </p:cNvSpPr>
          <p:nvPr>
            <p:ph idx="1"/>
          </p:nvPr>
        </p:nvSpPr>
        <p:spPr/>
        <p:txBody>
          <a:bodyPr/>
          <a:lstStyle/>
          <a:p>
            <a:r>
              <a:rPr lang="en-IN" b="1" dirty="0">
                <a:solidFill>
                  <a:srgbClr val="0070C0"/>
                </a:solidFill>
              </a:rPr>
              <a:t>Back-End (Server-Side) Technologies</a:t>
            </a:r>
            <a:r>
              <a:rPr lang="en-IN" dirty="0"/>
              <a:t>:</a:t>
            </a:r>
          </a:p>
          <a:p>
            <a:r>
              <a:rPr lang="en-IN" dirty="0">
                <a:solidFill>
                  <a:srgbClr val="C00000"/>
                </a:solidFill>
              </a:rPr>
              <a:t>Server-Side Programming Languages</a:t>
            </a:r>
            <a:r>
              <a:rPr lang="en-IN" dirty="0"/>
              <a:t>: Languages like Node.js, PHP, Python (Django, Flask), Ruby on Rails, and Java (Spring) handle data processing, business logic, and database interactions.</a:t>
            </a:r>
          </a:p>
          <a:p>
            <a:r>
              <a:rPr lang="en-IN" dirty="0">
                <a:solidFill>
                  <a:srgbClr val="C00000"/>
                </a:solidFill>
              </a:rPr>
              <a:t>Databases</a:t>
            </a:r>
            <a:r>
              <a:rPr lang="en-IN" dirty="0"/>
              <a:t>: Store and retrieve data for web applications. Examples include MySQL, PostgreSQL, MongoDB, and Redis.</a:t>
            </a:r>
          </a:p>
          <a:p>
            <a:r>
              <a:rPr lang="en-IN" dirty="0">
                <a:solidFill>
                  <a:srgbClr val="C00000"/>
                </a:solidFill>
              </a:rPr>
              <a:t>APIs (Application Programming Interfaces)</a:t>
            </a:r>
            <a:r>
              <a:rPr lang="en-IN" dirty="0"/>
              <a:t>: Enable communication between different software applications. REST and </a:t>
            </a:r>
            <a:r>
              <a:rPr lang="en-IN" dirty="0" err="1"/>
              <a:t>GraphQL</a:t>
            </a:r>
            <a:r>
              <a:rPr lang="en-IN" dirty="0"/>
              <a:t> are popular for web APIs.</a:t>
            </a:r>
          </a:p>
          <a:p>
            <a:r>
              <a:rPr lang="en-IN" dirty="0">
                <a:solidFill>
                  <a:srgbClr val="C00000"/>
                </a:solidFill>
              </a:rPr>
              <a:t>Web Servers</a:t>
            </a:r>
            <a:r>
              <a:rPr lang="en-IN" dirty="0"/>
              <a:t>: Software that serves web pages to users. Common servers include Apache, NGINX, and IIS.</a:t>
            </a:r>
            <a:endParaRPr lang="en-GH" dirty="0"/>
          </a:p>
        </p:txBody>
      </p:sp>
    </p:spTree>
    <p:extLst>
      <p:ext uri="{BB962C8B-B14F-4D97-AF65-F5344CB8AC3E}">
        <p14:creationId xmlns:p14="http://schemas.microsoft.com/office/powerpoint/2010/main" val="1344704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E8E0-97E0-C2A8-F10D-2E7835DC0E11}"/>
              </a:ext>
            </a:extLst>
          </p:cNvPr>
          <p:cNvSpPr>
            <a:spLocks noGrp="1"/>
          </p:cNvSpPr>
          <p:nvPr>
            <p:ph type="title"/>
          </p:nvPr>
        </p:nvSpPr>
        <p:spPr/>
        <p:txBody>
          <a:bodyPr/>
          <a:lstStyle/>
          <a:p>
            <a:r>
              <a:rPr lang="en-IN" dirty="0"/>
              <a:t>Web Technologies</a:t>
            </a:r>
            <a:endParaRPr lang="en-GH" dirty="0"/>
          </a:p>
        </p:txBody>
      </p:sp>
      <p:sp>
        <p:nvSpPr>
          <p:cNvPr id="3" name="Content Placeholder 2">
            <a:extLst>
              <a:ext uri="{FF2B5EF4-FFF2-40B4-BE49-F238E27FC236}">
                <a16:creationId xmlns:a16="http://schemas.microsoft.com/office/drawing/2014/main" id="{12250A9E-4953-2C16-1DF2-6495C9E749BF}"/>
              </a:ext>
            </a:extLst>
          </p:cNvPr>
          <p:cNvSpPr>
            <a:spLocks noGrp="1"/>
          </p:cNvSpPr>
          <p:nvPr>
            <p:ph idx="1"/>
          </p:nvPr>
        </p:nvSpPr>
        <p:spPr/>
        <p:txBody>
          <a:bodyPr/>
          <a:lstStyle/>
          <a:p>
            <a:r>
              <a:rPr lang="en-IN" b="1" dirty="0">
                <a:solidFill>
                  <a:srgbClr val="0070C0"/>
                </a:solidFill>
              </a:rPr>
              <a:t>Web Protocols</a:t>
            </a:r>
            <a:r>
              <a:rPr lang="en-IN" dirty="0"/>
              <a:t>: </a:t>
            </a:r>
          </a:p>
          <a:p>
            <a:pPr lvl="1"/>
            <a:r>
              <a:rPr lang="en-IN" dirty="0">
                <a:solidFill>
                  <a:srgbClr val="C00000"/>
                </a:solidFill>
              </a:rPr>
              <a:t>HTTP/HTTPS</a:t>
            </a:r>
            <a:r>
              <a:rPr lang="en-IN" dirty="0"/>
              <a:t>: Protocols for transmitting data over the web. HTTPS is the secure version that encrypts data.</a:t>
            </a:r>
          </a:p>
          <a:p>
            <a:pPr lvl="1"/>
            <a:r>
              <a:rPr lang="en-IN" dirty="0" err="1">
                <a:solidFill>
                  <a:srgbClr val="C00000"/>
                </a:solidFill>
              </a:rPr>
              <a:t>WebSockets</a:t>
            </a:r>
            <a:r>
              <a:rPr lang="en-IN" dirty="0"/>
              <a:t>: Enables real-time communication between clients and servers.</a:t>
            </a:r>
          </a:p>
          <a:p>
            <a:r>
              <a:rPr lang="en-IN" b="1" dirty="0">
                <a:solidFill>
                  <a:srgbClr val="0070C0"/>
                </a:solidFill>
              </a:rPr>
              <a:t>Web Development Tools</a:t>
            </a:r>
            <a:r>
              <a:rPr lang="en-IN" dirty="0"/>
              <a:t>:</a:t>
            </a:r>
          </a:p>
          <a:p>
            <a:pPr lvl="1"/>
            <a:r>
              <a:rPr lang="en-IN" dirty="0">
                <a:solidFill>
                  <a:srgbClr val="C00000"/>
                </a:solidFill>
              </a:rPr>
              <a:t>Version Control (Git</a:t>
            </a:r>
            <a:r>
              <a:rPr lang="en-IN" dirty="0"/>
              <a:t>): Tracks changes in code and facilitates collaboration.</a:t>
            </a:r>
          </a:p>
          <a:p>
            <a:pPr lvl="1"/>
            <a:r>
              <a:rPr lang="en-IN" dirty="0">
                <a:solidFill>
                  <a:srgbClr val="C00000"/>
                </a:solidFill>
              </a:rPr>
              <a:t>IDEs (Integrated Development Environments): </a:t>
            </a:r>
            <a:r>
              <a:rPr lang="en-IN" dirty="0"/>
              <a:t>Code editors like Visual Studio Code and Sublime Text.</a:t>
            </a:r>
          </a:p>
          <a:p>
            <a:pPr lvl="1"/>
            <a:r>
              <a:rPr lang="en-IN" dirty="0">
                <a:solidFill>
                  <a:srgbClr val="C00000"/>
                </a:solidFill>
              </a:rPr>
              <a:t>Package Managers</a:t>
            </a:r>
            <a:r>
              <a:rPr lang="en-IN" dirty="0"/>
              <a:t>: Tools like </a:t>
            </a:r>
            <a:r>
              <a:rPr lang="en-IN" dirty="0" err="1"/>
              <a:t>npm</a:t>
            </a:r>
            <a:r>
              <a:rPr lang="en-IN" dirty="0"/>
              <a:t> (for JavaScript) or pip (for Python) to manage dependencies.</a:t>
            </a:r>
          </a:p>
        </p:txBody>
      </p:sp>
    </p:spTree>
    <p:extLst>
      <p:ext uri="{BB962C8B-B14F-4D97-AF65-F5344CB8AC3E}">
        <p14:creationId xmlns:p14="http://schemas.microsoft.com/office/powerpoint/2010/main" val="2571085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3E8E0-97E0-C2A8-F10D-2E7835DC0E11}"/>
              </a:ext>
            </a:extLst>
          </p:cNvPr>
          <p:cNvSpPr>
            <a:spLocks noGrp="1"/>
          </p:cNvSpPr>
          <p:nvPr>
            <p:ph type="title"/>
          </p:nvPr>
        </p:nvSpPr>
        <p:spPr/>
        <p:txBody>
          <a:bodyPr/>
          <a:lstStyle/>
          <a:p>
            <a:r>
              <a:rPr lang="en-IN" dirty="0"/>
              <a:t>Web Technologies</a:t>
            </a:r>
            <a:endParaRPr lang="en-GH" dirty="0"/>
          </a:p>
        </p:txBody>
      </p:sp>
      <p:sp>
        <p:nvSpPr>
          <p:cNvPr id="3" name="Content Placeholder 2">
            <a:extLst>
              <a:ext uri="{FF2B5EF4-FFF2-40B4-BE49-F238E27FC236}">
                <a16:creationId xmlns:a16="http://schemas.microsoft.com/office/drawing/2014/main" id="{12250A9E-4953-2C16-1DF2-6495C9E749BF}"/>
              </a:ext>
            </a:extLst>
          </p:cNvPr>
          <p:cNvSpPr>
            <a:spLocks noGrp="1"/>
          </p:cNvSpPr>
          <p:nvPr>
            <p:ph idx="1"/>
          </p:nvPr>
        </p:nvSpPr>
        <p:spPr/>
        <p:txBody>
          <a:bodyPr/>
          <a:lstStyle/>
          <a:p>
            <a:r>
              <a:rPr lang="en-IN" b="1" dirty="0">
                <a:solidFill>
                  <a:srgbClr val="0070C0"/>
                </a:solidFill>
              </a:rPr>
              <a:t>Web Hosting &amp; Cloud Services</a:t>
            </a:r>
            <a:r>
              <a:rPr lang="en-IN" dirty="0"/>
              <a:t>: </a:t>
            </a:r>
          </a:p>
          <a:p>
            <a:pPr lvl="1"/>
            <a:r>
              <a:rPr lang="en-IN" dirty="0"/>
              <a:t>Platforms like AWS, Google Cloud, and Azure provide infrastructure for hosting web applications.</a:t>
            </a:r>
          </a:p>
          <a:p>
            <a:r>
              <a:rPr lang="en-IN" b="1" dirty="0">
                <a:solidFill>
                  <a:srgbClr val="0070C0"/>
                </a:solidFill>
              </a:rPr>
              <a:t>Web Standards</a:t>
            </a:r>
            <a:r>
              <a:rPr lang="en-IN" dirty="0"/>
              <a:t>:</a:t>
            </a:r>
          </a:p>
          <a:p>
            <a:pPr lvl="1"/>
            <a:r>
              <a:rPr lang="en-IN" dirty="0"/>
              <a:t>Organizations like W3C (World Wide Web Consortium) define standards and guidelines for web technologies to ensure compatibility and accessibility.</a:t>
            </a:r>
            <a:endParaRPr lang="en-GH" dirty="0"/>
          </a:p>
        </p:txBody>
      </p:sp>
    </p:spTree>
    <p:extLst>
      <p:ext uri="{BB962C8B-B14F-4D97-AF65-F5344CB8AC3E}">
        <p14:creationId xmlns:p14="http://schemas.microsoft.com/office/powerpoint/2010/main" val="654153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22B52-668A-9B89-A360-6367A3AB36A8}"/>
              </a:ext>
            </a:extLst>
          </p:cNvPr>
          <p:cNvSpPr>
            <a:spLocks noGrp="1"/>
          </p:cNvSpPr>
          <p:nvPr>
            <p:ph type="title"/>
          </p:nvPr>
        </p:nvSpPr>
        <p:spPr/>
        <p:txBody>
          <a:bodyPr/>
          <a:lstStyle/>
          <a:p>
            <a:r>
              <a:rPr lang="en-IN" dirty="0"/>
              <a:t>Web Development Approaches</a:t>
            </a:r>
            <a:endParaRPr lang="en-GH" dirty="0"/>
          </a:p>
        </p:txBody>
      </p:sp>
      <p:sp>
        <p:nvSpPr>
          <p:cNvPr id="3" name="Content Placeholder 2">
            <a:extLst>
              <a:ext uri="{FF2B5EF4-FFF2-40B4-BE49-F238E27FC236}">
                <a16:creationId xmlns:a16="http://schemas.microsoft.com/office/drawing/2014/main" id="{1C0A5249-ECF1-4A91-CE86-AEA5926D466E}"/>
              </a:ext>
            </a:extLst>
          </p:cNvPr>
          <p:cNvSpPr>
            <a:spLocks noGrp="1"/>
          </p:cNvSpPr>
          <p:nvPr>
            <p:ph idx="1"/>
          </p:nvPr>
        </p:nvSpPr>
        <p:spPr/>
        <p:txBody>
          <a:bodyPr/>
          <a:lstStyle/>
          <a:p>
            <a:r>
              <a:rPr lang="en-IN" dirty="0"/>
              <a:t>Amateur process:</a:t>
            </a:r>
          </a:p>
          <a:p>
            <a:pPr lvl="1"/>
            <a:r>
              <a:rPr lang="en-IN" dirty="0"/>
              <a:t>Involves taking a template and customizing it to fit the needs of you or your client</a:t>
            </a:r>
          </a:p>
          <a:p>
            <a:r>
              <a:rPr lang="en-IN" dirty="0"/>
              <a:t>Professional Process:</a:t>
            </a:r>
          </a:p>
          <a:p>
            <a:pPr lvl="1"/>
            <a:r>
              <a:rPr lang="en-IN" dirty="0"/>
              <a:t>Involves starting from a blank canvas and designing a bespoke solution</a:t>
            </a:r>
            <a:endParaRPr lang="en-GH" dirty="0"/>
          </a:p>
        </p:txBody>
      </p:sp>
    </p:spTree>
    <p:extLst>
      <p:ext uri="{BB962C8B-B14F-4D97-AF65-F5344CB8AC3E}">
        <p14:creationId xmlns:p14="http://schemas.microsoft.com/office/powerpoint/2010/main" val="3760021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67ED-20FD-5734-DAC0-20D3D19BFEA2}"/>
              </a:ext>
            </a:extLst>
          </p:cNvPr>
          <p:cNvSpPr>
            <a:spLocks noGrp="1"/>
          </p:cNvSpPr>
          <p:nvPr>
            <p:ph type="title"/>
          </p:nvPr>
        </p:nvSpPr>
        <p:spPr/>
        <p:txBody>
          <a:bodyPr/>
          <a:lstStyle/>
          <a:p>
            <a:r>
              <a:rPr lang="en-IN" dirty="0"/>
              <a:t>Web Development: Amateur Process</a:t>
            </a:r>
            <a:endParaRPr lang="en-GH" dirty="0"/>
          </a:p>
        </p:txBody>
      </p:sp>
      <p:sp>
        <p:nvSpPr>
          <p:cNvPr id="3" name="Content Placeholder 2">
            <a:extLst>
              <a:ext uri="{FF2B5EF4-FFF2-40B4-BE49-F238E27FC236}">
                <a16:creationId xmlns:a16="http://schemas.microsoft.com/office/drawing/2014/main" id="{0D1366CE-0D86-CF9F-FB40-15BA3518F64E}"/>
              </a:ext>
            </a:extLst>
          </p:cNvPr>
          <p:cNvSpPr>
            <a:spLocks noGrp="1"/>
          </p:cNvSpPr>
          <p:nvPr>
            <p:ph idx="1"/>
          </p:nvPr>
        </p:nvSpPr>
        <p:spPr/>
        <p:txBody>
          <a:bodyPr/>
          <a:lstStyle/>
          <a:p>
            <a:r>
              <a:rPr lang="en-US" dirty="0"/>
              <a:t>Typically uses basic HTML, CSS, and JavaScript, without in-depth knowledge of frameworks or best practices.</a:t>
            </a:r>
          </a:p>
          <a:p>
            <a:r>
              <a:rPr lang="en-US" dirty="0"/>
              <a:t>Code may be messy, poorly organized, and difficult to maintain.</a:t>
            </a:r>
          </a:p>
          <a:p>
            <a:r>
              <a:rPr lang="en-US" dirty="0"/>
              <a:t>May lack proper version control, testing, and documentation.</a:t>
            </a:r>
          </a:p>
          <a:p>
            <a:r>
              <a:rPr lang="en-US" dirty="0"/>
              <a:t>Developers often use a "trial-and-error" approach, leading to inefficient workflows and potential security issues.</a:t>
            </a:r>
          </a:p>
          <a:p>
            <a:r>
              <a:rPr lang="en-US" dirty="0"/>
              <a:t>Focuses on "quick fixes" to solve immediate problems, often neglecting long-term stability.</a:t>
            </a:r>
            <a:endParaRPr lang="en-GH" dirty="0"/>
          </a:p>
        </p:txBody>
      </p:sp>
    </p:spTree>
    <p:extLst>
      <p:ext uri="{BB962C8B-B14F-4D97-AF65-F5344CB8AC3E}">
        <p14:creationId xmlns:p14="http://schemas.microsoft.com/office/powerpoint/2010/main" val="763244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67ED-20FD-5734-DAC0-20D3D19BFEA2}"/>
              </a:ext>
            </a:extLst>
          </p:cNvPr>
          <p:cNvSpPr>
            <a:spLocks noGrp="1"/>
          </p:cNvSpPr>
          <p:nvPr>
            <p:ph type="title"/>
          </p:nvPr>
        </p:nvSpPr>
        <p:spPr/>
        <p:txBody>
          <a:bodyPr/>
          <a:lstStyle/>
          <a:p>
            <a:r>
              <a:rPr lang="en-IN" dirty="0"/>
              <a:t>Web Development: Professional Process</a:t>
            </a:r>
            <a:endParaRPr lang="en-GH" dirty="0"/>
          </a:p>
        </p:txBody>
      </p:sp>
      <p:sp>
        <p:nvSpPr>
          <p:cNvPr id="3" name="Content Placeholder 2">
            <a:extLst>
              <a:ext uri="{FF2B5EF4-FFF2-40B4-BE49-F238E27FC236}">
                <a16:creationId xmlns:a16="http://schemas.microsoft.com/office/drawing/2014/main" id="{0D1366CE-0D86-CF9F-FB40-15BA3518F64E}"/>
              </a:ext>
            </a:extLst>
          </p:cNvPr>
          <p:cNvSpPr>
            <a:spLocks noGrp="1"/>
          </p:cNvSpPr>
          <p:nvPr>
            <p:ph idx="1"/>
          </p:nvPr>
        </p:nvSpPr>
        <p:spPr/>
        <p:txBody>
          <a:bodyPr/>
          <a:lstStyle/>
          <a:p>
            <a:r>
              <a:rPr lang="en-US" dirty="0"/>
              <a:t>Follows industry best practices, such as </a:t>
            </a:r>
            <a:r>
              <a:rPr lang="en-US" dirty="0" err="1"/>
              <a:t>MVC</a:t>
            </a:r>
            <a:r>
              <a:rPr lang="en-US" dirty="0"/>
              <a:t> (Model-View-Controller) architecture, code organization, and proper project structure.</a:t>
            </a:r>
          </a:p>
          <a:p>
            <a:r>
              <a:rPr lang="en-US" dirty="0"/>
              <a:t>Uses modern tools and technologies like React, Angular, Vue.js, or Node.js, alongside server-side frameworks like Django, Ruby on Rails, or ASP.NET.</a:t>
            </a:r>
          </a:p>
          <a:p>
            <a:r>
              <a:rPr lang="en-US" dirty="0"/>
              <a:t>Employs version control systems like Git and uses platforms like GitHub or Bitbucket for collaboration.</a:t>
            </a:r>
          </a:p>
          <a:p>
            <a:r>
              <a:rPr lang="en-US" dirty="0"/>
              <a:t>Ensures code quality through peer reviews, testing, and adherence to coding standards.</a:t>
            </a:r>
          </a:p>
          <a:p>
            <a:r>
              <a:rPr lang="en-US" dirty="0"/>
              <a:t>Professionals develop using agile methodologies with clear iteration cycles and feedback loops..</a:t>
            </a:r>
            <a:endParaRPr lang="en-GH" dirty="0"/>
          </a:p>
        </p:txBody>
      </p:sp>
    </p:spTree>
    <p:extLst>
      <p:ext uri="{BB962C8B-B14F-4D97-AF65-F5344CB8AC3E}">
        <p14:creationId xmlns:p14="http://schemas.microsoft.com/office/powerpoint/2010/main" val="25456711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E3A03-96A4-3701-2749-11BEAC45D7C7}"/>
              </a:ext>
            </a:extLst>
          </p:cNvPr>
          <p:cNvSpPr>
            <a:spLocks noGrp="1"/>
          </p:cNvSpPr>
          <p:nvPr>
            <p:ph type="title"/>
          </p:nvPr>
        </p:nvSpPr>
        <p:spPr/>
        <p:txBody>
          <a:bodyPr/>
          <a:lstStyle/>
          <a:p>
            <a:r>
              <a:rPr lang="en-IN" dirty="0"/>
              <a:t>The Web Development: Summary</a:t>
            </a:r>
            <a:endParaRPr lang="en-GH" dirty="0"/>
          </a:p>
        </p:txBody>
      </p:sp>
      <p:sp>
        <p:nvSpPr>
          <p:cNvPr id="3" name="Content Placeholder 2">
            <a:extLst>
              <a:ext uri="{FF2B5EF4-FFF2-40B4-BE49-F238E27FC236}">
                <a16:creationId xmlns:a16="http://schemas.microsoft.com/office/drawing/2014/main" id="{BC7067FB-7B64-8B56-57BC-622E5BE4A7F8}"/>
              </a:ext>
            </a:extLst>
          </p:cNvPr>
          <p:cNvSpPr>
            <a:spLocks noGrp="1"/>
          </p:cNvSpPr>
          <p:nvPr>
            <p:ph idx="1"/>
          </p:nvPr>
        </p:nvSpPr>
        <p:spPr/>
        <p:txBody>
          <a:bodyPr/>
          <a:lstStyle/>
          <a:p>
            <a:r>
              <a:rPr lang="en-IN" b="1" dirty="0"/>
              <a:t>Front-end (Client-side)</a:t>
            </a:r>
          </a:p>
          <a:p>
            <a:pPr marL="0" indent="0">
              <a:buNone/>
            </a:pPr>
            <a:r>
              <a:rPr lang="en-IN" b="1" dirty="0"/>
              <a:t>Technologies</a:t>
            </a:r>
            <a:r>
              <a:rPr lang="en-IN" dirty="0"/>
              <a:t>:</a:t>
            </a:r>
          </a:p>
          <a:p>
            <a:pPr>
              <a:buFont typeface="+mj-lt"/>
              <a:buAutoNum type="arabicPeriod"/>
            </a:pPr>
            <a:r>
              <a:rPr lang="en-IN" b="1" dirty="0"/>
              <a:t> HTML5</a:t>
            </a:r>
            <a:r>
              <a:rPr lang="en-IN" dirty="0"/>
              <a:t> – Markup language for the structure of the web pages.</a:t>
            </a:r>
          </a:p>
          <a:p>
            <a:pPr>
              <a:buFont typeface="+mj-lt"/>
              <a:buAutoNum type="arabicPeriod"/>
            </a:pPr>
            <a:r>
              <a:rPr lang="en-IN" b="1" dirty="0"/>
              <a:t> CSS3</a:t>
            </a:r>
            <a:r>
              <a:rPr lang="en-IN" dirty="0"/>
              <a:t> – Styling and layout with Flexbox/Grid.</a:t>
            </a:r>
          </a:p>
          <a:p>
            <a:pPr>
              <a:buFont typeface="+mj-lt"/>
              <a:buAutoNum type="arabicPeriod"/>
            </a:pPr>
            <a:r>
              <a:rPr lang="en-IN" b="1" dirty="0"/>
              <a:t> JavaScript</a:t>
            </a:r>
            <a:r>
              <a:rPr lang="en-IN" dirty="0"/>
              <a:t> – Programming language for adding interactivity.</a:t>
            </a:r>
          </a:p>
          <a:p>
            <a:pPr>
              <a:buFont typeface="+mj-lt"/>
              <a:buAutoNum type="arabicPeriod"/>
            </a:pPr>
            <a:r>
              <a:rPr lang="en-IN" b="1" dirty="0"/>
              <a:t> React</a:t>
            </a:r>
            <a:r>
              <a:rPr lang="en-IN" dirty="0"/>
              <a:t> (or </a:t>
            </a:r>
            <a:r>
              <a:rPr lang="en-IN" b="1" dirty="0"/>
              <a:t>Vue.js</a:t>
            </a:r>
            <a:r>
              <a:rPr lang="en-IN" dirty="0"/>
              <a:t>/</a:t>
            </a:r>
            <a:r>
              <a:rPr lang="en-IN" b="1" dirty="0"/>
              <a:t>Svelte</a:t>
            </a:r>
            <a:r>
              <a:rPr lang="en-IN" dirty="0"/>
              <a:t>) – Front-end framework/library for building dynamic user interfaces.</a:t>
            </a:r>
          </a:p>
          <a:p>
            <a:pPr>
              <a:buFont typeface="+mj-lt"/>
              <a:buAutoNum type="arabicPeriod"/>
            </a:pPr>
            <a:r>
              <a:rPr lang="en-IN" b="1" dirty="0"/>
              <a:t> Tailwind CSS</a:t>
            </a:r>
            <a:r>
              <a:rPr lang="en-IN" dirty="0"/>
              <a:t> – Utility-first CSS framework for rapid UI development.</a:t>
            </a:r>
          </a:p>
          <a:p>
            <a:endParaRPr lang="en-GH" dirty="0"/>
          </a:p>
        </p:txBody>
      </p:sp>
    </p:spTree>
    <p:extLst>
      <p:ext uri="{BB962C8B-B14F-4D97-AF65-F5344CB8AC3E}">
        <p14:creationId xmlns:p14="http://schemas.microsoft.com/office/powerpoint/2010/main" val="661611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E3A03-96A4-3701-2749-11BEAC45D7C7}"/>
              </a:ext>
            </a:extLst>
          </p:cNvPr>
          <p:cNvSpPr>
            <a:spLocks noGrp="1"/>
          </p:cNvSpPr>
          <p:nvPr>
            <p:ph type="title"/>
          </p:nvPr>
        </p:nvSpPr>
        <p:spPr/>
        <p:txBody>
          <a:bodyPr/>
          <a:lstStyle/>
          <a:p>
            <a:r>
              <a:rPr lang="en-IN" dirty="0"/>
              <a:t>The Web Development: Summary</a:t>
            </a:r>
            <a:endParaRPr lang="en-GH" dirty="0"/>
          </a:p>
        </p:txBody>
      </p:sp>
      <p:sp>
        <p:nvSpPr>
          <p:cNvPr id="3" name="Content Placeholder 2">
            <a:extLst>
              <a:ext uri="{FF2B5EF4-FFF2-40B4-BE49-F238E27FC236}">
                <a16:creationId xmlns:a16="http://schemas.microsoft.com/office/drawing/2014/main" id="{BC7067FB-7B64-8B56-57BC-622E5BE4A7F8}"/>
              </a:ext>
            </a:extLst>
          </p:cNvPr>
          <p:cNvSpPr>
            <a:spLocks noGrp="1"/>
          </p:cNvSpPr>
          <p:nvPr>
            <p:ph idx="1"/>
          </p:nvPr>
        </p:nvSpPr>
        <p:spPr/>
        <p:txBody>
          <a:bodyPr/>
          <a:lstStyle/>
          <a:p>
            <a:r>
              <a:rPr lang="en-IN" b="1" dirty="0"/>
              <a:t>Back-end (Server-side)</a:t>
            </a:r>
          </a:p>
          <a:p>
            <a:pPr marL="0" indent="0">
              <a:buNone/>
            </a:pPr>
            <a:r>
              <a:rPr lang="en-IN" b="1" dirty="0"/>
              <a:t>Technologies</a:t>
            </a:r>
            <a:r>
              <a:rPr lang="en-IN" dirty="0"/>
              <a:t>:</a:t>
            </a:r>
          </a:p>
          <a:p>
            <a:pPr>
              <a:buFont typeface="+mj-lt"/>
              <a:buAutoNum type="arabicPeriod"/>
            </a:pPr>
            <a:r>
              <a:rPr lang="en-IN" b="1" dirty="0"/>
              <a:t> Node.js</a:t>
            </a:r>
            <a:r>
              <a:rPr lang="en-IN" dirty="0"/>
              <a:t> – JavaScript runtime for building scalable network applications.</a:t>
            </a:r>
          </a:p>
          <a:p>
            <a:pPr>
              <a:buFont typeface="+mj-lt"/>
              <a:buAutoNum type="arabicPeriod"/>
            </a:pPr>
            <a:r>
              <a:rPr lang="en-IN" b="1" dirty="0"/>
              <a:t> Express.js</a:t>
            </a:r>
            <a:r>
              <a:rPr lang="en-IN" dirty="0"/>
              <a:t> – Web framework for Node.js to create APIs.</a:t>
            </a:r>
          </a:p>
          <a:p>
            <a:pPr>
              <a:buFont typeface="+mj-lt"/>
              <a:buAutoNum type="arabicPeriod"/>
            </a:pPr>
            <a:r>
              <a:rPr lang="en-IN" b="1" dirty="0"/>
              <a:t> MongoDB</a:t>
            </a:r>
            <a:r>
              <a:rPr lang="en-IN" dirty="0"/>
              <a:t> (NoSQL) or </a:t>
            </a:r>
            <a:r>
              <a:rPr lang="en-IN" b="1" dirty="0"/>
              <a:t>PostgreSQL</a:t>
            </a:r>
            <a:r>
              <a:rPr lang="en-IN" dirty="0"/>
              <a:t> (SQL) – Database for storing data.</a:t>
            </a:r>
          </a:p>
          <a:p>
            <a:pPr>
              <a:buFont typeface="+mj-lt"/>
              <a:buAutoNum type="arabicPeriod"/>
            </a:pPr>
            <a:r>
              <a:rPr lang="en-IN" b="1" dirty="0"/>
              <a:t> Mongoose</a:t>
            </a:r>
            <a:r>
              <a:rPr lang="en-IN" dirty="0"/>
              <a:t> (for MongoDB) or </a:t>
            </a:r>
            <a:r>
              <a:rPr lang="en-IN" b="1" dirty="0" err="1"/>
              <a:t>Sequelize</a:t>
            </a:r>
            <a:r>
              <a:rPr lang="en-IN" dirty="0"/>
              <a:t> (for PostgreSQL) – </a:t>
            </a:r>
            <a:r>
              <a:rPr lang="en-IN" dirty="0" err="1"/>
              <a:t>ORM</a:t>
            </a:r>
            <a:r>
              <a:rPr lang="en-IN" dirty="0"/>
              <a:t> for database management.</a:t>
            </a:r>
          </a:p>
          <a:p>
            <a:pPr>
              <a:buFont typeface="+mj-lt"/>
              <a:buAutoNum type="arabicPeriod"/>
            </a:pPr>
            <a:r>
              <a:rPr lang="en-IN" b="1" dirty="0"/>
              <a:t> RESTful APIs</a:t>
            </a:r>
            <a:r>
              <a:rPr lang="en-IN" dirty="0"/>
              <a:t> or </a:t>
            </a:r>
            <a:r>
              <a:rPr lang="en-IN" b="1" dirty="0" err="1"/>
              <a:t>GraphQL</a:t>
            </a:r>
            <a:r>
              <a:rPr lang="en-IN" dirty="0"/>
              <a:t> – For communication between front-end and back-end.</a:t>
            </a:r>
          </a:p>
          <a:p>
            <a:endParaRPr lang="en-GH" dirty="0"/>
          </a:p>
        </p:txBody>
      </p:sp>
    </p:spTree>
    <p:extLst>
      <p:ext uri="{BB962C8B-B14F-4D97-AF65-F5344CB8AC3E}">
        <p14:creationId xmlns:p14="http://schemas.microsoft.com/office/powerpoint/2010/main" val="22256614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E3A03-96A4-3701-2749-11BEAC45D7C7}"/>
              </a:ext>
            </a:extLst>
          </p:cNvPr>
          <p:cNvSpPr>
            <a:spLocks noGrp="1"/>
          </p:cNvSpPr>
          <p:nvPr>
            <p:ph type="title"/>
          </p:nvPr>
        </p:nvSpPr>
        <p:spPr/>
        <p:txBody>
          <a:bodyPr/>
          <a:lstStyle/>
          <a:p>
            <a:r>
              <a:rPr lang="en-IN" dirty="0"/>
              <a:t>The Web Development: Summary</a:t>
            </a:r>
            <a:endParaRPr lang="en-GH" dirty="0"/>
          </a:p>
        </p:txBody>
      </p:sp>
      <p:sp>
        <p:nvSpPr>
          <p:cNvPr id="3" name="Content Placeholder 2">
            <a:extLst>
              <a:ext uri="{FF2B5EF4-FFF2-40B4-BE49-F238E27FC236}">
                <a16:creationId xmlns:a16="http://schemas.microsoft.com/office/drawing/2014/main" id="{BC7067FB-7B64-8B56-57BC-622E5BE4A7F8}"/>
              </a:ext>
            </a:extLst>
          </p:cNvPr>
          <p:cNvSpPr>
            <a:spLocks noGrp="1"/>
          </p:cNvSpPr>
          <p:nvPr>
            <p:ph idx="1"/>
          </p:nvPr>
        </p:nvSpPr>
        <p:spPr/>
        <p:txBody>
          <a:bodyPr/>
          <a:lstStyle/>
          <a:p>
            <a:r>
              <a:rPr lang="en-US" b="1" dirty="0"/>
              <a:t>Database</a:t>
            </a:r>
          </a:p>
          <a:p>
            <a:pPr marL="0" indent="0">
              <a:buNone/>
            </a:pPr>
            <a:r>
              <a:rPr lang="en-US" dirty="0"/>
              <a:t>Use </a:t>
            </a:r>
            <a:r>
              <a:rPr lang="en-US" b="1" dirty="0"/>
              <a:t>MySQL</a:t>
            </a:r>
            <a:r>
              <a:rPr lang="en-US" dirty="0"/>
              <a:t> or  </a:t>
            </a:r>
            <a:r>
              <a:rPr lang="en-US" b="1" dirty="0"/>
              <a:t>MongoDB</a:t>
            </a:r>
            <a:r>
              <a:rPr lang="en-US" dirty="0"/>
              <a:t> (NoSQL).</a:t>
            </a:r>
          </a:p>
          <a:p>
            <a:pPr marL="0" indent="0">
              <a:buNone/>
            </a:pPr>
            <a:endParaRPr lang="en-US" dirty="0"/>
          </a:p>
          <a:p>
            <a:r>
              <a:rPr lang="en-US" b="1" dirty="0"/>
              <a:t>Deployment</a:t>
            </a:r>
          </a:p>
          <a:p>
            <a:pPr>
              <a:buFont typeface="+mj-lt"/>
              <a:buAutoNum type="arabicPeriod"/>
            </a:pPr>
            <a:r>
              <a:rPr lang="en-US" b="1" dirty="0"/>
              <a:t> Front-end</a:t>
            </a:r>
            <a:r>
              <a:rPr lang="en-US" dirty="0"/>
              <a:t>: Deploy using platforms like </a:t>
            </a:r>
            <a:r>
              <a:rPr lang="en-US" b="1" dirty="0"/>
              <a:t>Netlify</a:t>
            </a:r>
            <a:r>
              <a:rPr lang="en-US" dirty="0"/>
              <a:t> or </a:t>
            </a:r>
            <a:r>
              <a:rPr lang="en-US" b="1" dirty="0" err="1"/>
              <a:t>Vercel</a:t>
            </a:r>
            <a:r>
              <a:rPr lang="en-US" dirty="0"/>
              <a:t> for easy React app hosting.</a:t>
            </a:r>
          </a:p>
          <a:p>
            <a:pPr>
              <a:buFont typeface="+mj-lt"/>
              <a:buAutoNum type="arabicPeriod"/>
            </a:pPr>
            <a:r>
              <a:rPr lang="en-US" b="1" dirty="0"/>
              <a:t> Back-end</a:t>
            </a:r>
            <a:r>
              <a:rPr lang="en-US" dirty="0"/>
              <a:t>: Use </a:t>
            </a:r>
            <a:r>
              <a:rPr lang="en-US" b="1" dirty="0"/>
              <a:t>Heroku</a:t>
            </a:r>
            <a:r>
              <a:rPr lang="en-US" dirty="0"/>
              <a:t> or </a:t>
            </a:r>
            <a:r>
              <a:rPr lang="en-US" b="1" dirty="0"/>
              <a:t>AWS EC2</a:t>
            </a:r>
            <a:r>
              <a:rPr lang="en-US" dirty="0"/>
              <a:t> for hosting the Express server. </a:t>
            </a:r>
            <a:endParaRPr lang="en-GH" dirty="0"/>
          </a:p>
        </p:txBody>
      </p:sp>
    </p:spTree>
    <p:extLst>
      <p:ext uri="{BB962C8B-B14F-4D97-AF65-F5344CB8AC3E}">
        <p14:creationId xmlns:p14="http://schemas.microsoft.com/office/powerpoint/2010/main" val="3310548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4E5E4-466B-6FA4-8B6F-AE7DC5A7B0EE}"/>
              </a:ext>
            </a:extLst>
          </p:cNvPr>
          <p:cNvSpPr>
            <a:spLocks noGrp="1"/>
          </p:cNvSpPr>
          <p:nvPr>
            <p:ph type="title"/>
          </p:nvPr>
        </p:nvSpPr>
        <p:spPr/>
        <p:txBody>
          <a:bodyPr/>
          <a:lstStyle/>
          <a:p>
            <a:r>
              <a:rPr lang="en-IN" dirty="0"/>
              <a:t>Content Management Systems</a:t>
            </a:r>
            <a:endParaRPr lang="en-GH" dirty="0"/>
          </a:p>
        </p:txBody>
      </p:sp>
      <p:sp>
        <p:nvSpPr>
          <p:cNvPr id="3" name="Content Placeholder 2">
            <a:extLst>
              <a:ext uri="{FF2B5EF4-FFF2-40B4-BE49-F238E27FC236}">
                <a16:creationId xmlns:a16="http://schemas.microsoft.com/office/drawing/2014/main" id="{1002C691-41F1-7E51-CA33-6D8824507D73}"/>
              </a:ext>
            </a:extLst>
          </p:cNvPr>
          <p:cNvSpPr>
            <a:spLocks noGrp="1"/>
          </p:cNvSpPr>
          <p:nvPr>
            <p:ph idx="1"/>
          </p:nvPr>
        </p:nvSpPr>
        <p:spPr/>
        <p:txBody>
          <a:bodyPr/>
          <a:lstStyle/>
          <a:p>
            <a:r>
              <a:rPr lang="en-US" dirty="0"/>
              <a:t>A Content Management System (CMS) is a software platform that allows users to create, manage, and modify content on a website without needing specialized technical knowledge (such as coding skills). </a:t>
            </a:r>
          </a:p>
          <a:p>
            <a:r>
              <a:rPr lang="en-US" dirty="0"/>
              <a:t>CMSs are widely used for websites that require frequent updates, such as blogs, e-commerce sites, or corporate portals.</a:t>
            </a:r>
          </a:p>
          <a:p>
            <a:r>
              <a:rPr lang="en-US" dirty="0"/>
              <a:t>Popular CMSs include:</a:t>
            </a:r>
          </a:p>
          <a:p>
            <a:pPr lvl="1"/>
            <a:r>
              <a:rPr lang="en-US" dirty="0"/>
              <a:t>WordPress (PHP-based)</a:t>
            </a:r>
          </a:p>
          <a:p>
            <a:pPr lvl="1"/>
            <a:r>
              <a:rPr lang="en-US" dirty="0"/>
              <a:t>Joomla (PHP-based)</a:t>
            </a:r>
          </a:p>
          <a:p>
            <a:pPr lvl="1"/>
            <a:r>
              <a:rPr lang="en-US" dirty="0"/>
              <a:t>Drupal (PHP-based)</a:t>
            </a:r>
          </a:p>
          <a:p>
            <a:pPr lvl="1"/>
            <a:r>
              <a:rPr lang="en-US" dirty="0"/>
              <a:t>Ghost (Node.js-based)</a:t>
            </a:r>
            <a:endParaRPr lang="en-GH" dirty="0"/>
          </a:p>
        </p:txBody>
      </p:sp>
    </p:spTree>
    <p:extLst>
      <p:ext uri="{BB962C8B-B14F-4D97-AF65-F5344CB8AC3E}">
        <p14:creationId xmlns:p14="http://schemas.microsoft.com/office/powerpoint/2010/main" val="11091741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47F8-529C-2E92-38D8-18979C9371F9}"/>
              </a:ext>
            </a:extLst>
          </p:cNvPr>
          <p:cNvSpPr>
            <a:spLocks noGrp="1"/>
          </p:cNvSpPr>
          <p:nvPr>
            <p:ph type="title"/>
          </p:nvPr>
        </p:nvSpPr>
        <p:spPr/>
        <p:txBody>
          <a:bodyPr/>
          <a:lstStyle/>
          <a:p>
            <a:r>
              <a:rPr lang="en-IN" dirty="0"/>
              <a:t>The meaning of Stack in Web Development</a:t>
            </a:r>
            <a:endParaRPr lang="en-GH" dirty="0"/>
          </a:p>
        </p:txBody>
      </p:sp>
      <p:sp>
        <p:nvSpPr>
          <p:cNvPr id="3" name="Content Placeholder 2">
            <a:extLst>
              <a:ext uri="{FF2B5EF4-FFF2-40B4-BE49-F238E27FC236}">
                <a16:creationId xmlns:a16="http://schemas.microsoft.com/office/drawing/2014/main" id="{85102DEB-446E-E2BF-C735-660CF5652043}"/>
              </a:ext>
            </a:extLst>
          </p:cNvPr>
          <p:cNvSpPr>
            <a:spLocks noGrp="1"/>
          </p:cNvSpPr>
          <p:nvPr>
            <p:ph idx="1"/>
          </p:nvPr>
        </p:nvSpPr>
        <p:spPr/>
        <p:txBody>
          <a:bodyPr/>
          <a:lstStyle/>
          <a:p>
            <a:r>
              <a:rPr lang="en-US" dirty="0"/>
              <a:t> The word "stack" refers to a set of technologies, tools, and frameworks that work together to build and run a complete web application. </a:t>
            </a:r>
          </a:p>
          <a:p>
            <a:r>
              <a:rPr lang="en-US" dirty="0"/>
              <a:t>The stack typically consists of different layers responsible for handling the front-end (client-side), back-end (server-side), and database. </a:t>
            </a:r>
          </a:p>
          <a:p>
            <a:r>
              <a:rPr lang="en-US" dirty="0"/>
              <a:t>The idea is that each "layer" of the stack handles a specific aspect of the application's functionality.</a:t>
            </a:r>
            <a:endParaRPr lang="en-GH" dirty="0"/>
          </a:p>
        </p:txBody>
      </p:sp>
    </p:spTree>
    <p:extLst>
      <p:ext uri="{BB962C8B-B14F-4D97-AF65-F5344CB8AC3E}">
        <p14:creationId xmlns:p14="http://schemas.microsoft.com/office/powerpoint/2010/main" val="1591613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E47F8-529C-2E92-38D8-18979C9371F9}"/>
              </a:ext>
            </a:extLst>
          </p:cNvPr>
          <p:cNvSpPr>
            <a:spLocks noGrp="1"/>
          </p:cNvSpPr>
          <p:nvPr>
            <p:ph type="title"/>
          </p:nvPr>
        </p:nvSpPr>
        <p:spPr/>
        <p:txBody>
          <a:bodyPr/>
          <a:lstStyle/>
          <a:p>
            <a:r>
              <a:rPr lang="en-IN" dirty="0"/>
              <a:t>The meaning of Stack in Web Development</a:t>
            </a:r>
            <a:endParaRPr lang="en-GH" dirty="0"/>
          </a:p>
        </p:txBody>
      </p:sp>
      <p:sp>
        <p:nvSpPr>
          <p:cNvPr id="3" name="Content Placeholder 2">
            <a:extLst>
              <a:ext uri="{FF2B5EF4-FFF2-40B4-BE49-F238E27FC236}">
                <a16:creationId xmlns:a16="http://schemas.microsoft.com/office/drawing/2014/main" id="{85102DEB-446E-E2BF-C735-660CF5652043}"/>
              </a:ext>
            </a:extLst>
          </p:cNvPr>
          <p:cNvSpPr>
            <a:spLocks noGrp="1"/>
          </p:cNvSpPr>
          <p:nvPr>
            <p:ph idx="1"/>
          </p:nvPr>
        </p:nvSpPr>
        <p:spPr/>
        <p:txBody>
          <a:bodyPr/>
          <a:lstStyle/>
          <a:p>
            <a:r>
              <a:rPr lang="en-US" dirty="0"/>
              <a:t>Each layer in a stack plays a specific role:</a:t>
            </a:r>
          </a:p>
          <a:p>
            <a:pPr>
              <a:buFont typeface="+mj-lt"/>
              <a:buAutoNum type="arabicPeriod"/>
            </a:pPr>
            <a:r>
              <a:rPr lang="en-US" b="1" dirty="0"/>
              <a:t> Front-end</a:t>
            </a:r>
            <a:r>
              <a:rPr lang="en-US" dirty="0"/>
              <a:t>: Responsible for the user interface and user experience. Technologies like HTML, CSS, JavaScript, React, and Angular are part of this.</a:t>
            </a:r>
          </a:p>
          <a:p>
            <a:pPr>
              <a:buFont typeface="+mj-lt"/>
              <a:buAutoNum type="arabicPeriod"/>
            </a:pPr>
            <a:r>
              <a:rPr lang="en-US" b="1" dirty="0"/>
              <a:t> Back-end</a:t>
            </a:r>
            <a:r>
              <a:rPr lang="en-US" dirty="0"/>
              <a:t>: Manages business logic, handles HTTP requests, communicates with the database, and sends data to the front-end. Examples include Node.js, Express.js, or Python (Django, Flask).</a:t>
            </a:r>
          </a:p>
          <a:p>
            <a:pPr>
              <a:buFont typeface="+mj-lt"/>
              <a:buAutoNum type="arabicPeriod"/>
            </a:pPr>
            <a:r>
              <a:rPr lang="en-US" b="1" dirty="0"/>
              <a:t> Database</a:t>
            </a:r>
            <a:r>
              <a:rPr lang="en-US" dirty="0"/>
              <a:t>: Stores and retrieves data for the application, using systems like MongoDB, MySQL, or PostgreSQL.</a:t>
            </a:r>
          </a:p>
        </p:txBody>
      </p:sp>
    </p:spTree>
    <p:extLst>
      <p:ext uri="{BB962C8B-B14F-4D97-AF65-F5344CB8AC3E}">
        <p14:creationId xmlns:p14="http://schemas.microsoft.com/office/powerpoint/2010/main" val="27780865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86EA5-DBBD-9138-A6FF-AF8FA6114351}"/>
              </a:ext>
            </a:extLst>
          </p:cNvPr>
          <p:cNvSpPr>
            <a:spLocks noGrp="1"/>
          </p:cNvSpPr>
          <p:nvPr>
            <p:ph type="title"/>
          </p:nvPr>
        </p:nvSpPr>
        <p:spPr/>
        <p:txBody>
          <a:bodyPr/>
          <a:lstStyle/>
          <a:p>
            <a:r>
              <a:rPr lang="en-IN" dirty="0"/>
              <a:t>Popular Web Development Stacks</a:t>
            </a:r>
            <a:endParaRPr lang="en-GH" dirty="0"/>
          </a:p>
        </p:txBody>
      </p:sp>
      <p:sp>
        <p:nvSpPr>
          <p:cNvPr id="3" name="Content Placeholder 2">
            <a:extLst>
              <a:ext uri="{FF2B5EF4-FFF2-40B4-BE49-F238E27FC236}">
                <a16:creationId xmlns:a16="http://schemas.microsoft.com/office/drawing/2014/main" id="{4008CD1D-A26C-9F59-E436-47AE3977EF53}"/>
              </a:ext>
            </a:extLst>
          </p:cNvPr>
          <p:cNvSpPr>
            <a:spLocks noGrp="1"/>
          </p:cNvSpPr>
          <p:nvPr>
            <p:ph idx="1"/>
          </p:nvPr>
        </p:nvSpPr>
        <p:spPr/>
        <p:txBody>
          <a:bodyPr/>
          <a:lstStyle/>
          <a:p>
            <a:r>
              <a:rPr lang="en-US" b="1" dirty="0">
                <a:solidFill>
                  <a:srgbClr val="FF0000"/>
                </a:solidFill>
              </a:rPr>
              <a:t>LAMP stack (</a:t>
            </a:r>
            <a:r>
              <a:rPr lang="en-US" b="1" dirty="0"/>
              <a:t>Linux, Apache, MySQL, PHP</a:t>
            </a:r>
            <a:r>
              <a:rPr lang="en-US" b="1" dirty="0">
                <a:solidFill>
                  <a:srgbClr val="FF0000"/>
                </a:solidFill>
              </a:rPr>
              <a:t>)</a:t>
            </a:r>
          </a:p>
          <a:p>
            <a:r>
              <a:rPr lang="en-US" b="1" dirty="0" err="1">
                <a:solidFill>
                  <a:srgbClr val="FF0000"/>
                </a:solidFill>
              </a:rPr>
              <a:t>MERN</a:t>
            </a:r>
            <a:r>
              <a:rPr lang="en-US" b="1" dirty="0">
                <a:solidFill>
                  <a:srgbClr val="FF0000"/>
                </a:solidFill>
              </a:rPr>
              <a:t> Stack (</a:t>
            </a:r>
            <a:r>
              <a:rPr lang="en-US" b="1" dirty="0"/>
              <a:t>MongoDB</a:t>
            </a:r>
            <a:r>
              <a:rPr lang="en-US" dirty="0"/>
              <a:t> (database), </a:t>
            </a:r>
            <a:r>
              <a:rPr lang="en-US" b="1" dirty="0"/>
              <a:t>Express.js</a:t>
            </a:r>
            <a:r>
              <a:rPr lang="en-US" dirty="0"/>
              <a:t> (back-end framework), </a:t>
            </a:r>
            <a:r>
              <a:rPr lang="en-US" b="1" dirty="0"/>
              <a:t>React</a:t>
            </a:r>
            <a:r>
              <a:rPr lang="en-US" dirty="0"/>
              <a:t> (front-end framework), </a:t>
            </a:r>
            <a:r>
              <a:rPr lang="en-US" b="1" dirty="0"/>
              <a:t>Node.js</a:t>
            </a:r>
            <a:r>
              <a:rPr lang="en-US" dirty="0"/>
              <a:t> (runtime)</a:t>
            </a:r>
            <a:r>
              <a:rPr lang="en-US" b="1" dirty="0">
                <a:solidFill>
                  <a:srgbClr val="FF0000"/>
                </a:solidFill>
              </a:rPr>
              <a:t>)</a:t>
            </a:r>
          </a:p>
          <a:p>
            <a:r>
              <a:rPr lang="en-US" b="1" dirty="0">
                <a:solidFill>
                  <a:srgbClr val="FF0000"/>
                </a:solidFill>
              </a:rPr>
              <a:t>MEAN Stack (</a:t>
            </a:r>
            <a:r>
              <a:rPr lang="en-US" dirty="0"/>
              <a:t>MongoDB, Express, Angular, Node.js</a:t>
            </a:r>
            <a:r>
              <a:rPr lang="en-US" b="1" dirty="0">
                <a:solidFill>
                  <a:srgbClr val="FF0000"/>
                </a:solidFill>
              </a:rPr>
              <a:t>)</a:t>
            </a:r>
          </a:p>
          <a:p>
            <a:r>
              <a:rPr lang="en-IN" b="1" dirty="0" err="1">
                <a:solidFill>
                  <a:srgbClr val="FF0000"/>
                </a:solidFill>
              </a:rPr>
              <a:t>JAMstack</a:t>
            </a:r>
            <a:r>
              <a:rPr lang="en-IN" dirty="0"/>
              <a:t> (JavaScript, APIs, Markup)</a:t>
            </a:r>
          </a:p>
          <a:p>
            <a:r>
              <a:rPr lang="en-IN" b="1" dirty="0" err="1">
                <a:solidFill>
                  <a:srgbClr val="FF0000"/>
                </a:solidFill>
              </a:rPr>
              <a:t>LEMP</a:t>
            </a:r>
            <a:r>
              <a:rPr lang="en-IN" b="1" dirty="0">
                <a:solidFill>
                  <a:srgbClr val="FF0000"/>
                </a:solidFill>
              </a:rPr>
              <a:t> Stack (</a:t>
            </a:r>
            <a:r>
              <a:rPr lang="en-IN" dirty="0"/>
              <a:t>Linux, Nginx, MySQL/MariaDB, PHP/Python/Perl</a:t>
            </a:r>
            <a:r>
              <a:rPr lang="en-IN" b="1" dirty="0">
                <a:solidFill>
                  <a:srgbClr val="FF0000"/>
                </a:solidFill>
              </a:rPr>
              <a:t>)</a:t>
            </a:r>
          </a:p>
          <a:p>
            <a:r>
              <a:rPr lang="en-IN" b="1" dirty="0">
                <a:solidFill>
                  <a:srgbClr val="FF0000"/>
                </a:solidFill>
              </a:rPr>
              <a:t>T3 Stack (</a:t>
            </a:r>
            <a:r>
              <a:rPr lang="en-IN" dirty="0"/>
              <a:t>Next.js, </a:t>
            </a:r>
            <a:r>
              <a:rPr lang="en-IN" dirty="0" err="1"/>
              <a:t>tRPC</a:t>
            </a:r>
            <a:r>
              <a:rPr lang="en-IN" dirty="0"/>
              <a:t>, TypeScript, Tailwind CSS, Prisma</a:t>
            </a:r>
            <a:r>
              <a:rPr lang="en-IN" b="1" dirty="0">
                <a:solidFill>
                  <a:srgbClr val="FF0000"/>
                </a:solidFill>
              </a:rPr>
              <a:t>)</a:t>
            </a:r>
          </a:p>
          <a:p>
            <a:r>
              <a:rPr lang="en-US" b="1" dirty="0">
                <a:solidFill>
                  <a:srgbClr val="FF0000"/>
                </a:solidFill>
              </a:rPr>
              <a:t>Serverless Stack (</a:t>
            </a:r>
            <a:r>
              <a:rPr lang="en-US" dirty="0"/>
              <a:t>e.g., AWS Lambda, Firebase, Netlify Functions</a:t>
            </a:r>
            <a:r>
              <a:rPr lang="en-US" b="1" dirty="0">
                <a:solidFill>
                  <a:srgbClr val="FF0000"/>
                </a:solidFill>
              </a:rPr>
              <a:t>)</a:t>
            </a:r>
            <a:endParaRPr lang="en-GH" b="1" dirty="0">
              <a:solidFill>
                <a:srgbClr val="FF0000"/>
              </a:solidFill>
            </a:endParaRPr>
          </a:p>
        </p:txBody>
      </p:sp>
    </p:spTree>
    <p:extLst>
      <p:ext uri="{BB962C8B-B14F-4D97-AF65-F5344CB8AC3E}">
        <p14:creationId xmlns:p14="http://schemas.microsoft.com/office/powerpoint/2010/main" val="4286250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E76A5-02D8-3C96-BBAF-5F8F6119E255}"/>
              </a:ext>
            </a:extLst>
          </p:cNvPr>
          <p:cNvSpPr>
            <a:spLocks noGrp="1"/>
          </p:cNvSpPr>
          <p:nvPr>
            <p:ph type="title"/>
          </p:nvPr>
        </p:nvSpPr>
        <p:spPr/>
        <p:txBody>
          <a:bodyPr/>
          <a:lstStyle/>
          <a:p>
            <a:r>
              <a:rPr lang="en-IN" dirty="0"/>
              <a:t>What stack do we follow?</a:t>
            </a:r>
            <a:endParaRPr lang="en-GH" dirty="0"/>
          </a:p>
        </p:txBody>
      </p:sp>
      <p:sp>
        <p:nvSpPr>
          <p:cNvPr id="3" name="Content Placeholder 2">
            <a:extLst>
              <a:ext uri="{FF2B5EF4-FFF2-40B4-BE49-F238E27FC236}">
                <a16:creationId xmlns:a16="http://schemas.microsoft.com/office/drawing/2014/main" id="{DF12E9D4-1413-B567-4650-F3FD184649D2}"/>
              </a:ext>
            </a:extLst>
          </p:cNvPr>
          <p:cNvSpPr>
            <a:spLocks noGrp="1"/>
          </p:cNvSpPr>
          <p:nvPr>
            <p:ph idx="1"/>
          </p:nvPr>
        </p:nvSpPr>
        <p:spPr/>
        <p:txBody>
          <a:bodyPr/>
          <a:lstStyle/>
          <a:p>
            <a:r>
              <a:rPr lang="en-US" dirty="0"/>
              <a:t>Using </a:t>
            </a:r>
            <a:r>
              <a:rPr lang="en-US" dirty="0">
                <a:solidFill>
                  <a:srgbClr val="FF0000"/>
                </a:solidFill>
              </a:rPr>
              <a:t>HTML, CSS, JavaScript, React, PHP, and MySQL</a:t>
            </a:r>
            <a:r>
              <a:rPr lang="en-US" dirty="0"/>
              <a:t>, is a combination of traditional LAMP elements (with PHP and MySQL) and modern front-end technologies like React.</a:t>
            </a:r>
          </a:p>
          <a:p>
            <a:r>
              <a:rPr lang="en-US" dirty="0"/>
              <a:t>This stack doesn’t have a specific name like </a:t>
            </a:r>
            <a:r>
              <a:rPr lang="en-US" dirty="0" err="1"/>
              <a:t>MERN</a:t>
            </a:r>
            <a:r>
              <a:rPr lang="en-US" dirty="0"/>
              <a:t> or MEAN, but it could be described as a hybrid of: LAMP Stack (with PHP and MySQL)React for the front-end.</a:t>
            </a:r>
          </a:p>
          <a:p>
            <a:r>
              <a:rPr lang="en-US" dirty="0"/>
              <a:t>A blend of a PHP-based back-end with a modern React-based front-end. This gives the flexibility of using a more dynamic and powerful front-end with React while relying on the tried-and-tested back-end technologies of PHP and MySQL.</a:t>
            </a:r>
          </a:p>
          <a:p>
            <a:r>
              <a:rPr lang="en-US" dirty="0"/>
              <a:t>We might refer to this stack as a </a:t>
            </a:r>
            <a:r>
              <a:rPr lang="en-US" b="1" dirty="0">
                <a:solidFill>
                  <a:srgbClr val="FF0000"/>
                </a:solidFill>
              </a:rPr>
              <a:t>React + LAMP </a:t>
            </a:r>
            <a:r>
              <a:rPr lang="en-US" dirty="0"/>
              <a:t>stack or simply a custom stack depending on your specific use case.</a:t>
            </a:r>
            <a:endParaRPr lang="en-GH" dirty="0"/>
          </a:p>
        </p:txBody>
      </p:sp>
    </p:spTree>
    <p:extLst>
      <p:ext uri="{BB962C8B-B14F-4D97-AF65-F5344CB8AC3E}">
        <p14:creationId xmlns:p14="http://schemas.microsoft.com/office/powerpoint/2010/main" val="2407254413"/>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A6F9229A-DD42-46FB-AC7D-2F23A646FBDE}" vid="{29738491-4758-454F-8D61-01C0E3071440}"/>
    </a:ext>
  </a:extLst>
</a:theme>
</file>

<file path=docProps/app.xml><?xml version="1.0" encoding="utf-8"?>
<Properties xmlns="http://schemas.openxmlformats.org/officeDocument/2006/extended-properties" xmlns:vt="http://schemas.openxmlformats.org/officeDocument/2006/docPropsVTypes">
  <Template>Govindha-Ashesi-3-4-Five</Template>
  <TotalTime>237</TotalTime>
  <Words>2207</Words>
  <Application>Microsoft Office PowerPoint</Application>
  <PresentationFormat>On-screen Show (4:3)</PresentationFormat>
  <Paragraphs>170</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Calibri Light</vt:lpstr>
      <vt:lpstr>1_Office Theme</vt:lpstr>
      <vt:lpstr>Introduction to Web Technologies</vt:lpstr>
      <vt:lpstr>Outline</vt:lpstr>
      <vt:lpstr>What are Web Technologies?</vt:lpstr>
      <vt:lpstr>What is Web Development?</vt:lpstr>
      <vt:lpstr>Why is it important to me?</vt:lpstr>
      <vt:lpstr>Why is it important to me?</vt:lpstr>
      <vt:lpstr>Website Vs Web app</vt:lpstr>
      <vt:lpstr>WWW Vs Web</vt:lpstr>
      <vt:lpstr>WWW Vs Web: Key Differences</vt:lpstr>
      <vt:lpstr>History of the Web (WWW)</vt:lpstr>
      <vt:lpstr>Internet vs Web</vt:lpstr>
      <vt:lpstr>Internet vs Web: Key Differences</vt:lpstr>
      <vt:lpstr>The Web Development</vt:lpstr>
      <vt:lpstr>Web Technologies</vt:lpstr>
      <vt:lpstr>Web Technologies</vt:lpstr>
      <vt:lpstr>Web Technologies</vt:lpstr>
      <vt:lpstr>Web Technologies</vt:lpstr>
      <vt:lpstr>Web Development Approaches</vt:lpstr>
      <vt:lpstr>Web Development: Amateur Process</vt:lpstr>
      <vt:lpstr>Web Development: Professional Process</vt:lpstr>
      <vt:lpstr>The Web Development: Summary</vt:lpstr>
      <vt:lpstr>The Web Development: Summary</vt:lpstr>
      <vt:lpstr>The Web Development: Summary</vt:lpstr>
      <vt:lpstr>Content Management Systems</vt:lpstr>
      <vt:lpstr>The meaning of Stack in Web Development</vt:lpstr>
      <vt:lpstr>The meaning of Stack in Web Development</vt:lpstr>
      <vt:lpstr>Popular Web Development Stacks</vt:lpstr>
      <vt:lpstr>What stack do we follow?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Govindha R Yeluripati</dc:creator>
  <cp:lastModifiedBy>Govindha  Ramaiah Yeluripati</cp:lastModifiedBy>
  <cp:revision>13</cp:revision>
  <dcterms:created xsi:type="dcterms:W3CDTF">2024-09-11T05:06:52Z</dcterms:created>
  <dcterms:modified xsi:type="dcterms:W3CDTF">2024-09-11T09:43:08Z</dcterms:modified>
</cp:coreProperties>
</file>