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01"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341" r:id="rId42"/>
    <p:sldId id="342" r:id="rId43"/>
    <p:sldId id="344" r:id="rId44"/>
    <p:sldId id="343" r:id="rId45"/>
    <p:sldId id="345" r:id="rId46"/>
    <p:sldId id="346" r:id="rId47"/>
    <p:sldId id="347" r:id="rId48"/>
    <p:sldId id="349" r:id="rId49"/>
    <p:sldId id="350" r:id="rId50"/>
    <p:sldId id="351" r:id="rId51"/>
    <p:sldId id="352" r:id="rId52"/>
    <p:sldId id="353" r:id="rId53"/>
    <p:sldId id="348" r:id="rId54"/>
    <p:sldId id="354" r:id="rId55"/>
    <p:sldId id="356" r:id="rId56"/>
    <p:sldId id="357" r:id="rId57"/>
    <p:sldId id="358" r:id="rId58"/>
    <p:sldId id="355" r:id="rId59"/>
    <p:sldId id="285"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9966FF"/>
    <a:srgbClr val="C010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60" d="100"/>
          <a:sy n="60" d="100"/>
        </p:scale>
        <p:origin x="13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F13031-D7B3-4BE7-B920-9779E9F3C00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995DDC2-6F99-45D3-9F38-E90F9CEF4AA8}">
      <dgm:prSet/>
      <dgm:spPr/>
      <dgm:t>
        <a:bodyPr/>
        <a:lstStyle/>
        <a:p>
          <a:r>
            <a:rPr lang="en-IN" b="0" i="0" baseline="0" dirty="0"/>
            <a:t>HTML stands for </a:t>
          </a:r>
          <a:r>
            <a:rPr lang="en-IN" b="1" i="0" baseline="0" dirty="0">
              <a:solidFill>
                <a:srgbClr val="FF0000"/>
              </a:solidFill>
            </a:rPr>
            <a:t>H</a:t>
          </a:r>
          <a:r>
            <a:rPr lang="en-IN" b="1" i="0" baseline="0" dirty="0">
              <a:solidFill>
                <a:srgbClr val="0070C0"/>
              </a:solidFill>
            </a:rPr>
            <a:t>yper </a:t>
          </a:r>
          <a:r>
            <a:rPr lang="en-IN" b="1" i="0" baseline="0" dirty="0">
              <a:solidFill>
                <a:srgbClr val="FF0000"/>
              </a:solidFill>
            </a:rPr>
            <a:t>T</a:t>
          </a:r>
          <a:r>
            <a:rPr lang="en-IN" b="1" i="0" baseline="0" dirty="0">
              <a:solidFill>
                <a:srgbClr val="0070C0"/>
              </a:solidFill>
            </a:rPr>
            <a:t>ext </a:t>
          </a:r>
          <a:r>
            <a:rPr lang="en-IN" b="1" i="0" baseline="0" dirty="0">
              <a:solidFill>
                <a:srgbClr val="FF0000"/>
              </a:solidFill>
            </a:rPr>
            <a:t>M</a:t>
          </a:r>
          <a:r>
            <a:rPr lang="en-IN" b="1" i="0" baseline="0" dirty="0">
              <a:solidFill>
                <a:srgbClr val="0070C0"/>
              </a:solidFill>
            </a:rPr>
            <a:t>arkup </a:t>
          </a:r>
          <a:r>
            <a:rPr lang="en-IN" b="1" i="0" baseline="0" dirty="0">
              <a:solidFill>
                <a:srgbClr val="FF0000"/>
              </a:solidFill>
            </a:rPr>
            <a:t>L</a:t>
          </a:r>
          <a:r>
            <a:rPr lang="en-IN" b="1" i="0" baseline="0" dirty="0">
              <a:solidFill>
                <a:srgbClr val="0070C0"/>
              </a:solidFill>
            </a:rPr>
            <a:t>anguage</a:t>
          </a:r>
          <a:endParaRPr lang="en-US" dirty="0">
            <a:solidFill>
              <a:srgbClr val="0070C0"/>
            </a:solidFill>
          </a:endParaRPr>
        </a:p>
      </dgm:t>
    </dgm:pt>
    <dgm:pt modelId="{7F08C4A1-88F0-4119-9FBF-DF9B2B895F30}" type="parTrans" cxnId="{C85D0B75-4533-45EB-B3BD-025451FD3C02}">
      <dgm:prSet/>
      <dgm:spPr/>
      <dgm:t>
        <a:bodyPr/>
        <a:lstStyle/>
        <a:p>
          <a:endParaRPr lang="en-US"/>
        </a:p>
      </dgm:t>
    </dgm:pt>
    <dgm:pt modelId="{DE2A96C5-BBC0-4378-890B-F6C3AADA9BD2}" type="sibTrans" cxnId="{C85D0B75-4533-45EB-B3BD-025451FD3C02}">
      <dgm:prSet/>
      <dgm:spPr/>
      <dgm:t>
        <a:bodyPr/>
        <a:lstStyle/>
        <a:p>
          <a:endParaRPr lang="en-US"/>
        </a:p>
      </dgm:t>
    </dgm:pt>
    <dgm:pt modelId="{6D24042F-E91A-4640-B7BF-B1E3D2ABF366}">
      <dgm:prSet/>
      <dgm:spPr/>
      <dgm:t>
        <a:bodyPr/>
        <a:lstStyle/>
        <a:p>
          <a:r>
            <a:rPr lang="en-IN" dirty="0"/>
            <a:t>It uses </a:t>
          </a:r>
          <a:r>
            <a:rPr lang="en-IN" dirty="0">
              <a:solidFill>
                <a:srgbClr val="FF0000"/>
              </a:solidFill>
            </a:rPr>
            <a:t>markup</a:t>
          </a:r>
          <a:r>
            <a:rPr lang="en-IN" dirty="0"/>
            <a:t> to define the structure of web pages</a:t>
          </a:r>
          <a:endParaRPr lang="en-US" dirty="0"/>
        </a:p>
      </dgm:t>
    </dgm:pt>
    <dgm:pt modelId="{EC3B3522-0EFF-4029-97B3-B628EC5FA63F}" type="parTrans" cxnId="{4F767EB4-F47E-4413-91F3-9F16DA05FFE0}">
      <dgm:prSet/>
      <dgm:spPr/>
      <dgm:t>
        <a:bodyPr/>
        <a:lstStyle/>
        <a:p>
          <a:endParaRPr lang="en-US"/>
        </a:p>
      </dgm:t>
    </dgm:pt>
    <dgm:pt modelId="{3C50B32E-BA26-4789-920D-3F869903CC5D}" type="sibTrans" cxnId="{4F767EB4-F47E-4413-91F3-9F16DA05FFE0}">
      <dgm:prSet/>
      <dgm:spPr/>
      <dgm:t>
        <a:bodyPr/>
        <a:lstStyle/>
        <a:p>
          <a:endParaRPr lang="en-US"/>
        </a:p>
      </dgm:t>
    </dgm:pt>
    <dgm:pt modelId="{DDCCD0B6-8519-411D-9AC8-A9F6483C7C18}" type="pres">
      <dgm:prSet presAssocID="{C1F13031-D7B3-4BE7-B920-9779E9F3C006}" presName="root" presStyleCnt="0">
        <dgm:presLayoutVars>
          <dgm:dir/>
          <dgm:resizeHandles val="exact"/>
        </dgm:presLayoutVars>
      </dgm:prSet>
      <dgm:spPr/>
    </dgm:pt>
    <dgm:pt modelId="{29460879-5B7E-4FA2-922D-6C263677C464}" type="pres">
      <dgm:prSet presAssocID="{7995DDC2-6F99-45D3-9F38-E90F9CEF4AA8}" presName="compNode" presStyleCnt="0"/>
      <dgm:spPr/>
    </dgm:pt>
    <dgm:pt modelId="{F8CEEE20-C910-4079-9EE0-90A149EEDBFB}" type="pres">
      <dgm:prSet presAssocID="{7995DDC2-6F99-45D3-9F38-E90F9CEF4AA8}" presName="bgRect" presStyleLbl="bgShp" presStyleIdx="0" presStyleCnt="2"/>
      <dgm:spPr/>
    </dgm:pt>
    <dgm:pt modelId="{6329424E-EF41-4C3A-9020-6D2BB6CA2A9A}" type="pres">
      <dgm:prSet presAssocID="{7995DDC2-6F99-45D3-9F38-E90F9CEF4AA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itor"/>
        </a:ext>
      </dgm:extLst>
    </dgm:pt>
    <dgm:pt modelId="{7BA08EF8-8637-4F33-AC67-9DEEB410CB5D}" type="pres">
      <dgm:prSet presAssocID="{7995DDC2-6F99-45D3-9F38-E90F9CEF4AA8}" presName="spaceRect" presStyleCnt="0"/>
      <dgm:spPr/>
    </dgm:pt>
    <dgm:pt modelId="{D56B101D-8132-438B-83D8-F328C160616E}" type="pres">
      <dgm:prSet presAssocID="{7995DDC2-6F99-45D3-9F38-E90F9CEF4AA8}" presName="parTx" presStyleLbl="revTx" presStyleIdx="0" presStyleCnt="2">
        <dgm:presLayoutVars>
          <dgm:chMax val="0"/>
          <dgm:chPref val="0"/>
        </dgm:presLayoutVars>
      </dgm:prSet>
      <dgm:spPr/>
    </dgm:pt>
    <dgm:pt modelId="{CE2A7D50-BD81-43F2-86A1-B55545165AF9}" type="pres">
      <dgm:prSet presAssocID="{DE2A96C5-BBC0-4378-890B-F6C3AADA9BD2}" presName="sibTrans" presStyleCnt="0"/>
      <dgm:spPr/>
    </dgm:pt>
    <dgm:pt modelId="{4BD9483D-412B-45CC-B20E-981229E49335}" type="pres">
      <dgm:prSet presAssocID="{6D24042F-E91A-4640-B7BF-B1E3D2ABF366}" presName="compNode" presStyleCnt="0"/>
      <dgm:spPr/>
    </dgm:pt>
    <dgm:pt modelId="{C1D14FD4-7EF2-44DE-A9F6-36C62BD26B2E}" type="pres">
      <dgm:prSet presAssocID="{6D24042F-E91A-4640-B7BF-B1E3D2ABF366}" presName="bgRect" presStyleLbl="bgShp" presStyleIdx="1" presStyleCnt="2"/>
      <dgm:spPr/>
    </dgm:pt>
    <dgm:pt modelId="{E8EBE4FC-5FBD-40FD-8D8A-A07034368DDB}" type="pres">
      <dgm:prSet presAssocID="{6D24042F-E91A-4640-B7BF-B1E3D2ABF36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4724859D-0358-4A3C-83C3-CF323BD60462}" type="pres">
      <dgm:prSet presAssocID="{6D24042F-E91A-4640-B7BF-B1E3D2ABF366}" presName="spaceRect" presStyleCnt="0"/>
      <dgm:spPr/>
    </dgm:pt>
    <dgm:pt modelId="{5D872CDE-E291-49D2-91CD-A49A24F9827F}" type="pres">
      <dgm:prSet presAssocID="{6D24042F-E91A-4640-B7BF-B1E3D2ABF366}" presName="parTx" presStyleLbl="revTx" presStyleIdx="1" presStyleCnt="2">
        <dgm:presLayoutVars>
          <dgm:chMax val="0"/>
          <dgm:chPref val="0"/>
        </dgm:presLayoutVars>
      </dgm:prSet>
      <dgm:spPr/>
    </dgm:pt>
  </dgm:ptLst>
  <dgm:cxnLst>
    <dgm:cxn modelId="{2B97CC04-B351-447E-886D-335581CBFCFA}" type="presOf" srcId="{7995DDC2-6F99-45D3-9F38-E90F9CEF4AA8}" destId="{D56B101D-8132-438B-83D8-F328C160616E}" srcOrd="0" destOrd="0" presId="urn:microsoft.com/office/officeart/2018/2/layout/IconVerticalSolidList"/>
    <dgm:cxn modelId="{C85D0B75-4533-45EB-B3BD-025451FD3C02}" srcId="{C1F13031-D7B3-4BE7-B920-9779E9F3C006}" destId="{7995DDC2-6F99-45D3-9F38-E90F9CEF4AA8}" srcOrd="0" destOrd="0" parTransId="{7F08C4A1-88F0-4119-9FBF-DF9B2B895F30}" sibTransId="{DE2A96C5-BBC0-4378-890B-F6C3AADA9BD2}"/>
    <dgm:cxn modelId="{3BE7BA86-5F8E-4640-9BE0-8EB7F9F3E891}" type="presOf" srcId="{C1F13031-D7B3-4BE7-B920-9779E9F3C006}" destId="{DDCCD0B6-8519-411D-9AC8-A9F6483C7C18}" srcOrd="0" destOrd="0" presId="urn:microsoft.com/office/officeart/2018/2/layout/IconVerticalSolidList"/>
    <dgm:cxn modelId="{4F767EB4-F47E-4413-91F3-9F16DA05FFE0}" srcId="{C1F13031-D7B3-4BE7-B920-9779E9F3C006}" destId="{6D24042F-E91A-4640-B7BF-B1E3D2ABF366}" srcOrd="1" destOrd="0" parTransId="{EC3B3522-0EFF-4029-97B3-B628EC5FA63F}" sibTransId="{3C50B32E-BA26-4789-920D-3F869903CC5D}"/>
    <dgm:cxn modelId="{33DE15D9-12E4-46EB-A39F-A72AAFFEB59D}" type="presOf" srcId="{6D24042F-E91A-4640-B7BF-B1E3D2ABF366}" destId="{5D872CDE-E291-49D2-91CD-A49A24F9827F}" srcOrd="0" destOrd="0" presId="urn:microsoft.com/office/officeart/2018/2/layout/IconVerticalSolidList"/>
    <dgm:cxn modelId="{850A61A1-6165-4323-A881-7A161999E4E3}" type="presParOf" srcId="{DDCCD0B6-8519-411D-9AC8-A9F6483C7C18}" destId="{29460879-5B7E-4FA2-922D-6C263677C464}" srcOrd="0" destOrd="0" presId="urn:microsoft.com/office/officeart/2018/2/layout/IconVerticalSolidList"/>
    <dgm:cxn modelId="{B9CA901F-1244-4DC7-AABC-FBFED789897B}" type="presParOf" srcId="{29460879-5B7E-4FA2-922D-6C263677C464}" destId="{F8CEEE20-C910-4079-9EE0-90A149EEDBFB}" srcOrd="0" destOrd="0" presId="urn:microsoft.com/office/officeart/2018/2/layout/IconVerticalSolidList"/>
    <dgm:cxn modelId="{24D98911-8DE1-47B1-8557-0617832C41CF}" type="presParOf" srcId="{29460879-5B7E-4FA2-922D-6C263677C464}" destId="{6329424E-EF41-4C3A-9020-6D2BB6CA2A9A}" srcOrd="1" destOrd="0" presId="urn:microsoft.com/office/officeart/2018/2/layout/IconVerticalSolidList"/>
    <dgm:cxn modelId="{D14E0EF4-68C6-4657-8F0F-48BB30E051DB}" type="presParOf" srcId="{29460879-5B7E-4FA2-922D-6C263677C464}" destId="{7BA08EF8-8637-4F33-AC67-9DEEB410CB5D}" srcOrd="2" destOrd="0" presId="urn:microsoft.com/office/officeart/2018/2/layout/IconVerticalSolidList"/>
    <dgm:cxn modelId="{F99E2F8C-F401-4FA2-A190-B24790460879}" type="presParOf" srcId="{29460879-5B7E-4FA2-922D-6C263677C464}" destId="{D56B101D-8132-438B-83D8-F328C160616E}" srcOrd="3" destOrd="0" presId="urn:microsoft.com/office/officeart/2018/2/layout/IconVerticalSolidList"/>
    <dgm:cxn modelId="{14DF3744-74C1-4B66-A907-9AA78C61BA9D}" type="presParOf" srcId="{DDCCD0B6-8519-411D-9AC8-A9F6483C7C18}" destId="{CE2A7D50-BD81-43F2-86A1-B55545165AF9}" srcOrd="1" destOrd="0" presId="urn:microsoft.com/office/officeart/2018/2/layout/IconVerticalSolidList"/>
    <dgm:cxn modelId="{362FD273-4FBC-4185-8AD8-3C3414863D73}" type="presParOf" srcId="{DDCCD0B6-8519-411D-9AC8-A9F6483C7C18}" destId="{4BD9483D-412B-45CC-B20E-981229E49335}" srcOrd="2" destOrd="0" presId="urn:microsoft.com/office/officeart/2018/2/layout/IconVerticalSolidList"/>
    <dgm:cxn modelId="{16F46BBE-F142-49DF-BB60-4FCA281270F6}" type="presParOf" srcId="{4BD9483D-412B-45CC-B20E-981229E49335}" destId="{C1D14FD4-7EF2-44DE-A9F6-36C62BD26B2E}" srcOrd="0" destOrd="0" presId="urn:microsoft.com/office/officeart/2018/2/layout/IconVerticalSolidList"/>
    <dgm:cxn modelId="{9997B755-44B4-4451-B448-2A6E581AB2C1}" type="presParOf" srcId="{4BD9483D-412B-45CC-B20E-981229E49335}" destId="{E8EBE4FC-5FBD-40FD-8D8A-A07034368DDB}" srcOrd="1" destOrd="0" presId="urn:microsoft.com/office/officeart/2018/2/layout/IconVerticalSolidList"/>
    <dgm:cxn modelId="{28D63057-5145-4045-8BFF-E00CEFE6551E}" type="presParOf" srcId="{4BD9483D-412B-45CC-B20E-981229E49335}" destId="{4724859D-0358-4A3C-83C3-CF323BD60462}" srcOrd="2" destOrd="0" presId="urn:microsoft.com/office/officeart/2018/2/layout/IconVerticalSolidList"/>
    <dgm:cxn modelId="{FA0F44EA-908F-44DD-B7D9-DC5D52AAFCCB}" type="presParOf" srcId="{4BD9483D-412B-45CC-B20E-981229E49335}" destId="{5D872CDE-E291-49D2-91CD-A49A24F982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403943-337D-48A8-93D2-655C8F95E56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0A19399-F534-47A4-934F-C0E9258C8FC1}">
      <dgm:prSet/>
      <dgm:spPr/>
      <dgm:t>
        <a:bodyPr/>
        <a:lstStyle/>
        <a:p>
          <a:r>
            <a:rPr lang="en-US" b="0" i="0" dirty="0"/>
            <a:t>HTML consists of a series of </a:t>
          </a:r>
          <a:r>
            <a:rPr lang="en-US" b="0" i="0" dirty="0">
              <a:solidFill>
                <a:srgbClr val="FF0000"/>
              </a:solidFill>
            </a:rPr>
            <a:t>elements</a:t>
          </a:r>
          <a:endParaRPr lang="en-US" dirty="0">
            <a:solidFill>
              <a:srgbClr val="FF0000"/>
            </a:solidFill>
          </a:endParaRPr>
        </a:p>
      </dgm:t>
    </dgm:pt>
    <dgm:pt modelId="{B96494CF-EB0D-42BC-A5B5-8B5DA6897D17}" type="parTrans" cxnId="{86ADCD20-B1C2-4930-975E-E1072E401660}">
      <dgm:prSet/>
      <dgm:spPr/>
      <dgm:t>
        <a:bodyPr/>
        <a:lstStyle/>
        <a:p>
          <a:endParaRPr lang="en-US"/>
        </a:p>
      </dgm:t>
    </dgm:pt>
    <dgm:pt modelId="{3AE3B967-DFB8-485E-97A0-C1402EFC7262}" type="sibTrans" cxnId="{86ADCD20-B1C2-4930-975E-E1072E401660}">
      <dgm:prSet/>
      <dgm:spPr/>
      <dgm:t>
        <a:bodyPr/>
        <a:lstStyle/>
        <a:p>
          <a:endParaRPr lang="en-US"/>
        </a:p>
      </dgm:t>
    </dgm:pt>
    <dgm:pt modelId="{267423A0-DCB1-4E7D-B66C-E22E945D39B0}">
      <dgm:prSet/>
      <dgm:spPr/>
      <dgm:t>
        <a:bodyPr/>
        <a:lstStyle/>
        <a:p>
          <a:r>
            <a:rPr lang="en-US" b="0" i="0" dirty="0"/>
            <a:t>HTML elements tell the browser </a:t>
          </a:r>
          <a:r>
            <a:rPr lang="en-US" b="0" i="0" dirty="0">
              <a:solidFill>
                <a:srgbClr val="FF0000"/>
              </a:solidFill>
            </a:rPr>
            <a:t>how to display </a:t>
          </a:r>
          <a:r>
            <a:rPr lang="en-US" b="0" i="0" dirty="0"/>
            <a:t>the content</a:t>
          </a:r>
          <a:endParaRPr lang="en-US" dirty="0"/>
        </a:p>
      </dgm:t>
    </dgm:pt>
    <dgm:pt modelId="{273382FD-66F7-4EBB-96FB-CD6314FA4945}" type="parTrans" cxnId="{4EE95CD0-3E9E-4403-B5BB-80695ABA515D}">
      <dgm:prSet/>
      <dgm:spPr/>
      <dgm:t>
        <a:bodyPr/>
        <a:lstStyle/>
        <a:p>
          <a:endParaRPr lang="en-US"/>
        </a:p>
      </dgm:t>
    </dgm:pt>
    <dgm:pt modelId="{DFB60DA9-7736-47A7-B36E-0ACA46F7847A}" type="sibTrans" cxnId="{4EE95CD0-3E9E-4403-B5BB-80695ABA515D}">
      <dgm:prSet/>
      <dgm:spPr/>
      <dgm:t>
        <a:bodyPr/>
        <a:lstStyle/>
        <a:p>
          <a:endParaRPr lang="en-US"/>
        </a:p>
      </dgm:t>
    </dgm:pt>
    <dgm:pt modelId="{6E5B750D-B9D1-4930-B9F7-24876A0B0EBC}" type="pres">
      <dgm:prSet presAssocID="{E1403943-337D-48A8-93D2-655C8F95E567}" presName="root" presStyleCnt="0">
        <dgm:presLayoutVars>
          <dgm:dir/>
          <dgm:resizeHandles val="exact"/>
        </dgm:presLayoutVars>
      </dgm:prSet>
      <dgm:spPr/>
    </dgm:pt>
    <dgm:pt modelId="{8B8F163E-1948-46D2-B730-75ABEB9C533E}" type="pres">
      <dgm:prSet presAssocID="{C0A19399-F534-47A4-934F-C0E9258C8FC1}" presName="compNode" presStyleCnt="0"/>
      <dgm:spPr/>
    </dgm:pt>
    <dgm:pt modelId="{DF5C8A49-30E1-439E-A771-AFE18F3802DE}" type="pres">
      <dgm:prSet presAssocID="{C0A19399-F534-47A4-934F-C0E9258C8FC1}" presName="bgRect" presStyleLbl="bgShp" presStyleIdx="0" presStyleCnt="2"/>
      <dgm:spPr/>
    </dgm:pt>
    <dgm:pt modelId="{E8F635B5-51B3-4979-B63F-1EE97405CB31}" type="pres">
      <dgm:prSet presAssocID="{C0A19399-F534-47A4-934F-C0E9258C8FC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itor"/>
        </a:ext>
      </dgm:extLst>
    </dgm:pt>
    <dgm:pt modelId="{F8FCA099-80BB-42E1-A540-E25EAD6F48FC}" type="pres">
      <dgm:prSet presAssocID="{C0A19399-F534-47A4-934F-C0E9258C8FC1}" presName="spaceRect" presStyleCnt="0"/>
      <dgm:spPr/>
    </dgm:pt>
    <dgm:pt modelId="{EA6AC051-43FB-4AB4-BC98-B2CCF0DCA571}" type="pres">
      <dgm:prSet presAssocID="{C0A19399-F534-47A4-934F-C0E9258C8FC1}" presName="parTx" presStyleLbl="revTx" presStyleIdx="0" presStyleCnt="2">
        <dgm:presLayoutVars>
          <dgm:chMax val="0"/>
          <dgm:chPref val="0"/>
        </dgm:presLayoutVars>
      </dgm:prSet>
      <dgm:spPr/>
    </dgm:pt>
    <dgm:pt modelId="{7673A018-9258-469D-8E0C-7EFFF143869F}" type="pres">
      <dgm:prSet presAssocID="{3AE3B967-DFB8-485E-97A0-C1402EFC7262}" presName="sibTrans" presStyleCnt="0"/>
      <dgm:spPr/>
    </dgm:pt>
    <dgm:pt modelId="{AA6F9AFA-B1A3-4573-BD33-E19FF5999242}" type="pres">
      <dgm:prSet presAssocID="{267423A0-DCB1-4E7D-B66C-E22E945D39B0}" presName="compNode" presStyleCnt="0"/>
      <dgm:spPr/>
    </dgm:pt>
    <dgm:pt modelId="{BBB79124-8C3D-4C72-8F94-9766519413F2}" type="pres">
      <dgm:prSet presAssocID="{267423A0-DCB1-4E7D-B66C-E22E945D39B0}" presName="bgRect" presStyleLbl="bgShp" presStyleIdx="1" presStyleCnt="2"/>
      <dgm:spPr/>
    </dgm:pt>
    <dgm:pt modelId="{09572530-EDC2-4BB0-9979-F1D2E9D58BFB}" type="pres">
      <dgm:prSet presAssocID="{267423A0-DCB1-4E7D-B66C-E22E945D39B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DC8DED86-1D99-490F-97E2-5A19473F7E10}" type="pres">
      <dgm:prSet presAssocID="{267423A0-DCB1-4E7D-B66C-E22E945D39B0}" presName="spaceRect" presStyleCnt="0"/>
      <dgm:spPr/>
    </dgm:pt>
    <dgm:pt modelId="{95DDD47D-5823-4BFC-A9EA-6D5373590F0B}" type="pres">
      <dgm:prSet presAssocID="{267423A0-DCB1-4E7D-B66C-E22E945D39B0}" presName="parTx" presStyleLbl="revTx" presStyleIdx="1" presStyleCnt="2">
        <dgm:presLayoutVars>
          <dgm:chMax val="0"/>
          <dgm:chPref val="0"/>
        </dgm:presLayoutVars>
      </dgm:prSet>
      <dgm:spPr/>
    </dgm:pt>
  </dgm:ptLst>
  <dgm:cxnLst>
    <dgm:cxn modelId="{86ADCD20-B1C2-4930-975E-E1072E401660}" srcId="{E1403943-337D-48A8-93D2-655C8F95E567}" destId="{C0A19399-F534-47A4-934F-C0E9258C8FC1}" srcOrd="0" destOrd="0" parTransId="{B96494CF-EB0D-42BC-A5B5-8B5DA6897D17}" sibTransId="{3AE3B967-DFB8-485E-97A0-C1402EFC7262}"/>
    <dgm:cxn modelId="{3BD4E287-4ABD-4272-B2E9-CC8FB1D2C0B0}" type="presOf" srcId="{C0A19399-F534-47A4-934F-C0E9258C8FC1}" destId="{EA6AC051-43FB-4AB4-BC98-B2CCF0DCA571}" srcOrd="0" destOrd="0" presId="urn:microsoft.com/office/officeart/2018/2/layout/IconVerticalSolidList"/>
    <dgm:cxn modelId="{262428D0-8DE8-491E-B776-3A90817EF49F}" type="presOf" srcId="{267423A0-DCB1-4E7D-B66C-E22E945D39B0}" destId="{95DDD47D-5823-4BFC-A9EA-6D5373590F0B}" srcOrd="0" destOrd="0" presId="urn:microsoft.com/office/officeart/2018/2/layout/IconVerticalSolidList"/>
    <dgm:cxn modelId="{4EE95CD0-3E9E-4403-B5BB-80695ABA515D}" srcId="{E1403943-337D-48A8-93D2-655C8F95E567}" destId="{267423A0-DCB1-4E7D-B66C-E22E945D39B0}" srcOrd="1" destOrd="0" parTransId="{273382FD-66F7-4EBB-96FB-CD6314FA4945}" sibTransId="{DFB60DA9-7736-47A7-B36E-0ACA46F7847A}"/>
    <dgm:cxn modelId="{A8FB62D6-5F7F-4C7D-AA7B-1FEA3E67C1E2}" type="presOf" srcId="{E1403943-337D-48A8-93D2-655C8F95E567}" destId="{6E5B750D-B9D1-4930-B9F7-24876A0B0EBC}" srcOrd="0" destOrd="0" presId="urn:microsoft.com/office/officeart/2018/2/layout/IconVerticalSolidList"/>
    <dgm:cxn modelId="{CAF4BC53-D7F7-4FB6-BD28-B1D3392A8E38}" type="presParOf" srcId="{6E5B750D-B9D1-4930-B9F7-24876A0B0EBC}" destId="{8B8F163E-1948-46D2-B730-75ABEB9C533E}" srcOrd="0" destOrd="0" presId="urn:microsoft.com/office/officeart/2018/2/layout/IconVerticalSolidList"/>
    <dgm:cxn modelId="{2BC3C8EF-AD7F-4BC8-A97D-F9EC67AFC00F}" type="presParOf" srcId="{8B8F163E-1948-46D2-B730-75ABEB9C533E}" destId="{DF5C8A49-30E1-439E-A771-AFE18F3802DE}" srcOrd="0" destOrd="0" presId="urn:microsoft.com/office/officeart/2018/2/layout/IconVerticalSolidList"/>
    <dgm:cxn modelId="{94137AD5-4880-480C-B6AA-AE4173675B05}" type="presParOf" srcId="{8B8F163E-1948-46D2-B730-75ABEB9C533E}" destId="{E8F635B5-51B3-4979-B63F-1EE97405CB31}" srcOrd="1" destOrd="0" presId="urn:microsoft.com/office/officeart/2018/2/layout/IconVerticalSolidList"/>
    <dgm:cxn modelId="{F403E715-7F4B-4352-99DF-BEDC66BDCFB9}" type="presParOf" srcId="{8B8F163E-1948-46D2-B730-75ABEB9C533E}" destId="{F8FCA099-80BB-42E1-A540-E25EAD6F48FC}" srcOrd="2" destOrd="0" presId="urn:microsoft.com/office/officeart/2018/2/layout/IconVerticalSolidList"/>
    <dgm:cxn modelId="{88E645A5-4D4F-4A14-BD68-3FC30A7267D4}" type="presParOf" srcId="{8B8F163E-1948-46D2-B730-75ABEB9C533E}" destId="{EA6AC051-43FB-4AB4-BC98-B2CCF0DCA571}" srcOrd="3" destOrd="0" presId="urn:microsoft.com/office/officeart/2018/2/layout/IconVerticalSolidList"/>
    <dgm:cxn modelId="{F3B43440-D56F-46AF-9108-8D94E30C1B10}" type="presParOf" srcId="{6E5B750D-B9D1-4930-B9F7-24876A0B0EBC}" destId="{7673A018-9258-469D-8E0C-7EFFF143869F}" srcOrd="1" destOrd="0" presId="urn:microsoft.com/office/officeart/2018/2/layout/IconVerticalSolidList"/>
    <dgm:cxn modelId="{8399450A-DFD6-45BB-B842-15567D088475}" type="presParOf" srcId="{6E5B750D-B9D1-4930-B9F7-24876A0B0EBC}" destId="{AA6F9AFA-B1A3-4573-BD33-E19FF5999242}" srcOrd="2" destOrd="0" presId="urn:microsoft.com/office/officeart/2018/2/layout/IconVerticalSolidList"/>
    <dgm:cxn modelId="{AC6FBCD6-678C-468F-B74E-7B2327CD958E}" type="presParOf" srcId="{AA6F9AFA-B1A3-4573-BD33-E19FF5999242}" destId="{BBB79124-8C3D-4C72-8F94-9766519413F2}" srcOrd="0" destOrd="0" presId="urn:microsoft.com/office/officeart/2018/2/layout/IconVerticalSolidList"/>
    <dgm:cxn modelId="{CCE3B989-1575-40B1-BEC8-88478A659A11}" type="presParOf" srcId="{AA6F9AFA-B1A3-4573-BD33-E19FF5999242}" destId="{09572530-EDC2-4BB0-9979-F1D2E9D58BFB}" srcOrd="1" destOrd="0" presId="urn:microsoft.com/office/officeart/2018/2/layout/IconVerticalSolidList"/>
    <dgm:cxn modelId="{DD8AB375-30A1-4213-986D-85128E76B966}" type="presParOf" srcId="{AA6F9AFA-B1A3-4573-BD33-E19FF5999242}" destId="{DC8DED86-1D99-490F-97E2-5A19473F7E10}" srcOrd="2" destOrd="0" presId="urn:microsoft.com/office/officeart/2018/2/layout/IconVerticalSolidList"/>
    <dgm:cxn modelId="{DBC401B4-0B29-414E-A4B0-EFE0BD34B586}" type="presParOf" srcId="{AA6F9AFA-B1A3-4573-BD33-E19FF5999242}" destId="{95DDD47D-5823-4BFC-A9EA-6D5373590F0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EEE20-C910-4079-9EE0-90A149EEDBFB}">
      <dsp:nvSpPr>
        <dsp:cNvPr id="0" name=""/>
        <dsp:cNvSpPr/>
      </dsp:nvSpPr>
      <dsp:spPr>
        <a:xfrm>
          <a:off x="0" y="803260"/>
          <a:ext cx="8681519" cy="14829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29424E-EF41-4C3A-9020-6D2BB6CA2A9A}">
      <dsp:nvSpPr>
        <dsp:cNvPr id="0" name=""/>
        <dsp:cNvSpPr/>
      </dsp:nvSpPr>
      <dsp:spPr>
        <a:xfrm>
          <a:off x="448590" y="1136922"/>
          <a:ext cx="815618" cy="8156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6B101D-8132-438B-83D8-F328C160616E}">
      <dsp:nvSpPr>
        <dsp:cNvPr id="0" name=""/>
        <dsp:cNvSpPr/>
      </dsp:nvSpPr>
      <dsp:spPr>
        <a:xfrm>
          <a:off x="1712798" y="803260"/>
          <a:ext cx="6968720" cy="1482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945" tIns="156945" rIns="156945" bIns="156945" numCol="1" spcCol="1270" anchor="ctr" anchorCtr="0">
          <a:noAutofit/>
        </a:bodyPr>
        <a:lstStyle/>
        <a:p>
          <a:pPr marL="0" lvl="0" indent="0" algn="l" defTabSz="1111250">
            <a:lnSpc>
              <a:spcPct val="90000"/>
            </a:lnSpc>
            <a:spcBef>
              <a:spcPct val="0"/>
            </a:spcBef>
            <a:spcAft>
              <a:spcPct val="35000"/>
            </a:spcAft>
            <a:buNone/>
          </a:pPr>
          <a:r>
            <a:rPr lang="en-IN" sz="2500" b="0" i="0" kern="1200" baseline="0" dirty="0"/>
            <a:t>HTML stands for </a:t>
          </a:r>
          <a:r>
            <a:rPr lang="en-IN" sz="2500" b="1" i="0" kern="1200" baseline="0" dirty="0">
              <a:solidFill>
                <a:srgbClr val="FF0000"/>
              </a:solidFill>
            </a:rPr>
            <a:t>H</a:t>
          </a:r>
          <a:r>
            <a:rPr lang="en-IN" sz="2500" b="1" i="0" kern="1200" baseline="0" dirty="0">
              <a:solidFill>
                <a:srgbClr val="0070C0"/>
              </a:solidFill>
            </a:rPr>
            <a:t>yper </a:t>
          </a:r>
          <a:r>
            <a:rPr lang="en-IN" sz="2500" b="1" i="0" kern="1200" baseline="0" dirty="0">
              <a:solidFill>
                <a:srgbClr val="FF0000"/>
              </a:solidFill>
            </a:rPr>
            <a:t>T</a:t>
          </a:r>
          <a:r>
            <a:rPr lang="en-IN" sz="2500" b="1" i="0" kern="1200" baseline="0" dirty="0">
              <a:solidFill>
                <a:srgbClr val="0070C0"/>
              </a:solidFill>
            </a:rPr>
            <a:t>ext </a:t>
          </a:r>
          <a:r>
            <a:rPr lang="en-IN" sz="2500" b="1" i="0" kern="1200" baseline="0" dirty="0">
              <a:solidFill>
                <a:srgbClr val="FF0000"/>
              </a:solidFill>
            </a:rPr>
            <a:t>M</a:t>
          </a:r>
          <a:r>
            <a:rPr lang="en-IN" sz="2500" b="1" i="0" kern="1200" baseline="0" dirty="0">
              <a:solidFill>
                <a:srgbClr val="0070C0"/>
              </a:solidFill>
            </a:rPr>
            <a:t>arkup </a:t>
          </a:r>
          <a:r>
            <a:rPr lang="en-IN" sz="2500" b="1" i="0" kern="1200" baseline="0" dirty="0">
              <a:solidFill>
                <a:srgbClr val="FF0000"/>
              </a:solidFill>
            </a:rPr>
            <a:t>L</a:t>
          </a:r>
          <a:r>
            <a:rPr lang="en-IN" sz="2500" b="1" i="0" kern="1200" baseline="0" dirty="0">
              <a:solidFill>
                <a:srgbClr val="0070C0"/>
              </a:solidFill>
            </a:rPr>
            <a:t>anguage</a:t>
          </a:r>
          <a:endParaRPr lang="en-US" sz="2500" kern="1200" dirty="0">
            <a:solidFill>
              <a:srgbClr val="0070C0"/>
            </a:solidFill>
          </a:endParaRPr>
        </a:p>
      </dsp:txBody>
      <dsp:txXfrm>
        <a:off x="1712798" y="803260"/>
        <a:ext cx="6968720" cy="1482942"/>
      </dsp:txXfrm>
    </dsp:sp>
    <dsp:sp modelId="{C1D14FD4-7EF2-44DE-A9F6-36C62BD26B2E}">
      <dsp:nvSpPr>
        <dsp:cNvPr id="0" name=""/>
        <dsp:cNvSpPr/>
      </dsp:nvSpPr>
      <dsp:spPr>
        <a:xfrm>
          <a:off x="0" y="2656938"/>
          <a:ext cx="8681519" cy="14829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EBE4FC-5FBD-40FD-8D8A-A07034368DDB}">
      <dsp:nvSpPr>
        <dsp:cNvPr id="0" name=""/>
        <dsp:cNvSpPr/>
      </dsp:nvSpPr>
      <dsp:spPr>
        <a:xfrm>
          <a:off x="448590" y="2990600"/>
          <a:ext cx="815618" cy="8156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872CDE-E291-49D2-91CD-A49A24F9827F}">
      <dsp:nvSpPr>
        <dsp:cNvPr id="0" name=""/>
        <dsp:cNvSpPr/>
      </dsp:nvSpPr>
      <dsp:spPr>
        <a:xfrm>
          <a:off x="1712798" y="2656938"/>
          <a:ext cx="6968720" cy="1482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945" tIns="156945" rIns="156945" bIns="156945" numCol="1" spcCol="1270" anchor="ctr" anchorCtr="0">
          <a:noAutofit/>
        </a:bodyPr>
        <a:lstStyle/>
        <a:p>
          <a:pPr marL="0" lvl="0" indent="0" algn="l" defTabSz="1111250">
            <a:lnSpc>
              <a:spcPct val="90000"/>
            </a:lnSpc>
            <a:spcBef>
              <a:spcPct val="0"/>
            </a:spcBef>
            <a:spcAft>
              <a:spcPct val="35000"/>
            </a:spcAft>
            <a:buNone/>
          </a:pPr>
          <a:r>
            <a:rPr lang="en-IN" sz="2500" kern="1200" dirty="0"/>
            <a:t>It uses </a:t>
          </a:r>
          <a:r>
            <a:rPr lang="en-IN" sz="2500" kern="1200" dirty="0">
              <a:solidFill>
                <a:srgbClr val="FF0000"/>
              </a:solidFill>
            </a:rPr>
            <a:t>markup</a:t>
          </a:r>
          <a:r>
            <a:rPr lang="en-IN" sz="2500" kern="1200" dirty="0"/>
            <a:t> to define the structure of web pages</a:t>
          </a:r>
          <a:endParaRPr lang="en-US" sz="2500" kern="1200" dirty="0"/>
        </a:p>
      </dsp:txBody>
      <dsp:txXfrm>
        <a:off x="1712798" y="2656938"/>
        <a:ext cx="6968720" cy="14829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5C8A49-30E1-439E-A771-AFE18F3802DE}">
      <dsp:nvSpPr>
        <dsp:cNvPr id="0" name=""/>
        <dsp:cNvSpPr/>
      </dsp:nvSpPr>
      <dsp:spPr>
        <a:xfrm>
          <a:off x="0" y="803260"/>
          <a:ext cx="8681519" cy="14829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F635B5-51B3-4979-B63F-1EE97405CB31}">
      <dsp:nvSpPr>
        <dsp:cNvPr id="0" name=""/>
        <dsp:cNvSpPr/>
      </dsp:nvSpPr>
      <dsp:spPr>
        <a:xfrm>
          <a:off x="448590" y="1136922"/>
          <a:ext cx="815618" cy="8156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6AC051-43FB-4AB4-BC98-B2CCF0DCA571}">
      <dsp:nvSpPr>
        <dsp:cNvPr id="0" name=""/>
        <dsp:cNvSpPr/>
      </dsp:nvSpPr>
      <dsp:spPr>
        <a:xfrm>
          <a:off x="1712798" y="803260"/>
          <a:ext cx="6968720" cy="1482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945" tIns="156945" rIns="156945" bIns="156945" numCol="1" spcCol="1270" anchor="ctr" anchorCtr="0">
          <a:noAutofit/>
        </a:bodyPr>
        <a:lstStyle/>
        <a:p>
          <a:pPr marL="0" lvl="0" indent="0" algn="l" defTabSz="1111250">
            <a:lnSpc>
              <a:spcPct val="90000"/>
            </a:lnSpc>
            <a:spcBef>
              <a:spcPct val="0"/>
            </a:spcBef>
            <a:spcAft>
              <a:spcPct val="35000"/>
            </a:spcAft>
            <a:buNone/>
          </a:pPr>
          <a:r>
            <a:rPr lang="en-US" sz="2500" b="0" i="0" kern="1200" dirty="0"/>
            <a:t>HTML consists of a series of </a:t>
          </a:r>
          <a:r>
            <a:rPr lang="en-US" sz="2500" b="0" i="0" kern="1200" dirty="0">
              <a:solidFill>
                <a:srgbClr val="FF0000"/>
              </a:solidFill>
            </a:rPr>
            <a:t>elements</a:t>
          </a:r>
          <a:endParaRPr lang="en-US" sz="2500" kern="1200" dirty="0">
            <a:solidFill>
              <a:srgbClr val="FF0000"/>
            </a:solidFill>
          </a:endParaRPr>
        </a:p>
      </dsp:txBody>
      <dsp:txXfrm>
        <a:off x="1712798" y="803260"/>
        <a:ext cx="6968720" cy="1482942"/>
      </dsp:txXfrm>
    </dsp:sp>
    <dsp:sp modelId="{BBB79124-8C3D-4C72-8F94-9766519413F2}">
      <dsp:nvSpPr>
        <dsp:cNvPr id="0" name=""/>
        <dsp:cNvSpPr/>
      </dsp:nvSpPr>
      <dsp:spPr>
        <a:xfrm>
          <a:off x="0" y="2656938"/>
          <a:ext cx="8681519" cy="14829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572530-EDC2-4BB0-9979-F1D2E9D58BFB}">
      <dsp:nvSpPr>
        <dsp:cNvPr id="0" name=""/>
        <dsp:cNvSpPr/>
      </dsp:nvSpPr>
      <dsp:spPr>
        <a:xfrm>
          <a:off x="448590" y="2990600"/>
          <a:ext cx="815618" cy="8156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DDD47D-5823-4BFC-A9EA-6D5373590F0B}">
      <dsp:nvSpPr>
        <dsp:cNvPr id="0" name=""/>
        <dsp:cNvSpPr/>
      </dsp:nvSpPr>
      <dsp:spPr>
        <a:xfrm>
          <a:off x="1712798" y="2656938"/>
          <a:ext cx="6968720" cy="1482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945" tIns="156945" rIns="156945" bIns="156945" numCol="1" spcCol="1270" anchor="ctr" anchorCtr="0">
          <a:noAutofit/>
        </a:bodyPr>
        <a:lstStyle/>
        <a:p>
          <a:pPr marL="0" lvl="0" indent="0" algn="l" defTabSz="1111250">
            <a:lnSpc>
              <a:spcPct val="90000"/>
            </a:lnSpc>
            <a:spcBef>
              <a:spcPct val="0"/>
            </a:spcBef>
            <a:spcAft>
              <a:spcPct val="35000"/>
            </a:spcAft>
            <a:buNone/>
          </a:pPr>
          <a:r>
            <a:rPr lang="en-US" sz="2500" b="0" i="0" kern="1200" dirty="0"/>
            <a:t>HTML elements tell the browser </a:t>
          </a:r>
          <a:r>
            <a:rPr lang="en-US" sz="2500" b="0" i="0" kern="1200" dirty="0">
              <a:solidFill>
                <a:srgbClr val="FF0000"/>
              </a:solidFill>
            </a:rPr>
            <a:t>how to display </a:t>
          </a:r>
          <a:r>
            <a:rPr lang="en-US" sz="2500" b="0" i="0" kern="1200" dirty="0"/>
            <a:t>the content</a:t>
          </a:r>
          <a:endParaRPr lang="en-US" sz="2500" kern="1200" dirty="0"/>
        </a:p>
      </dsp:txBody>
      <dsp:txXfrm>
        <a:off x="1712798" y="2656938"/>
        <a:ext cx="6968720" cy="14829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9220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0619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6852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01853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4365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9609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29530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1957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39121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00187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7759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s 9">
            <a:extLst>
              <a:ext uri="{FF2B5EF4-FFF2-40B4-BE49-F238E27FC236}">
                <a16:creationId xmlns:a16="http://schemas.microsoft.com/office/drawing/2014/main" id="{ADC1A0AE-A0C7-CD4A-0BAB-8EBC26398050}"/>
              </a:ext>
            </a:extLst>
          </p:cNvPr>
          <p:cNvSpPr/>
          <p:nvPr/>
        </p:nvSpPr>
        <p:spPr>
          <a:xfrm flipV="1">
            <a:off x="222485" y="6626648"/>
            <a:ext cx="8752840" cy="220630"/>
          </a:xfrm>
          <a:prstGeom prst="rect">
            <a:avLst/>
          </a:prstGeom>
          <a:solidFill>
            <a:schemeClr val="accent2">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40465" y="129540"/>
            <a:ext cx="8681519" cy="116268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41100" y="1386039"/>
            <a:ext cx="8681519" cy="4943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028950" y="6623601"/>
            <a:ext cx="3086100" cy="21548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10341" y="6615830"/>
            <a:ext cx="2057400" cy="231027"/>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8" name="Picture 7" descr="A logo of a university&#10;&#10;Description automatically generat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820" y="6355380"/>
            <a:ext cx="588010" cy="485140"/>
          </a:xfrm>
          <a:prstGeom prst="rect">
            <a:avLst/>
          </a:prstGeom>
        </p:spPr>
      </p:pic>
      <p:sp>
        <p:nvSpPr>
          <p:cNvPr id="9" name="Rectangles 9">
            <a:extLst>
              <a:ext uri="{FF2B5EF4-FFF2-40B4-BE49-F238E27FC236}">
                <a16:creationId xmlns:a16="http://schemas.microsoft.com/office/drawing/2014/main" id="{E634ECF9-3972-2CC8-4938-4B4BFD28C772}"/>
              </a:ext>
            </a:extLst>
          </p:cNvPr>
          <p:cNvSpPr/>
          <p:nvPr/>
        </p:nvSpPr>
        <p:spPr>
          <a:xfrm flipV="1">
            <a:off x="14806" y="7014"/>
            <a:ext cx="9108241" cy="39062"/>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81026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600" b="1" kern="1200">
          <a:solidFill>
            <a:srgbClr val="C00000"/>
          </a:solidFill>
          <a:latin typeface="+mj-lt"/>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w3schools.com/html/html_colors.asp"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favicon.cc/"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w3schools.com/html/html_tables.asp"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w3schools.com/html/html_form_input_types.asp"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w3schools.com/html/default.asp"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HTML</a:t>
            </a:r>
          </a:p>
        </p:txBody>
      </p:sp>
      <p:sp>
        <p:nvSpPr>
          <p:cNvPr id="3" name="Subtitle 2"/>
          <p:cNvSpPr>
            <a:spLocks noGrp="1"/>
          </p:cNvSpPr>
          <p:nvPr>
            <p:ph type="subTitle" idx="1"/>
          </p:nvPr>
        </p:nvSpPr>
        <p:spPr/>
        <p:txBody>
          <a:bodyPr/>
          <a:lstStyle/>
          <a:p>
            <a:r>
              <a:rPr lang="en-US" dirty="0"/>
              <a:t>Dr Govindha Ramaiah Yeluripati</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BE743-DB60-EF3F-116D-A4C2F683B85A}"/>
              </a:ext>
            </a:extLst>
          </p:cNvPr>
          <p:cNvSpPr>
            <a:spLocks noGrp="1"/>
          </p:cNvSpPr>
          <p:nvPr>
            <p:ph type="title"/>
          </p:nvPr>
        </p:nvSpPr>
        <p:spPr>
          <a:xfrm>
            <a:off x="240465" y="129540"/>
            <a:ext cx="8681519" cy="1162685"/>
          </a:xfrm>
        </p:spPr>
        <p:txBody>
          <a:bodyPr anchor="t">
            <a:normAutofit/>
          </a:bodyPr>
          <a:lstStyle/>
          <a:p>
            <a:r>
              <a:rPr lang="en-IN" dirty="0"/>
              <a:t>Introduction to HTML</a:t>
            </a:r>
            <a:endParaRPr lang="en-GH" dirty="0"/>
          </a:p>
        </p:txBody>
      </p:sp>
      <p:graphicFrame>
        <p:nvGraphicFramePr>
          <p:cNvPr id="8" name="Rectangle 3">
            <a:extLst>
              <a:ext uri="{FF2B5EF4-FFF2-40B4-BE49-F238E27FC236}">
                <a16:creationId xmlns:a16="http://schemas.microsoft.com/office/drawing/2014/main" id="{3E141EA9-BFEE-BFDF-E8AF-D5EE9A97DFEC}"/>
              </a:ext>
            </a:extLst>
          </p:cNvPr>
          <p:cNvGraphicFramePr>
            <a:graphicFrameLocks noGrp="1"/>
          </p:cNvGraphicFramePr>
          <p:nvPr>
            <p:ph idx="1"/>
            <p:extLst>
              <p:ext uri="{D42A27DB-BD31-4B8C-83A1-F6EECF244321}">
                <p14:modId xmlns:p14="http://schemas.microsoft.com/office/powerpoint/2010/main" val="77210590"/>
              </p:ext>
            </p:extLst>
          </p:nvPr>
        </p:nvGraphicFramePr>
        <p:xfrm>
          <a:off x="241100" y="1386039"/>
          <a:ext cx="8681519" cy="4943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103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5019-C541-2056-35D3-7C48396E9F8D}"/>
              </a:ext>
            </a:extLst>
          </p:cNvPr>
          <p:cNvSpPr>
            <a:spLocks noGrp="1"/>
          </p:cNvSpPr>
          <p:nvPr>
            <p:ph type="title"/>
          </p:nvPr>
        </p:nvSpPr>
        <p:spPr>
          <a:xfrm>
            <a:off x="240465" y="129540"/>
            <a:ext cx="8681519" cy="1162685"/>
          </a:xfrm>
        </p:spPr>
        <p:txBody>
          <a:bodyPr anchor="t">
            <a:normAutofit/>
          </a:bodyPr>
          <a:lstStyle/>
          <a:p>
            <a:r>
              <a:rPr lang="en-IN" dirty="0"/>
              <a:t>Introduction to HTML</a:t>
            </a:r>
            <a:endParaRPr lang="en-GH" dirty="0"/>
          </a:p>
        </p:txBody>
      </p:sp>
      <p:graphicFrame>
        <p:nvGraphicFramePr>
          <p:cNvPr id="7" name="Content Placeholder 2">
            <a:extLst>
              <a:ext uri="{FF2B5EF4-FFF2-40B4-BE49-F238E27FC236}">
                <a16:creationId xmlns:a16="http://schemas.microsoft.com/office/drawing/2014/main" id="{202DA770-44F0-32C3-37EE-D275E7C85E13}"/>
              </a:ext>
            </a:extLst>
          </p:cNvPr>
          <p:cNvGraphicFramePr>
            <a:graphicFrameLocks noGrp="1"/>
          </p:cNvGraphicFramePr>
          <p:nvPr>
            <p:ph idx="1"/>
            <p:extLst>
              <p:ext uri="{D42A27DB-BD31-4B8C-83A1-F6EECF244321}">
                <p14:modId xmlns:p14="http://schemas.microsoft.com/office/powerpoint/2010/main" val="4097336781"/>
              </p:ext>
            </p:extLst>
          </p:nvPr>
        </p:nvGraphicFramePr>
        <p:xfrm>
          <a:off x="241100" y="1386039"/>
          <a:ext cx="8681519" cy="4943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822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DE27-F612-7BA0-9468-DEC68097E59A}"/>
              </a:ext>
            </a:extLst>
          </p:cNvPr>
          <p:cNvSpPr>
            <a:spLocks noGrp="1"/>
          </p:cNvSpPr>
          <p:nvPr>
            <p:ph type="title"/>
          </p:nvPr>
        </p:nvSpPr>
        <p:spPr/>
        <p:txBody>
          <a:bodyPr/>
          <a:lstStyle/>
          <a:p>
            <a:r>
              <a:rPr lang="en-IN" dirty="0"/>
              <a:t>HTML Elements</a:t>
            </a:r>
            <a:endParaRPr lang="en-GH" dirty="0"/>
          </a:p>
        </p:txBody>
      </p:sp>
      <p:sp>
        <p:nvSpPr>
          <p:cNvPr id="3" name="Content Placeholder 2">
            <a:extLst>
              <a:ext uri="{FF2B5EF4-FFF2-40B4-BE49-F238E27FC236}">
                <a16:creationId xmlns:a16="http://schemas.microsoft.com/office/drawing/2014/main" id="{C7FAA3A5-A1E8-9229-B27B-56B3E63F8A6A}"/>
              </a:ext>
            </a:extLst>
          </p:cNvPr>
          <p:cNvSpPr>
            <a:spLocks noGrp="1"/>
          </p:cNvSpPr>
          <p:nvPr>
            <p:ph idx="1"/>
          </p:nvPr>
        </p:nvSpPr>
        <p:spPr/>
        <p:txBody>
          <a:bodyPr/>
          <a:lstStyle/>
          <a:p>
            <a:r>
              <a:rPr lang="en-US" dirty="0"/>
              <a:t>HTML elements are defined by </a:t>
            </a:r>
            <a:r>
              <a:rPr lang="en-US" dirty="0">
                <a:solidFill>
                  <a:srgbClr val="FF0000"/>
                </a:solidFill>
              </a:rPr>
              <a:t>tags</a:t>
            </a:r>
            <a:r>
              <a:rPr lang="en-US" dirty="0"/>
              <a:t>.</a:t>
            </a:r>
          </a:p>
          <a:p>
            <a:r>
              <a:rPr lang="en-US" dirty="0"/>
              <a:t>Format of a tag: a start tag, some content, and an end tag</a:t>
            </a:r>
          </a:p>
          <a:p>
            <a:pPr marL="0" indent="0">
              <a:buNone/>
            </a:pPr>
            <a:r>
              <a:rPr lang="en-IN" b="0" i="0" dirty="0">
                <a:solidFill>
                  <a:srgbClr val="0000CD"/>
                </a:solidFill>
                <a:effectLst/>
              </a:rPr>
              <a:t>	&lt;</a:t>
            </a:r>
            <a:r>
              <a:rPr lang="en-IN" b="0" i="0" dirty="0" err="1">
                <a:solidFill>
                  <a:srgbClr val="A52A2A"/>
                </a:solidFill>
                <a:effectLst/>
              </a:rPr>
              <a:t>tagname</a:t>
            </a:r>
            <a:r>
              <a:rPr lang="en-IN" b="0" i="0" dirty="0">
                <a:solidFill>
                  <a:srgbClr val="0000CD"/>
                </a:solidFill>
                <a:effectLst/>
              </a:rPr>
              <a:t>&gt;</a:t>
            </a:r>
            <a:r>
              <a:rPr lang="en-IN" b="0" i="0" dirty="0">
                <a:solidFill>
                  <a:srgbClr val="000000"/>
                </a:solidFill>
                <a:effectLst/>
              </a:rPr>
              <a:t> Content goes here... </a:t>
            </a:r>
            <a:r>
              <a:rPr lang="en-IN" b="0" i="0" dirty="0">
                <a:solidFill>
                  <a:srgbClr val="0000CD"/>
                </a:solidFill>
                <a:effectLst/>
              </a:rPr>
              <a:t>&lt;</a:t>
            </a:r>
            <a:r>
              <a:rPr lang="en-IN" b="0" i="0" dirty="0">
                <a:solidFill>
                  <a:srgbClr val="A52A2A"/>
                </a:solidFill>
                <a:effectLst/>
              </a:rPr>
              <a:t>/</a:t>
            </a:r>
            <a:r>
              <a:rPr lang="en-IN" b="0" i="0" dirty="0" err="1">
                <a:solidFill>
                  <a:srgbClr val="A52A2A"/>
                </a:solidFill>
                <a:effectLst/>
              </a:rPr>
              <a:t>tagname</a:t>
            </a:r>
            <a:r>
              <a:rPr lang="en-IN" b="0" i="0" dirty="0">
                <a:solidFill>
                  <a:srgbClr val="0000CD"/>
                </a:solidFill>
                <a:effectLst/>
              </a:rPr>
              <a:t>&gt;</a:t>
            </a:r>
          </a:p>
          <a:p>
            <a:r>
              <a:rPr lang="en-US" dirty="0">
                <a:solidFill>
                  <a:srgbClr val="0070C0"/>
                </a:solidFill>
              </a:rPr>
              <a:t>Example</a:t>
            </a:r>
            <a:r>
              <a:rPr lang="en-US" dirty="0"/>
              <a:t>:</a:t>
            </a:r>
          </a:p>
          <a:p>
            <a:pPr marL="0" indent="0" algn="l">
              <a:buNone/>
            </a:pPr>
            <a:r>
              <a:rPr lang="en-IN" dirty="0">
                <a:solidFill>
                  <a:srgbClr val="0000CD"/>
                </a:solidFill>
              </a:rPr>
              <a:t>	</a:t>
            </a:r>
            <a:r>
              <a:rPr lang="en-US" b="0" i="0" dirty="0">
                <a:solidFill>
                  <a:srgbClr val="0000CD"/>
                </a:solidFill>
                <a:effectLst/>
              </a:rPr>
              <a:t>&lt;</a:t>
            </a:r>
            <a:r>
              <a:rPr lang="en-US" b="0" i="0" dirty="0">
                <a:solidFill>
                  <a:srgbClr val="A52A2A"/>
                </a:solidFill>
                <a:effectLst/>
              </a:rPr>
              <a:t>h1</a:t>
            </a:r>
            <a:r>
              <a:rPr lang="en-US" b="0" i="0" dirty="0">
                <a:solidFill>
                  <a:srgbClr val="0000CD"/>
                </a:solidFill>
                <a:effectLst/>
              </a:rPr>
              <a:t>&gt;</a:t>
            </a:r>
            <a:r>
              <a:rPr lang="en-US" b="0" i="0" dirty="0">
                <a:solidFill>
                  <a:srgbClr val="000000"/>
                </a:solidFill>
                <a:effectLst/>
              </a:rPr>
              <a:t>My First Heading</a:t>
            </a:r>
            <a:r>
              <a:rPr lang="en-US" b="0" i="0" dirty="0">
                <a:solidFill>
                  <a:srgbClr val="0000CD"/>
                </a:solidFill>
                <a:effectLst/>
              </a:rPr>
              <a:t>&lt;</a:t>
            </a:r>
            <a:r>
              <a:rPr lang="en-US" b="0" i="0" dirty="0">
                <a:solidFill>
                  <a:srgbClr val="A52A2A"/>
                </a:solidFill>
                <a:effectLst/>
              </a:rPr>
              <a:t>/h1</a:t>
            </a:r>
            <a:r>
              <a:rPr lang="en-US" b="0" i="0" dirty="0">
                <a:solidFill>
                  <a:srgbClr val="0000CD"/>
                </a:solidFill>
                <a:effectLst/>
              </a:rPr>
              <a:t>&gt;</a:t>
            </a:r>
            <a:endParaRPr lang="en-US" b="0" i="0" dirty="0">
              <a:solidFill>
                <a:srgbClr val="000000"/>
              </a:solidFill>
              <a:effectLst/>
            </a:endParaRPr>
          </a:p>
          <a:p>
            <a:pPr marL="0" indent="0" algn="l">
              <a:buNone/>
            </a:pPr>
            <a:r>
              <a:rPr lang="en-US" b="0" i="0" dirty="0">
                <a:solidFill>
                  <a:srgbClr val="0000CD"/>
                </a:solidFill>
                <a:effectLst/>
              </a:rPr>
              <a:t>	&lt;</a:t>
            </a:r>
            <a:r>
              <a:rPr lang="en-US" b="0" i="0" dirty="0">
                <a:solidFill>
                  <a:srgbClr val="A52A2A"/>
                </a:solidFill>
                <a:effectLst/>
              </a:rPr>
              <a:t>p</a:t>
            </a:r>
            <a:r>
              <a:rPr lang="en-US" b="0" i="0" dirty="0">
                <a:solidFill>
                  <a:srgbClr val="0000CD"/>
                </a:solidFill>
                <a:effectLst/>
              </a:rPr>
              <a:t>&gt;</a:t>
            </a:r>
            <a:r>
              <a:rPr lang="en-US" b="0" i="0" dirty="0">
                <a:solidFill>
                  <a:srgbClr val="000000"/>
                </a:solidFill>
                <a:effectLst/>
              </a:rPr>
              <a:t>My first paragraph.</a:t>
            </a:r>
            <a:r>
              <a:rPr lang="en-US" b="0" i="0" dirty="0">
                <a:solidFill>
                  <a:srgbClr val="0000CD"/>
                </a:solidFill>
                <a:effectLst/>
              </a:rPr>
              <a:t>&lt;</a:t>
            </a:r>
            <a:r>
              <a:rPr lang="en-US" b="0" i="0" dirty="0">
                <a:solidFill>
                  <a:srgbClr val="A52A2A"/>
                </a:solidFill>
                <a:effectLst/>
              </a:rPr>
              <a:t>/p</a:t>
            </a:r>
            <a:r>
              <a:rPr lang="en-US" b="0" i="0" dirty="0">
                <a:solidFill>
                  <a:srgbClr val="0000CD"/>
                </a:solidFill>
                <a:effectLst/>
              </a:rPr>
              <a:t>&gt;</a:t>
            </a:r>
            <a:endParaRPr lang="en-US" b="0" i="0" dirty="0">
              <a:solidFill>
                <a:srgbClr val="000000"/>
              </a:solidFill>
              <a:effectLst/>
            </a:endParaRPr>
          </a:p>
          <a:p>
            <a:endParaRPr lang="en-US" dirty="0"/>
          </a:p>
          <a:p>
            <a:r>
              <a:rPr lang="en-US" dirty="0">
                <a:solidFill>
                  <a:srgbClr val="0070C0"/>
                </a:solidFill>
              </a:rPr>
              <a:t>Empty elements</a:t>
            </a:r>
            <a:r>
              <a:rPr lang="en-US" dirty="0"/>
              <a:t>: HTML elements that have no content</a:t>
            </a:r>
          </a:p>
          <a:p>
            <a:pPr marL="0" indent="0">
              <a:buNone/>
            </a:pPr>
            <a:r>
              <a:rPr lang="en-US" dirty="0"/>
              <a:t>	E.g., the </a:t>
            </a:r>
            <a:r>
              <a:rPr lang="en-US" dirty="0">
                <a:solidFill>
                  <a:srgbClr val="FF0000"/>
                </a:solidFill>
              </a:rPr>
              <a:t>&lt;</a:t>
            </a:r>
            <a:r>
              <a:rPr lang="en-US" dirty="0" err="1">
                <a:solidFill>
                  <a:srgbClr val="FF0000"/>
                </a:solidFill>
              </a:rPr>
              <a:t>br</a:t>
            </a:r>
            <a:r>
              <a:rPr lang="en-US" dirty="0">
                <a:solidFill>
                  <a:srgbClr val="FF0000"/>
                </a:solidFill>
              </a:rPr>
              <a:t>&gt; </a:t>
            </a:r>
            <a:r>
              <a:rPr lang="en-US" dirty="0"/>
              <a:t>element meant for line break. </a:t>
            </a:r>
          </a:p>
          <a:p>
            <a:pPr marL="0" indent="0">
              <a:buNone/>
            </a:pPr>
            <a:r>
              <a:rPr lang="en-US" dirty="0"/>
              <a:t>    Empty elements do not have an end tag!</a:t>
            </a:r>
            <a:endParaRPr lang="en-GH" dirty="0"/>
          </a:p>
        </p:txBody>
      </p:sp>
    </p:spTree>
    <p:extLst>
      <p:ext uri="{BB962C8B-B14F-4D97-AF65-F5344CB8AC3E}">
        <p14:creationId xmlns:p14="http://schemas.microsoft.com/office/powerpoint/2010/main" val="1598448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CE831-8835-D4DD-11F3-F972B64E84CC}"/>
              </a:ext>
            </a:extLst>
          </p:cNvPr>
          <p:cNvSpPr>
            <a:spLocks noGrp="1"/>
          </p:cNvSpPr>
          <p:nvPr>
            <p:ph type="title"/>
          </p:nvPr>
        </p:nvSpPr>
        <p:spPr/>
        <p:txBody>
          <a:bodyPr/>
          <a:lstStyle/>
          <a:p>
            <a:r>
              <a:rPr lang="en-IN" dirty="0"/>
              <a:t>Web Browsers</a:t>
            </a:r>
            <a:endParaRPr lang="en-GH" dirty="0"/>
          </a:p>
        </p:txBody>
      </p:sp>
      <p:sp>
        <p:nvSpPr>
          <p:cNvPr id="3" name="Content Placeholder 2">
            <a:extLst>
              <a:ext uri="{FF2B5EF4-FFF2-40B4-BE49-F238E27FC236}">
                <a16:creationId xmlns:a16="http://schemas.microsoft.com/office/drawing/2014/main" id="{FC7E5678-6FB3-DE45-0388-B0E2A621D483}"/>
              </a:ext>
            </a:extLst>
          </p:cNvPr>
          <p:cNvSpPr>
            <a:spLocks noGrp="1"/>
          </p:cNvSpPr>
          <p:nvPr>
            <p:ph idx="1"/>
          </p:nvPr>
        </p:nvSpPr>
        <p:spPr/>
        <p:txBody>
          <a:bodyPr/>
          <a:lstStyle/>
          <a:p>
            <a:r>
              <a:rPr lang="en-US" dirty="0"/>
              <a:t>The purpose of a web browser (e.g., Chrome, Edge, Firefox, Safari) is </a:t>
            </a:r>
            <a:r>
              <a:rPr lang="en-US" dirty="0">
                <a:solidFill>
                  <a:srgbClr val="0070C0"/>
                </a:solidFill>
              </a:rPr>
              <a:t>to read HTML documents and display </a:t>
            </a:r>
            <a:r>
              <a:rPr lang="en-US" dirty="0"/>
              <a:t>them correctly.</a:t>
            </a:r>
          </a:p>
          <a:p>
            <a:endParaRPr lang="en-US" dirty="0"/>
          </a:p>
          <a:p>
            <a:r>
              <a:rPr lang="en-US" dirty="0"/>
              <a:t>A browser does not display the HTML tags but uses them to determine how to display the document.</a:t>
            </a:r>
            <a:endParaRPr lang="en-GH" dirty="0"/>
          </a:p>
        </p:txBody>
      </p:sp>
      <p:pic>
        <p:nvPicPr>
          <p:cNvPr id="4" name="Picture 3">
            <a:extLst>
              <a:ext uri="{FF2B5EF4-FFF2-40B4-BE49-F238E27FC236}">
                <a16:creationId xmlns:a16="http://schemas.microsoft.com/office/drawing/2014/main" id="{657BA2E8-AEF8-44C8-5313-9088373B524C}"/>
              </a:ext>
            </a:extLst>
          </p:cNvPr>
          <p:cNvPicPr>
            <a:picLocks noChangeAspect="1"/>
          </p:cNvPicPr>
          <p:nvPr/>
        </p:nvPicPr>
        <p:blipFill>
          <a:blip r:embed="rId2"/>
          <a:stretch>
            <a:fillRect/>
          </a:stretch>
        </p:blipFill>
        <p:spPr>
          <a:xfrm>
            <a:off x="2028548" y="3531069"/>
            <a:ext cx="5086904" cy="2891925"/>
          </a:xfrm>
          <a:prstGeom prst="rect">
            <a:avLst/>
          </a:prstGeom>
        </p:spPr>
      </p:pic>
    </p:spTree>
    <p:extLst>
      <p:ext uri="{BB962C8B-B14F-4D97-AF65-F5344CB8AC3E}">
        <p14:creationId xmlns:p14="http://schemas.microsoft.com/office/powerpoint/2010/main" val="1065737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C2C85-805B-1C60-FF22-AE6CDF4C82BF}"/>
              </a:ext>
            </a:extLst>
          </p:cNvPr>
          <p:cNvSpPr>
            <a:spLocks noGrp="1"/>
          </p:cNvSpPr>
          <p:nvPr>
            <p:ph type="title"/>
          </p:nvPr>
        </p:nvSpPr>
        <p:spPr>
          <a:xfrm>
            <a:off x="240465" y="129540"/>
            <a:ext cx="8681519" cy="1162685"/>
          </a:xfrm>
        </p:spPr>
        <p:txBody>
          <a:bodyPr anchor="t">
            <a:normAutofit/>
          </a:bodyPr>
          <a:lstStyle/>
          <a:p>
            <a:r>
              <a:rPr lang="en-IN" dirty="0"/>
              <a:t>HTML Page Structure</a:t>
            </a:r>
            <a:endParaRPr lang="en-GH" dirty="0"/>
          </a:p>
        </p:txBody>
      </p:sp>
      <p:pic>
        <p:nvPicPr>
          <p:cNvPr id="5" name="Content Placeholder 4" descr="A screenshot of a computer&#10;&#10;Description automatically generated">
            <a:extLst>
              <a:ext uri="{FF2B5EF4-FFF2-40B4-BE49-F238E27FC236}">
                <a16:creationId xmlns:a16="http://schemas.microsoft.com/office/drawing/2014/main" id="{0DF31E7E-D8F7-4CF3-A113-1966A96C16A0}"/>
              </a:ext>
            </a:extLst>
          </p:cNvPr>
          <p:cNvPicPr>
            <a:picLocks noGrp="1" noChangeAspect="1"/>
          </p:cNvPicPr>
          <p:nvPr>
            <p:ph idx="1"/>
          </p:nvPr>
        </p:nvPicPr>
        <p:blipFill>
          <a:blip r:embed="rId2"/>
          <a:stretch>
            <a:fillRect/>
          </a:stretch>
        </p:blipFill>
        <p:spPr>
          <a:xfrm>
            <a:off x="240465" y="1655347"/>
            <a:ext cx="8681519" cy="4384167"/>
          </a:xfrm>
          <a:noFill/>
        </p:spPr>
      </p:pic>
      <p:sp>
        <p:nvSpPr>
          <p:cNvPr id="7" name="TextBox 6">
            <a:extLst>
              <a:ext uri="{FF2B5EF4-FFF2-40B4-BE49-F238E27FC236}">
                <a16:creationId xmlns:a16="http://schemas.microsoft.com/office/drawing/2014/main" id="{688A842B-ECED-0E54-2692-2EB16AEF85D8}"/>
              </a:ext>
            </a:extLst>
          </p:cNvPr>
          <p:cNvSpPr txBox="1"/>
          <p:nvPr/>
        </p:nvSpPr>
        <p:spPr>
          <a:xfrm>
            <a:off x="3540641" y="2434304"/>
            <a:ext cx="5114261" cy="369332"/>
          </a:xfrm>
          <a:prstGeom prst="rect">
            <a:avLst/>
          </a:prstGeom>
          <a:noFill/>
        </p:spPr>
        <p:txBody>
          <a:bodyPr wrap="square">
            <a:spAutoFit/>
          </a:bodyPr>
          <a:lstStyle/>
          <a:p>
            <a:r>
              <a:rPr lang="en-US" dirty="0">
                <a:solidFill>
                  <a:srgbClr val="0070C0"/>
                </a:solidFill>
              </a:rPr>
              <a:t>shown in the browser's title bar or in the page's tab</a:t>
            </a:r>
            <a:endParaRPr lang="en-GH" dirty="0">
              <a:solidFill>
                <a:srgbClr val="0070C0"/>
              </a:solidFill>
            </a:endParaRPr>
          </a:p>
        </p:txBody>
      </p:sp>
      <p:cxnSp>
        <p:nvCxnSpPr>
          <p:cNvPr id="9" name="Straight Arrow Connector 8">
            <a:extLst>
              <a:ext uri="{FF2B5EF4-FFF2-40B4-BE49-F238E27FC236}">
                <a16:creationId xmlns:a16="http://schemas.microsoft.com/office/drawing/2014/main" id="{AD39909B-7C15-F78B-D69F-69C0E15589F1}"/>
              </a:ext>
            </a:extLst>
          </p:cNvPr>
          <p:cNvCxnSpPr>
            <a:cxnSpLocks/>
          </p:cNvCxnSpPr>
          <p:nvPr/>
        </p:nvCxnSpPr>
        <p:spPr>
          <a:xfrm>
            <a:off x="2456121" y="2647507"/>
            <a:ext cx="97819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365C2F1-2D7D-019E-4E22-150682F1BC0C}"/>
              </a:ext>
            </a:extLst>
          </p:cNvPr>
          <p:cNvSpPr txBox="1"/>
          <p:nvPr/>
        </p:nvSpPr>
        <p:spPr>
          <a:xfrm>
            <a:off x="4210493" y="4142508"/>
            <a:ext cx="4572000" cy="646331"/>
          </a:xfrm>
          <a:prstGeom prst="rect">
            <a:avLst/>
          </a:prstGeom>
          <a:noFill/>
        </p:spPr>
        <p:txBody>
          <a:bodyPr wrap="square">
            <a:spAutoFit/>
          </a:bodyPr>
          <a:lstStyle/>
          <a:p>
            <a:r>
              <a:rPr lang="en-US" dirty="0">
                <a:solidFill>
                  <a:srgbClr val="0070C0"/>
                </a:solidFill>
              </a:rPr>
              <a:t>&lt;body&gt; contains the visible page content that will be displayed in a browser</a:t>
            </a:r>
            <a:endParaRPr lang="en-GH" dirty="0">
              <a:solidFill>
                <a:srgbClr val="0070C0"/>
              </a:solidFill>
            </a:endParaRPr>
          </a:p>
        </p:txBody>
      </p:sp>
      <p:sp>
        <p:nvSpPr>
          <p:cNvPr id="14" name="Right Brace 13">
            <a:extLst>
              <a:ext uri="{FF2B5EF4-FFF2-40B4-BE49-F238E27FC236}">
                <a16:creationId xmlns:a16="http://schemas.microsoft.com/office/drawing/2014/main" id="{30AA1DE4-410D-3894-305B-23AAE5B87FB9}"/>
              </a:ext>
            </a:extLst>
          </p:cNvPr>
          <p:cNvSpPr/>
          <p:nvPr/>
        </p:nvSpPr>
        <p:spPr>
          <a:xfrm>
            <a:off x="3540641" y="3296093"/>
            <a:ext cx="669852" cy="2339163"/>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H"/>
          </a:p>
        </p:txBody>
      </p:sp>
      <p:cxnSp>
        <p:nvCxnSpPr>
          <p:cNvPr id="16" name="Straight Arrow Connector 15">
            <a:extLst>
              <a:ext uri="{FF2B5EF4-FFF2-40B4-BE49-F238E27FC236}">
                <a16:creationId xmlns:a16="http://schemas.microsoft.com/office/drawing/2014/main" id="{EDB35FBD-177B-23C0-F116-AB44B20CAC3C}"/>
              </a:ext>
            </a:extLst>
          </p:cNvPr>
          <p:cNvCxnSpPr/>
          <p:nvPr/>
        </p:nvCxnSpPr>
        <p:spPr>
          <a:xfrm flipV="1">
            <a:off x="552893" y="1292225"/>
            <a:ext cx="425302" cy="5046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80596E24-016B-2BCC-9FE2-9E0F23FB23B8}"/>
              </a:ext>
            </a:extLst>
          </p:cNvPr>
          <p:cNvSpPr txBox="1"/>
          <p:nvPr/>
        </p:nvSpPr>
        <p:spPr>
          <a:xfrm>
            <a:off x="346789" y="986885"/>
            <a:ext cx="2906774" cy="369332"/>
          </a:xfrm>
          <a:prstGeom prst="rect">
            <a:avLst/>
          </a:prstGeom>
          <a:noFill/>
        </p:spPr>
        <p:txBody>
          <a:bodyPr wrap="square">
            <a:spAutoFit/>
          </a:bodyPr>
          <a:lstStyle/>
          <a:p>
            <a:r>
              <a:rPr lang="en-US" dirty="0">
                <a:solidFill>
                  <a:srgbClr val="0070C0"/>
                </a:solidFill>
              </a:rPr>
              <a:t>&lt;html&gt; is the root element</a:t>
            </a:r>
            <a:endParaRPr lang="en-GH" dirty="0">
              <a:solidFill>
                <a:srgbClr val="0070C0"/>
              </a:solidFill>
            </a:endParaRPr>
          </a:p>
        </p:txBody>
      </p:sp>
      <p:cxnSp>
        <p:nvCxnSpPr>
          <p:cNvPr id="18" name="Straight Arrow Connector 17">
            <a:extLst>
              <a:ext uri="{FF2B5EF4-FFF2-40B4-BE49-F238E27FC236}">
                <a16:creationId xmlns:a16="http://schemas.microsoft.com/office/drawing/2014/main" id="{70F65993-D53F-9E92-179C-8EC23BB8DA67}"/>
              </a:ext>
            </a:extLst>
          </p:cNvPr>
          <p:cNvCxnSpPr/>
          <p:nvPr/>
        </p:nvCxnSpPr>
        <p:spPr>
          <a:xfrm flipV="1">
            <a:off x="1131134" y="1687966"/>
            <a:ext cx="425302" cy="5046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C1161FD4-9192-CBFD-11FB-FFBD7A47BFA7}"/>
              </a:ext>
            </a:extLst>
          </p:cNvPr>
          <p:cNvSpPr txBox="1"/>
          <p:nvPr/>
        </p:nvSpPr>
        <p:spPr>
          <a:xfrm>
            <a:off x="1337059" y="1324844"/>
            <a:ext cx="5914345" cy="369332"/>
          </a:xfrm>
          <a:prstGeom prst="rect">
            <a:avLst/>
          </a:prstGeom>
          <a:noFill/>
        </p:spPr>
        <p:txBody>
          <a:bodyPr wrap="square">
            <a:spAutoFit/>
          </a:bodyPr>
          <a:lstStyle/>
          <a:p>
            <a:r>
              <a:rPr lang="en-US" dirty="0">
                <a:solidFill>
                  <a:srgbClr val="0070C0"/>
                </a:solidFill>
              </a:rPr>
              <a:t>&lt;head&gt; specifies the meta-information about the document</a:t>
            </a:r>
            <a:endParaRPr lang="en-GH" dirty="0">
              <a:solidFill>
                <a:srgbClr val="0070C0"/>
              </a:solidFill>
            </a:endParaRPr>
          </a:p>
        </p:txBody>
      </p:sp>
    </p:spTree>
    <p:extLst>
      <p:ext uri="{BB962C8B-B14F-4D97-AF65-F5344CB8AC3E}">
        <p14:creationId xmlns:p14="http://schemas.microsoft.com/office/powerpoint/2010/main" val="1693537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1612-A9D3-B6A8-C7D7-6D3635AE4389}"/>
              </a:ext>
            </a:extLst>
          </p:cNvPr>
          <p:cNvSpPr>
            <a:spLocks noGrp="1"/>
          </p:cNvSpPr>
          <p:nvPr>
            <p:ph type="title"/>
          </p:nvPr>
        </p:nvSpPr>
        <p:spPr/>
        <p:txBody>
          <a:bodyPr/>
          <a:lstStyle/>
          <a:p>
            <a:r>
              <a:rPr lang="en-IN" dirty="0"/>
              <a:t>A simple HTML Document</a:t>
            </a:r>
            <a:endParaRPr lang="en-GH" dirty="0"/>
          </a:p>
        </p:txBody>
      </p:sp>
      <p:sp>
        <p:nvSpPr>
          <p:cNvPr id="3" name="Content Placeholder 2">
            <a:extLst>
              <a:ext uri="{FF2B5EF4-FFF2-40B4-BE49-F238E27FC236}">
                <a16:creationId xmlns:a16="http://schemas.microsoft.com/office/drawing/2014/main" id="{C1D81B11-C0BC-437A-7AFA-501349071CC9}"/>
              </a:ext>
            </a:extLst>
          </p:cNvPr>
          <p:cNvSpPr>
            <a:spLocks noGrp="1"/>
          </p:cNvSpPr>
          <p:nvPr>
            <p:ph idx="1"/>
          </p:nvPr>
        </p:nvSpPr>
        <p:spPr>
          <a:xfrm>
            <a:off x="241101" y="1386039"/>
            <a:ext cx="4628612" cy="4943141"/>
          </a:xfrm>
        </p:spPr>
        <p:style>
          <a:lnRef idx="2">
            <a:schemeClr val="accent6"/>
          </a:lnRef>
          <a:fillRef idx="1">
            <a:schemeClr val="lt1"/>
          </a:fillRef>
          <a:effectRef idx="0">
            <a:schemeClr val="accent6"/>
          </a:effectRef>
          <a:fontRef idx="minor">
            <a:schemeClr val="dk1"/>
          </a:fontRef>
        </p:style>
        <p:txBody>
          <a:bodyPr/>
          <a:lstStyle/>
          <a:p>
            <a:pPr marL="0" indent="0" algn="l">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           </a:t>
            </a: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Page Title</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My First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My first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b="0" i="0" dirty="0">
                <a:solidFill>
                  <a:srgbClr val="000000"/>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endParaRPr lang="en-US" b="0" i="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2D075CA9-4518-205E-4E0A-F8D351E8936F}"/>
              </a:ext>
            </a:extLst>
          </p:cNvPr>
          <p:cNvSpPr txBox="1"/>
          <p:nvPr/>
        </p:nvSpPr>
        <p:spPr>
          <a:xfrm>
            <a:off x="4084865" y="1099552"/>
            <a:ext cx="5295014" cy="646331"/>
          </a:xfrm>
          <a:prstGeom prst="rect">
            <a:avLst/>
          </a:prstGeom>
          <a:noFill/>
        </p:spPr>
        <p:txBody>
          <a:bodyPr wrap="square">
            <a:spAutoFit/>
          </a:bodyPr>
          <a:lstStyle/>
          <a:p>
            <a:r>
              <a:rPr lang="en-US" dirty="0"/>
              <a:t>defines this document as an HTML5 document.</a:t>
            </a:r>
          </a:p>
          <a:p>
            <a:r>
              <a:rPr lang="en-US" dirty="0"/>
              <a:t>All HTML documents must start with this.</a:t>
            </a:r>
            <a:endParaRPr lang="en-GH" dirty="0"/>
          </a:p>
        </p:txBody>
      </p:sp>
      <p:cxnSp>
        <p:nvCxnSpPr>
          <p:cNvPr id="7" name="Straight Arrow Connector 6">
            <a:extLst>
              <a:ext uri="{FF2B5EF4-FFF2-40B4-BE49-F238E27FC236}">
                <a16:creationId xmlns:a16="http://schemas.microsoft.com/office/drawing/2014/main" id="{9EA843AB-576C-E92C-B6B3-C20A0591DBCE}"/>
              </a:ext>
            </a:extLst>
          </p:cNvPr>
          <p:cNvCxnSpPr/>
          <p:nvPr/>
        </p:nvCxnSpPr>
        <p:spPr>
          <a:xfrm>
            <a:off x="3338623" y="1488557"/>
            <a:ext cx="7974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068E940-58CE-7E1F-D51A-C8AA05AEBD0C}"/>
              </a:ext>
            </a:extLst>
          </p:cNvPr>
          <p:cNvSpPr txBox="1"/>
          <p:nvPr/>
        </p:nvSpPr>
        <p:spPr>
          <a:xfrm>
            <a:off x="4125433" y="1755371"/>
            <a:ext cx="3224323" cy="369332"/>
          </a:xfrm>
          <a:prstGeom prst="rect">
            <a:avLst/>
          </a:prstGeom>
          <a:noFill/>
        </p:spPr>
        <p:txBody>
          <a:bodyPr wrap="square">
            <a:spAutoFit/>
          </a:bodyPr>
          <a:lstStyle/>
          <a:p>
            <a:r>
              <a:rPr lang="en-US" dirty="0"/>
              <a:t>root element of an HTML page</a:t>
            </a:r>
            <a:endParaRPr lang="en-GH" dirty="0"/>
          </a:p>
        </p:txBody>
      </p:sp>
      <p:cxnSp>
        <p:nvCxnSpPr>
          <p:cNvPr id="10" name="Straight Arrow Connector 9">
            <a:extLst>
              <a:ext uri="{FF2B5EF4-FFF2-40B4-BE49-F238E27FC236}">
                <a16:creationId xmlns:a16="http://schemas.microsoft.com/office/drawing/2014/main" id="{A0DCB0B7-26BA-2F4C-889D-6AB86B0F21C0}"/>
              </a:ext>
            </a:extLst>
          </p:cNvPr>
          <p:cNvCxnSpPr/>
          <p:nvPr/>
        </p:nvCxnSpPr>
        <p:spPr>
          <a:xfrm>
            <a:off x="3338623" y="1943579"/>
            <a:ext cx="7974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70D989B-E6E3-5C09-59F4-9E8EB988A4CA}"/>
              </a:ext>
            </a:extLst>
          </p:cNvPr>
          <p:cNvSpPr txBox="1"/>
          <p:nvPr/>
        </p:nvSpPr>
        <p:spPr>
          <a:xfrm>
            <a:off x="4125432" y="2048027"/>
            <a:ext cx="4796551" cy="369332"/>
          </a:xfrm>
          <a:prstGeom prst="rect">
            <a:avLst/>
          </a:prstGeom>
          <a:noFill/>
        </p:spPr>
        <p:txBody>
          <a:bodyPr wrap="square">
            <a:spAutoFit/>
          </a:bodyPr>
          <a:lstStyle/>
          <a:p>
            <a:r>
              <a:rPr lang="en-US" dirty="0"/>
              <a:t>contains meta-information about the HTML page</a:t>
            </a:r>
            <a:endParaRPr lang="en-GH" dirty="0"/>
          </a:p>
        </p:txBody>
      </p:sp>
      <p:cxnSp>
        <p:nvCxnSpPr>
          <p:cNvPr id="13" name="Straight Arrow Connector 12">
            <a:extLst>
              <a:ext uri="{FF2B5EF4-FFF2-40B4-BE49-F238E27FC236}">
                <a16:creationId xmlns:a16="http://schemas.microsoft.com/office/drawing/2014/main" id="{BF03C222-F57B-4872-8CEB-8DA7F60020BD}"/>
              </a:ext>
            </a:extLst>
          </p:cNvPr>
          <p:cNvCxnSpPr/>
          <p:nvPr/>
        </p:nvCxnSpPr>
        <p:spPr>
          <a:xfrm>
            <a:off x="3338623" y="2244834"/>
            <a:ext cx="7974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4EDF04E-5CA2-7B80-2909-66DACF8CA8F7}"/>
              </a:ext>
            </a:extLst>
          </p:cNvPr>
          <p:cNvSpPr txBox="1"/>
          <p:nvPr/>
        </p:nvSpPr>
        <p:spPr>
          <a:xfrm>
            <a:off x="5342167" y="2376231"/>
            <a:ext cx="3405077" cy="369332"/>
          </a:xfrm>
          <a:prstGeom prst="rect">
            <a:avLst/>
          </a:prstGeom>
          <a:noFill/>
        </p:spPr>
        <p:txBody>
          <a:bodyPr wrap="square">
            <a:spAutoFit/>
          </a:bodyPr>
          <a:lstStyle/>
          <a:p>
            <a:r>
              <a:rPr lang="en-US" dirty="0"/>
              <a:t>specifies a title for the HTML page </a:t>
            </a:r>
            <a:endParaRPr lang="en-GH" dirty="0"/>
          </a:p>
        </p:txBody>
      </p:sp>
      <p:cxnSp>
        <p:nvCxnSpPr>
          <p:cNvPr id="16" name="Straight Arrow Connector 15">
            <a:extLst>
              <a:ext uri="{FF2B5EF4-FFF2-40B4-BE49-F238E27FC236}">
                <a16:creationId xmlns:a16="http://schemas.microsoft.com/office/drawing/2014/main" id="{03942543-A98F-E35A-2DFE-626A5B3E2CFF}"/>
              </a:ext>
            </a:extLst>
          </p:cNvPr>
          <p:cNvCxnSpPr/>
          <p:nvPr/>
        </p:nvCxnSpPr>
        <p:spPr>
          <a:xfrm>
            <a:off x="4598826" y="2582163"/>
            <a:ext cx="7437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A7D6574-03D0-1BC6-A8CB-4F2684D580E5}"/>
              </a:ext>
            </a:extLst>
          </p:cNvPr>
          <p:cNvSpPr txBox="1"/>
          <p:nvPr/>
        </p:nvSpPr>
        <p:spPr>
          <a:xfrm>
            <a:off x="5018219" y="3460109"/>
            <a:ext cx="3755257" cy="1200329"/>
          </a:xfrm>
          <a:prstGeom prst="rect">
            <a:avLst/>
          </a:prstGeom>
          <a:noFill/>
        </p:spPr>
        <p:txBody>
          <a:bodyPr wrap="square">
            <a:spAutoFit/>
          </a:bodyPr>
          <a:lstStyle/>
          <a:p>
            <a:r>
              <a:rPr lang="en-US" dirty="0"/>
              <a:t>defines the document's body, and is </a:t>
            </a:r>
            <a:r>
              <a:rPr lang="en-US" dirty="0">
                <a:solidFill>
                  <a:srgbClr val="FF0000"/>
                </a:solidFill>
              </a:rPr>
              <a:t>a container for all the visible contents</a:t>
            </a:r>
            <a:r>
              <a:rPr lang="en-US" dirty="0"/>
              <a:t>, such as headings, paragraphs, images, hyperlinks, tables, lists, etc.</a:t>
            </a:r>
            <a:endParaRPr lang="en-GH" dirty="0"/>
          </a:p>
        </p:txBody>
      </p:sp>
      <p:sp>
        <p:nvSpPr>
          <p:cNvPr id="19" name="Right Brace 18">
            <a:extLst>
              <a:ext uri="{FF2B5EF4-FFF2-40B4-BE49-F238E27FC236}">
                <a16:creationId xmlns:a16="http://schemas.microsoft.com/office/drawing/2014/main" id="{4C3C32B7-CE80-F6B5-20D8-6A142A2AF006}"/>
              </a:ext>
            </a:extLst>
          </p:cNvPr>
          <p:cNvSpPr/>
          <p:nvPr/>
        </p:nvSpPr>
        <p:spPr>
          <a:xfrm>
            <a:off x="4572000" y="3111117"/>
            <a:ext cx="297713" cy="17585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spTree>
    <p:extLst>
      <p:ext uri="{BB962C8B-B14F-4D97-AF65-F5344CB8AC3E}">
        <p14:creationId xmlns:p14="http://schemas.microsoft.com/office/powerpoint/2010/main" val="2684632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D7CA-E27D-4D0D-C736-D5722748592D}"/>
              </a:ext>
            </a:extLst>
          </p:cNvPr>
          <p:cNvSpPr>
            <a:spLocks noGrp="1"/>
          </p:cNvSpPr>
          <p:nvPr>
            <p:ph type="title"/>
          </p:nvPr>
        </p:nvSpPr>
        <p:spPr/>
        <p:txBody>
          <a:bodyPr/>
          <a:lstStyle/>
          <a:p>
            <a:r>
              <a:rPr lang="en-IN" dirty="0"/>
              <a:t>HTML Editors</a:t>
            </a:r>
            <a:endParaRPr lang="en-GH" dirty="0"/>
          </a:p>
        </p:txBody>
      </p:sp>
      <p:sp>
        <p:nvSpPr>
          <p:cNvPr id="3" name="Content Placeholder 2">
            <a:extLst>
              <a:ext uri="{FF2B5EF4-FFF2-40B4-BE49-F238E27FC236}">
                <a16:creationId xmlns:a16="http://schemas.microsoft.com/office/drawing/2014/main" id="{A79C9D0E-0638-824D-311F-B280F8E9DCAB}"/>
              </a:ext>
            </a:extLst>
          </p:cNvPr>
          <p:cNvSpPr>
            <a:spLocks noGrp="1"/>
          </p:cNvSpPr>
          <p:nvPr>
            <p:ph idx="1"/>
          </p:nvPr>
        </p:nvSpPr>
        <p:spPr/>
        <p:txBody>
          <a:bodyPr/>
          <a:lstStyle/>
          <a:p>
            <a:r>
              <a:rPr lang="en-US" dirty="0"/>
              <a:t>A </a:t>
            </a:r>
            <a:r>
              <a:rPr lang="en-US" dirty="0">
                <a:solidFill>
                  <a:srgbClr val="0070C0"/>
                </a:solidFill>
              </a:rPr>
              <a:t>simple text editor </a:t>
            </a:r>
            <a:r>
              <a:rPr lang="en-US" dirty="0"/>
              <a:t>(e.g., Notepad or Notepad++) is all you need to create HTML documents.</a:t>
            </a:r>
          </a:p>
          <a:p>
            <a:pPr marL="0" indent="0">
              <a:buNone/>
            </a:pPr>
            <a:endParaRPr lang="en-GH" dirty="0"/>
          </a:p>
        </p:txBody>
      </p:sp>
      <p:pic>
        <p:nvPicPr>
          <p:cNvPr id="4" name="Picture 3">
            <a:extLst>
              <a:ext uri="{FF2B5EF4-FFF2-40B4-BE49-F238E27FC236}">
                <a16:creationId xmlns:a16="http://schemas.microsoft.com/office/drawing/2014/main" id="{E2DB2F69-40A8-6D7C-2EB5-EA08EB4CAEFD}"/>
              </a:ext>
            </a:extLst>
          </p:cNvPr>
          <p:cNvPicPr>
            <a:picLocks noChangeAspect="1"/>
          </p:cNvPicPr>
          <p:nvPr/>
        </p:nvPicPr>
        <p:blipFill>
          <a:blip r:embed="rId2"/>
          <a:stretch>
            <a:fillRect/>
          </a:stretch>
        </p:blipFill>
        <p:spPr>
          <a:xfrm>
            <a:off x="538176" y="2188630"/>
            <a:ext cx="4591050" cy="2657475"/>
          </a:xfrm>
          <a:prstGeom prst="rect">
            <a:avLst/>
          </a:prstGeom>
        </p:spPr>
      </p:pic>
      <p:pic>
        <p:nvPicPr>
          <p:cNvPr id="5" name="Picture 4">
            <a:extLst>
              <a:ext uri="{FF2B5EF4-FFF2-40B4-BE49-F238E27FC236}">
                <a16:creationId xmlns:a16="http://schemas.microsoft.com/office/drawing/2014/main" id="{1740CC75-12BC-934C-2EDD-C07FC6F52A66}"/>
              </a:ext>
            </a:extLst>
          </p:cNvPr>
          <p:cNvPicPr>
            <a:picLocks noChangeAspect="1"/>
          </p:cNvPicPr>
          <p:nvPr/>
        </p:nvPicPr>
        <p:blipFill>
          <a:blip r:embed="rId3"/>
          <a:stretch>
            <a:fillRect/>
          </a:stretch>
        </p:blipFill>
        <p:spPr>
          <a:xfrm>
            <a:off x="2747076" y="4557561"/>
            <a:ext cx="6010275" cy="1828800"/>
          </a:xfrm>
          <a:prstGeom prst="rect">
            <a:avLst/>
          </a:prstGeom>
        </p:spPr>
      </p:pic>
      <p:sp>
        <p:nvSpPr>
          <p:cNvPr id="7" name="TextBox 6">
            <a:extLst>
              <a:ext uri="{FF2B5EF4-FFF2-40B4-BE49-F238E27FC236}">
                <a16:creationId xmlns:a16="http://schemas.microsoft.com/office/drawing/2014/main" id="{FA09193E-4140-A5A6-A0E2-AA4DE39D152A}"/>
              </a:ext>
            </a:extLst>
          </p:cNvPr>
          <p:cNvSpPr txBox="1"/>
          <p:nvPr/>
        </p:nvSpPr>
        <p:spPr>
          <a:xfrm>
            <a:off x="5426302" y="2495933"/>
            <a:ext cx="3373970" cy="1754326"/>
          </a:xfrm>
          <a:prstGeom prst="rect">
            <a:avLst/>
          </a:prstGeom>
          <a:noFill/>
        </p:spPr>
        <p:txBody>
          <a:bodyPr wrap="square">
            <a:spAutoFit/>
          </a:bodyPr>
          <a:lstStyle/>
          <a:p>
            <a:pPr marL="285750" indent="-285750">
              <a:buFont typeface="Wingdings" panose="05000000000000000000" pitchFamily="2" charset="2"/>
              <a:buChar char="ü"/>
            </a:pPr>
            <a:r>
              <a:rPr lang="en-US" dirty="0">
                <a:solidFill>
                  <a:srgbClr val="7030A0"/>
                </a:solidFill>
              </a:rPr>
              <a:t>You can use either </a:t>
            </a:r>
            <a:r>
              <a:rPr lang="en-US" b="1" dirty="0">
                <a:solidFill>
                  <a:srgbClr val="FF0000"/>
                </a:solidFill>
              </a:rPr>
              <a:t>.</a:t>
            </a:r>
            <a:r>
              <a:rPr lang="en-US" b="1" dirty="0" err="1">
                <a:solidFill>
                  <a:srgbClr val="FF0000"/>
                </a:solidFill>
              </a:rPr>
              <a:t>htm</a:t>
            </a:r>
            <a:r>
              <a:rPr lang="en-US" b="1" dirty="0">
                <a:solidFill>
                  <a:srgbClr val="FF0000"/>
                </a:solidFill>
              </a:rPr>
              <a:t> </a:t>
            </a:r>
            <a:r>
              <a:rPr lang="en-US" dirty="0">
                <a:solidFill>
                  <a:srgbClr val="7030A0"/>
                </a:solidFill>
              </a:rPr>
              <a:t>or </a:t>
            </a:r>
            <a:r>
              <a:rPr lang="en-US" b="1" dirty="0">
                <a:solidFill>
                  <a:srgbClr val="FF0000"/>
                </a:solidFill>
              </a:rPr>
              <a:t>.html </a:t>
            </a:r>
            <a:r>
              <a:rPr lang="en-US" dirty="0">
                <a:solidFill>
                  <a:srgbClr val="7030A0"/>
                </a:solidFill>
              </a:rPr>
              <a:t>as the file extension while saving.</a:t>
            </a:r>
          </a:p>
          <a:p>
            <a:pPr marL="285750" indent="-285750">
              <a:buFont typeface="Wingdings" panose="05000000000000000000" pitchFamily="2" charset="2"/>
              <a:buChar char="ü"/>
            </a:pPr>
            <a:r>
              <a:rPr lang="en-US" dirty="0">
                <a:solidFill>
                  <a:srgbClr val="7030A0"/>
                </a:solidFill>
              </a:rPr>
              <a:t>Set the encoding to UTF-8 (which is the preferred encoding for HTML files)</a:t>
            </a:r>
            <a:endParaRPr lang="en-GH" dirty="0">
              <a:solidFill>
                <a:srgbClr val="7030A0"/>
              </a:solidFill>
            </a:endParaRPr>
          </a:p>
        </p:txBody>
      </p:sp>
    </p:spTree>
    <p:extLst>
      <p:ext uri="{BB962C8B-B14F-4D97-AF65-F5344CB8AC3E}">
        <p14:creationId xmlns:p14="http://schemas.microsoft.com/office/powerpoint/2010/main" val="1281447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34C57-5CFC-FE50-7DF7-3003D575DAD7}"/>
              </a:ext>
            </a:extLst>
          </p:cNvPr>
          <p:cNvSpPr>
            <a:spLocks noGrp="1"/>
          </p:cNvSpPr>
          <p:nvPr>
            <p:ph type="title"/>
          </p:nvPr>
        </p:nvSpPr>
        <p:spPr/>
        <p:txBody>
          <a:bodyPr/>
          <a:lstStyle/>
          <a:p>
            <a:r>
              <a:rPr lang="en-IN" dirty="0"/>
              <a:t>The &lt;!DOCTYPE&gt; Declaration</a:t>
            </a:r>
            <a:endParaRPr lang="en-GH" dirty="0"/>
          </a:p>
        </p:txBody>
      </p:sp>
      <p:sp>
        <p:nvSpPr>
          <p:cNvPr id="3" name="Content Placeholder 2">
            <a:extLst>
              <a:ext uri="{FF2B5EF4-FFF2-40B4-BE49-F238E27FC236}">
                <a16:creationId xmlns:a16="http://schemas.microsoft.com/office/drawing/2014/main" id="{CBF4B998-E153-3A76-0225-9E28ABCF104F}"/>
              </a:ext>
            </a:extLst>
          </p:cNvPr>
          <p:cNvSpPr>
            <a:spLocks noGrp="1"/>
          </p:cNvSpPr>
          <p:nvPr>
            <p:ph idx="1"/>
          </p:nvPr>
        </p:nvSpPr>
        <p:spPr/>
        <p:txBody>
          <a:bodyPr/>
          <a:lstStyle/>
          <a:p>
            <a:r>
              <a:rPr lang="en-US" dirty="0"/>
              <a:t>Represents the document type and helps browsers display web pages correctly.</a:t>
            </a:r>
          </a:p>
          <a:p>
            <a:endParaRPr lang="en-US" dirty="0"/>
          </a:p>
          <a:p>
            <a:r>
              <a:rPr lang="en-US" dirty="0"/>
              <a:t>Must appear only once, at the top of the page (before any HTML tags).</a:t>
            </a:r>
          </a:p>
          <a:p>
            <a:endParaRPr lang="en-US" dirty="0"/>
          </a:p>
          <a:p>
            <a:r>
              <a:rPr lang="en-US" dirty="0"/>
              <a:t>It is not case-sensitive.</a:t>
            </a:r>
          </a:p>
          <a:p>
            <a:endParaRPr lang="en-US" dirty="0"/>
          </a:p>
          <a:p>
            <a:r>
              <a:rPr lang="en-US" dirty="0"/>
              <a:t>The &lt;!DOCTYPE&gt; declaration for HTML5 is:</a:t>
            </a:r>
          </a:p>
          <a:p>
            <a:pPr marL="0" indent="0">
              <a:buNone/>
            </a:pPr>
            <a:r>
              <a:rPr lang="en-US" b="0" i="0" dirty="0">
                <a:solidFill>
                  <a:srgbClr val="0000CD"/>
                </a:solidFill>
                <a:effectLst/>
                <a:latin typeface="Consolas" panose="020B0609020204030204" pitchFamily="49" charset="0"/>
              </a:rPr>
              <a:t>  </a:t>
            </a:r>
          </a:p>
          <a:p>
            <a:pPr marL="0" indent="0">
              <a:buNone/>
            </a:pPr>
            <a:r>
              <a:rPr lang="en-US" dirty="0">
                <a:solidFill>
                  <a:srgbClr val="0000CD"/>
                </a:solidFill>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!DOCTYPE</a:t>
            </a:r>
            <a:r>
              <a:rPr lang="en-IN" b="0" i="0" dirty="0">
                <a:solidFill>
                  <a:srgbClr val="FF0000"/>
                </a:solidFill>
                <a:effectLst/>
                <a:latin typeface="Consolas" panose="020B0609020204030204" pitchFamily="49" charset="0"/>
              </a:rPr>
              <a:t> html</a:t>
            </a:r>
            <a:r>
              <a:rPr lang="en-IN"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4042720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38706-DCA1-0446-CA60-5B3DF3DF1465}"/>
              </a:ext>
            </a:extLst>
          </p:cNvPr>
          <p:cNvSpPr>
            <a:spLocks noGrp="1"/>
          </p:cNvSpPr>
          <p:nvPr>
            <p:ph type="title"/>
          </p:nvPr>
        </p:nvSpPr>
        <p:spPr/>
        <p:txBody>
          <a:bodyPr/>
          <a:lstStyle/>
          <a:p>
            <a:r>
              <a:rPr lang="en-IN" dirty="0"/>
              <a:t>HTML Headings</a:t>
            </a:r>
            <a:endParaRPr lang="en-GH" dirty="0"/>
          </a:p>
        </p:txBody>
      </p:sp>
      <p:sp>
        <p:nvSpPr>
          <p:cNvPr id="3" name="Content Placeholder 2">
            <a:extLst>
              <a:ext uri="{FF2B5EF4-FFF2-40B4-BE49-F238E27FC236}">
                <a16:creationId xmlns:a16="http://schemas.microsoft.com/office/drawing/2014/main" id="{23FCA790-75BA-C273-3B3E-E23417453CB3}"/>
              </a:ext>
            </a:extLst>
          </p:cNvPr>
          <p:cNvSpPr>
            <a:spLocks noGrp="1"/>
          </p:cNvSpPr>
          <p:nvPr>
            <p:ph idx="1"/>
          </p:nvPr>
        </p:nvSpPr>
        <p:spPr/>
        <p:txBody>
          <a:bodyPr/>
          <a:lstStyle/>
          <a:p>
            <a:r>
              <a:rPr lang="en-US" dirty="0"/>
              <a:t>HTML headings are defined with the tags:</a:t>
            </a:r>
          </a:p>
          <a:p>
            <a:pPr marL="0" indent="0">
              <a:buNone/>
            </a:pPr>
            <a:r>
              <a:rPr lang="en-US" dirty="0"/>
              <a:t>   </a:t>
            </a:r>
            <a:r>
              <a:rPr lang="en-US" dirty="0">
                <a:solidFill>
                  <a:srgbClr val="C00000"/>
                </a:solidFill>
              </a:rPr>
              <a:t>&lt;h1&gt;</a:t>
            </a:r>
            <a:r>
              <a:rPr lang="en-US" dirty="0"/>
              <a:t>, </a:t>
            </a:r>
            <a:r>
              <a:rPr lang="en-US" dirty="0">
                <a:solidFill>
                  <a:srgbClr val="C00000"/>
                </a:solidFill>
              </a:rPr>
              <a:t> &lt;h2&gt;</a:t>
            </a:r>
            <a:r>
              <a:rPr lang="en-US" dirty="0"/>
              <a:t>,</a:t>
            </a:r>
            <a:r>
              <a:rPr lang="en-US" dirty="0">
                <a:solidFill>
                  <a:srgbClr val="C00000"/>
                </a:solidFill>
              </a:rPr>
              <a:t> &lt;h3&gt;</a:t>
            </a:r>
            <a:r>
              <a:rPr lang="en-US" dirty="0"/>
              <a:t>, </a:t>
            </a:r>
            <a:r>
              <a:rPr lang="en-US" dirty="0">
                <a:solidFill>
                  <a:srgbClr val="C00000"/>
                </a:solidFill>
              </a:rPr>
              <a:t> &lt;h4&gt;, &lt;h5&gt;</a:t>
            </a:r>
            <a:r>
              <a:rPr lang="en-US" dirty="0"/>
              <a:t>, and  </a:t>
            </a:r>
            <a:r>
              <a:rPr lang="en-US" dirty="0">
                <a:solidFill>
                  <a:srgbClr val="C00000"/>
                </a:solidFill>
              </a:rPr>
              <a:t>&lt;h6&gt;</a:t>
            </a:r>
            <a:r>
              <a:rPr lang="en-US" dirty="0"/>
              <a:t>.</a:t>
            </a:r>
          </a:p>
          <a:p>
            <a:endParaRPr lang="en-US" dirty="0"/>
          </a:p>
          <a:p>
            <a:r>
              <a:rPr lang="en-US" dirty="0">
                <a:solidFill>
                  <a:srgbClr val="C00000"/>
                </a:solidFill>
              </a:rPr>
              <a:t>&lt;h1&gt; </a:t>
            </a:r>
            <a:r>
              <a:rPr lang="en-US" dirty="0"/>
              <a:t>defines the most important heading. </a:t>
            </a:r>
          </a:p>
          <a:p>
            <a:r>
              <a:rPr lang="en-US" dirty="0">
                <a:solidFill>
                  <a:srgbClr val="C00000"/>
                </a:solidFill>
              </a:rPr>
              <a:t>&lt;h6&gt; </a:t>
            </a:r>
            <a:r>
              <a:rPr lang="en-US" dirty="0"/>
              <a:t>defines the least important heading.</a:t>
            </a:r>
          </a:p>
          <a:p>
            <a:endParaRPr lang="en-US" dirty="0"/>
          </a:p>
          <a:p>
            <a:r>
              <a:rPr lang="en-US" dirty="0">
                <a:solidFill>
                  <a:srgbClr val="0070C0"/>
                </a:solidFill>
              </a:rPr>
              <a:t>Example</a:t>
            </a:r>
            <a:r>
              <a:rPr lang="en-US" dirty="0"/>
              <a:t>:</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heading 1</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h2</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heading 2</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/h2</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h3</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heading 3</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/h3</a:t>
            </a:r>
            <a:r>
              <a:rPr lang="en-US"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3733314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DE983-6A52-5B8A-3498-2024481E64ED}"/>
              </a:ext>
            </a:extLst>
          </p:cNvPr>
          <p:cNvSpPr>
            <a:spLocks noGrp="1"/>
          </p:cNvSpPr>
          <p:nvPr>
            <p:ph type="title"/>
          </p:nvPr>
        </p:nvSpPr>
        <p:spPr/>
        <p:txBody>
          <a:bodyPr/>
          <a:lstStyle/>
          <a:p>
            <a:r>
              <a:rPr lang="en-IN" dirty="0"/>
              <a:t>HTML Paragraphs</a:t>
            </a:r>
            <a:endParaRPr lang="en-GH" dirty="0"/>
          </a:p>
        </p:txBody>
      </p:sp>
      <p:sp>
        <p:nvSpPr>
          <p:cNvPr id="3" name="Content Placeholder 2">
            <a:extLst>
              <a:ext uri="{FF2B5EF4-FFF2-40B4-BE49-F238E27FC236}">
                <a16:creationId xmlns:a16="http://schemas.microsoft.com/office/drawing/2014/main" id="{AF4F8367-34B2-A1F7-6D70-878BFB0844AC}"/>
              </a:ext>
            </a:extLst>
          </p:cNvPr>
          <p:cNvSpPr>
            <a:spLocks noGrp="1"/>
          </p:cNvSpPr>
          <p:nvPr>
            <p:ph idx="1"/>
          </p:nvPr>
        </p:nvSpPr>
        <p:spPr/>
        <p:txBody>
          <a:bodyPr/>
          <a:lstStyle/>
          <a:p>
            <a:r>
              <a:rPr lang="en-US" dirty="0"/>
              <a:t>HTML paragraphs are defined with the </a:t>
            </a:r>
            <a:r>
              <a:rPr lang="en-US" dirty="0">
                <a:solidFill>
                  <a:srgbClr val="C00000"/>
                </a:solidFill>
              </a:rPr>
              <a:t>&lt;p&gt;</a:t>
            </a:r>
            <a:r>
              <a:rPr lang="en-US" dirty="0"/>
              <a:t> tag.</a:t>
            </a:r>
          </a:p>
          <a:p>
            <a:r>
              <a:rPr lang="en-US" dirty="0"/>
              <a:t>A paragraph always starts on a new line, and browsers automatically add some white space (a margin) before and after a paragraph.</a:t>
            </a:r>
          </a:p>
          <a:p>
            <a:endParaRPr lang="en-US" dirty="0"/>
          </a:p>
          <a:p>
            <a:r>
              <a:rPr lang="en-US" dirty="0">
                <a:solidFill>
                  <a:srgbClr val="0070C0"/>
                </a:solidFill>
              </a:rPr>
              <a:t>Example</a:t>
            </a:r>
            <a:r>
              <a:rPr lang="en-US" dirty="0"/>
              <a:t>:</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another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endParaRPr lang="en-US" dirty="0"/>
          </a:p>
        </p:txBody>
      </p:sp>
    </p:spTree>
    <p:extLst>
      <p:ext uri="{BB962C8B-B14F-4D97-AF65-F5344CB8AC3E}">
        <p14:creationId xmlns:p14="http://schemas.microsoft.com/office/powerpoint/2010/main" val="872814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4DC6-5723-BD4C-B9F4-F1D04D18337B}"/>
              </a:ext>
            </a:extLst>
          </p:cNvPr>
          <p:cNvSpPr>
            <a:spLocks noGrp="1"/>
          </p:cNvSpPr>
          <p:nvPr>
            <p:ph type="title"/>
          </p:nvPr>
        </p:nvSpPr>
        <p:spPr/>
        <p:txBody>
          <a:bodyPr/>
          <a:lstStyle/>
          <a:p>
            <a:r>
              <a:rPr lang="en-IN" dirty="0"/>
              <a:t>HTML Links</a:t>
            </a:r>
            <a:endParaRPr lang="en-GH" dirty="0"/>
          </a:p>
        </p:txBody>
      </p:sp>
      <p:sp>
        <p:nvSpPr>
          <p:cNvPr id="3" name="Content Placeholder 2">
            <a:extLst>
              <a:ext uri="{FF2B5EF4-FFF2-40B4-BE49-F238E27FC236}">
                <a16:creationId xmlns:a16="http://schemas.microsoft.com/office/drawing/2014/main" id="{7106662C-0F54-E974-22CE-8A4CC735ED0B}"/>
              </a:ext>
            </a:extLst>
          </p:cNvPr>
          <p:cNvSpPr>
            <a:spLocks noGrp="1"/>
          </p:cNvSpPr>
          <p:nvPr>
            <p:ph idx="1"/>
          </p:nvPr>
        </p:nvSpPr>
        <p:spPr/>
        <p:txBody>
          <a:bodyPr/>
          <a:lstStyle/>
          <a:p>
            <a:r>
              <a:rPr lang="en-US" dirty="0"/>
              <a:t>HTML links are defined with the </a:t>
            </a:r>
            <a:r>
              <a:rPr lang="en-US" dirty="0">
                <a:solidFill>
                  <a:srgbClr val="C00000"/>
                </a:solidFill>
              </a:rPr>
              <a:t>&lt;a&gt;</a:t>
            </a:r>
            <a:r>
              <a:rPr lang="en-US" dirty="0"/>
              <a:t> tag (or </a:t>
            </a:r>
            <a:r>
              <a:rPr lang="en-US" b="1" dirty="0">
                <a:solidFill>
                  <a:srgbClr val="002060"/>
                </a:solidFill>
              </a:rPr>
              <a:t>anchor tag</a:t>
            </a:r>
            <a:r>
              <a:rPr lang="en-US" dirty="0"/>
              <a:t>).</a:t>
            </a:r>
          </a:p>
          <a:p>
            <a:r>
              <a:rPr lang="en-US" dirty="0"/>
              <a:t>Example:</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dirty="0">
                <a:solidFill>
                  <a:srgbClr val="FF0000"/>
                </a:solidFill>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="https://www.ashesi.edu.gh"&gt;</a:t>
            </a:r>
            <a:r>
              <a:rPr lang="en-US" b="0" i="0" dirty="0">
                <a:solidFill>
                  <a:srgbClr val="000000"/>
                </a:solidFill>
                <a:effectLst/>
                <a:latin typeface="Consolas" panose="020B0609020204030204" pitchFamily="49" charset="0"/>
              </a:rPr>
              <a:t>This is </a:t>
            </a:r>
            <a:r>
              <a:rPr lang="en-US" b="0" i="0" dirty="0" err="1">
                <a:solidFill>
                  <a:srgbClr val="000000"/>
                </a:solidFill>
                <a:effectLst/>
                <a:latin typeface="Consolas" panose="020B0609020204030204" pitchFamily="49" charset="0"/>
              </a:rPr>
              <a:t>ashesi's</a:t>
            </a:r>
            <a:r>
              <a:rPr lang="en-US" b="0" i="0" dirty="0">
                <a:solidFill>
                  <a:srgbClr val="000000"/>
                </a:solidFill>
                <a:effectLst/>
                <a:latin typeface="Consolas" panose="020B0609020204030204" pitchFamily="49" charset="0"/>
              </a:rPr>
              <a:t> link</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p>
          <a:p>
            <a:pPr marL="0" indent="0">
              <a:buNone/>
            </a:pPr>
            <a:endParaRPr lang="en-US" dirty="0"/>
          </a:p>
          <a:p>
            <a:pPr marL="0" indent="0">
              <a:buNone/>
            </a:pPr>
            <a:r>
              <a:rPr lang="en-US" dirty="0"/>
              <a:t>The link's destination is specified in the </a:t>
            </a:r>
            <a:r>
              <a:rPr lang="en-US" b="1" dirty="0" err="1">
                <a:solidFill>
                  <a:srgbClr val="C00000"/>
                </a:solidFill>
              </a:rPr>
              <a:t>href</a:t>
            </a:r>
            <a:r>
              <a:rPr lang="en-US" dirty="0"/>
              <a:t> attribute. </a:t>
            </a:r>
          </a:p>
          <a:p>
            <a:pPr marL="0" indent="0">
              <a:buNone/>
            </a:pPr>
            <a:r>
              <a:rPr lang="en-US" dirty="0"/>
              <a:t>Attributes are used to provide additional information about HTML elements.</a:t>
            </a:r>
            <a:endParaRPr lang="en-GH" dirty="0"/>
          </a:p>
        </p:txBody>
      </p:sp>
    </p:spTree>
    <p:extLst>
      <p:ext uri="{BB962C8B-B14F-4D97-AF65-F5344CB8AC3E}">
        <p14:creationId xmlns:p14="http://schemas.microsoft.com/office/powerpoint/2010/main" val="1018526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B6F18-6C00-F93E-B856-B78C2DCA8D64}"/>
              </a:ext>
            </a:extLst>
          </p:cNvPr>
          <p:cNvSpPr>
            <a:spLocks noGrp="1"/>
          </p:cNvSpPr>
          <p:nvPr>
            <p:ph type="title"/>
          </p:nvPr>
        </p:nvSpPr>
        <p:spPr/>
        <p:txBody>
          <a:bodyPr/>
          <a:lstStyle/>
          <a:p>
            <a:r>
              <a:rPr lang="en-IN" dirty="0"/>
              <a:t>HTML Images</a:t>
            </a:r>
            <a:endParaRPr lang="en-GH" dirty="0"/>
          </a:p>
        </p:txBody>
      </p:sp>
      <p:sp>
        <p:nvSpPr>
          <p:cNvPr id="4" name="Rectangle 1">
            <a:extLst>
              <a:ext uri="{FF2B5EF4-FFF2-40B4-BE49-F238E27FC236}">
                <a16:creationId xmlns:a16="http://schemas.microsoft.com/office/drawing/2014/main" id="{CB407561-8E4F-32BA-79BF-E96687075F11}"/>
              </a:ext>
            </a:extLst>
          </p:cNvPr>
          <p:cNvSpPr>
            <a:spLocks noGrp="1" noChangeArrowheads="1"/>
          </p:cNvSpPr>
          <p:nvPr>
            <p:ph idx="1"/>
          </p:nvPr>
        </p:nvSpPr>
        <p:spPr bwMode="auto">
          <a:xfrm>
            <a:off x="241100" y="1386039"/>
            <a:ext cx="8680884" cy="4893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GH" altLang="en-GH" b="0" i="0" u="none" strike="noStrike" cap="none" normalizeH="0" baseline="0" dirty="0">
                <a:ln>
                  <a:noFill/>
                </a:ln>
                <a:solidFill>
                  <a:srgbClr val="000000"/>
                </a:solidFill>
                <a:effectLst/>
                <a:latin typeface="+mn-lt"/>
              </a:rPr>
              <a:t>HTML images are defined with the </a:t>
            </a:r>
            <a:r>
              <a:rPr kumimoji="0" lang="en-GH" altLang="en-GH" b="0" i="0" u="none" strike="noStrike" cap="none" normalizeH="0" baseline="0" dirty="0">
                <a:ln>
                  <a:noFill/>
                </a:ln>
                <a:solidFill>
                  <a:srgbClr val="DC143C"/>
                </a:solidFill>
                <a:effectLst/>
                <a:latin typeface="+mn-lt"/>
              </a:rPr>
              <a:t>&lt;</a:t>
            </a:r>
            <a:r>
              <a:rPr kumimoji="0" lang="en-GH" altLang="en-GH" b="0" i="0" u="none" strike="noStrike" cap="none" normalizeH="0" baseline="0" dirty="0" err="1">
                <a:ln>
                  <a:noFill/>
                </a:ln>
                <a:solidFill>
                  <a:srgbClr val="DC143C"/>
                </a:solidFill>
                <a:effectLst/>
                <a:latin typeface="+mn-lt"/>
              </a:rPr>
              <a:t>img</a:t>
            </a:r>
            <a:r>
              <a:rPr kumimoji="0" lang="en-GH" altLang="en-GH" b="0" i="0" u="none" strike="noStrike" cap="none" normalizeH="0" baseline="0" dirty="0">
                <a:ln>
                  <a:noFill/>
                </a:ln>
                <a:solidFill>
                  <a:srgbClr val="DC143C"/>
                </a:solidFill>
                <a:effectLst/>
                <a:latin typeface="+mn-lt"/>
              </a:rPr>
              <a:t>&gt;</a:t>
            </a:r>
            <a:r>
              <a:rPr kumimoji="0" lang="en-GH" altLang="en-GH" b="0" i="0" u="none" strike="noStrike" cap="none" normalizeH="0" baseline="0" dirty="0">
                <a:ln>
                  <a:noFill/>
                </a:ln>
                <a:solidFill>
                  <a:srgbClr val="000000"/>
                </a:solidFill>
                <a:effectLst/>
                <a:latin typeface="+mn-lt"/>
              </a:rPr>
              <a:t> tag.</a:t>
            </a:r>
            <a:r>
              <a:rPr kumimoji="0" lang="en-IN" altLang="en-GH" b="0" i="0" u="none" strike="noStrike" cap="none" normalizeH="0" baseline="0" dirty="0">
                <a:ln>
                  <a:noFill/>
                </a:ln>
                <a:solidFill>
                  <a:srgbClr val="000000"/>
                </a:solidFill>
                <a:effectLst/>
                <a:latin typeface="+mn-lt"/>
              </a:rPr>
              <a:t>   (or </a:t>
            </a:r>
            <a:r>
              <a:rPr kumimoji="0" lang="en-IN" altLang="en-GH" b="1" i="0" u="none" strike="noStrike" cap="none" normalizeH="0" baseline="0" dirty="0">
                <a:ln>
                  <a:noFill/>
                </a:ln>
                <a:solidFill>
                  <a:srgbClr val="002060"/>
                </a:solidFill>
                <a:effectLst/>
                <a:latin typeface="+mn-lt"/>
              </a:rPr>
              <a:t>image tag</a:t>
            </a:r>
            <a:r>
              <a:rPr kumimoji="0" lang="en-IN" altLang="en-GH" b="0" i="0" u="none" strike="noStrike" cap="none" normalizeH="0" baseline="0" dirty="0">
                <a:ln>
                  <a:noFill/>
                </a:ln>
                <a:solidFill>
                  <a:srgbClr val="000000"/>
                </a:solidFill>
                <a:effectLst/>
                <a:latin typeface="+mn-lt"/>
              </a:rPr>
              <a:t>)</a:t>
            </a:r>
            <a:endParaRPr kumimoji="0" lang="en-GH" altLang="en-GH" b="0" i="0" u="none" strike="noStrike" cap="none" normalizeH="0" baseline="0" dirty="0">
              <a:ln>
                <a:noFill/>
              </a:ln>
              <a:solidFill>
                <a:schemeClr val="tx1"/>
              </a:solidFill>
              <a:effectLst/>
              <a:latin typeface="+mn-lt"/>
            </a:endParaRPr>
          </a:p>
          <a:p>
            <a:pPr>
              <a:lnSpc>
                <a:spcPct val="100000"/>
              </a:lnSpc>
            </a:pPr>
            <a:r>
              <a:rPr kumimoji="0" lang="en-GH" altLang="en-GH" b="0" i="0" u="none" strike="noStrike" cap="none" normalizeH="0" baseline="0" dirty="0">
                <a:ln>
                  <a:noFill/>
                </a:ln>
                <a:solidFill>
                  <a:srgbClr val="000000"/>
                </a:solidFill>
                <a:effectLst/>
                <a:latin typeface="+mn-lt"/>
              </a:rPr>
              <a:t>The source file (</a:t>
            </a:r>
            <a:r>
              <a:rPr kumimoji="0" lang="en-GH" altLang="en-GH" b="0" i="0" u="none" strike="noStrike" cap="none" normalizeH="0" baseline="0" dirty="0" err="1">
                <a:ln>
                  <a:noFill/>
                </a:ln>
                <a:solidFill>
                  <a:srgbClr val="DC143C"/>
                </a:solidFill>
                <a:effectLst/>
                <a:latin typeface="+mn-lt"/>
              </a:rPr>
              <a:t>src</a:t>
            </a:r>
            <a:r>
              <a:rPr kumimoji="0" lang="en-GH" altLang="en-GH" b="0" i="0" u="none" strike="noStrike" cap="none" normalizeH="0" baseline="0" dirty="0">
                <a:ln>
                  <a:noFill/>
                </a:ln>
                <a:solidFill>
                  <a:srgbClr val="000000"/>
                </a:solidFill>
                <a:effectLst/>
                <a:latin typeface="+mn-lt"/>
              </a:rPr>
              <a:t>), alternative text (</a:t>
            </a:r>
            <a:r>
              <a:rPr kumimoji="0" lang="en-GH" altLang="en-GH" b="0" i="0" u="none" strike="noStrike" cap="none" normalizeH="0" baseline="0" dirty="0">
                <a:ln>
                  <a:noFill/>
                </a:ln>
                <a:solidFill>
                  <a:srgbClr val="DC143C"/>
                </a:solidFill>
                <a:effectLst/>
                <a:latin typeface="+mn-lt"/>
              </a:rPr>
              <a:t>alt</a:t>
            </a:r>
            <a:r>
              <a:rPr kumimoji="0" lang="en-GH" altLang="en-GH" b="0" i="0" u="none" strike="noStrike" cap="none" normalizeH="0" baseline="0" dirty="0">
                <a:ln>
                  <a:noFill/>
                </a:ln>
                <a:solidFill>
                  <a:srgbClr val="000000"/>
                </a:solidFill>
                <a:effectLst/>
                <a:latin typeface="+mn-lt"/>
              </a:rPr>
              <a:t>), </a:t>
            </a:r>
            <a:r>
              <a:rPr kumimoji="0" lang="en-GH" altLang="en-GH" b="0" i="0" u="none" strike="noStrike" cap="none" normalizeH="0" baseline="0" dirty="0">
                <a:ln>
                  <a:noFill/>
                </a:ln>
                <a:solidFill>
                  <a:srgbClr val="DC143C"/>
                </a:solidFill>
                <a:effectLst/>
                <a:latin typeface="+mn-lt"/>
              </a:rPr>
              <a:t>width</a:t>
            </a:r>
            <a:r>
              <a:rPr kumimoji="0" lang="en-GH" altLang="en-GH" b="0" i="0" u="none" strike="noStrike" cap="none" normalizeH="0" baseline="0" dirty="0">
                <a:ln>
                  <a:noFill/>
                </a:ln>
                <a:solidFill>
                  <a:srgbClr val="000000"/>
                </a:solidFill>
                <a:effectLst/>
                <a:latin typeface="+mn-lt"/>
              </a:rPr>
              <a:t>, and </a:t>
            </a:r>
            <a:r>
              <a:rPr kumimoji="0" lang="en-GH" altLang="en-GH" b="0" i="0" u="none" strike="noStrike" cap="none" normalizeH="0" baseline="0" dirty="0">
                <a:ln>
                  <a:noFill/>
                </a:ln>
                <a:solidFill>
                  <a:srgbClr val="DC143C"/>
                </a:solidFill>
                <a:effectLst/>
                <a:latin typeface="+mn-lt"/>
              </a:rPr>
              <a:t>height</a:t>
            </a:r>
            <a:r>
              <a:rPr kumimoji="0" lang="en-GH" altLang="en-GH" b="0" i="0" u="none" strike="noStrike" cap="none" normalizeH="0" baseline="0" dirty="0">
                <a:ln>
                  <a:noFill/>
                </a:ln>
                <a:solidFill>
                  <a:srgbClr val="000000"/>
                </a:solidFill>
                <a:effectLst/>
                <a:latin typeface="+mn-lt"/>
              </a:rPr>
              <a:t> are provided as attributes</a:t>
            </a:r>
            <a:r>
              <a:rPr kumimoji="0" lang="en-IN" altLang="en-GH" b="0" i="0" u="none" strike="noStrike" cap="none" normalizeH="0" baseline="0" dirty="0">
                <a:ln>
                  <a:noFill/>
                </a:ln>
                <a:solidFill>
                  <a:srgbClr val="000000"/>
                </a:solidFill>
                <a:effectLst/>
                <a:latin typeface="+mn-lt"/>
              </a:rPr>
              <a:t>.</a:t>
            </a:r>
          </a:p>
          <a:p>
            <a:pPr>
              <a:lnSpc>
                <a:spcPct val="100000"/>
              </a:lnSpc>
            </a:pPr>
            <a:r>
              <a:rPr lang="en-US" dirty="0">
                <a:latin typeface="+mn-lt"/>
              </a:rPr>
              <a:t>Does not require a closing tag because it is a self-contained, </a:t>
            </a:r>
            <a:r>
              <a:rPr lang="en-US" dirty="0">
                <a:solidFill>
                  <a:srgbClr val="FF0000"/>
                </a:solidFill>
                <a:latin typeface="+mn-lt"/>
              </a:rPr>
              <a:t>void element</a:t>
            </a:r>
            <a:r>
              <a:rPr lang="en-US" dirty="0">
                <a:latin typeface="+mn-lt"/>
              </a:rPr>
              <a:t>.</a:t>
            </a:r>
            <a:endParaRPr kumimoji="0" lang="en-IN" altLang="en-GH" b="0" i="0" u="none" strike="noStrike" cap="none" normalizeH="0" baseline="0" dirty="0">
              <a:ln>
                <a:noFill/>
              </a:ln>
              <a:solidFill>
                <a:srgbClr val="000000"/>
              </a:solidFill>
              <a:effectLst/>
              <a:latin typeface="+mn-lt"/>
            </a:endParaRPr>
          </a:p>
          <a:p>
            <a:pPr>
              <a:lnSpc>
                <a:spcPct val="100000"/>
              </a:lnSpc>
            </a:pPr>
            <a:endParaRPr lang="en-IN" altLang="en-GH" dirty="0">
              <a:solidFill>
                <a:srgbClr val="000000"/>
              </a:solidFill>
              <a:latin typeface="+mn-lt"/>
            </a:endParaRPr>
          </a:p>
          <a:p>
            <a:pPr>
              <a:lnSpc>
                <a:spcPct val="100000"/>
              </a:lnSpc>
            </a:pPr>
            <a:r>
              <a:rPr kumimoji="0" lang="en-IN" altLang="en-GH" b="0" i="0" u="none" strike="noStrike" cap="none" normalizeH="0" baseline="0" dirty="0">
                <a:ln>
                  <a:noFill/>
                </a:ln>
                <a:solidFill>
                  <a:srgbClr val="000000"/>
                </a:solidFill>
                <a:effectLst/>
                <a:latin typeface="+mn-lt"/>
              </a:rPr>
              <a:t>Example:</a:t>
            </a:r>
          </a:p>
          <a:p>
            <a:pPr marL="0" indent="0">
              <a:lnSpc>
                <a:spcPct val="100000"/>
              </a:lnSpc>
              <a:buNone/>
            </a:pPr>
            <a:r>
              <a:rPr lang="en-IN" b="0" i="0" dirty="0">
                <a:solidFill>
                  <a:srgbClr val="0000CD"/>
                </a:solidFill>
                <a:effectLst/>
                <a:latin typeface="Consolas" panose="020B0609020204030204" pitchFamily="49" charset="0"/>
              </a:rPr>
              <a:t>&lt;</a:t>
            </a:r>
            <a:r>
              <a:rPr lang="en-IN" b="0" i="0" dirty="0" err="1">
                <a:solidFill>
                  <a:srgbClr val="A52A2A"/>
                </a:solidFill>
                <a:effectLst/>
                <a:latin typeface="Consolas" panose="020B0609020204030204" pitchFamily="49" charset="0"/>
              </a:rPr>
              <a:t>img</a:t>
            </a:r>
            <a:r>
              <a:rPr lang="en-IN" b="0" i="0" dirty="0">
                <a:solidFill>
                  <a:srgbClr val="FF0000"/>
                </a:solidFill>
                <a:effectLst/>
                <a:latin typeface="Consolas" panose="020B0609020204030204" pitchFamily="49" charset="0"/>
              </a:rPr>
              <a:t> </a:t>
            </a:r>
            <a:r>
              <a:rPr lang="en-IN" b="0" i="0" dirty="0" err="1">
                <a:solidFill>
                  <a:srgbClr val="FF0000"/>
                </a:solidFill>
                <a:effectLst/>
                <a:latin typeface="Consolas" panose="020B0609020204030204" pitchFamily="49" charset="0"/>
              </a:rPr>
              <a:t>src</a:t>
            </a:r>
            <a:r>
              <a:rPr lang="en-IN" b="0" i="0" dirty="0">
                <a:solidFill>
                  <a:srgbClr val="0000CD"/>
                </a:solidFill>
                <a:effectLst/>
                <a:latin typeface="Consolas" panose="020B0609020204030204" pitchFamily="49" charset="0"/>
              </a:rPr>
              <a:t>="</a:t>
            </a:r>
            <a:r>
              <a:rPr lang="en-US" b="0" i="0" dirty="0">
                <a:solidFill>
                  <a:srgbClr val="0000CD"/>
                </a:solidFill>
                <a:effectLst/>
                <a:latin typeface="Consolas" panose="020B0609020204030204" pitchFamily="49" charset="0"/>
              </a:rPr>
              <a:t>C:\Users\ygovi\OneDrive\Pictures\Saved Pictures\</a:t>
            </a:r>
            <a:r>
              <a:rPr lang="en-IN" b="0" i="0" dirty="0">
                <a:solidFill>
                  <a:srgbClr val="0000CD"/>
                </a:solidFill>
                <a:effectLst/>
                <a:latin typeface="Consolas" panose="020B0609020204030204" pitchFamily="49" charset="0"/>
              </a:rPr>
              <a:t>Ashesi_Logo.jpg"</a:t>
            </a:r>
            <a:r>
              <a:rPr lang="en-IN" b="0" i="0" dirty="0">
                <a:solidFill>
                  <a:srgbClr val="FF0000"/>
                </a:solidFill>
                <a:effectLst/>
                <a:latin typeface="Consolas" panose="020B0609020204030204" pitchFamily="49" charset="0"/>
              </a:rPr>
              <a:t> alt</a:t>
            </a:r>
            <a:r>
              <a:rPr lang="en-IN" b="0" i="0" dirty="0">
                <a:solidFill>
                  <a:srgbClr val="0000CD"/>
                </a:solidFill>
                <a:effectLst/>
                <a:latin typeface="Consolas" panose="020B0609020204030204" pitchFamily="49" charset="0"/>
              </a:rPr>
              <a:t>="Ashesi Logo"</a:t>
            </a:r>
            <a:r>
              <a:rPr lang="en-IN" b="0" i="0" dirty="0">
                <a:solidFill>
                  <a:srgbClr val="FF0000"/>
                </a:solidFill>
                <a:effectLst/>
                <a:latin typeface="Consolas" panose="020B0609020204030204" pitchFamily="49" charset="0"/>
              </a:rPr>
              <a:t> width</a:t>
            </a:r>
            <a:r>
              <a:rPr lang="en-IN" b="0" i="0" dirty="0">
                <a:solidFill>
                  <a:srgbClr val="0000CD"/>
                </a:solidFill>
                <a:effectLst/>
                <a:latin typeface="Consolas" panose="020B0609020204030204" pitchFamily="49" charset="0"/>
              </a:rPr>
              <a:t>="104"</a:t>
            </a:r>
            <a:r>
              <a:rPr lang="en-IN" b="0" i="0" dirty="0">
                <a:solidFill>
                  <a:srgbClr val="FF0000"/>
                </a:solidFill>
                <a:effectLst/>
                <a:latin typeface="Consolas" panose="020B0609020204030204" pitchFamily="49" charset="0"/>
              </a:rPr>
              <a:t> height</a:t>
            </a:r>
            <a:r>
              <a:rPr lang="en-IN" b="0" i="0" dirty="0">
                <a:solidFill>
                  <a:srgbClr val="0000CD"/>
                </a:solidFill>
                <a:effectLst/>
                <a:latin typeface="Consolas" panose="020B0609020204030204" pitchFamily="49" charset="0"/>
              </a:rPr>
              <a:t>="104"&gt;</a:t>
            </a:r>
          </a:p>
          <a:p>
            <a:pPr marL="0" indent="0">
              <a:lnSpc>
                <a:spcPct val="100000"/>
              </a:lnSpc>
              <a:buNone/>
            </a:pPr>
            <a:endParaRPr kumimoji="0" lang="en-IN" altLang="en-GH" u="none" strike="noStrike" cap="none" normalizeH="0" baseline="0" dirty="0">
              <a:ln>
                <a:noFill/>
              </a:ln>
              <a:solidFill>
                <a:srgbClr val="0000CD"/>
              </a:solidFill>
              <a:latin typeface="Consolas" panose="020B0609020204030204" pitchFamily="49" charset="0"/>
            </a:endParaRPr>
          </a:p>
          <a:p>
            <a:pPr marL="0" indent="0">
              <a:lnSpc>
                <a:spcPct val="100000"/>
              </a:lnSpc>
              <a:buNone/>
            </a:pPr>
            <a:endParaRPr lang="en-IN" altLang="en-GH" b="0" i="0" dirty="0">
              <a:solidFill>
                <a:srgbClr val="0000CD"/>
              </a:solidFill>
              <a:effectLst/>
              <a:latin typeface="Consolas" panose="020B0609020204030204" pitchFamily="49" charset="0"/>
            </a:endParaRPr>
          </a:p>
          <a:p>
            <a:pPr marL="0" indent="0">
              <a:lnSpc>
                <a:spcPct val="100000"/>
              </a:lnSpc>
              <a:buNone/>
            </a:pPr>
            <a:endParaRPr kumimoji="0" lang="en-GH" altLang="en-GH"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855440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E023-0FF6-98E3-1B23-1B8EBFF6ED2C}"/>
              </a:ext>
            </a:extLst>
          </p:cNvPr>
          <p:cNvSpPr>
            <a:spLocks noGrp="1"/>
          </p:cNvSpPr>
          <p:nvPr>
            <p:ph type="title"/>
          </p:nvPr>
        </p:nvSpPr>
        <p:spPr/>
        <p:txBody>
          <a:bodyPr/>
          <a:lstStyle/>
          <a:p>
            <a:r>
              <a:rPr lang="en-IN" dirty="0"/>
              <a:t>HTML Videos</a:t>
            </a:r>
            <a:endParaRPr lang="en-GH" dirty="0"/>
          </a:p>
        </p:txBody>
      </p:sp>
      <p:sp>
        <p:nvSpPr>
          <p:cNvPr id="3" name="Content Placeholder 2">
            <a:extLst>
              <a:ext uri="{FF2B5EF4-FFF2-40B4-BE49-F238E27FC236}">
                <a16:creationId xmlns:a16="http://schemas.microsoft.com/office/drawing/2014/main" id="{76435F92-7C5C-BEDC-D875-E68A89DB3427}"/>
              </a:ext>
            </a:extLst>
          </p:cNvPr>
          <p:cNvSpPr>
            <a:spLocks noGrp="1"/>
          </p:cNvSpPr>
          <p:nvPr>
            <p:ph idx="1"/>
          </p:nvPr>
        </p:nvSpPr>
        <p:spPr/>
        <p:txBody>
          <a:bodyPr/>
          <a:lstStyle/>
          <a:p>
            <a:r>
              <a:rPr lang="en-US" dirty="0"/>
              <a:t>To show a video in HTML, use the </a:t>
            </a:r>
            <a:r>
              <a:rPr lang="en-US" dirty="0">
                <a:solidFill>
                  <a:srgbClr val="C00000"/>
                </a:solidFill>
              </a:rPr>
              <a:t>&lt;video&gt; </a:t>
            </a:r>
            <a:r>
              <a:rPr lang="en-US" dirty="0"/>
              <a:t>element.</a:t>
            </a:r>
          </a:p>
          <a:p>
            <a:r>
              <a:rPr lang="en-US" dirty="0"/>
              <a:t>Example:</a:t>
            </a:r>
          </a:p>
          <a:p>
            <a:pPr marL="0" indent="0">
              <a:buNone/>
            </a:pP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video</a:t>
            </a:r>
            <a:r>
              <a:rPr lang="en-IN" b="0" i="0" dirty="0">
                <a:solidFill>
                  <a:srgbClr val="FF0000"/>
                </a:solidFill>
                <a:effectLst/>
                <a:latin typeface="Consolas" panose="020B0609020204030204" pitchFamily="49" charset="0"/>
              </a:rPr>
              <a:t> width</a:t>
            </a:r>
            <a:r>
              <a:rPr lang="en-IN" b="0" i="0" dirty="0">
                <a:solidFill>
                  <a:srgbClr val="0000CD"/>
                </a:solidFill>
                <a:effectLst/>
                <a:latin typeface="Consolas" panose="020B0609020204030204" pitchFamily="49" charset="0"/>
              </a:rPr>
              <a:t>="320"</a:t>
            </a:r>
            <a:r>
              <a:rPr lang="en-IN" b="0" i="0" dirty="0">
                <a:solidFill>
                  <a:srgbClr val="FF0000"/>
                </a:solidFill>
                <a:effectLst/>
                <a:latin typeface="Consolas" panose="020B0609020204030204" pitchFamily="49" charset="0"/>
              </a:rPr>
              <a:t> height</a:t>
            </a:r>
            <a:r>
              <a:rPr lang="en-IN" b="0" i="0" dirty="0">
                <a:solidFill>
                  <a:srgbClr val="0000CD"/>
                </a:solidFill>
                <a:effectLst/>
                <a:latin typeface="Consolas" panose="020B0609020204030204" pitchFamily="49" charset="0"/>
              </a:rPr>
              <a:t>="240"</a:t>
            </a:r>
            <a:r>
              <a:rPr lang="en-IN" b="0" i="0" dirty="0">
                <a:solidFill>
                  <a:srgbClr val="FF0000"/>
                </a:solidFill>
                <a:effectLst/>
                <a:latin typeface="Consolas" panose="020B0609020204030204" pitchFamily="49" charset="0"/>
              </a:rPr>
              <a:t> controls</a:t>
            </a:r>
            <a:r>
              <a:rPr lang="en-IN" b="0" i="0" dirty="0">
                <a:solidFill>
                  <a:srgbClr val="0000CD"/>
                </a:solidFill>
                <a:effectLst/>
                <a:latin typeface="Consolas" panose="020B0609020204030204" pitchFamily="49" charset="0"/>
              </a:rPr>
              <a:t>&gt;</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source</a:t>
            </a:r>
            <a:r>
              <a:rPr lang="en-IN" b="0" i="0" dirty="0">
                <a:solidFill>
                  <a:srgbClr val="FF0000"/>
                </a:solidFill>
                <a:effectLst/>
                <a:latin typeface="Consolas" panose="020B0609020204030204" pitchFamily="49" charset="0"/>
              </a:rPr>
              <a:t> </a:t>
            </a:r>
            <a:r>
              <a:rPr lang="en-IN" b="0" i="0" dirty="0" err="1">
                <a:solidFill>
                  <a:srgbClr val="FF0000"/>
                </a:solidFill>
                <a:effectLst/>
                <a:latin typeface="Consolas" panose="020B0609020204030204" pitchFamily="49" charset="0"/>
              </a:rPr>
              <a:t>src</a:t>
            </a:r>
            <a:r>
              <a:rPr lang="en-IN" b="0" i="0" dirty="0">
                <a:solidFill>
                  <a:srgbClr val="0000CD"/>
                </a:solidFill>
                <a:effectLst/>
                <a:latin typeface="Consolas" panose="020B0609020204030204" pitchFamily="49" charset="0"/>
              </a:rPr>
              <a:t>="C:\Users\ygovi\Videos\mov_bbb.mp4"</a:t>
            </a:r>
            <a:r>
              <a:rPr lang="en-IN" b="0" i="0" dirty="0">
                <a:solidFill>
                  <a:srgbClr val="FF0000"/>
                </a:solidFill>
                <a:effectLst/>
                <a:latin typeface="Consolas" panose="020B0609020204030204" pitchFamily="49" charset="0"/>
              </a:rPr>
              <a:t>    </a:t>
            </a:r>
          </a:p>
          <a:p>
            <a:pPr marL="0" indent="0">
              <a:buNone/>
            </a:pPr>
            <a:r>
              <a:rPr lang="en-IN" dirty="0">
                <a:solidFill>
                  <a:srgbClr val="FF0000"/>
                </a:solidFill>
                <a:latin typeface="Consolas" panose="020B0609020204030204" pitchFamily="49" charset="0"/>
              </a:rPr>
              <a:t>  </a:t>
            </a:r>
            <a:r>
              <a:rPr lang="en-IN" b="0" i="0" dirty="0">
                <a:solidFill>
                  <a:srgbClr val="FF0000"/>
                </a:solidFill>
                <a:effectLst/>
                <a:latin typeface="Consolas" panose="020B0609020204030204" pitchFamily="49" charset="0"/>
              </a:rPr>
              <a:t>type</a:t>
            </a:r>
            <a:r>
              <a:rPr lang="en-IN" b="0" i="0" dirty="0">
                <a:solidFill>
                  <a:srgbClr val="0000CD"/>
                </a:solidFill>
                <a:effectLst/>
                <a:latin typeface="Consolas" panose="020B0609020204030204" pitchFamily="49" charset="0"/>
              </a:rPr>
              <a:t>="video/mp4"&gt;</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source</a:t>
            </a:r>
            <a:r>
              <a:rPr lang="en-IN" b="0" i="0" dirty="0">
                <a:solidFill>
                  <a:srgbClr val="FF0000"/>
                </a:solidFill>
                <a:effectLst/>
                <a:latin typeface="Consolas" panose="020B0609020204030204" pitchFamily="49" charset="0"/>
              </a:rPr>
              <a:t> </a:t>
            </a:r>
            <a:r>
              <a:rPr lang="en-IN" b="0" i="0" dirty="0" err="1">
                <a:solidFill>
                  <a:srgbClr val="FF0000"/>
                </a:solidFill>
                <a:effectLst/>
                <a:latin typeface="Consolas" panose="020B0609020204030204" pitchFamily="49" charset="0"/>
              </a:rPr>
              <a:t>src</a:t>
            </a:r>
            <a:r>
              <a:rPr lang="en-IN" b="0" i="0" dirty="0">
                <a:solidFill>
                  <a:srgbClr val="0000CD"/>
                </a:solidFill>
                <a:effectLst/>
                <a:latin typeface="Consolas" panose="020B0609020204030204" pitchFamily="49" charset="0"/>
              </a:rPr>
              <a:t>="movie.ogg"</a:t>
            </a:r>
            <a:r>
              <a:rPr lang="en-IN" b="0" i="0" dirty="0">
                <a:solidFill>
                  <a:srgbClr val="FF0000"/>
                </a:solidFill>
                <a:effectLst/>
                <a:latin typeface="Consolas" panose="020B0609020204030204" pitchFamily="49" charset="0"/>
              </a:rPr>
              <a:t> type</a:t>
            </a:r>
            <a:r>
              <a:rPr lang="en-IN" b="0" i="0" dirty="0">
                <a:solidFill>
                  <a:srgbClr val="0000CD"/>
                </a:solidFill>
                <a:effectLst/>
                <a:latin typeface="Consolas" panose="020B0609020204030204" pitchFamily="49" charset="0"/>
              </a:rPr>
              <a:t>="video/</a:t>
            </a:r>
            <a:r>
              <a:rPr lang="en-IN" b="0" i="0" dirty="0" err="1">
                <a:solidFill>
                  <a:srgbClr val="0000CD"/>
                </a:solidFill>
                <a:effectLst/>
                <a:latin typeface="Consolas" panose="020B0609020204030204" pitchFamily="49" charset="0"/>
              </a:rPr>
              <a:t>ogg</a:t>
            </a:r>
            <a:r>
              <a:rPr lang="en-IN" b="0" i="0" dirty="0">
                <a:solidFill>
                  <a:srgbClr val="0000CD"/>
                </a:solidFill>
                <a:effectLst/>
                <a:latin typeface="Consolas" panose="020B0609020204030204" pitchFamily="49" charset="0"/>
              </a:rPr>
              <a:t>"&gt;</a:t>
            </a:r>
            <a:br>
              <a:rPr lang="en-IN" dirty="0"/>
            </a:br>
            <a:r>
              <a:rPr lang="en-IN" dirty="0"/>
              <a:t>     </a:t>
            </a:r>
            <a:r>
              <a:rPr lang="en-IN" b="0" i="0" dirty="0">
                <a:solidFill>
                  <a:srgbClr val="000000"/>
                </a:solidFill>
                <a:effectLst/>
                <a:latin typeface="Consolas" panose="020B0609020204030204" pitchFamily="49" charset="0"/>
              </a:rPr>
              <a:t>Your browser does not support the video tag.</a:t>
            </a:r>
            <a:br>
              <a:rPr lang="en-IN" dirty="0"/>
            </a:b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/video</a:t>
            </a:r>
            <a:r>
              <a:rPr lang="en-IN" b="0" i="0" dirty="0">
                <a:solidFill>
                  <a:srgbClr val="0000CD"/>
                </a:solidFill>
                <a:effectLst/>
                <a:latin typeface="Consolas" panose="020B0609020204030204" pitchFamily="49" charset="0"/>
              </a:rPr>
              <a:t>&gt;</a:t>
            </a:r>
          </a:p>
          <a:p>
            <a:pPr marL="0" indent="0">
              <a:buNone/>
            </a:pPr>
            <a:endParaRPr lang="en-GH" dirty="0"/>
          </a:p>
        </p:txBody>
      </p:sp>
    </p:spTree>
    <p:extLst>
      <p:ext uri="{BB962C8B-B14F-4D97-AF65-F5344CB8AC3E}">
        <p14:creationId xmlns:p14="http://schemas.microsoft.com/office/powerpoint/2010/main" val="2466651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E023-0FF6-98E3-1B23-1B8EBFF6ED2C}"/>
              </a:ext>
            </a:extLst>
          </p:cNvPr>
          <p:cNvSpPr>
            <a:spLocks noGrp="1"/>
          </p:cNvSpPr>
          <p:nvPr>
            <p:ph type="title"/>
          </p:nvPr>
        </p:nvSpPr>
        <p:spPr/>
        <p:txBody>
          <a:bodyPr/>
          <a:lstStyle/>
          <a:p>
            <a:r>
              <a:rPr lang="en-IN" dirty="0"/>
              <a:t>HTML Videos: Note on the Example</a:t>
            </a:r>
            <a:endParaRPr lang="en-GH" dirty="0"/>
          </a:p>
        </p:txBody>
      </p:sp>
      <p:sp>
        <p:nvSpPr>
          <p:cNvPr id="3" name="Content Placeholder 2">
            <a:extLst>
              <a:ext uri="{FF2B5EF4-FFF2-40B4-BE49-F238E27FC236}">
                <a16:creationId xmlns:a16="http://schemas.microsoft.com/office/drawing/2014/main" id="{76435F92-7C5C-BEDC-D875-E68A89DB3427}"/>
              </a:ext>
            </a:extLst>
          </p:cNvPr>
          <p:cNvSpPr>
            <a:spLocks noGrp="1"/>
          </p:cNvSpPr>
          <p:nvPr>
            <p:ph idx="1"/>
          </p:nvPr>
        </p:nvSpPr>
        <p:spPr/>
        <p:txBody>
          <a:bodyPr/>
          <a:lstStyle/>
          <a:p>
            <a:r>
              <a:rPr lang="en-US" dirty="0"/>
              <a:t>The </a:t>
            </a:r>
            <a:r>
              <a:rPr lang="en-US" b="1" dirty="0">
                <a:solidFill>
                  <a:srgbClr val="C00000"/>
                </a:solidFill>
              </a:rPr>
              <a:t>controls</a:t>
            </a:r>
            <a:r>
              <a:rPr lang="en-US" dirty="0"/>
              <a:t> attribute adds video controls, like play, pause, and volume.</a:t>
            </a:r>
          </a:p>
          <a:p>
            <a:r>
              <a:rPr lang="en-US" dirty="0"/>
              <a:t>To start a video automatically, use the </a:t>
            </a:r>
            <a:r>
              <a:rPr lang="en-US" b="1" dirty="0">
                <a:solidFill>
                  <a:srgbClr val="C00000"/>
                </a:solidFill>
              </a:rPr>
              <a:t>autoplay</a:t>
            </a:r>
            <a:r>
              <a:rPr lang="en-US" dirty="0"/>
              <a:t> attribute:</a:t>
            </a:r>
          </a:p>
          <a:p>
            <a:r>
              <a:rPr lang="en-US" dirty="0"/>
              <a:t>It is a good idea to always include </a:t>
            </a:r>
            <a:r>
              <a:rPr lang="en-US" dirty="0">
                <a:solidFill>
                  <a:srgbClr val="C00000"/>
                </a:solidFill>
              </a:rPr>
              <a:t>width</a:t>
            </a:r>
            <a:r>
              <a:rPr lang="en-US" dirty="0"/>
              <a:t> and </a:t>
            </a:r>
            <a:r>
              <a:rPr lang="en-US" dirty="0">
                <a:solidFill>
                  <a:srgbClr val="C00000"/>
                </a:solidFill>
              </a:rPr>
              <a:t>height</a:t>
            </a:r>
            <a:r>
              <a:rPr lang="en-US" dirty="0"/>
              <a:t> attributes. If height and width are not set, the page might flicker while the video loads.</a:t>
            </a:r>
          </a:p>
          <a:p>
            <a:r>
              <a:rPr lang="en-US" dirty="0"/>
              <a:t>The </a:t>
            </a:r>
            <a:r>
              <a:rPr lang="en-US" b="1" dirty="0">
                <a:solidFill>
                  <a:srgbClr val="C00000"/>
                </a:solidFill>
              </a:rPr>
              <a:t>&lt;source&gt; </a:t>
            </a:r>
            <a:r>
              <a:rPr lang="en-US" dirty="0"/>
              <a:t>element allows you to specify alternative video files which the browser may choose from. The browser will use the first recognized format.</a:t>
            </a:r>
          </a:p>
          <a:p>
            <a:r>
              <a:rPr lang="en-US" dirty="0"/>
              <a:t>The text between the </a:t>
            </a:r>
            <a:r>
              <a:rPr lang="en-US" b="1" dirty="0">
                <a:solidFill>
                  <a:srgbClr val="C00000"/>
                </a:solidFill>
              </a:rPr>
              <a:t>&lt;video&gt; </a:t>
            </a:r>
            <a:r>
              <a:rPr lang="en-US" dirty="0"/>
              <a:t>and </a:t>
            </a:r>
            <a:r>
              <a:rPr lang="en-US" b="1" dirty="0">
                <a:solidFill>
                  <a:srgbClr val="C00000"/>
                </a:solidFill>
              </a:rPr>
              <a:t>&lt;/video&gt; </a:t>
            </a:r>
            <a:r>
              <a:rPr lang="en-US" dirty="0"/>
              <a:t>tags will only be displayed in browsers that do not support the </a:t>
            </a:r>
            <a:r>
              <a:rPr lang="en-US" b="1" dirty="0">
                <a:solidFill>
                  <a:srgbClr val="C00000"/>
                </a:solidFill>
              </a:rPr>
              <a:t>&lt;video&gt; </a:t>
            </a:r>
            <a:r>
              <a:rPr lang="en-US" dirty="0"/>
              <a:t>element.</a:t>
            </a:r>
          </a:p>
          <a:p>
            <a:endParaRPr lang="en-GH" dirty="0"/>
          </a:p>
        </p:txBody>
      </p:sp>
    </p:spTree>
    <p:extLst>
      <p:ext uri="{BB962C8B-B14F-4D97-AF65-F5344CB8AC3E}">
        <p14:creationId xmlns:p14="http://schemas.microsoft.com/office/powerpoint/2010/main" val="2047259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E023-0FF6-98E3-1B23-1B8EBFF6ED2C}"/>
              </a:ext>
            </a:extLst>
          </p:cNvPr>
          <p:cNvSpPr>
            <a:spLocks noGrp="1"/>
          </p:cNvSpPr>
          <p:nvPr>
            <p:ph type="title"/>
          </p:nvPr>
        </p:nvSpPr>
        <p:spPr/>
        <p:txBody>
          <a:bodyPr/>
          <a:lstStyle/>
          <a:p>
            <a:r>
              <a:rPr lang="en-IN" dirty="0"/>
              <a:t>HTML Videos: Note on the Example</a:t>
            </a:r>
            <a:endParaRPr lang="en-GH" dirty="0"/>
          </a:p>
        </p:txBody>
      </p:sp>
      <p:sp>
        <p:nvSpPr>
          <p:cNvPr id="3" name="Content Placeholder 2">
            <a:extLst>
              <a:ext uri="{FF2B5EF4-FFF2-40B4-BE49-F238E27FC236}">
                <a16:creationId xmlns:a16="http://schemas.microsoft.com/office/drawing/2014/main" id="{76435F92-7C5C-BEDC-D875-E68A89DB3427}"/>
              </a:ext>
            </a:extLst>
          </p:cNvPr>
          <p:cNvSpPr>
            <a:spLocks noGrp="1"/>
          </p:cNvSpPr>
          <p:nvPr>
            <p:ph idx="1"/>
          </p:nvPr>
        </p:nvSpPr>
        <p:spPr/>
        <p:txBody>
          <a:bodyPr/>
          <a:lstStyle/>
          <a:p>
            <a:r>
              <a:rPr lang="en-US" dirty="0"/>
              <a:t>Chromium browsers do not allow autoplay in most cases. </a:t>
            </a:r>
          </a:p>
          <a:p>
            <a:r>
              <a:rPr lang="en-US" dirty="0"/>
              <a:t>However, muted autoplay is always allowed.</a:t>
            </a:r>
          </a:p>
          <a:p>
            <a:pPr marL="0" indent="0">
              <a:buNone/>
            </a:pPr>
            <a:endParaRPr lang="en-US" dirty="0"/>
          </a:p>
          <a:p>
            <a:r>
              <a:rPr lang="en-US" dirty="0"/>
              <a:t>Example:</a:t>
            </a:r>
          </a:p>
          <a:p>
            <a:pPr marL="0" indent="0">
              <a:buNone/>
            </a:pP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video</a:t>
            </a:r>
            <a:r>
              <a:rPr lang="en-IN" b="0" i="0" dirty="0">
                <a:solidFill>
                  <a:srgbClr val="FF0000"/>
                </a:solidFill>
                <a:effectLst/>
                <a:latin typeface="Consolas" panose="020B0609020204030204" pitchFamily="49" charset="0"/>
              </a:rPr>
              <a:t> width</a:t>
            </a:r>
            <a:r>
              <a:rPr lang="en-IN" b="0" i="0" dirty="0">
                <a:solidFill>
                  <a:srgbClr val="0000CD"/>
                </a:solidFill>
                <a:effectLst/>
                <a:latin typeface="Consolas" panose="020B0609020204030204" pitchFamily="49" charset="0"/>
              </a:rPr>
              <a:t>="320"</a:t>
            </a:r>
            <a:r>
              <a:rPr lang="en-IN" b="0" i="0" dirty="0">
                <a:solidFill>
                  <a:srgbClr val="FF0000"/>
                </a:solidFill>
                <a:effectLst/>
                <a:latin typeface="Consolas" panose="020B0609020204030204" pitchFamily="49" charset="0"/>
              </a:rPr>
              <a:t> height</a:t>
            </a:r>
            <a:r>
              <a:rPr lang="en-IN" b="0" i="0" dirty="0">
                <a:solidFill>
                  <a:srgbClr val="0000CD"/>
                </a:solidFill>
                <a:effectLst/>
                <a:latin typeface="Consolas" panose="020B0609020204030204" pitchFamily="49" charset="0"/>
              </a:rPr>
              <a:t>="240"</a:t>
            </a:r>
            <a:r>
              <a:rPr lang="en-IN" b="0" i="0" dirty="0">
                <a:solidFill>
                  <a:srgbClr val="FF0000"/>
                </a:solidFill>
                <a:effectLst/>
                <a:latin typeface="Consolas" panose="020B0609020204030204" pitchFamily="49" charset="0"/>
              </a:rPr>
              <a:t> autoplay muted</a:t>
            </a:r>
            <a:r>
              <a:rPr lang="en-IN" b="0" i="0" dirty="0">
                <a:solidFill>
                  <a:srgbClr val="0000CD"/>
                </a:solidFill>
                <a:effectLst/>
                <a:latin typeface="Consolas" panose="020B0609020204030204" pitchFamily="49" charset="0"/>
              </a:rPr>
              <a:t>&gt;</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source</a:t>
            </a:r>
            <a:r>
              <a:rPr lang="en-IN" b="0" i="0" dirty="0">
                <a:solidFill>
                  <a:srgbClr val="FF0000"/>
                </a:solidFill>
                <a:effectLst/>
                <a:latin typeface="Consolas" panose="020B0609020204030204" pitchFamily="49" charset="0"/>
              </a:rPr>
              <a:t> </a:t>
            </a:r>
            <a:r>
              <a:rPr lang="en-IN" b="0" i="0" dirty="0" err="1">
                <a:solidFill>
                  <a:srgbClr val="FF0000"/>
                </a:solidFill>
                <a:effectLst/>
                <a:latin typeface="Consolas" panose="020B0609020204030204" pitchFamily="49" charset="0"/>
              </a:rPr>
              <a:t>src</a:t>
            </a:r>
            <a:r>
              <a:rPr lang="en-IN" b="0" i="0" dirty="0">
                <a:solidFill>
                  <a:srgbClr val="0000CD"/>
                </a:solidFill>
                <a:effectLst/>
                <a:latin typeface="Consolas" panose="020B0609020204030204" pitchFamily="49" charset="0"/>
              </a:rPr>
              <a:t>="C:\Users\ygovi\Videos\mov_bbb.mp4"</a:t>
            </a:r>
            <a:r>
              <a:rPr lang="en-IN" b="0" i="0" dirty="0">
                <a:solidFill>
                  <a:srgbClr val="FF0000"/>
                </a:solidFill>
                <a:effectLst/>
                <a:latin typeface="Consolas" panose="020B0609020204030204" pitchFamily="49" charset="0"/>
              </a:rPr>
              <a:t>    </a:t>
            </a:r>
          </a:p>
          <a:p>
            <a:pPr marL="0" indent="0">
              <a:buNone/>
            </a:pPr>
            <a:r>
              <a:rPr lang="en-IN" dirty="0">
                <a:solidFill>
                  <a:srgbClr val="FF0000"/>
                </a:solidFill>
                <a:latin typeface="Consolas" panose="020B0609020204030204" pitchFamily="49" charset="0"/>
              </a:rPr>
              <a:t>  </a:t>
            </a:r>
            <a:r>
              <a:rPr lang="en-IN" b="0" i="0" dirty="0">
                <a:solidFill>
                  <a:srgbClr val="FF0000"/>
                </a:solidFill>
                <a:effectLst/>
                <a:latin typeface="Consolas" panose="020B0609020204030204" pitchFamily="49" charset="0"/>
              </a:rPr>
              <a:t>type</a:t>
            </a:r>
            <a:r>
              <a:rPr lang="en-IN" b="0" i="0" dirty="0">
                <a:solidFill>
                  <a:srgbClr val="0000CD"/>
                </a:solidFill>
                <a:effectLst/>
                <a:latin typeface="Consolas" panose="020B0609020204030204" pitchFamily="49" charset="0"/>
              </a:rPr>
              <a:t>="video/mp4"&gt;</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source</a:t>
            </a:r>
            <a:r>
              <a:rPr lang="en-IN" b="0" i="0" dirty="0">
                <a:solidFill>
                  <a:srgbClr val="FF0000"/>
                </a:solidFill>
                <a:effectLst/>
                <a:latin typeface="Consolas" panose="020B0609020204030204" pitchFamily="49" charset="0"/>
              </a:rPr>
              <a:t> </a:t>
            </a:r>
            <a:r>
              <a:rPr lang="en-IN" b="0" i="0" dirty="0" err="1">
                <a:solidFill>
                  <a:srgbClr val="FF0000"/>
                </a:solidFill>
                <a:effectLst/>
                <a:latin typeface="Consolas" panose="020B0609020204030204" pitchFamily="49" charset="0"/>
              </a:rPr>
              <a:t>src</a:t>
            </a:r>
            <a:r>
              <a:rPr lang="en-IN" b="0" i="0" dirty="0">
                <a:solidFill>
                  <a:srgbClr val="0000CD"/>
                </a:solidFill>
                <a:effectLst/>
                <a:latin typeface="Consolas" panose="020B0609020204030204" pitchFamily="49" charset="0"/>
              </a:rPr>
              <a:t>="movie.ogg"</a:t>
            </a:r>
            <a:r>
              <a:rPr lang="en-IN" b="0" i="0" dirty="0">
                <a:solidFill>
                  <a:srgbClr val="FF0000"/>
                </a:solidFill>
                <a:effectLst/>
                <a:latin typeface="Consolas" panose="020B0609020204030204" pitchFamily="49" charset="0"/>
              </a:rPr>
              <a:t> type</a:t>
            </a:r>
            <a:r>
              <a:rPr lang="en-IN" b="0" i="0" dirty="0">
                <a:solidFill>
                  <a:srgbClr val="0000CD"/>
                </a:solidFill>
                <a:effectLst/>
                <a:latin typeface="Consolas" panose="020B0609020204030204" pitchFamily="49" charset="0"/>
              </a:rPr>
              <a:t>="video/</a:t>
            </a:r>
            <a:r>
              <a:rPr lang="en-IN" b="0" i="0" dirty="0" err="1">
                <a:solidFill>
                  <a:srgbClr val="0000CD"/>
                </a:solidFill>
                <a:effectLst/>
                <a:latin typeface="Consolas" panose="020B0609020204030204" pitchFamily="49" charset="0"/>
              </a:rPr>
              <a:t>ogg</a:t>
            </a:r>
            <a:r>
              <a:rPr lang="en-IN" b="0" i="0" dirty="0">
                <a:solidFill>
                  <a:srgbClr val="0000CD"/>
                </a:solidFill>
                <a:effectLst/>
                <a:latin typeface="Consolas" panose="020B0609020204030204" pitchFamily="49" charset="0"/>
              </a:rPr>
              <a:t>"&gt;</a:t>
            </a:r>
            <a:br>
              <a:rPr lang="en-IN" dirty="0"/>
            </a:br>
            <a:r>
              <a:rPr lang="en-IN" dirty="0"/>
              <a:t>     </a:t>
            </a:r>
            <a:r>
              <a:rPr lang="en-IN" b="0" i="0" dirty="0">
                <a:solidFill>
                  <a:srgbClr val="000000"/>
                </a:solidFill>
                <a:effectLst/>
                <a:latin typeface="Consolas" panose="020B0609020204030204" pitchFamily="49" charset="0"/>
              </a:rPr>
              <a:t>Your browser does not support the video tag.</a:t>
            </a:r>
            <a:br>
              <a:rPr lang="en-IN" dirty="0"/>
            </a:b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/video</a:t>
            </a:r>
            <a:r>
              <a:rPr lang="en-IN" b="0" i="0" dirty="0">
                <a:solidFill>
                  <a:srgbClr val="0000CD"/>
                </a:solidFill>
                <a:effectLst/>
                <a:latin typeface="Consolas" panose="020B0609020204030204" pitchFamily="49" charset="0"/>
              </a:rPr>
              <a:t>&gt;</a:t>
            </a:r>
            <a:endParaRPr lang="en-US" dirty="0"/>
          </a:p>
          <a:p>
            <a:endParaRPr lang="en-GH" dirty="0"/>
          </a:p>
        </p:txBody>
      </p:sp>
    </p:spTree>
    <p:extLst>
      <p:ext uri="{BB962C8B-B14F-4D97-AF65-F5344CB8AC3E}">
        <p14:creationId xmlns:p14="http://schemas.microsoft.com/office/powerpoint/2010/main" val="937133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7573A-60B2-5E93-161D-8B1D2EAF4BE2}"/>
              </a:ext>
            </a:extLst>
          </p:cNvPr>
          <p:cNvSpPr>
            <a:spLocks noGrp="1"/>
          </p:cNvSpPr>
          <p:nvPr>
            <p:ph type="title"/>
          </p:nvPr>
        </p:nvSpPr>
        <p:spPr/>
        <p:txBody>
          <a:bodyPr/>
          <a:lstStyle/>
          <a:p>
            <a:r>
              <a:rPr lang="en-IN" dirty="0"/>
              <a:t>HTML Comments</a:t>
            </a:r>
            <a:endParaRPr lang="en-GH" dirty="0"/>
          </a:p>
        </p:txBody>
      </p:sp>
      <p:sp>
        <p:nvSpPr>
          <p:cNvPr id="3" name="Content Placeholder 2">
            <a:extLst>
              <a:ext uri="{FF2B5EF4-FFF2-40B4-BE49-F238E27FC236}">
                <a16:creationId xmlns:a16="http://schemas.microsoft.com/office/drawing/2014/main" id="{BE7AD418-0AF0-856D-AA3E-A7A7E969A2A3}"/>
              </a:ext>
            </a:extLst>
          </p:cNvPr>
          <p:cNvSpPr>
            <a:spLocks noGrp="1"/>
          </p:cNvSpPr>
          <p:nvPr>
            <p:ph idx="1"/>
          </p:nvPr>
        </p:nvSpPr>
        <p:spPr/>
        <p:txBody>
          <a:bodyPr/>
          <a:lstStyle/>
          <a:p>
            <a:r>
              <a:rPr lang="en-US" dirty="0"/>
              <a:t>Comments in HTML are written between </a:t>
            </a:r>
            <a:r>
              <a:rPr lang="en-US" b="1" dirty="0">
                <a:solidFill>
                  <a:srgbClr val="00B050"/>
                </a:solidFill>
              </a:rPr>
              <a:t>&lt;!--</a:t>
            </a:r>
            <a:r>
              <a:rPr lang="en-US" dirty="0"/>
              <a:t> and </a:t>
            </a:r>
            <a:r>
              <a:rPr lang="en-US" b="1" dirty="0">
                <a:solidFill>
                  <a:srgbClr val="00B050"/>
                </a:solidFill>
              </a:rPr>
              <a:t>--&gt;</a:t>
            </a:r>
            <a:r>
              <a:rPr lang="en-US" dirty="0"/>
              <a:t>.</a:t>
            </a:r>
          </a:p>
          <a:p>
            <a:r>
              <a:rPr lang="en-US" dirty="0"/>
              <a:t>Anything inside this tag will be ignored by the browser.</a:t>
            </a:r>
          </a:p>
          <a:p>
            <a:endParaRPr lang="en-US" dirty="0"/>
          </a:p>
          <a:p>
            <a:r>
              <a:rPr lang="en-US" dirty="0"/>
              <a:t>Example:</a:t>
            </a:r>
          </a:p>
          <a:p>
            <a:pPr marL="0" indent="0">
              <a:buNone/>
            </a:pPr>
            <a:r>
              <a:rPr lang="en-US" dirty="0">
                <a:solidFill>
                  <a:srgbClr val="00B050"/>
                </a:solidFill>
              </a:rPr>
              <a:t>&lt;!-- </a:t>
            </a:r>
            <a:r>
              <a:rPr lang="en-US" dirty="0">
                <a:solidFill>
                  <a:srgbClr val="C00000"/>
                </a:solidFill>
              </a:rPr>
              <a:t>&lt;p&gt;</a:t>
            </a:r>
            <a:r>
              <a:rPr lang="en-US" dirty="0"/>
              <a:t> This paragraph is temporarily disabled and will not appear on the page. </a:t>
            </a:r>
            <a:r>
              <a:rPr lang="en-US" dirty="0">
                <a:solidFill>
                  <a:srgbClr val="C00000"/>
                </a:solidFill>
              </a:rPr>
              <a:t>&lt;/p&gt;</a:t>
            </a:r>
            <a:r>
              <a:rPr lang="en-US" dirty="0"/>
              <a:t> </a:t>
            </a:r>
            <a:r>
              <a:rPr lang="en-US" dirty="0">
                <a:solidFill>
                  <a:srgbClr val="00B050"/>
                </a:solidFill>
              </a:rPr>
              <a:t>--&gt;</a:t>
            </a:r>
          </a:p>
          <a:p>
            <a:pPr marL="0" indent="0">
              <a:buNone/>
            </a:pPr>
            <a:endParaRPr lang="en-GH" dirty="0"/>
          </a:p>
        </p:txBody>
      </p:sp>
    </p:spTree>
    <p:extLst>
      <p:ext uri="{BB962C8B-B14F-4D97-AF65-F5344CB8AC3E}">
        <p14:creationId xmlns:p14="http://schemas.microsoft.com/office/powerpoint/2010/main" val="791737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9316-993C-7B43-C188-0F3A2197A6C2}"/>
              </a:ext>
            </a:extLst>
          </p:cNvPr>
          <p:cNvSpPr>
            <a:spLocks noGrp="1"/>
          </p:cNvSpPr>
          <p:nvPr>
            <p:ph type="title"/>
          </p:nvPr>
        </p:nvSpPr>
        <p:spPr/>
        <p:txBody>
          <a:bodyPr/>
          <a:lstStyle/>
          <a:p>
            <a:r>
              <a:rPr lang="en-IN" dirty="0"/>
              <a:t>Nested HTML Elements</a:t>
            </a:r>
            <a:endParaRPr lang="en-GH" dirty="0"/>
          </a:p>
        </p:txBody>
      </p:sp>
      <p:sp>
        <p:nvSpPr>
          <p:cNvPr id="3" name="Content Placeholder 2">
            <a:extLst>
              <a:ext uri="{FF2B5EF4-FFF2-40B4-BE49-F238E27FC236}">
                <a16:creationId xmlns:a16="http://schemas.microsoft.com/office/drawing/2014/main" id="{EC364710-B0C9-A16B-68D8-4E53A43510C2}"/>
              </a:ext>
            </a:extLst>
          </p:cNvPr>
          <p:cNvSpPr>
            <a:spLocks noGrp="1"/>
          </p:cNvSpPr>
          <p:nvPr>
            <p:ph idx="1"/>
          </p:nvPr>
        </p:nvSpPr>
        <p:spPr/>
        <p:txBody>
          <a:bodyPr/>
          <a:lstStyle/>
          <a:p>
            <a:r>
              <a:rPr lang="en-US" dirty="0"/>
              <a:t>HTML elements can be nested (this means that elements can contain other elements).</a:t>
            </a:r>
          </a:p>
          <a:p>
            <a:r>
              <a:rPr lang="en-US" dirty="0"/>
              <a:t>All HTML documents consist of nested HTML elements.</a:t>
            </a:r>
          </a:p>
          <a:p>
            <a:r>
              <a:rPr lang="en-US" b="1" dirty="0">
                <a:solidFill>
                  <a:srgbClr val="0070C0"/>
                </a:solidFill>
              </a:rPr>
              <a:t>Example</a:t>
            </a:r>
            <a:r>
              <a:rPr lang="en-US" dirty="0"/>
              <a:t>:   contains &lt;html&gt;, &lt;body&gt;, &lt;h1&gt; and &lt;p&gt;</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My First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My first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4198572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74AB-6FA4-3099-B25B-6F989F11203A}"/>
              </a:ext>
            </a:extLst>
          </p:cNvPr>
          <p:cNvSpPr>
            <a:spLocks noGrp="1"/>
          </p:cNvSpPr>
          <p:nvPr>
            <p:ph type="title"/>
          </p:nvPr>
        </p:nvSpPr>
        <p:spPr/>
        <p:txBody>
          <a:bodyPr/>
          <a:lstStyle/>
          <a:p>
            <a:r>
              <a:rPr lang="en-US" dirty="0"/>
              <a:t>HTML is Not Case Sensitive</a:t>
            </a:r>
            <a:endParaRPr lang="en-GH" dirty="0"/>
          </a:p>
        </p:txBody>
      </p:sp>
      <p:sp>
        <p:nvSpPr>
          <p:cNvPr id="3" name="Content Placeholder 2">
            <a:extLst>
              <a:ext uri="{FF2B5EF4-FFF2-40B4-BE49-F238E27FC236}">
                <a16:creationId xmlns:a16="http://schemas.microsoft.com/office/drawing/2014/main" id="{275CBF49-8FF8-69EB-0A76-455AB449B8D8}"/>
              </a:ext>
            </a:extLst>
          </p:cNvPr>
          <p:cNvSpPr>
            <a:spLocks noGrp="1"/>
          </p:cNvSpPr>
          <p:nvPr>
            <p:ph idx="1"/>
          </p:nvPr>
        </p:nvSpPr>
        <p:spPr/>
        <p:txBody>
          <a:bodyPr/>
          <a:lstStyle/>
          <a:p>
            <a:r>
              <a:rPr lang="en-US" dirty="0"/>
              <a:t>HTML tags are not case sensitive: </a:t>
            </a:r>
            <a:r>
              <a:rPr lang="en-US" b="1" dirty="0">
                <a:solidFill>
                  <a:srgbClr val="C00000"/>
                </a:solidFill>
              </a:rPr>
              <a:t>&lt;P&gt;</a:t>
            </a:r>
            <a:r>
              <a:rPr lang="en-US" dirty="0"/>
              <a:t> means the same as </a:t>
            </a:r>
            <a:r>
              <a:rPr lang="en-US" b="1" dirty="0">
                <a:solidFill>
                  <a:srgbClr val="C00000"/>
                </a:solidFill>
              </a:rPr>
              <a:t>&lt;p&gt;</a:t>
            </a:r>
            <a:r>
              <a:rPr lang="en-US" dirty="0"/>
              <a:t>.</a:t>
            </a:r>
          </a:p>
          <a:p>
            <a:endParaRPr lang="en-US" dirty="0"/>
          </a:p>
          <a:p>
            <a:r>
              <a:rPr lang="en-US" dirty="0"/>
              <a:t>The HTML standard does not require lowercase tags but is a recommended practice.</a:t>
            </a:r>
          </a:p>
          <a:p>
            <a:endParaRPr lang="en-US" dirty="0"/>
          </a:p>
          <a:p>
            <a:r>
              <a:rPr lang="en-US" b="1" dirty="0">
                <a:solidFill>
                  <a:srgbClr val="0070C0"/>
                </a:solidFill>
              </a:rPr>
              <a:t>NOTE</a:t>
            </a:r>
            <a:r>
              <a:rPr lang="en-US" dirty="0"/>
              <a:t>:</a:t>
            </a:r>
          </a:p>
          <a:p>
            <a:r>
              <a:rPr lang="en-US" dirty="0"/>
              <a:t>Some HTML elements will display correctly, even if you forget the end tag. However, never rely on this! Unexpected results and errors may occur if you forget the end tag!</a:t>
            </a:r>
            <a:endParaRPr lang="en-GH" dirty="0"/>
          </a:p>
        </p:txBody>
      </p:sp>
    </p:spTree>
    <p:extLst>
      <p:ext uri="{BB962C8B-B14F-4D97-AF65-F5344CB8AC3E}">
        <p14:creationId xmlns:p14="http://schemas.microsoft.com/office/powerpoint/2010/main" val="1377693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590D-8DD1-641A-2E9A-4C4754FF0083}"/>
              </a:ext>
            </a:extLst>
          </p:cNvPr>
          <p:cNvSpPr>
            <a:spLocks noGrp="1"/>
          </p:cNvSpPr>
          <p:nvPr>
            <p:ph type="title"/>
          </p:nvPr>
        </p:nvSpPr>
        <p:spPr/>
        <p:txBody>
          <a:bodyPr/>
          <a:lstStyle/>
          <a:p>
            <a:r>
              <a:rPr lang="en-IN" dirty="0"/>
              <a:t>HTML Attributes</a:t>
            </a:r>
            <a:endParaRPr lang="en-GH" dirty="0"/>
          </a:p>
        </p:txBody>
      </p:sp>
      <p:sp>
        <p:nvSpPr>
          <p:cNvPr id="3" name="Content Placeholder 2">
            <a:extLst>
              <a:ext uri="{FF2B5EF4-FFF2-40B4-BE49-F238E27FC236}">
                <a16:creationId xmlns:a16="http://schemas.microsoft.com/office/drawing/2014/main" id="{F3025318-CAA9-4389-822E-4CC2D856BE64}"/>
              </a:ext>
            </a:extLst>
          </p:cNvPr>
          <p:cNvSpPr>
            <a:spLocks noGrp="1"/>
          </p:cNvSpPr>
          <p:nvPr>
            <p:ph idx="1"/>
          </p:nvPr>
        </p:nvSpPr>
        <p:spPr/>
        <p:txBody>
          <a:bodyPr/>
          <a:lstStyle/>
          <a:p>
            <a:r>
              <a:rPr lang="en-US" dirty="0"/>
              <a:t>All HTML elements can have attributes</a:t>
            </a:r>
          </a:p>
          <a:p>
            <a:r>
              <a:rPr lang="en-US" dirty="0"/>
              <a:t>Attributes provide additional information about elements</a:t>
            </a:r>
          </a:p>
          <a:p>
            <a:r>
              <a:rPr lang="en-US" dirty="0"/>
              <a:t>Attributes are </a:t>
            </a:r>
            <a:r>
              <a:rPr lang="en-US" dirty="0">
                <a:solidFill>
                  <a:srgbClr val="0070C0"/>
                </a:solidFill>
              </a:rPr>
              <a:t>always specified in the start tag</a:t>
            </a:r>
          </a:p>
          <a:p>
            <a:r>
              <a:rPr lang="en-US" dirty="0"/>
              <a:t>Attributes usually come in name/value pairs like; </a:t>
            </a:r>
            <a:r>
              <a:rPr lang="en-US" b="1" dirty="0">
                <a:solidFill>
                  <a:srgbClr val="C00000"/>
                </a:solidFill>
              </a:rPr>
              <a:t>name</a:t>
            </a:r>
            <a:r>
              <a:rPr lang="en-US" b="1" dirty="0"/>
              <a:t>=</a:t>
            </a:r>
            <a:r>
              <a:rPr lang="en-US" b="1" dirty="0">
                <a:solidFill>
                  <a:srgbClr val="002060"/>
                </a:solidFill>
              </a:rPr>
              <a:t>"value"</a:t>
            </a:r>
            <a:endParaRPr lang="en-GH" b="1" dirty="0">
              <a:solidFill>
                <a:srgbClr val="002060"/>
              </a:solidFill>
            </a:endParaRPr>
          </a:p>
        </p:txBody>
      </p:sp>
    </p:spTree>
    <p:extLst>
      <p:ext uri="{BB962C8B-B14F-4D97-AF65-F5344CB8AC3E}">
        <p14:creationId xmlns:p14="http://schemas.microsoft.com/office/powerpoint/2010/main" val="24637204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590D-8DD1-641A-2E9A-4C4754FF0083}"/>
              </a:ext>
            </a:extLst>
          </p:cNvPr>
          <p:cNvSpPr>
            <a:spLocks noGrp="1"/>
          </p:cNvSpPr>
          <p:nvPr>
            <p:ph type="title"/>
          </p:nvPr>
        </p:nvSpPr>
        <p:spPr/>
        <p:txBody>
          <a:bodyPr/>
          <a:lstStyle/>
          <a:p>
            <a:r>
              <a:rPr lang="en-IN" dirty="0"/>
              <a:t>Some HTML Attributes</a:t>
            </a:r>
            <a:endParaRPr lang="en-GH" dirty="0"/>
          </a:p>
        </p:txBody>
      </p:sp>
      <p:sp>
        <p:nvSpPr>
          <p:cNvPr id="3" name="Content Placeholder 2">
            <a:extLst>
              <a:ext uri="{FF2B5EF4-FFF2-40B4-BE49-F238E27FC236}">
                <a16:creationId xmlns:a16="http://schemas.microsoft.com/office/drawing/2014/main" id="{F3025318-CAA9-4389-822E-4CC2D856BE64}"/>
              </a:ext>
            </a:extLst>
          </p:cNvPr>
          <p:cNvSpPr>
            <a:spLocks noGrp="1"/>
          </p:cNvSpPr>
          <p:nvPr>
            <p:ph idx="1"/>
          </p:nvPr>
        </p:nvSpPr>
        <p:spPr/>
        <p:txBody>
          <a:bodyPr/>
          <a:lstStyle/>
          <a:p>
            <a:r>
              <a:rPr lang="en-US" dirty="0"/>
              <a:t>The </a:t>
            </a:r>
            <a:r>
              <a:rPr lang="en-US" b="1" dirty="0">
                <a:solidFill>
                  <a:srgbClr val="C00000"/>
                </a:solidFill>
              </a:rPr>
              <a:t>title</a:t>
            </a:r>
            <a:r>
              <a:rPr lang="en-US" dirty="0"/>
              <a:t> attribute defines some extra information about an element. The value of the title attribute will be displayed as a </a:t>
            </a:r>
            <a:r>
              <a:rPr lang="en-US" dirty="0">
                <a:solidFill>
                  <a:srgbClr val="0070C0"/>
                </a:solidFill>
              </a:rPr>
              <a:t>tooltip</a:t>
            </a:r>
            <a:r>
              <a:rPr lang="en-US" dirty="0"/>
              <a:t> when you mouse over the element.</a:t>
            </a:r>
          </a:p>
          <a:p>
            <a:r>
              <a:rPr lang="en-US" dirty="0"/>
              <a:t>Example:</a:t>
            </a:r>
          </a:p>
          <a:p>
            <a:pPr marL="0" indent="0">
              <a:buNone/>
            </a:pPr>
            <a:r>
              <a:rPr lang="en-US" sz="2300" b="0" i="0" dirty="0">
                <a:solidFill>
                  <a:srgbClr val="0000CD"/>
                </a:solidFill>
                <a:effectLst/>
                <a:latin typeface="Consolas" panose="020B0609020204030204" pitchFamily="49" charset="0"/>
              </a:rPr>
              <a:t>&lt;</a:t>
            </a:r>
            <a:r>
              <a:rPr lang="en-US" sz="2300" b="0" i="0" dirty="0">
                <a:solidFill>
                  <a:srgbClr val="A52A2A"/>
                </a:solidFill>
                <a:effectLst/>
                <a:latin typeface="Consolas" panose="020B0609020204030204" pitchFamily="49" charset="0"/>
              </a:rPr>
              <a:t>p</a:t>
            </a:r>
            <a:r>
              <a:rPr lang="en-US" sz="2300" b="0" i="0" dirty="0">
                <a:solidFill>
                  <a:srgbClr val="FF0000"/>
                </a:solidFill>
                <a:effectLst/>
                <a:latin typeface="Consolas" panose="020B0609020204030204" pitchFamily="49" charset="0"/>
              </a:rPr>
              <a:t> title</a:t>
            </a:r>
            <a:r>
              <a:rPr lang="en-US" sz="2300" b="0" i="0" dirty="0">
                <a:solidFill>
                  <a:srgbClr val="0000CD"/>
                </a:solidFill>
                <a:effectLst/>
                <a:latin typeface="Consolas" panose="020B0609020204030204" pitchFamily="49" charset="0"/>
              </a:rPr>
              <a:t>="I'm a tooltip"&gt;</a:t>
            </a:r>
            <a:r>
              <a:rPr lang="en-US" sz="2300" b="0" i="0" dirty="0">
                <a:solidFill>
                  <a:srgbClr val="000000"/>
                </a:solidFill>
                <a:effectLst/>
                <a:latin typeface="Consolas" panose="020B0609020204030204" pitchFamily="49" charset="0"/>
              </a:rPr>
              <a:t>This is a paragraph.</a:t>
            </a:r>
            <a:r>
              <a:rPr lang="en-US" sz="2300" b="0" i="0" dirty="0">
                <a:solidFill>
                  <a:srgbClr val="0000CD"/>
                </a:solidFill>
                <a:effectLst/>
                <a:latin typeface="Consolas" panose="020B0609020204030204" pitchFamily="49" charset="0"/>
              </a:rPr>
              <a:t>&lt;</a:t>
            </a:r>
            <a:r>
              <a:rPr lang="en-US" sz="2300" b="0" i="0" dirty="0">
                <a:solidFill>
                  <a:srgbClr val="A52A2A"/>
                </a:solidFill>
                <a:effectLst/>
                <a:latin typeface="Consolas" panose="020B0609020204030204" pitchFamily="49" charset="0"/>
              </a:rPr>
              <a:t>/p</a:t>
            </a:r>
            <a:r>
              <a:rPr lang="en-US" sz="2300" b="0" i="0" dirty="0">
                <a:solidFill>
                  <a:srgbClr val="0000CD"/>
                </a:solidFill>
                <a:effectLst/>
                <a:latin typeface="Consolas" panose="020B0609020204030204" pitchFamily="49" charset="0"/>
              </a:rPr>
              <a:t>&gt;</a:t>
            </a:r>
          </a:p>
          <a:p>
            <a:pPr marL="0" indent="0">
              <a:buNone/>
            </a:pPr>
            <a:endParaRPr lang="en-US" sz="2300" dirty="0"/>
          </a:p>
          <a:p>
            <a:r>
              <a:rPr lang="en-US" dirty="0"/>
              <a:t>The </a:t>
            </a:r>
            <a:r>
              <a:rPr lang="en-US" b="1" dirty="0" err="1">
                <a:solidFill>
                  <a:srgbClr val="C00000"/>
                </a:solidFill>
              </a:rPr>
              <a:t>href</a:t>
            </a:r>
            <a:r>
              <a:rPr lang="en-US" b="1" dirty="0">
                <a:solidFill>
                  <a:srgbClr val="C00000"/>
                </a:solidFill>
              </a:rPr>
              <a:t> </a:t>
            </a:r>
            <a:r>
              <a:rPr lang="en-US" dirty="0"/>
              <a:t>Attribute specifies the URL of the page the link goes to.</a:t>
            </a:r>
          </a:p>
          <a:p>
            <a:r>
              <a:rPr lang="en-US" dirty="0"/>
              <a:t>The </a:t>
            </a:r>
            <a:r>
              <a:rPr lang="en-US" b="1" dirty="0" err="1">
                <a:solidFill>
                  <a:srgbClr val="C00000"/>
                </a:solidFill>
              </a:rPr>
              <a:t>src</a:t>
            </a:r>
            <a:r>
              <a:rPr lang="en-US" b="1" dirty="0">
                <a:solidFill>
                  <a:srgbClr val="C00000"/>
                </a:solidFill>
              </a:rPr>
              <a:t> </a:t>
            </a:r>
            <a:r>
              <a:rPr lang="en-US" dirty="0"/>
              <a:t>attribute specifies the path to the image to be displayed as used in the </a:t>
            </a:r>
            <a:r>
              <a:rPr lang="en-US" dirty="0">
                <a:solidFill>
                  <a:srgbClr val="C00000"/>
                </a:solidFill>
              </a:rPr>
              <a:t>&lt;</a:t>
            </a:r>
            <a:r>
              <a:rPr lang="en-US" dirty="0" err="1">
                <a:solidFill>
                  <a:srgbClr val="C00000"/>
                </a:solidFill>
              </a:rPr>
              <a:t>img</a:t>
            </a:r>
            <a:r>
              <a:rPr lang="en-US" dirty="0">
                <a:solidFill>
                  <a:srgbClr val="C00000"/>
                </a:solidFill>
              </a:rPr>
              <a:t>&gt; </a:t>
            </a:r>
            <a:r>
              <a:rPr lang="en-US" dirty="0"/>
              <a:t>tag </a:t>
            </a:r>
          </a:p>
          <a:p>
            <a:endParaRPr lang="en-US" dirty="0"/>
          </a:p>
          <a:p>
            <a:endParaRPr lang="en-GH" b="1" dirty="0">
              <a:solidFill>
                <a:srgbClr val="002060"/>
              </a:solidFill>
            </a:endParaRPr>
          </a:p>
        </p:txBody>
      </p:sp>
    </p:spTree>
    <p:extLst>
      <p:ext uri="{BB962C8B-B14F-4D97-AF65-F5344CB8AC3E}">
        <p14:creationId xmlns:p14="http://schemas.microsoft.com/office/powerpoint/2010/main" val="3322391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590D-8DD1-641A-2E9A-4C4754FF0083}"/>
              </a:ext>
            </a:extLst>
          </p:cNvPr>
          <p:cNvSpPr>
            <a:spLocks noGrp="1"/>
          </p:cNvSpPr>
          <p:nvPr>
            <p:ph type="title"/>
          </p:nvPr>
        </p:nvSpPr>
        <p:spPr/>
        <p:txBody>
          <a:bodyPr/>
          <a:lstStyle/>
          <a:p>
            <a:r>
              <a:rPr lang="en-IN" dirty="0"/>
              <a:t>Absolute Vs Relative URLs</a:t>
            </a:r>
            <a:endParaRPr lang="en-GH" dirty="0"/>
          </a:p>
        </p:txBody>
      </p:sp>
      <p:sp>
        <p:nvSpPr>
          <p:cNvPr id="3" name="Content Placeholder 2">
            <a:extLst>
              <a:ext uri="{FF2B5EF4-FFF2-40B4-BE49-F238E27FC236}">
                <a16:creationId xmlns:a16="http://schemas.microsoft.com/office/drawing/2014/main" id="{F3025318-CAA9-4389-822E-4CC2D856BE64}"/>
              </a:ext>
            </a:extLst>
          </p:cNvPr>
          <p:cNvSpPr>
            <a:spLocks noGrp="1"/>
          </p:cNvSpPr>
          <p:nvPr>
            <p:ph idx="1"/>
          </p:nvPr>
        </p:nvSpPr>
        <p:spPr/>
        <p:txBody>
          <a:bodyPr/>
          <a:lstStyle/>
          <a:p>
            <a:r>
              <a:rPr lang="en-US" dirty="0"/>
              <a:t>There are two ways to specify the URL in the </a:t>
            </a:r>
            <a:r>
              <a:rPr lang="en-US" dirty="0" err="1">
                <a:solidFill>
                  <a:srgbClr val="C00000"/>
                </a:solidFill>
              </a:rPr>
              <a:t>src</a:t>
            </a:r>
            <a:r>
              <a:rPr lang="en-US" dirty="0">
                <a:solidFill>
                  <a:srgbClr val="C00000"/>
                </a:solidFill>
              </a:rPr>
              <a:t> </a:t>
            </a:r>
            <a:r>
              <a:rPr lang="en-US" dirty="0"/>
              <a:t>attribute:</a:t>
            </a:r>
          </a:p>
          <a:p>
            <a:pPr marL="0" indent="0">
              <a:buNone/>
            </a:pPr>
            <a:r>
              <a:rPr lang="en-US" b="1" dirty="0">
                <a:solidFill>
                  <a:srgbClr val="7030A0"/>
                </a:solidFill>
              </a:rPr>
              <a:t>1. Absolute URL </a:t>
            </a:r>
            <a:r>
              <a:rPr lang="en-US" dirty="0"/>
              <a:t>- Links to an external image that is hosted on another website. </a:t>
            </a:r>
          </a:p>
          <a:p>
            <a:pPr marL="0" indent="0">
              <a:buNone/>
            </a:pPr>
            <a:r>
              <a:rPr lang="en-US" dirty="0"/>
              <a:t>Example: </a:t>
            </a:r>
            <a:r>
              <a:rPr lang="en-US" dirty="0" err="1">
                <a:solidFill>
                  <a:srgbClr val="C00000"/>
                </a:solidFill>
              </a:rPr>
              <a:t>src</a:t>
            </a:r>
            <a:r>
              <a:rPr lang="en-US" dirty="0">
                <a:solidFill>
                  <a:srgbClr val="0070C0"/>
                </a:solidFill>
              </a:rPr>
              <a:t>="https://www.ashesi.edu.gh/images/img_logo.jpg".</a:t>
            </a:r>
          </a:p>
          <a:p>
            <a:pPr marL="0" indent="0">
              <a:buNone/>
            </a:pPr>
            <a:r>
              <a:rPr lang="en-US" dirty="0">
                <a:solidFill>
                  <a:srgbClr val="FF0000"/>
                </a:solidFill>
              </a:rPr>
              <a:t>Note</a:t>
            </a:r>
            <a:r>
              <a:rPr lang="en-US" dirty="0"/>
              <a:t>: External images might be under copyright. If you do not get permission to use it, you may violate copyright laws. In addition, you cannot control external images; they can suddenly be removed or changed.</a:t>
            </a:r>
          </a:p>
          <a:p>
            <a:pPr marL="0" indent="0">
              <a:buNone/>
            </a:pPr>
            <a:r>
              <a:rPr lang="en-US" b="1" dirty="0">
                <a:solidFill>
                  <a:srgbClr val="7030A0"/>
                </a:solidFill>
              </a:rPr>
              <a:t>2. Relative URL </a:t>
            </a:r>
            <a:r>
              <a:rPr lang="en-US" dirty="0"/>
              <a:t>- Links to an image that is hosted within the website. Here, the URL does not include the domain name. If the URL begins without a slash, it will be relative to the current page. </a:t>
            </a:r>
          </a:p>
          <a:p>
            <a:pPr marL="0" indent="0">
              <a:buNone/>
            </a:pPr>
            <a:r>
              <a:rPr lang="en-US" dirty="0"/>
              <a:t>Example: </a:t>
            </a:r>
            <a:r>
              <a:rPr lang="en-US" dirty="0" err="1">
                <a:solidFill>
                  <a:srgbClr val="C00000"/>
                </a:solidFill>
              </a:rPr>
              <a:t>src</a:t>
            </a:r>
            <a:r>
              <a:rPr lang="en-US" dirty="0"/>
              <a:t>=</a:t>
            </a:r>
            <a:r>
              <a:rPr lang="en-US" dirty="0">
                <a:solidFill>
                  <a:srgbClr val="0070C0"/>
                </a:solidFill>
              </a:rPr>
              <a:t>"/images/img_logo.jpg"</a:t>
            </a:r>
            <a:r>
              <a:rPr lang="en-US" dirty="0"/>
              <a:t>. </a:t>
            </a:r>
          </a:p>
          <a:p>
            <a:pPr marL="0" indent="0">
              <a:buNone/>
            </a:pPr>
            <a:endParaRPr lang="en-GH" b="1" dirty="0">
              <a:solidFill>
                <a:srgbClr val="002060"/>
              </a:solidFill>
            </a:endParaRPr>
          </a:p>
        </p:txBody>
      </p:sp>
    </p:spTree>
    <p:extLst>
      <p:ext uri="{BB962C8B-B14F-4D97-AF65-F5344CB8AC3E}">
        <p14:creationId xmlns:p14="http://schemas.microsoft.com/office/powerpoint/2010/main" val="829615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590D-8DD1-641A-2E9A-4C4754FF0083}"/>
              </a:ext>
            </a:extLst>
          </p:cNvPr>
          <p:cNvSpPr>
            <a:spLocks noGrp="1"/>
          </p:cNvSpPr>
          <p:nvPr>
            <p:ph type="title"/>
          </p:nvPr>
        </p:nvSpPr>
        <p:spPr/>
        <p:txBody>
          <a:bodyPr/>
          <a:lstStyle/>
          <a:p>
            <a:r>
              <a:rPr lang="en-IN" dirty="0"/>
              <a:t>Some HTML Attributes</a:t>
            </a:r>
            <a:endParaRPr lang="en-GH" dirty="0"/>
          </a:p>
        </p:txBody>
      </p:sp>
      <p:sp>
        <p:nvSpPr>
          <p:cNvPr id="3" name="Content Placeholder 2">
            <a:extLst>
              <a:ext uri="{FF2B5EF4-FFF2-40B4-BE49-F238E27FC236}">
                <a16:creationId xmlns:a16="http://schemas.microsoft.com/office/drawing/2014/main" id="{F3025318-CAA9-4389-822E-4CC2D856BE64}"/>
              </a:ext>
            </a:extLst>
          </p:cNvPr>
          <p:cNvSpPr>
            <a:spLocks noGrp="1"/>
          </p:cNvSpPr>
          <p:nvPr>
            <p:ph idx="1"/>
          </p:nvPr>
        </p:nvSpPr>
        <p:spPr/>
        <p:txBody>
          <a:bodyPr/>
          <a:lstStyle/>
          <a:p>
            <a:r>
              <a:rPr lang="en-US" dirty="0"/>
              <a:t>The </a:t>
            </a:r>
            <a:r>
              <a:rPr lang="en-US" dirty="0">
                <a:solidFill>
                  <a:srgbClr val="C00000"/>
                </a:solidFill>
              </a:rPr>
              <a:t>&lt;</a:t>
            </a:r>
            <a:r>
              <a:rPr lang="en-US" dirty="0" err="1">
                <a:solidFill>
                  <a:srgbClr val="C00000"/>
                </a:solidFill>
              </a:rPr>
              <a:t>img</a:t>
            </a:r>
            <a:r>
              <a:rPr lang="en-US" dirty="0">
                <a:solidFill>
                  <a:srgbClr val="C00000"/>
                </a:solidFill>
              </a:rPr>
              <a:t>&gt; </a:t>
            </a:r>
            <a:r>
              <a:rPr lang="en-US" dirty="0"/>
              <a:t>tag should also contain the </a:t>
            </a:r>
            <a:r>
              <a:rPr lang="en-US" dirty="0">
                <a:solidFill>
                  <a:srgbClr val="C00000"/>
                </a:solidFill>
              </a:rPr>
              <a:t>width</a:t>
            </a:r>
            <a:r>
              <a:rPr lang="en-US" dirty="0"/>
              <a:t> and </a:t>
            </a:r>
            <a:r>
              <a:rPr lang="en-US" dirty="0">
                <a:solidFill>
                  <a:srgbClr val="C00000"/>
                </a:solidFill>
              </a:rPr>
              <a:t>height</a:t>
            </a:r>
            <a:r>
              <a:rPr lang="en-US" dirty="0"/>
              <a:t> attributes, which specify the width and height of the image </a:t>
            </a:r>
            <a:r>
              <a:rPr lang="en-US" b="1" dirty="0">
                <a:solidFill>
                  <a:srgbClr val="0070C0"/>
                </a:solidFill>
              </a:rPr>
              <a:t>in pixels</a:t>
            </a:r>
            <a:r>
              <a:rPr lang="en-US" dirty="0"/>
              <a:t>.</a:t>
            </a:r>
          </a:p>
          <a:p>
            <a:r>
              <a:rPr lang="en-US" dirty="0"/>
              <a:t>The required </a:t>
            </a:r>
            <a:r>
              <a:rPr lang="en-US" b="1" dirty="0">
                <a:solidFill>
                  <a:srgbClr val="C00000"/>
                </a:solidFill>
              </a:rPr>
              <a:t>alt</a:t>
            </a:r>
            <a:r>
              <a:rPr lang="en-US" dirty="0"/>
              <a:t> attribute for the </a:t>
            </a:r>
            <a:r>
              <a:rPr lang="en-US" dirty="0">
                <a:solidFill>
                  <a:srgbClr val="C00000"/>
                </a:solidFill>
              </a:rPr>
              <a:t>&lt;</a:t>
            </a:r>
            <a:r>
              <a:rPr lang="en-US" dirty="0" err="1">
                <a:solidFill>
                  <a:srgbClr val="C00000"/>
                </a:solidFill>
              </a:rPr>
              <a:t>img</a:t>
            </a:r>
            <a:r>
              <a:rPr lang="en-US" dirty="0">
                <a:solidFill>
                  <a:srgbClr val="C00000"/>
                </a:solidFill>
              </a:rPr>
              <a:t>&gt; </a:t>
            </a:r>
            <a:r>
              <a:rPr lang="en-US" dirty="0"/>
              <a:t>tag specifies an alternate text for an image if the image for some reason cannot be displayed. This can be due to a slow connection, an error in the </a:t>
            </a:r>
            <a:r>
              <a:rPr lang="en-US" dirty="0" err="1">
                <a:solidFill>
                  <a:srgbClr val="C00000"/>
                </a:solidFill>
              </a:rPr>
              <a:t>src</a:t>
            </a:r>
            <a:r>
              <a:rPr lang="en-US" dirty="0"/>
              <a:t> attribute, or if the user uses a screen reader.</a:t>
            </a:r>
          </a:p>
          <a:p>
            <a:r>
              <a:rPr lang="en-US" dirty="0"/>
              <a:t>The </a:t>
            </a:r>
            <a:r>
              <a:rPr lang="en-US" b="1" dirty="0">
                <a:solidFill>
                  <a:srgbClr val="C00000"/>
                </a:solidFill>
              </a:rPr>
              <a:t>style</a:t>
            </a:r>
            <a:r>
              <a:rPr lang="en-US" dirty="0"/>
              <a:t> attribute in HTML is used to apply inline CSS (Cascading Style Sheets) to an element. It allows you to define specific CSS properties directly within an HTML tag, controlling the appearance of that element.</a:t>
            </a:r>
          </a:p>
          <a:p>
            <a:r>
              <a:rPr lang="en-US" dirty="0"/>
              <a:t>Example: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FF0000"/>
                </a:solidFill>
                <a:effectLst/>
                <a:latin typeface="Consolas" panose="020B0609020204030204" pitchFamily="49" charset="0"/>
              </a:rPr>
              <a:t> style</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color:red</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This is a red paragraph.</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0000CD"/>
                </a:solidFill>
                <a:effectLst/>
                <a:latin typeface="Consolas" panose="020B0609020204030204" pitchFamily="49" charset="0"/>
              </a:rPr>
              <a:t>&gt;</a:t>
            </a:r>
          </a:p>
          <a:p>
            <a:pPr marL="0" indent="0">
              <a:buNone/>
            </a:pPr>
            <a:r>
              <a:rPr lang="en-US" sz="2000" dirty="0">
                <a:solidFill>
                  <a:srgbClr val="0070C0"/>
                </a:solidFill>
                <a:latin typeface="Consolas" panose="020B0609020204030204" pitchFamily="49" charset="0"/>
              </a:rPr>
              <a:t>&lt;</a:t>
            </a:r>
            <a:r>
              <a:rPr lang="en-US" sz="2000" dirty="0">
                <a:solidFill>
                  <a:srgbClr val="C00000"/>
                </a:solidFill>
                <a:latin typeface="Consolas" panose="020B0609020204030204" pitchFamily="49" charset="0"/>
              </a:rPr>
              <a:t>p</a:t>
            </a:r>
            <a:r>
              <a:rPr lang="en-US" sz="2000" dirty="0">
                <a:latin typeface="Consolas" panose="020B0609020204030204" pitchFamily="49" charset="0"/>
              </a:rPr>
              <a:t> </a:t>
            </a:r>
            <a:r>
              <a:rPr lang="en-US" sz="2000" dirty="0">
                <a:solidFill>
                  <a:srgbClr val="FF0000"/>
                </a:solidFill>
                <a:latin typeface="Consolas" panose="020B0609020204030204" pitchFamily="49" charset="0"/>
              </a:rPr>
              <a:t>style</a:t>
            </a:r>
            <a:r>
              <a:rPr lang="en-US" sz="2000" dirty="0">
                <a:solidFill>
                  <a:srgbClr val="002060"/>
                </a:solidFill>
                <a:latin typeface="Consolas" panose="020B0609020204030204" pitchFamily="49" charset="0"/>
              </a:rPr>
              <a:t>="color: blue; font-size: 16px;"&gt;</a:t>
            </a:r>
            <a:r>
              <a:rPr lang="en-US" sz="2000" dirty="0">
                <a:latin typeface="Consolas" panose="020B0609020204030204" pitchFamily="49" charset="0"/>
              </a:rPr>
              <a:t>This is a blue paragraph.</a:t>
            </a:r>
            <a:r>
              <a:rPr lang="en-US" sz="2000" dirty="0">
                <a:solidFill>
                  <a:srgbClr val="0070C0"/>
                </a:solidFill>
                <a:latin typeface="Consolas" panose="020B0609020204030204" pitchFamily="49" charset="0"/>
              </a:rPr>
              <a:t>&lt;/p&gt;</a:t>
            </a:r>
            <a:endParaRPr lang="en-GH" sz="2000" dirty="0">
              <a:solidFill>
                <a:srgbClr val="0070C0"/>
              </a:solidFill>
              <a:latin typeface="Consolas" panose="020B0609020204030204" pitchFamily="49" charset="0"/>
            </a:endParaRPr>
          </a:p>
        </p:txBody>
      </p:sp>
    </p:spTree>
    <p:extLst>
      <p:ext uri="{BB962C8B-B14F-4D97-AF65-F5344CB8AC3E}">
        <p14:creationId xmlns:p14="http://schemas.microsoft.com/office/powerpoint/2010/main" val="3410898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590D-8DD1-641A-2E9A-4C4754FF0083}"/>
              </a:ext>
            </a:extLst>
          </p:cNvPr>
          <p:cNvSpPr>
            <a:spLocks noGrp="1"/>
          </p:cNvSpPr>
          <p:nvPr>
            <p:ph type="title"/>
          </p:nvPr>
        </p:nvSpPr>
        <p:spPr/>
        <p:txBody>
          <a:bodyPr/>
          <a:lstStyle/>
          <a:p>
            <a:r>
              <a:rPr lang="en-IN" dirty="0"/>
              <a:t>Some HTML Attributes</a:t>
            </a:r>
            <a:endParaRPr lang="en-GH" dirty="0"/>
          </a:p>
        </p:txBody>
      </p:sp>
      <p:sp>
        <p:nvSpPr>
          <p:cNvPr id="3" name="Content Placeholder 2">
            <a:extLst>
              <a:ext uri="{FF2B5EF4-FFF2-40B4-BE49-F238E27FC236}">
                <a16:creationId xmlns:a16="http://schemas.microsoft.com/office/drawing/2014/main" id="{F3025318-CAA9-4389-822E-4CC2D856BE64}"/>
              </a:ext>
            </a:extLst>
          </p:cNvPr>
          <p:cNvSpPr>
            <a:spLocks noGrp="1"/>
          </p:cNvSpPr>
          <p:nvPr>
            <p:ph idx="1"/>
          </p:nvPr>
        </p:nvSpPr>
        <p:spPr/>
        <p:txBody>
          <a:bodyPr/>
          <a:lstStyle/>
          <a:p>
            <a:r>
              <a:rPr lang="en-US" dirty="0"/>
              <a:t>You should always include the </a:t>
            </a:r>
            <a:r>
              <a:rPr lang="en-US" b="1" dirty="0">
                <a:solidFill>
                  <a:srgbClr val="C00000"/>
                </a:solidFill>
              </a:rPr>
              <a:t>lang</a:t>
            </a:r>
            <a:r>
              <a:rPr lang="en-US" dirty="0"/>
              <a:t> attribute inside the </a:t>
            </a:r>
            <a:r>
              <a:rPr lang="en-US" dirty="0">
                <a:solidFill>
                  <a:srgbClr val="C00000"/>
                </a:solidFill>
              </a:rPr>
              <a:t>&lt;html&gt; </a:t>
            </a:r>
            <a:r>
              <a:rPr lang="en-US" dirty="0"/>
              <a:t>tag, to declare the language of the Web page. This is meant to assist search engines and browsers.</a:t>
            </a:r>
          </a:p>
          <a:p>
            <a:r>
              <a:rPr lang="en-US" sz="2000" dirty="0">
                <a:solidFill>
                  <a:srgbClr val="0070C0"/>
                </a:solidFill>
                <a:latin typeface="Consolas" panose="020B0609020204030204" pitchFamily="49" charset="0"/>
              </a:rPr>
              <a:t>Examples:</a:t>
            </a:r>
          </a:p>
          <a:p>
            <a:pPr marL="0" indent="0">
              <a:buNone/>
            </a:pP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!DOCTYPE</a:t>
            </a:r>
            <a:r>
              <a:rPr lang="en-US" sz="1800" b="0" i="0" dirty="0">
                <a:solidFill>
                  <a:srgbClr val="FF0000"/>
                </a:solidFill>
                <a:effectLst/>
                <a:latin typeface="Consolas" panose="020B0609020204030204" pitchFamily="49" charset="0"/>
              </a:rPr>
              <a:t> html</a:t>
            </a:r>
            <a:r>
              <a:rPr lang="en-US" sz="1800" b="0" i="0" dirty="0">
                <a:solidFill>
                  <a:srgbClr val="0000CD"/>
                </a:solidFill>
                <a:effectLst/>
                <a:latin typeface="Consolas" panose="020B0609020204030204" pitchFamily="49" charset="0"/>
              </a:rPr>
              <a:t>&gt;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html</a:t>
            </a:r>
            <a:r>
              <a:rPr lang="en-US" sz="1800" b="0" i="0" dirty="0">
                <a:solidFill>
                  <a:srgbClr val="FF0000"/>
                </a:solidFill>
                <a:effectLst/>
                <a:latin typeface="Consolas" panose="020B0609020204030204" pitchFamily="49" charset="0"/>
              </a:rPr>
              <a:t> lang</a:t>
            </a:r>
            <a:r>
              <a:rPr lang="en-US" sz="1800" b="0" i="0" dirty="0">
                <a:solidFill>
                  <a:srgbClr val="0000CD"/>
                </a:solidFill>
                <a:effectLst/>
                <a:latin typeface="Consolas" panose="020B0609020204030204" pitchFamily="49" charset="0"/>
              </a:rPr>
              <a:t>="</a:t>
            </a:r>
            <a:r>
              <a:rPr lang="en-US" sz="1800" b="0" i="0" dirty="0" err="1">
                <a:solidFill>
                  <a:srgbClr val="0000CD"/>
                </a:solidFill>
                <a:effectLst/>
                <a:latin typeface="Consolas" panose="020B0609020204030204" pitchFamily="49" charset="0"/>
              </a:rPr>
              <a:t>en</a:t>
            </a:r>
            <a:r>
              <a:rPr lang="en-US" sz="1800" b="0" i="0" dirty="0">
                <a:solidFill>
                  <a:srgbClr val="0000CD"/>
                </a:solidFill>
                <a:effectLst/>
                <a:latin typeface="Consolas" panose="020B0609020204030204" pitchFamily="49" charset="0"/>
              </a:rPr>
              <a:t>"&gt;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body</a:t>
            </a:r>
            <a:r>
              <a:rPr lang="en-US" sz="1800" b="0" i="0" dirty="0">
                <a:solidFill>
                  <a:srgbClr val="0000CD"/>
                </a:solidFill>
                <a:effectLst/>
                <a:latin typeface="Consolas" panose="020B0609020204030204" pitchFamily="49" charset="0"/>
              </a:rPr>
              <a:t>&gt;</a:t>
            </a:r>
            <a:br>
              <a:rPr lang="en-US" sz="1800" dirty="0">
                <a:latin typeface="Consolas" panose="020B0609020204030204" pitchFamily="49" charset="0"/>
              </a:rPr>
            </a:br>
            <a:r>
              <a:rPr lang="en-US" sz="1800" b="0" i="0" dirty="0">
                <a:solidFill>
                  <a:srgbClr val="000000"/>
                </a:solidFill>
                <a:effectLst/>
                <a:latin typeface="Consolas" panose="020B0609020204030204" pitchFamily="49" charset="0"/>
              </a:rPr>
              <a: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/body</a:t>
            </a:r>
            <a:r>
              <a:rPr lang="en-US" sz="1800" b="0" i="0" dirty="0">
                <a:solidFill>
                  <a:srgbClr val="0000CD"/>
                </a:solidFill>
                <a:effectLst/>
                <a:latin typeface="Consolas" panose="020B0609020204030204" pitchFamily="49" charset="0"/>
              </a:rPr>
              <a:t>&gt;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/html</a:t>
            </a:r>
            <a:r>
              <a:rPr lang="en-US" sz="1800" b="0" i="0" dirty="0">
                <a:solidFill>
                  <a:srgbClr val="0000CD"/>
                </a:solidFill>
                <a:effectLst/>
                <a:latin typeface="Consolas" panose="020B0609020204030204" pitchFamily="49" charset="0"/>
              </a:rPr>
              <a:t>&gt;</a:t>
            </a:r>
          </a:p>
          <a:p>
            <a:pPr marL="0" indent="0">
              <a:buNone/>
            </a:pPr>
            <a:r>
              <a:rPr lang="en-US" sz="1800" dirty="0">
                <a:solidFill>
                  <a:srgbClr val="0000CD"/>
                </a:solidFill>
                <a:latin typeface="Consolas" panose="020B0609020204030204" pitchFamily="49" charset="0"/>
              </a:rPr>
              <a:t>---------------------------------------</a:t>
            </a:r>
            <a:endParaRPr lang="en-US" sz="2000" dirty="0">
              <a:solidFill>
                <a:srgbClr val="0000CD"/>
              </a:solidFill>
              <a:latin typeface="Consolas" panose="020B0609020204030204" pitchFamily="49" charset="0"/>
            </a:endParaRPr>
          </a:p>
          <a:p>
            <a:pPr marL="0" indent="0">
              <a:buNone/>
            </a:pP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!DOCTYPE</a:t>
            </a:r>
            <a:r>
              <a:rPr lang="en-US" sz="1800" b="0" i="0" dirty="0">
                <a:solidFill>
                  <a:srgbClr val="FF0000"/>
                </a:solidFill>
                <a:effectLst/>
                <a:latin typeface="Consolas" panose="020B0609020204030204" pitchFamily="49" charset="0"/>
              </a:rPr>
              <a:t> html</a:t>
            </a:r>
            <a:r>
              <a:rPr lang="en-US" sz="1800" b="0" i="0" dirty="0">
                <a:solidFill>
                  <a:srgbClr val="0000CD"/>
                </a:solidFill>
                <a:effectLst/>
                <a:latin typeface="Consolas" panose="020B0609020204030204" pitchFamily="49" charset="0"/>
              </a:rPr>
              <a:t>&gt;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html</a:t>
            </a:r>
            <a:r>
              <a:rPr lang="en-US" sz="1800" b="0" i="0" dirty="0">
                <a:solidFill>
                  <a:srgbClr val="FF0000"/>
                </a:solidFill>
                <a:effectLst/>
                <a:latin typeface="Consolas" panose="020B0609020204030204" pitchFamily="49" charset="0"/>
              </a:rPr>
              <a:t> lang</a:t>
            </a:r>
            <a:r>
              <a:rPr lang="en-US" sz="1800" b="0" i="0" dirty="0">
                <a:solidFill>
                  <a:srgbClr val="0000CD"/>
                </a:solidFill>
                <a:effectLst/>
                <a:latin typeface="Consolas" panose="020B0609020204030204" pitchFamily="49" charset="0"/>
              </a:rPr>
              <a:t>="</a:t>
            </a:r>
            <a:r>
              <a:rPr lang="en-US" sz="1800" b="0" i="0" dirty="0" err="1">
                <a:solidFill>
                  <a:srgbClr val="0000CD"/>
                </a:solidFill>
                <a:effectLst/>
                <a:latin typeface="Consolas" panose="020B0609020204030204" pitchFamily="49" charset="0"/>
              </a:rPr>
              <a:t>en</a:t>
            </a:r>
            <a:r>
              <a:rPr lang="en-US" sz="1800" b="0" i="0" dirty="0">
                <a:solidFill>
                  <a:srgbClr val="0000CD"/>
                </a:solidFill>
                <a:effectLst/>
                <a:latin typeface="Consolas" panose="020B0609020204030204" pitchFamily="49" charset="0"/>
              </a:rPr>
              <a:t>-US"&gt;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body</a:t>
            </a:r>
            <a:r>
              <a:rPr lang="en-US" sz="1800" b="0" i="0" dirty="0">
                <a:solidFill>
                  <a:srgbClr val="0000CD"/>
                </a:solidFill>
                <a:effectLst/>
                <a:latin typeface="Consolas" panose="020B0609020204030204" pitchFamily="49" charset="0"/>
              </a:rPr>
              <a:t>&gt;</a:t>
            </a:r>
            <a:br>
              <a:rPr lang="en-US" sz="1800" dirty="0">
                <a:latin typeface="Consolas" panose="020B0609020204030204" pitchFamily="49" charset="0"/>
              </a:rPr>
            </a:br>
            <a:r>
              <a:rPr lang="en-US" sz="1800" b="0" i="0" dirty="0">
                <a:solidFill>
                  <a:srgbClr val="000000"/>
                </a:solidFill>
                <a:effectLst/>
                <a:latin typeface="Consolas" panose="020B0609020204030204" pitchFamily="49" charset="0"/>
              </a:rPr>
              <a: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/body</a:t>
            </a:r>
            <a:r>
              <a:rPr lang="en-US" sz="1800" b="0" i="0" dirty="0">
                <a:solidFill>
                  <a:srgbClr val="0000CD"/>
                </a:solidFill>
                <a:effectLst/>
                <a:latin typeface="Consolas" panose="020B0609020204030204" pitchFamily="49" charset="0"/>
              </a:rPr>
              <a:t>&gt;</a:t>
            </a:r>
            <a:br>
              <a:rPr lang="en-US" sz="1800" dirty="0">
                <a:latin typeface="Consolas" panose="020B0609020204030204" pitchFamily="49" charset="0"/>
              </a:rPr>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/html</a:t>
            </a:r>
            <a:r>
              <a:rPr lang="en-US" sz="1800" b="0" i="0" dirty="0">
                <a:solidFill>
                  <a:srgbClr val="0000CD"/>
                </a:solidFill>
                <a:effectLst/>
                <a:latin typeface="Consolas" panose="020B0609020204030204" pitchFamily="49" charset="0"/>
              </a:rPr>
              <a:t>&gt;</a:t>
            </a:r>
            <a:endParaRPr lang="en-GH" sz="1800" dirty="0">
              <a:solidFill>
                <a:srgbClr val="0070C0"/>
              </a:solidFill>
              <a:latin typeface="Consolas" panose="020B0609020204030204" pitchFamily="49" charset="0"/>
            </a:endParaRPr>
          </a:p>
        </p:txBody>
      </p:sp>
      <p:sp>
        <p:nvSpPr>
          <p:cNvPr id="4" name="TextBox 3">
            <a:extLst>
              <a:ext uri="{FF2B5EF4-FFF2-40B4-BE49-F238E27FC236}">
                <a16:creationId xmlns:a16="http://schemas.microsoft.com/office/drawing/2014/main" id="{8AAF3A4D-109D-8EDD-68F5-B42A8AEA6AF6}"/>
              </a:ext>
            </a:extLst>
          </p:cNvPr>
          <p:cNvSpPr txBox="1"/>
          <p:nvPr/>
        </p:nvSpPr>
        <p:spPr>
          <a:xfrm>
            <a:off x="5348176" y="3118945"/>
            <a:ext cx="2796363" cy="147732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IN" dirty="0">
                <a:solidFill>
                  <a:srgbClr val="C01068"/>
                </a:solidFill>
              </a:rPr>
              <a:t>Quotes for attribute values are optional but it is recommended to use either single or double quotes to avoid any possible errors.</a:t>
            </a:r>
            <a:endParaRPr lang="en-GH" dirty="0">
              <a:solidFill>
                <a:srgbClr val="C01068"/>
              </a:solidFill>
            </a:endParaRPr>
          </a:p>
        </p:txBody>
      </p:sp>
    </p:spTree>
    <p:extLst>
      <p:ext uri="{BB962C8B-B14F-4D97-AF65-F5344CB8AC3E}">
        <p14:creationId xmlns:p14="http://schemas.microsoft.com/office/powerpoint/2010/main" val="829692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ADCEB-62D9-1EF7-6CD7-FB98B8B90AEF}"/>
              </a:ext>
            </a:extLst>
          </p:cNvPr>
          <p:cNvSpPr>
            <a:spLocks noGrp="1"/>
          </p:cNvSpPr>
          <p:nvPr>
            <p:ph type="title"/>
          </p:nvPr>
        </p:nvSpPr>
        <p:spPr/>
        <p:txBody>
          <a:bodyPr/>
          <a:lstStyle/>
          <a:p>
            <a:r>
              <a:rPr lang="en-IN" dirty="0"/>
              <a:t>Bigger Headings</a:t>
            </a:r>
            <a:endParaRPr lang="en-GH" dirty="0"/>
          </a:p>
        </p:txBody>
      </p:sp>
      <p:sp>
        <p:nvSpPr>
          <p:cNvPr id="3" name="Content Placeholder 2">
            <a:extLst>
              <a:ext uri="{FF2B5EF4-FFF2-40B4-BE49-F238E27FC236}">
                <a16:creationId xmlns:a16="http://schemas.microsoft.com/office/drawing/2014/main" id="{8A38606A-E14A-1892-C913-DA65CEE4668D}"/>
              </a:ext>
            </a:extLst>
          </p:cNvPr>
          <p:cNvSpPr>
            <a:spLocks noGrp="1"/>
          </p:cNvSpPr>
          <p:nvPr>
            <p:ph idx="1"/>
          </p:nvPr>
        </p:nvSpPr>
        <p:spPr/>
        <p:txBody>
          <a:bodyPr/>
          <a:lstStyle/>
          <a:p>
            <a:r>
              <a:rPr lang="en-US" dirty="0"/>
              <a:t>Each HTML heading has a default size. </a:t>
            </a:r>
          </a:p>
          <a:p>
            <a:r>
              <a:rPr lang="en-US" dirty="0"/>
              <a:t>However, we can specify the size for any heading with the </a:t>
            </a:r>
            <a:r>
              <a:rPr lang="en-US" b="1" dirty="0">
                <a:solidFill>
                  <a:srgbClr val="C00000"/>
                </a:solidFill>
              </a:rPr>
              <a:t>style</a:t>
            </a:r>
            <a:r>
              <a:rPr lang="en-US" dirty="0"/>
              <a:t> attribute, using the CSS font-size property.</a:t>
            </a:r>
          </a:p>
          <a:p>
            <a:r>
              <a:rPr lang="en-US" dirty="0">
                <a:solidFill>
                  <a:srgbClr val="0070C0"/>
                </a:solidFill>
              </a:rPr>
              <a:t>Example</a:t>
            </a:r>
            <a:r>
              <a:rPr lang="en-US" dirty="0"/>
              <a:t>:</a:t>
            </a:r>
          </a:p>
          <a:p>
            <a:pPr marL="0" indent="0">
              <a:buNone/>
            </a:pP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h1</a:t>
            </a:r>
            <a:r>
              <a:rPr lang="en-US" sz="2200" b="0" i="0" dirty="0">
                <a:solidFill>
                  <a:srgbClr val="FF0000"/>
                </a:solidFill>
                <a:effectLst/>
                <a:latin typeface="Consolas" panose="020B0609020204030204" pitchFamily="49" charset="0"/>
              </a:rPr>
              <a:t> style</a:t>
            </a:r>
            <a:r>
              <a:rPr lang="en-US" sz="2200" b="0" i="0" dirty="0">
                <a:solidFill>
                  <a:srgbClr val="0000CD"/>
                </a:solidFill>
                <a:effectLst/>
                <a:latin typeface="Consolas" panose="020B0609020204030204" pitchFamily="49" charset="0"/>
              </a:rPr>
              <a:t>="font-size:60px;"&gt;</a:t>
            </a:r>
            <a:r>
              <a:rPr lang="en-US" sz="2200" b="0" i="0" dirty="0">
                <a:solidFill>
                  <a:srgbClr val="000000"/>
                </a:solidFill>
                <a:effectLst/>
                <a:latin typeface="Consolas" panose="020B0609020204030204" pitchFamily="49" charset="0"/>
              </a:rPr>
              <a:t>Heading 1</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/h1</a:t>
            </a:r>
            <a:r>
              <a:rPr lang="en-US" sz="2200" b="0" i="0" dirty="0">
                <a:solidFill>
                  <a:srgbClr val="0000CD"/>
                </a:solidFill>
                <a:effectLst/>
                <a:latin typeface="Consolas" panose="020B0609020204030204" pitchFamily="49" charset="0"/>
              </a:rPr>
              <a:t>&gt;</a:t>
            </a:r>
            <a:endParaRPr lang="en-GH" sz="2200" dirty="0"/>
          </a:p>
        </p:txBody>
      </p:sp>
    </p:spTree>
    <p:extLst>
      <p:ext uri="{BB962C8B-B14F-4D97-AF65-F5344CB8AC3E}">
        <p14:creationId xmlns:p14="http://schemas.microsoft.com/office/powerpoint/2010/main" val="1287964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731F1-D67C-81D5-124D-9981E46E0719}"/>
              </a:ext>
            </a:extLst>
          </p:cNvPr>
          <p:cNvSpPr>
            <a:spLocks noGrp="1"/>
          </p:cNvSpPr>
          <p:nvPr>
            <p:ph type="title"/>
          </p:nvPr>
        </p:nvSpPr>
        <p:spPr/>
        <p:txBody>
          <a:bodyPr/>
          <a:lstStyle/>
          <a:p>
            <a:r>
              <a:rPr lang="en-IN" dirty="0"/>
              <a:t>HTML Display</a:t>
            </a:r>
            <a:endParaRPr lang="en-GH" dirty="0"/>
          </a:p>
        </p:txBody>
      </p:sp>
      <p:sp>
        <p:nvSpPr>
          <p:cNvPr id="3" name="Content Placeholder 2">
            <a:extLst>
              <a:ext uri="{FF2B5EF4-FFF2-40B4-BE49-F238E27FC236}">
                <a16:creationId xmlns:a16="http://schemas.microsoft.com/office/drawing/2014/main" id="{025E2FF2-C5D8-CE05-EE1B-8B6FEC877731}"/>
              </a:ext>
            </a:extLst>
          </p:cNvPr>
          <p:cNvSpPr>
            <a:spLocks noGrp="1"/>
          </p:cNvSpPr>
          <p:nvPr>
            <p:ph idx="1"/>
          </p:nvPr>
        </p:nvSpPr>
        <p:spPr/>
        <p:txBody>
          <a:bodyPr/>
          <a:lstStyle/>
          <a:p>
            <a:r>
              <a:rPr lang="en-US" dirty="0"/>
              <a:t>You cannot be sure how HTML will be displayed.</a:t>
            </a:r>
          </a:p>
          <a:p>
            <a:r>
              <a:rPr lang="en-US" dirty="0"/>
              <a:t>Large or small screens and resized windows will create different results.</a:t>
            </a:r>
          </a:p>
          <a:p>
            <a:r>
              <a:rPr lang="en-US" dirty="0"/>
              <a:t>With HTML, you cannot change the display by adding extra spaces or extra lines in your HTML code. The browser will automatically remove any extra spaces and lines when the page is displayed.</a:t>
            </a:r>
          </a:p>
          <a:p>
            <a:r>
              <a:rPr lang="en-US" dirty="0">
                <a:solidFill>
                  <a:srgbClr val="0070C0"/>
                </a:solidFill>
              </a:rPr>
              <a:t>Example</a:t>
            </a:r>
            <a:r>
              <a:rPr lang="en-US" dirty="0"/>
              <a:t>:</a:t>
            </a:r>
          </a:p>
          <a:p>
            <a:pPr marL="0" indent="0">
              <a:buNone/>
            </a:pP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p</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00"/>
                </a:solidFill>
                <a:effectLst/>
                <a:latin typeface="Consolas" panose="020B0609020204030204" pitchFamily="49" charset="0"/>
              </a:rPr>
              <a:t>This paragraph</a:t>
            </a:r>
            <a:br>
              <a:rPr lang="en-US" sz="2200" dirty="0"/>
            </a:br>
            <a:r>
              <a:rPr lang="en-US" sz="2200" b="0" i="0" dirty="0">
                <a:solidFill>
                  <a:srgbClr val="000000"/>
                </a:solidFill>
                <a:effectLst/>
                <a:latin typeface="Consolas" panose="020B0609020204030204" pitchFamily="49" charset="0"/>
              </a:rPr>
              <a:t>contains         a lot of spaces</a:t>
            </a:r>
            <a:br>
              <a:rPr lang="en-US" sz="2200" dirty="0"/>
            </a:br>
            <a:r>
              <a:rPr lang="en-US" sz="2200" b="0" i="0" dirty="0">
                <a:solidFill>
                  <a:srgbClr val="000000"/>
                </a:solidFill>
                <a:effectLst/>
                <a:latin typeface="Consolas" panose="020B0609020204030204" pitchFamily="49" charset="0"/>
              </a:rPr>
              <a:t>in the source         code,</a:t>
            </a:r>
            <a:br>
              <a:rPr lang="en-US" sz="2200" dirty="0"/>
            </a:br>
            <a:r>
              <a:rPr lang="en-US" sz="2200" b="0" i="0" dirty="0">
                <a:solidFill>
                  <a:srgbClr val="000000"/>
                </a:solidFill>
                <a:effectLst/>
                <a:latin typeface="Consolas" panose="020B0609020204030204" pitchFamily="49" charset="0"/>
              </a:rPr>
              <a:t>but the        browser</a:t>
            </a:r>
            <a:br>
              <a:rPr lang="en-US" sz="2200" dirty="0"/>
            </a:br>
            <a:r>
              <a:rPr lang="en-US" sz="2200" b="0" i="0" dirty="0">
                <a:solidFill>
                  <a:srgbClr val="000000"/>
                </a:solidFill>
                <a:effectLst/>
                <a:latin typeface="Consolas" panose="020B0609020204030204" pitchFamily="49" charset="0"/>
              </a:rPr>
              <a:t>ignores it.</a:t>
            </a:r>
            <a:br>
              <a:rPr lang="en-US" sz="2200" dirty="0"/>
            </a:b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/p</a:t>
            </a:r>
            <a:r>
              <a:rPr lang="en-US" sz="2200" b="0" i="0" dirty="0">
                <a:solidFill>
                  <a:srgbClr val="0000CD"/>
                </a:solidFill>
                <a:effectLst/>
                <a:latin typeface="Consolas" panose="020B0609020204030204" pitchFamily="49" charset="0"/>
              </a:rPr>
              <a:t>&gt;</a:t>
            </a:r>
            <a:endParaRPr lang="en-US" sz="2200" dirty="0"/>
          </a:p>
          <a:p>
            <a:endParaRPr lang="en-US" dirty="0"/>
          </a:p>
          <a:p>
            <a:endParaRPr lang="en-GH" dirty="0"/>
          </a:p>
        </p:txBody>
      </p:sp>
    </p:spTree>
    <p:extLst>
      <p:ext uri="{BB962C8B-B14F-4D97-AF65-F5344CB8AC3E}">
        <p14:creationId xmlns:p14="http://schemas.microsoft.com/office/powerpoint/2010/main" val="2542851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10B8A-588E-DB9A-9E34-6B4F21F43B73}"/>
              </a:ext>
            </a:extLst>
          </p:cNvPr>
          <p:cNvSpPr>
            <a:spLocks noGrp="1"/>
          </p:cNvSpPr>
          <p:nvPr>
            <p:ph type="title"/>
          </p:nvPr>
        </p:nvSpPr>
        <p:spPr/>
        <p:txBody>
          <a:bodyPr/>
          <a:lstStyle/>
          <a:p>
            <a:r>
              <a:rPr lang="en-IN" dirty="0"/>
              <a:t>More Styles: Background </a:t>
            </a:r>
            <a:r>
              <a:rPr lang="en-IN" dirty="0" err="1"/>
              <a:t>Color</a:t>
            </a:r>
            <a:endParaRPr lang="en-GH" dirty="0"/>
          </a:p>
        </p:txBody>
      </p:sp>
      <p:sp>
        <p:nvSpPr>
          <p:cNvPr id="3" name="Content Placeholder 2">
            <a:extLst>
              <a:ext uri="{FF2B5EF4-FFF2-40B4-BE49-F238E27FC236}">
                <a16:creationId xmlns:a16="http://schemas.microsoft.com/office/drawing/2014/main" id="{09A4C8DC-05C1-5347-F864-36B89E18EB8E}"/>
              </a:ext>
            </a:extLst>
          </p:cNvPr>
          <p:cNvSpPr>
            <a:spLocks noGrp="1"/>
          </p:cNvSpPr>
          <p:nvPr>
            <p:ph idx="1"/>
          </p:nvPr>
        </p:nvSpPr>
        <p:spPr/>
        <p:txBody>
          <a:bodyPr/>
          <a:lstStyle/>
          <a:p>
            <a:r>
              <a:rPr lang="en-US" dirty="0"/>
              <a:t>The CSS </a:t>
            </a:r>
            <a:r>
              <a:rPr lang="en-US" b="1" dirty="0">
                <a:solidFill>
                  <a:srgbClr val="C00000"/>
                </a:solidFill>
              </a:rPr>
              <a:t>background-color</a:t>
            </a:r>
            <a:r>
              <a:rPr lang="en-US" dirty="0"/>
              <a:t> property defines the background color for an HTML element.</a:t>
            </a:r>
          </a:p>
          <a:p>
            <a:r>
              <a:rPr lang="en-US" dirty="0"/>
              <a:t>Example;</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background-color:powderblue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p>
          <a:p>
            <a:pPr marL="0" indent="0">
              <a:buNone/>
            </a:pP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background-color:tomato</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1436062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10B8A-588E-DB9A-9E34-6B4F21F43B73}"/>
              </a:ext>
            </a:extLst>
          </p:cNvPr>
          <p:cNvSpPr>
            <a:spLocks noGrp="1"/>
          </p:cNvSpPr>
          <p:nvPr>
            <p:ph type="title"/>
          </p:nvPr>
        </p:nvSpPr>
        <p:spPr/>
        <p:txBody>
          <a:bodyPr/>
          <a:lstStyle/>
          <a:p>
            <a:r>
              <a:rPr lang="en-IN" dirty="0"/>
              <a:t>More Styles: Fonts</a:t>
            </a:r>
            <a:endParaRPr lang="en-GH" dirty="0"/>
          </a:p>
        </p:txBody>
      </p:sp>
      <p:sp>
        <p:nvSpPr>
          <p:cNvPr id="3" name="Content Placeholder 2">
            <a:extLst>
              <a:ext uri="{FF2B5EF4-FFF2-40B4-BE49-F238E27FC236}">
                <a16:creationId xmlns:a16="http://schemas.microsoft.com/office/drawing/2014/main" id="{09A4C8DC-05C1-5347-F864-36B89E18EB8E}"/>
              </a:ext>
            </a:extLst>
          </p:cNvPr>
          <p:cNvSpPr>
            <a:spLocks noGrp="1"/>
          </p:cNvSpPr>
          <p:nvPr>
            <p:ph idx="1"/>
          </p:nvPr>
        </p:nvSpPr>
        <p:spPr/>
        <p:txBody>
          <a:bodyPr/>
          <a:lstStyle/>
          <a:p>
            <a:r>
              <a:rPr lang="en-US" dirty="0"/>
              <a:t>The CSS </a:t>
            </a:r>
            <a:r>
              <a:rPr lang="en-US" b="1" dirty="0">
                <a:solidFill>
                  <a:srgbClr val="C00000"/>
                </a:solidFill>
              </a:rPr>
              <a:t>font-family</a:t>
            </a:r>
            <a:r>
              <a:rPr lang="en-US" dirty="0"/>
              <a:t> property defines the font to be used for an HTML element.</a:t>
            </a:r>
          </a:p>
          <a:p>
            <a:r>
              <a:rPr lang="en-US" dirty="0">
                <a:solidFill>
                  <a:srgbClr val="0070C0"/>
                </a:solidFill>
              </a:rPr>
              <a:t>Example</a:t>
            </a:r>
            <a:r>
              <a:rPr lang="en-US" dirty="0"/>
              <a:t>:</a:t>
            </a:r>
          </a:p>
          <a:p>
            <a:pPr marL="0" indent="0">
              <a:buNone/>
            </a:pP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h1</a:t>
            </a:r>
            <a:r>
              <a:rPr lang="en-US" sz="2000" b="0" i="0" dirty="0">
                <a:solidFill>
                  <a:srgbClr val="FF0000"/>
                </a:solidFill>
                <a:effectLst/>
                <a:latin typeface="Consolas" panose="020B0609020204030204" pitchFamily="49" charset="0"/>
              </a:rPr>
              <a:t> style</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font-family:verdana</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This is a heading</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/h1</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FF0000"/>
                </a:solidFill>
                <a:effectLst/>
                <a:latin typeface="Consolas" panose="020B0609020204030204" pitchFamily="49" charset="0"/>
              </a:rPr>
              <a:t> style</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font-family:courier</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This is a paragraph.</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0000CD"/>
                </a:solidFill>
                <a:effectLst/>
                <a:latin typeface="Consolas" panose="020B0609020204030204" pitchFamily="49" charset="0"/>
              </a:rPr>
              <a:t>&gt;</a:t>
            </a:r>
          </a:p>
          <a:p>
            <a:endParaRPr lang="en-US" dirty="0"/>
          </a:p>
          <a:p>
            <a:r>
              <a:rPr lang="en-US" dirty="0"/>
              <a:t>The CSS </a:t>
            </a:r>
            <a:r>
              <a:rPr lang="en-US" b="1" dirty="0">
                <a:solidFill>
                  <a:srgbClr val="C00000"/>
                </a:solidFill>
              </a:rPr>
              <a:t>font-size </a:t>
            </a:r>
            <a:r>
              <a:rPr lang="en-US" dirty="0"/>
              <a:t>property defines the text size for an HTML element.</a:t>
            </a:r>
          </a:p>
          <a:p>
            <a:r>
              <a:rPr lang="en-US" dirty="0">
                <a:solidFill>
                  <a:srgbClr val="0070C0"/>
                </a:solidFill>
              </a:rPr>
              <a:t>Example</a:t>
            </a:r>
            <a:r>
              <a:rPr lang="en-US" dirty="0"/>
              <a:t>:</a:t>
            </a:r>
          </a:p>
          <a:p>
            <a:pPr marL="0" indent="0">
              <a:buNone/>
            </a:pP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h1</a:t>
            </a:r>
            <a:r>
              <a:rPr lang="en-US" sz="2000" b="0" i="0" dirty="0">
                <a:solidFill>
                  <a:srgbClr val="FF0000"/>
                </a:solidFill>
                <a:effectLst/>
                <a:latin typeface="Consolas" panose="020B0609020204030204" pitchFamily="49" charset="0"/>
              </a:rPr>
              <a:t> style</a:t>
            </a:r>
            <a:r>
              <a:rPr lang="en-US" sz="2000" b="0" i="0" dirty="0">
                <a:solidFill>
                  <a:srgbClr val="0000CD"/>
                </a:solidFill>
                <a:effectLst/>
                <a:latin typeface="Consolas" panose="020B0609020204030204" pitchFamily="49" charset="0"/>
              </a:rPr>
              <a:t>="font-size:300%;"&gt;</a:t>
            </a:r>
            <a:r>
              <a:rPr lang="en-US" sz="2000" b="0" i="0" dirty="0">
                <a:solidFill>
                  <a:srgbClr val="000000"/>
                </a:solidFill>
                <a:effectLst/>
                <a:latin typeface="Consolas" panose="020B0609020204030204" pitchFamily="49" charset="0"/>
              </a:rPr>
              <a:t>This is a heading</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/h1</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FF0000"/>
                </a:solidFill>
                <a:effectLst/>
                <a:latin typeface="Consolas" panose="020B0609020204030204" pitchFamily="49" charset="0"/>
              </a:rPr>
              <a:t> style</a:t>
            </a:r>
            <a:r>
              <a:rPr lang="en-US" sz="2000" b="0" i="0" dirty="0">
                <a:solidFill>
                  <a:srgbClr val="0000CD"/>
                </a:solidFill>
                <a:effectLst/>
                <a:latin typeface="Consolas" panose="020B0609020204030204" pitchFamily="49" charset="0"/>
              </a:rPr>
              <a:t>="font-size:160%;"&gt;</a:t>
            </a:r>
            <a:r>
              <a:rPr lang="en-US" sz="2000" b="0" i="0" dirty="0">
                <a:solidFill>
                  <a:srgbClr val="000000"/>
                </a:solidFill>
                <a:effectLst/>
                <a:latin typeface="Consolas" panose="020B0609020204030204" pitchFamily="49" charset="0"/>
              </a:rPr>
              <a:t>This is a paragraph.</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0000CD"/>
                </a:solidFill>
                <a:effectLst/>
                <a:latin typeface="Consolas" panose="020B0609020204030204" pitchFamily="49" charset="0"/>
              </a:rPr>
              <a:t>&gt;</a:t>
            </a:r>
            <a:endParaRPr lang="en-GH" sz="2000" dirty="0"/>
          </a:p>
        </p:txBody>
      </p:sp>
    </p:spTree>
    <p:extLst>
      <p:ext uri="{BB962C8B-B14F-4D97-AF65-F5344CB8AC3E}">
        <p14:creationId xmlns:p14="http://schemas.microsoft.com/office/powerpoint/2010/main" val="2380869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10B8A-588E-DB9A-9E34-6B4F21F43B73}"/>
              </a:ext>
            </a:extLst>
          </p:cNvPr>
          <p:cNvSpPr>
            <a:spLocks noGrp="1"/>
          </p:cNvSpPr>
          <p:nvPr>
            <p:ph type="title"/>
          </p:nvPr>
        </p:nvSpPr>
        <p:spPr/>
        <p:txBody>
          <a:bodyPr/>
          <a:lstStyle/>
          <a:p>
            <a:r>
              <a:rPr lang="en-IN" dirty="0"/>
              <a:t>More Styles: Text Alignment</a:t>
            </a:r>
            <a:endParaRPr lang="en-GH" dirty="0"/>
          </a:p>
        </p:txBody>
      </p:sp>
      <p:sp>
        <p:nvSpPr>
          <p:cNvPr id="3" name="Content Placeholder 2">
            <a:extLst>
              <a:ext uri="{FF2B5EF4-FFF2-40B4-BE49-F238E27FC236}">
                <a16:creationId xmlns:a16="http://schemas.microsoft.com/office/drawing/2014/main" id="{09A4C8DC-05C1-5347-F864-36B89E18EB8E}"/>
              </a:ext>
            </a:extLst>
          </p:cNvPr>
          <p:cNvSpPr>
            <a:spLocks noGrp="1"/>
          </p:cNvSpPr>
          <p:nvPr>
            <p:ph idx="1"/>
          </p:nvPr>
        </p:nvSpPr>
        <p:spPr/>
        <p:txBody>
          <a:bodyPr/>
          <a:lstStyle/>
          <a:p>
            <a:r>
              <a:rPr lang="en-US" dirty="0"/>
              <a:t>The CSS </a:t>
            </a:r>
            <a:r>
              <a:rPr lang="en-US" b="1" dirty="0">
                <a:solidFill>
                  <a:srgbClr val="C00000"/>
                </a:solidFill>
              </a:rPr>
              <a:t>text-align</a:t>
            </a:r>
            <a:r>
              <a:rPr lang="en-US" dirty="0"/>
              <a:t> property defines the horizontal text alignment for an HTML element.</a:t>
            </a:r>
          </a:p>
          <a:p>
            <a:r>
              <a:rPr lang="en-US" dirty="0">
                <a:solidFill>
                  <a:srgbClr val="0070C0"/>
                </a:solidFill>
              </a:rPr>
              <a:t>Example:</a:t>
            </a:r>
          </a:p>
          <a:p>
            <a:pPr marL="0" indent="0">
              <a:buNone/>
            </a:pP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h1</a:t>
            </a:r>
            <a:r>
              <a:rPr lang="en-US" sz="2000" b="0" i="0" dirty="0">
                <a:solidFill>
                  <a:srgbClr val="FF0000"/>
                </a:solidFill>
                <a:effectLst/>
                <a:latin typeface="Consolas" panose="020B0609020204030204" pitchFamily="49" charset="0"/>
              </a:rPr>
              <a:t> style</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text-align:center</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Centered Heading</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/h1</a:t>
            </a:r>
            <a:r>
              <a:rPr lang="en-US" sz="2000" b="0" i="0" dirty="0">
                <a:solidFill>
                  <a:srgbClr val="0000CD"/>
                </a:solidFill>
                <a:effectLst/>
                <a:latin typeface="Consolas" panose="020B0609020204030204" pitchFamily="49" charset="0"/>
              </a:rPr>
              <a:t>&gt;</a:t>
            </a:r>
          </a:p>
          <a:p>
            <a:pPr marL="0" indent="0">
              <a:buNone/>
            </a:pPr>
            <a:br>
              <a:rPr lang="en-US" sz="2000" dirty="0"/>
            </a:b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FF0000"/>
                </a:solidFill>
                <a:effectLst/>
                <a:latin typeface="Consolas" panose="020B0609020204030204" pitchFamily="49" charset="0"/>
              </a:rPr>
              <a:t> style</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text-align:right</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Right aligned paragraph.</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/p</a:t>
            </a:r>
            <a:r>
              <a:rPr lang="en-US" sz="2000" b="0" i="0" dirty="0">
                <a:solidFill>
                  <a:srgbClr val="0000CD"/>
                </a:solidFill>
                <a:effectLst/>
                <a:latin typeface="Consolas" panose="020B0609020204030204" pitchFamily="49" charset="0"/>
              </a:rPr>
              <a:t>&gt;</a:t>
            </a:r>
            <a:endParaRPr lang="en-GH" sz="2000" dirty="0"/>
          </a:p>
        </p:txBody>
      </p:sp>
    </p:spTree>
    <p:extLst>
      <p:ext uri="{BB962C8B-B14F-4D97-AF65-F5344CB8AC3E}">
        <p14:creationId xmlns:p14="http://schemas.microsoft.com/office/powerpoint/2010/main" val="2078222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4DE7A-440F-2D43-82BD-A5141677E6FF}"/>
              </a:ext>
            </a:extLst>
          </p:cNvPr>
          <p:cNvSpPr>
            <a:spLocks noGrp="1"/>
          </p:cNvSpPr>
          <p:nvPr>
            <p:ph type="title"/>
          </p:nvPr>
        </p:nvSpPr>
        <p:spPr/>
        <p:txBody>
          <a:bodyPr/>
          <a:lstStyle/>
          <a:p>
            <a:r>
              <a:rPr lang="en-IN" dirty="0"/>
              <a:t>HTML Formatting Elements</a:t>
            </a:r>
            <a:endParaRPr lang="en-GH" dirty="0"/>
          </a:p>
        </p:txBody>
      </p:sp>
      <p:sp>
        <p:nvSpPr>
          <p:cNvPr id="4" name="Rectangle 1">
            <a:extLst>
              <a:ext uri="{FF2B5EF4-FFF2-40B4-BE49-F238E27FC236}">
                <a16:creationId xmlns:a16="http://schemas.microsoft.com/office/drawing/2014/main" id="{EFE14140-F90E-7CFD-6799-F80D00A9EA3F}"/>
              </a:ext>
            </a:extLst>
          </p:cNvPr>
          <p:cNvSpPr>
            <a:spLocks noGrp="1" noChangeArrowheads="1"/>
          </p:cNvSpPr>
          <p:nvPr>
            <p:ph idx="1"/>
          </p:nvPr>
        </p:nvSpPr>
        <p:spPr bwMode="auto">
          <a:xfrm>
            <a:off x="241100" y="1386038"/>
            <a:ext cx="8764677" cy="47705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lnSpc>
                <a:spcPct val="100000"/>
              </a:lnSpc>
              <a:spcBef>
                <a:spcPct val="0"/>
              </a:spcBef>
              <a:spcAft>
                <a:spcPct val="0"/>
              </a:spcAft>
            </a:pPr>
            <a:r>
              <a:rPr kumimoji="0" lang="en-GH" altLang="en-GH" b="0" i="0" u="none" strike="noStrike" cap="none" normalizeH="0" baseline="0" dirty="0">
                <a:ln>
                  <a:noFill/>
                </a:ln>
                <a:solidFill>
                  <a:srgbClr val="000000"/>
                </a:solidFill>
                <a:effectLst/>
              </a:rPr>
              <a:t>Formatting elements were designed to display special types of text</a:t>
            </a:r>
            <a:r>
              <a:rPr lang="en-IN" altLang="en-GH" dirty="0">
                <a:solidFill>
                  <a:srgbClr val="000000"/>
                </a:solidFill>
              </a:rPr>
              <a: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&lt;b&gt;</a:t>
            </a:r>
            <a:r>
              <a:rPr kumimoji="0" lang="en-GH" altLang="en-GH" sz="2800" b="0" i="0" u="none" strike="noStrike" cap="none" normalizeH="0" baseline="0" dirty="0">
                <a:ln>
                  <a:noFill/>
                </a:ln>
                <a:solidFill>
                  <a:srgbClr val="000000"/>
                </a:solidFill>
                <a:effectLst/>
              </a:rPr>
              <a:t> - Bold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&lt;strong&gt;</a:t>
            </a:r>
            <a:r>
              <a:rPr kumimoji="0" lang="en-GH" altLang="en-GH" sz="2800" b="0" i="0" u="none" strike="noStrike" cap="none" normalizeH="0" baseline="0" dirty="0">
                <a:ln>
                  <a:noFill/>
                </a:ln>
                <a:solidFill>
                  <a:srgbClr val="000000"/>
                </a:solidFill>
                <a:effectLst/>
              </a:rPr>
              <a:t> - Important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a:t>
            </a:r>
            <a:r>
              <a:rPr kumimoji="0" lang="en-GH" altLang="en-GH" sz="2800" b="0" i="0" u="none" strike="noStrike" cap="none" normalizeH="0" baseline="0" dirty="0" err="1">
                <a:ln>
                  <a:noFill/>
                </a:ln>
                <a:solidFill>
                  <a:srgbClr val="DC143C"/>
                </a:solidFill>
                <a:effectLst/>
              </a:rPr>
              <a:t>i</a:t>
            </a:r>
            <a:r>
              <a:rPr kumimoji="0" lang="en-GH" altLang="en-GH" sz="2800" b="0" i="0" u="none" strike="noStrike" cap="none" normalizeH="0" baseline="0" dirty="0">
                <a:ln>
                  <a:noFill/>
                </a:ln>
                <a:solidFill>
                  <a:srgbClr val="DC143C"/>
                </a:solidFill>
                <a:effectLst/>
              </a:rPr>
              <a:t>&gt;</a:t>
            </a:r>
            <a:r>
              <a:rPr kumimoji="0" lang="en-GH" altLang="en-GH" sz="2800" b="0" i="0" u="none" strike="noStrike" cap="none" normalizeH="0" baseline="0" dirty="0">
                <a:ln>
                  <a:noFill/>
                </a:ln>
                <a:solidFill>
                  <a:srgbClr val="000000"/>
                </a:solidFill>
                <a:effectLst/>
              </a:rPr>
              <a:t> - Italic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a:t>
            </a:r>
            <a:r>
              <a:rPr kumimoji="0" lang="en-GH" altLang="en-GH" sz="2800" b="0" i="0" u="none" strike="noStrike" cap="none" normalizeH="0" baseline="0" dirty="0" err="1">
                <a:ln>
                  <a:noFill/>
                </a:ln>
                <a:solidFill>
                  <a:srgbClr val="DC143C"/>
                </a:solidFill>
                <a:effectLst/>
              </a:rPr>
              <a:t>em</a:t>
            </a:r>
            <a:r>
              <a:rPr kumimoji="0" lang="en-GH" altLang="en-GH" sz="2800" b="0" i="0" u="none" strike="noStrike" cap="none" normalizeH="0" baseline="0" dirty="0">
                <a:ln>
                  <a:noFill/>
                </a:ln>
                <a:solidFill>
                  <a:srgbClr val="DC143C"/>
                </a:solidFill>
                <a:effectLst/>
              </a:rPr>
              <a:t>&gt;</a:t>
            </a:r>
            <a:r>
              <a:rPr kumimoji="0" lang="en-GH" altLang="en-GH" sz="2800" b="0" i="0" u="none" strike="noStrike" cap="none" normalizeH="0" baseline="0" dirty="0">
                <a:ln>
                  <a:noFill/>
                </a:ln>
                <a:solidFill>
                  <a:srgbClr val="000000"/>
                </a:solidFill>
                <a:effectLst/>
              </a:rPr>
              <a:t> - Emphasized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&lt;mark&gt;</a:t>
            </a:r>
            <a:r>
              <a:rPr kumimoji="0" lang="en-GH" altLang="en-GH" sz="2800" b="0" i="0" u="none" strike="noStrike" cap="none" normalizeH="0" baseline="0" dirty="0">
                <a:ln>
                  <a:noFill/>
                </a:ln>
                <a:solidFill>
                  <a:srgbClr val="000000"/>
                </a:solidFill>
                <a:effectLst/>
              </a:rPr>
              <a:t> - Marked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&lt;small&gt;</a:t>
            </a:r>
            <a:r>
              <a:rPr kumimoji="0" lang="en-GH" altLang="en-GH" sz="2800" b="0" i="0" u="none" strike="noStrike" cap="none" normalizeH="0" baseline="0" dirty="0">
                <a:ln>
                  <a:noFill/>
                </a:ln>
                <a:solidFill>
                  <a:srgbClr val="000000"/>
                </a:solidFill>
                <a:effectLst/>
              </a:rPr>
              <a:t> - Smaller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&lt;del&gt;</a:t>
            </a:r>
            <a:r>
              <a:rPr kumimoji="0" lang="en-GH" altLang="en-GH" sz="2800" b="0" i="0" u="none" strike="noStrike" cap="none" normalizeH="0" baseline="0" dirty="0">
                <a:ln>
                  <a:noFill/>
                </a:ln>
                <a:solidFill>
                  <a:srgbClr val="000000"/>
                </a:solidFill>
                <a:effectLst/>
              </a:rPr>
              <a:t> - Deleted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&lt;ins&gt;</a:t>
            </a:r>
            <a:r>
              <a:rPr kumimoji="0" lang="en-GH" altLang="en-GH" sz="2800" b="0" i="0" u="none" strike="noStrike" cap="none" normalizeH="0" baseline="0" dirty="0">
                <a:ln>
                  <a:noFill/>
                </a:ln>
                <a:solidFill>
                  <a:srgbClr val="000000"/>
                </a:solidFill>
                <a:effectLst/>
              </a:rPr>
              <a:t> - Inserted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&lt;sub&gt;</a:t>
            </a:r>
            <a:r>
              <a:rPr kumimoji="0" lang="en-GH" altLang="en-GH" sz="2800" b="0" i="0" u="none" strike="noStrike" cap="none" normalizeH="0" baseline="0" dirty="0">
                <a:ln>
                  <a:noFill/>
                </a:ln>
                <a:solidFill>
                  <a:srgbClr val="000000"/>
                </a:solidFill>
                <a:effectLst/>
              </a:rPr>
              <a:t> - Subscript text</a:t>
            </a:r>
          </a:p>
          <a:p>
            <a:pPr marL="0" marR="0" lvl="0" indent="0" algn="l" defTabSz="914400" rtl="0" eaLnBrk="0" fontAlgn="base" latinLnBrk="0" hangingPunct="0">
              <a:lnSpc>
                <a:spcPct val="100000"/>
              </a:lnSpc>
              <a:spcBef>
                <a:spcPct val="0"/>
              </a:spcBef>
              <a:spcAft>
                <a:spcPct val="0"/>
              </a:spcAft>
              <a:buClrTx/>
              <a:buSzTx/>
              <a:buNone/>
              <a:tabLst/>
            </a:pPr>
            <a:r>
              <a:rPr kumimoji="0" lang="en-GH" altLang="en-GH" sz="2800" b="0" i="0" u="none" strike="noStrike" cap="none" normalizeH="0" baseline="0" dirty="0">
                <a:ln>
                  <a:noFill/>
                </a:ln>
                <a:solidFill>
                  <a:srgbClr val="DC143C"/>
                </a:solidFill>
                <a:effectLst/>
              </a:rPr>
              <a:t>&lt;sup&gt;</a:t>
            </a:r>
            <a:r>
              <a:rPr kumimoji="0" lang="en-GH" altLang="en-GH" sz="2800" b="0" i="0" u="none" strike="noStrike" cap="none" normalizeH="0" baseline="0" dirty="0">
                <a:ln>
                  <a:noFill/>
                </a:ln>
                <a:solidFill>
                  <a:srgbClr val="000000"/>
                </a:solidFill>
                <a:effectLst/>
              </a:rPr>
              <a:t> - Superscript text</a:t>
            </a:r>
            <a:endParaRPr kumimoji="0" lang="en-GH" altLang="en-GH"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754671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59CA1-BF02-48EE-B08D-C28B4AD3294F}"/>
              </a:ext>
            </a:extLst>
          </p:cNvPr>
          <p:cNvSpPr>
            <a:spLocks noGrp="1"/>
          </p:cNvSpPr>
          <p:nvPr>
            <p:ph type="title"/>
          </p:nvPr>
        </p:nvSpPr>
        <p:spPr/>
        <p:txBody>
          <a:bodyPr/>
          <a:lstStyle/>
          <a:p>
            <a:r>
              <a:rPr lang="en-IN" dirty="0"/>
              <a:t>HTML Quotation and Citation Elements</a:t>
            </a:r>
            <a:endParaRPr lang="en-GH" dirty="0"/>
          </a:p>
        </p:txBody>
      </p:sp>
      <p:sp>
        <p:nvSpPr>
          <p:cNvPr id="3" name="Content Placeholder 2">
            <a:extLst>
              <a:ext uri="{FF2B5EF4-FFF2-40B4-BE49-F238E27FC236}">
                <a16:creationId xmlns:a16="http://schemas.microsoft.com/office/drawing/2014/main" id="{BEF37348-FC11-02EB-032B-1ADCEE3F1320}"/>
              </a:ext>
            </a:extLst>
          </p:cNvPr>
          <p:cNvSpPr>
            <a:spLocks noGrp="1"/>
          </p:cNvSpPr>
          <p:nvPr>
            <p:ph idx="1"/>
          </p:nvPr>
        </p:nvSpPr>
        <p:spPr>
          <a:xfrm>
            <a:off x="240465" y="1396672"/>
            <a:ext cx="8681519" cy="4943141"/>
          </a:xfrm>
        </p:spPr>
        <p:txBody>
          <a:bodyPr/>
          <a:lstStyle/>
          <a:p>
            <a:r>
              <a:rPr lang="en-US" dirty="0"/>
              <a:t>Used for quotations and citations to semantically distinguish quoted or cited text from the rest of the content. </a:t>
            </a:r>
          </a:p>
          <a:p>
            <a:r>
              <a:rPr lang="en-US" dirty="0"/>
              <a:t>These elements help improve readability, accessibility, and proper structuring of web content.</a:t>
            </a:r>
          </a:p>
          <a:p>
            <a:pPr marL="0" indent="0">
              <a:buNone/>
            </a:pPr>
            <a:r>
              <a:rPr lang="en-US" dirty="0">
                <a:solidFill>
                  <a:srgbClr val="C00000"/>
                </a:solidFill>
              </a:rPr>
              <a:t>&lt;blockquote&gt;        </a:t>
            </a:r>
            <a:r>
              <a:rPr lang="en-US" dirty="0">
                <a:sym typeface="Wingdings" panose="05000000000000000000" pitchFamily="2" charset="2"/>
              </a:rPr>
              <a:t>for long block-level quotations</a:t>
            </a:r>
            <a:endParaRPr lang="en-US" dirty="0"/>
          </a:p>
          <a:p>
            <a:pPr marL="0" indent="0">
              <a:buNone/>
            </a:pPr>
            <a:r>
              <a:rPr lang="en-US" dirty="0">
                <a:solidFill>
                  <a:srgbClr val="C00000"/>
                </a:solidFill>
              </a:rPr>
              <a:t>&lt;q&gt;		</a:t>
            </a:r>
            <a:r>
              <a:rPr lang="en-US" dirty="0"/>
              <a:t>      </a:t>
            </a:r>
            <a:r>
              <a:rPr lang="en-US" dirty="0">
                <a:sym typeface="Wingdings" panose="05000000000000000000" pitchFamily="2" charset="2"/>
              </a:rPr>
              <a:t>for short inline quotations.</a:t>
            </a:r>
          </a:p>
          <a:p>
            <a:pPr marL="0" indent="0">
              <a:buNone/>
            </a:pPr>
            <a:r>
              <a:rPr lang="en-US" dirty="0">
                <a:solidFill>
                  <a:srgbClr val="C00000"/>
                </a:solidFill>
              </a:rPr>
              <a:t>&lt;cite&gt;		     </a:t>
            </a:r>
            <a:r>
              <a:rPr lang="en-US" dirty="0">
                <a:sym typeface="Wingdings" panose="05000000000000000000" pitchFamily="2" charset="2"/>
              </a:rPr>
              <a:t>for citing the title of a work (not the author or 			         person quoted).</a:t>
            </a:r>
            <a:endParaRPr lang="en-US" dirty="0"/>
          </a:p>
          <a:p>
            <a:pPr marL="0" indent="0">
              <a:buNone/>
            </a:pPr>
            <a:r>
              <a:rPr lang="en-US" dirty="0">
                <a:solidFill>
                  <a:srgbClr val="C00000"/>
                </a:solidFill>
              </a:rPr>
              <a:t>&lt;</a:t>
            </a:r>
            <a:r>
              <a:rPr lang="en-US" dirty="0" err="1">
                <a:solidFill>
                  <a:srgbClr val="C00000"/>
                </a:solidFill>
              </a:rPr>
              <a:t>abbr</a:t>
            </a:r>
            <a:r>
              <a:rPr lang="en-US" dirty="0">
                <a:solidFill>
                  <a:srgbClr val="C00000"/>
                </a:solidFill>
              </a:rPr>
              <a:t>&gt;		     </a:t>
            </a:r>
            <a:r>
              <a:rPr lang="en-US" dirty="0">
                <a:sym typeface="Wingdings" panose="05000000000000000000" pitchFamily="2" charset="2"/>
              </a:rPr>
              <a:t></a:t>
            </a:r>
            <a:r>
              <a:rPr lang="en-US" dirty="0"/>
              <a:t>Defines an abbreviation or an acronym </a:t>
            </a:r>
          </a:p>
          <a:p>
            <a:pPr marL="0" indent="0">
              <a:buNone/>
            </a:pPr>
            <a:r>
              <a:rPr lang="en-US" dirty="0">
                <a:solidFill>
                  <a:srgbClr val="C00000"/>
                </a:solidFill>
              </a:rPr>
              <a:t>&lt;address&gt;             </a:t>
            </a:r>
            <a:r>
              <a:rPr lang="en-US" dirty="0">
                <a:sym typeface="Wingdings" panose="05000000000000000000" pitchFamily="2" charset="2"/>
              </a:rPr>
              <a:t></a:t>
            </a:r>
            <a:r>
              <a:rPr lang="en-US" dirty="0"/>
              <a:t> Defines contact information</a:t>
            </a:r>
          </a:p>
          <a:p>
            <a:pPr marL="0" indent="0">
              <a:buNone/>
            </a:pPr>
            <a:r>
              <a:rPr lang="en-US" dirty="0">
                <a:solidFill>
                  <a:srgbClr val="C00000"/>
                </a:solidFill>
              </a:rPr>
              <a:t>&lt;</a:t>
            </a:r>
            <a:r>
              <a:rPr lang="en-US" dirty="0" err="1">
                <a:solidFill>
                  <a:srgbClr val="C00000"/>
                </a:solidFill>
              </a:rPr>
              <a:t>bdo</a:t>
            </a:r>
            <a:r>
              <a:rPr lang="en-US" dirty="0">
                <a:solidFill>
                  <a:srgbClr val="C00000"/>
                </a:solidFill>
              </a:rPr>
              <a:t>&gt; 		     </a:t>
            </a:r>
            <a:r>
              <a:rPr lang="en-US" dirty="0">
                <a:sym typeface="Wingdings" panose="05000000000000000000" pitchFamily="2" charset="2"/>
              </a:rPr>
              <a:t>Overrides the current text direction</a:t>
            </a:r>
            <a:endParaRPr lang="en-GH" dirty="0"/>
          </a:p>
        </p:txBody>
      </p:sp>
    </p:spTree>
    <p:extLst>
      <p:ext uri="{BB962C8B-B14F-4D97-AF65-F5344CB8AC3E}">
        <p14:creationId xmlns:p14="http://schemas.microsoft.com/office/powerpoint/2010/main" val="3782356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907F-2A6D-FF21-8F7D-9C3052D50740}"/>
              </a:ext>
            </a:extLst>
          </p:cNvPr>
          <p:cNvSpPr>
            <a:spLocks noGrp="1"/>
          </p:cNvSpPr>
          <p:nvPr>
            <p:ph type="title"/>
          </p:nvPr>
        </p:nvSpPr>
        <p:spPr/>
        <p:txBody>
          <a:bodyPr/>
          <a:lstStyle/>
          <a:p>
            <a:r>
              <a:rPr lang="en-US" dirty="0"/>
              <a:t>Quotation and Citation: &lt;blockquote&gt; element</a:t>
            </a:r>
            <a:endParaRPr lang="en-GH" dirty="0"/>
          </a:p>
        </p:txBody>
      </p:sp>
      <p:sp>
        <p:nvSpPr>
          <p:cNvPr id="3" name="Content Placeholder 2">
            <a:extLst>
              <a:ext uri="{FF2B5EF4-FFF2-40B4-BE49-F238E27FC236}">
                <a16:creationId xmlns:a16="http://schemas.microsoft.com/office/drawing/2014/main" id="{728100E3-60AF-32B1-51E0-0B7E0C6C33F6}"/>
              </a:ext>
            </a:extLst>
          </p:cNvPr>
          <p:cNvSpPr>
            <a:spLocks noGrp="1"/>
          </p:cNvSpPr>
          <p:nvPr>
            <p:ph idx="1"/>
          </p:nvPr>
        </p:nvSpPr>
        <p:spPr/>
        <p:txBody>
          <a:bodyPr/>
          <a:lstStyle/>
          <a:p>
            <a:r>
              <a:rPr lang="en-US" dirty="0"/>
              <a:t>Defines a section that is quoted from another source.</a:t>
            </a:r>
          </a:p>
          <a:p>
            <a:r>
              <a:rPr lang="en-US" dirty="0"/>
              <a:t>Browsers usually indent &lt;blockquote&gt; elements.</a:t>
            </a:r>
          </a:p>
          <a:p>
            <a:r>
              <a:rPr lang="en-US" dirty="0"/>
              <a:t>The optional </a:t>
            </a:r>
            <a:r>
              <a:rPr lang="en-US" b="1" dirty="0">
                <a:solidFill>
                  <a:srgbClr val="FF0000"/>
                </a:solidFill>
              </a:rPr>
              <a:t>cite</a:t>
            </a:r>
            <a:r>
              <a:rPr lang="en-US" dirty="0"/>
              <a:t> attribute is used to specify the source of the quote, although it is not displayed to the user by default.</a:t>
            </a:r>
          </a:p>
          <a:p>
            <a:endParaRPr lang="en-US" dirty="0"/>
          </a:p>
          <a:p>
            <a:r>
              <a:rPr lang="en-US" dirty="0">
                <a:solidFill>
                  <a:srgbClr val="0070C0"/>
                </a:solidFill>
              </a:rPr>
              <a:t>Example</a:t>
            </a:r>
            <a:r>
              <a:rPr lang="en-US" dirty="0"/>
              <a:t>:</a:t>
            </a:r>
          </a:p>
          <a:p>
            <a:pPr marL="0" indent="0">
              <a:buNone/>
            </a:pPr>
            <a:r>
              <a:rPr lang="en-US" dirty="0">
                <a:solidFill>
                  <a:srgbClr val="C00000"/>
                </a:solidFill>
              </a:rPr>
              <a:t>&lt;p&gt;</a:t>
            </a:r>
            <a:r>
              <a:rPr lang="en-US" dirty="0"/>
              <a:t>Here is a quote from the Ashesi Website:</a:t>
            </a:r>
            <a:r>
              <a:rPr lang="en-US" dirty="0">
                <a:solidFill>
                  <a:srgbClr val="C00000"/>
                </a:solidFill>
              </a:rPr>
              <a:t>&lt;/p&gt;</a:t>
            </a:r>
          </a:p>
          <a:p>
            <a:pPr marL="0" indent="0">
              <a:buNone/>
            </a:pPr>
            <a:r>
              <a:rPr lang="en-US" dirty="0">
                <a:solidFill>
                  <a:srgbClr val="C00000"/>
                </a:solidFill>
              </a:rPr>
              <a:t>&lt;blockquote</a:t>
            </a:r>
            <a:r>
              <a:rPr lang="en-US" dirty="0"/>
              <a:t> </a:t>
            </a:r>
            <a:r>
              <a:rPr lang="en-US" dirty="0">
                <a:solidFill>
                  <a:srgbClr val="FF0000"/>
                </a:solidFill>
              </a:rPr>
              <a:t>cite</a:t>
            </a:r>
            <a:r>
              <a:rPr lang="en-US" dirty="0"/>
              <a:t>=</a:t>
            </a:r>
            <a:r>
              <a:rPr lang="en-US" dirty="0">
                <a:solidFill>
                  <a:srgbClr val="7030A0"/>
                </a:solidFill>
              </a:rPr>
              <a:t>"https://www.ashesi.edu.gh"</a:t>
            </a:r>
            <a:r>
              <a:rPr lang="en-US" dirty="0">
                <a:solidFill>
                  <a:srgbClr val="C00000"/>
                </a:solidFill>
              </a:rPr>
              <a:t>&gt;</a:t>
            </a:r>
          </a:p>
          <a:p>
            <a:pPr marL="0" indent="0">
              <a:buNone/>
            </a:pPr>
            <a:r>
              <a:rPr lang="en-US" dirty="0"/>
              <a:t>Our campus, which blends modern architecture with traditional Ghanaian design, offers a beautiful and inspiring setting.</a:t>
            </a:r>
          </a:p>
          <a:p>
            <a:pPr marL="0" indent="0">
              <a:buNone/>
            </a:pPr>
            <a:r>
              <a:rPr lang="en-US" dirty="0">
                <a:solidFill>
                  <a:srgbClr val="C00000"/>
                </a:solidFill>
              </a:rPr>
              <a:t>&lt;/blockquote&gt;</a:t>
            </a:r>
            <a:endParaRPr lang="en-GH" dirty="0">
              <a:solidFill>
                <a:srgbClr val="C00000"/>
              </a:solidFill>
            </a:endParaRPr>
          </a:p>
        </p:txBody>
      </p:sp>
    </p:spTree>
    <p:extLst>
      <p:ext uri="{BB962C8B-B14F-4D97-AF65-F5344CB8AC3E}">
        <p14:creationId xmlns:p14="http://schemas.microsoft.com/office/powerpoint/2010/main" val="4033831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245A-7293-F931-59E5-7B36832AFCF3}"/>
              </a:ext>
            </a:extLst>
          </p:cNvPr>
          <p:cNvSpPr>
            <a:spLocks noGrp="1"/>
          </p:cNvSpPr>
          <p:nvPr>
            <p:ph type="title"/>
          </p:nvPr>
        </p:nvSpPr>
        <p:spPr/>
        <p:txBody>
          <a:bodyPr/>
          <a:lstStyle/>
          <a:p>
            <a:r>
              <a:rPr lang="en-US" dirty="0"/>
              <a:t>Quotation and Citation: &lt;q&gt; element</a:t>
            </a:r>
            <a:endParaRPr lang="en-GH" dirty="0"/>
          </a:p>
        </p:txBody>
      </p:sp>
      <p:sp>
        <p:nvSpPr>
          <p:cNvPr id="3" name="Content Placeholder 2">
            <a:extLst>
              <a:ext uri="{FF2B5EF4-FFF2-40B4-BE49-F238E27FC236}">
                <a16:creationId xmlns:a16="http://schemas.microsoft.com/office/drawing/2014/main" id="{A168D715-D425-48F9-1BA9-A4DF3F4AB9D9}"/>
              </a:ext>
            </a:extLst>
          </p:cNvPr>
          <p:cNvSpPr>
            <a:spLocks noGrp="1"/>
          </p:cNvSpPr>
          <p:nvPr>
            <p:ph idx="1"/>
          </p:nvPr>
        </p:nvSpPr>
        <p:spPr/>
        <p:txBody>
          <a:bodyPr/>
          <a:lstStyle/>
          <a:p>
            <a:r>
              <a:rPr lang="en-US" dirty="0"/>
              <a:t>Defines a short </a:t>
            </a:r>
            <a:r>
              <a:rPr lang="en-US" b="1" dirty="0"/>
              <a:t>inline</a:t>
            </a:r>
            <a:r>
              <a:rPr lang="en-US" dirty="0"/>
              <a:t> quotation.</a:t>
            </a:r>
          </a:p>
          <a:p>
            <a:r>
              <a:rPr lang="en-US" dirty="0"/>
              <a:t>Browsers normally insert quotation marks around the quotation.</a:t>
            </a:r>
          </a:p>
          <a:p>
            <a:endParaRPr lang="en-US" dirty="0"/>
          </a:p>
          <a:p>
            <a:r>
              <a:rPr lang="en-US" dirty="0">
                <a:solidFill>
                  <a:srgbClr val="0070C0"/>
                </a:solidFill>
              </a:rPr>
              <a:t>Example</a:t>
            </a:r>
            <a:r>
              <a:rPr lang="en-US" dirty="0"/>
              <a:t>:</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 </a:t>
            </a:r>
            <a:r>
              <a:rPr lang="en-US" b="0" i="0" dirty="0">
                <a:solidFill>
                  <a:srgbClr val="000000"/>
                </a:solidFill>
                <a:effectLst/>
                <a:latin typeface="Consolas" panose="020B0609020204030204" pitchFamily="49" charset="0"/>
              </a:rPr>
              <a:t>WWF's goal is to: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q</a:t>
            </a:r>
            <a:r>
              <a:rPr lang="en-US" b="0" i="0" dirty="0">
                <a:solidFill>
                  <a:srgbClr val="0000CD"/>
                </a:solidFill>
                <a:effectLst/>
                <a:latin typeface="Consolas" panose="020B0609020204030204" pitchFamily="49" charset="0"/>
              </a:rPr>
              <a:t>&gt; </a:t>
            </a:r>
            <a:r>
              <a:rPr lang="en-US" b="0" i="0" dirty="0">
                <a:solidFill>
                  <a:srgbClr val="000000"/>
                </a:solidFill>
                <a:effectLst/>
                <a:latin typeface="Consolas" panose="020B0609020204030204" pitchFamily="49" charset="0"/>
              </a:rPr>
              <a:t>Build a future where people live in harmony with nature.</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/q</a:t>
            </a:r>
            <a:r>
              <a:rPr lang="en-US" b="0" i="0" dirty="0">
                <a:solidFill>
                  <a:srgbClr val="0000CD"/>
                </a:solidFill>
                <a:effectLst/>
                <a:latin typeface="Consolas" panose="020B0609020204030204" pitchFamily="49" charset="0"/>
              </a:rPr>
              <a:t>&gt; &lt;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4284138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245A-7293-F931-59E5-7B36832AFCF3}"/>
              </a:ext>
            </a:extLst>
          </p:cNvPr>
          <p:cNvSpPr>
            <a:spLocks noGrp="1"/>
          </p:cNvSpPr>
          <p:nvPr>
            <p:ph type="title"/>
          </p:nvPr>
        </p:nvSpPr>
        <p:spPr/>
        <p:txBody>
          <a:bodyPr/>
          <a:lstStyle/>
          <a:p>
            <a:r>
              <a:rPr lang="en-US" dirty="0"/>
              <a:t>Quotation and Citation: &lt;cite&gt; element</a:t>
            </a:r>
            <a:endParaRPr lang="en-GH" dirty="0"/>
          </a:p>
        </p:txBody>
      </p:sp>
      <p:sp>
        <p:nvSpPr>
          <p:cNvPr id="3" name="Content Placeholder 2">
            <a:extLst>
              <a:ext uri="{FF2B5EF4-FFF2-40B4-BE49-F238E27FC236}">
                <a16:creationId xmlns:a16="http://schemas.microsoft.com/office/drawing/2014/main" id="{A168D715-D425-48F9-1BA9-A4DF3F4AB9D9}"/>
              </a:ext>
            </a:extLst>
          </p:cNvPr>
          <p:cNvSpPr>
            <a:spLocks noGrp="1"/>
          </p:cNvSpPr>
          <p:nvPr>
            <p:ph idx="1"/>
          </p:nvPr>
        </p:nvSpPr>
        <p:spPr/>
        <p:txBody>
          <a:bodyPr/>
          <a:lstStyle/>
          <a:p>
            <a:r>
              <a:rPr lang="en-US" dirty="0"/>
              <a:t>Defines the title of a creative work (e.g., a book, a poem, a song, a movie, a painting, a sculpture, etc.).</a:t>
            </a:r>
          </a:p>
          <a:p>
            <a:r>
              <a:rPr lang="en-US" dirty="0">
                <a:solidFill>
                  <a:srgbClr val="FF0000"/>
                </a:solidFill>
              </a:rPr>
              <a:t>Note</a:t>
            </a:r>
            <a:r>
              <a:rPr lang="en-US" dirty="0"/>
              <a:t>: A person's name is not the title of a work.</a:t>
            </a:r>
          </a:p>
          <a:p>
            <a:r>
              <a:rPr lang="en-US" dirty="0"/>
              <a:t>The text in the </a:t>
            </a:r>
            <a:r>
              <a:rPr lang="en-US" dirty="0">
                <a:solidFill>
                  <a:srgbClr val="C00000"/>
                </a:solidFill>
              </a:rPr>
              <a:t>&lt;cite&gt; </a:t>
            </a:r>
            <a:r>
              <a:rPr lang="en-US" dirty="0"/>
              <a:t>element is usually rendered in italics.</a:t>
            </a:r>
          </a:p>
          <a:p>
            <a:endParaRPr lang="en-US" dirty="0"/>
          </a:p>
          <a:p>
            <a:r>
              <a:rPr lang="en-US" dirty="0">
                <a:solidFill>
                  <a:srgbClr val="0070C0"/>
                </a:solidFill>
              </a:rPr>
              <a:t>Example</a:t>
            </a:r>
            <a:r>
              <a:rPr lang="en-US" dirty="0"/>
              <a:t>:</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 &lt;</a:t>
            </a:r>
            <a:r>
              <a:rPr lang="en-US" b="0" i="0" dirty="0">
                <a:solidFill>
                  <a:srgbClr val="A52A2A"/>
                </a:solidFill>
                <a:effectLst/>
                <a:latin typeface="Consolas" panose="020B0609020204030204" pitchFamily="49" charset="0"/>
              </a:rPr>
              <a:t>cite</a:t>
            </a:r>
            <a:r>
              <a:rPr lang="en-US" b="0" i="0" dirty="0">
                <a:solidFill>
                  <a:srgbClr val="0000CD"/>
                </a:solidFill>
                <a:effectLst/>
                <a:latin typeface="Consolas" panose="020B0609020204030204" pitchFamily="49" charset="0"/>
              </a:rPr>
              <a:t>&gt; </a:t>
            </a:r>
            <a:r>
              <a:rPr lang="en-US" b="0" i="0" dirty="0">
                <a:solidFill>
                  <a:srgbClr val="000000"/>
                </a:solidFill>
                <a:effectLst/>
                <a:latin typeface="Consolas" panose="020B0609020204030204" pitchFamily="49" charset="0"/>
              </a:rPr>
              <a:t>The Scream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/cite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 by Edvard Munch. Painted in 1893.</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1424004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245A-7293-F931-59E5-7B36832AFCF3}"/>
              </a:ext>
            </a:extLst>
          </p:cNvPr>
          <p:cNvSpPr>
            <a:spLocks noGrp="1"/>
          </p:cNvSpPr>
          <p:nvPr>
            <p:ph type="title"/>
          </p:nvPr>
        </p:nvSpPr>
        <p:spPr/>
        <p:txBody>
          <a:bodyPr/>
          <a:lstStyle/>
          <a:p>
            <a:r>
              <a:rPr lang="en-US" dirty="0"/>
              <a:t>Quotation and Citation: &lt;</a:t>
            </a:r>
            <a:r>
              <a:rPr lang="en-US" dirty="0" err="1"/>
              <a:t>abbr</a:t>
            </a:r>
            <a:r>
              <a:rPr lang="en-US" dirty="0"/>
              <a:t>&gt; element</a:t>
            </a:r>
            <a:endParaRPr lang="en-GH" dirty="0"/>
          </a:p>
        </p:txBody>
      </p:sp>
      <p:sp>
        <p:nvSpPr>
          <p:cNvPr id="3" name="Content Placeholder 2">
            <a:extLst>
              <a:ext uri="{FF2B5EF4-FFF2-40B4-BE49-F238E27FC236}">
                <a16:creationId xmlns:a16="http://schemas.microsoft.com/office/drawing/2014/main" id="{A168D715-D425-48F9-1BA9-A4DF3F4AB9D9}"/>
              </a:ext>
            </a:extLst>
          </p:cNvPr>
          <p:cNvSpPr>
            <a:spLocks noGrp="1"/>
          </p:cNvSpPr>
          <p:nvPr>
            <p:ph idx="1"/>
          </p:nvPr>
        </p:nvSpPr>
        <p:spPr/>
        <p:txBody>
          <a:bodyPr/>
          <a:lstStyle/>
          <a:p>
            <a:r>
              <a:rPr lang="en-US" dirty="0"/>
              <a:t>Defines an abbreviation or an acronym, like "HTML", "CSS", "Mr.", "Dr.", "ASAP", "ATM" etc.</a:t>
            </a:r>
          </a:p>
          <a:p>
            <a:r>
              <a:rPr lang="en-US" dirty="0"/>
              <a:t>Marking abbreviations can give useful information to browsers, translation systems and search engines.</a:t>
            </a:r>
          </a:p>
          <a:p>
            <a:r>
              <a:rPr lang="en-US" dirty="0"/>
              <a:t>It's a good practice to use the global</a:t>
            </a:r>
            <a:r>
              <a:rPr lang="en-US" b="1" dirty="0">
                <a:solidFill>
                  <a:srgbClr val="0070C0"/>
                </a:solidFill>
              </a:rPr>
              <a:t> title attribute </a:t>
            </a:r>
            <a:r>
              <a:rPr lang="en-US" dirty="0"/>
              <a:t>to show the description for the abbreviation/acronym when you hover the mouse over the element. </a:t>
            </a:r>
          </a:p>
          <a:p>
            <a:r>
              <a:rPr lang="en-US" dirty="0">
                <a:solidFill>
                  <a:srgbClr val="0070C0"/>
                </a:solidFill>
              </a:rPr>
              <a:t>Example</a:t>
            </a:r>
            <a:r>
              <a:rPr lang="en-US" dirty="0"/>
              <a:t>:</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The </a:t>
            </a: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abbr</a:t>
            </a:r>
            <a:r>
              <a:rPr lang="en-US" b="0" i="0" dirty="0">
                <a:solidFill>
                  <a:srgbClr val="FF0000"/>
                </a:solidFill>
                <a:effectLst/>
                <a:latin typeface="Consolas" panose="020B0609020204030204" pitchFamily="49" charset="0"/>
              </a:rPr>
              <a:t> title</a:t>
            </a:r>
            <a:r>
              <a:rPr lang="en-US" b="0" i="0" dirty="0">
                <a:solidFill>
                  <a:srgbClr val="0000CD"/>
                </a:solidFill>
                <a:effectLst/>
                <a:latin typeface="Consolas" panose="020B0609020204030204" pitchFamily="49" charset="0"/>
              </a:rPr>
              <a:t>="World Health Organization"&gt; </a:t>
            </a:r>
            <a:r>
              <a:rPr lang="en-US" b="0" i="0" dirty="0">
                <a:solidFill>
                  <a:srgbClr val="000000"/>
                </a:solidFill>
                <a:effectLst/>
                <a:latin typeface="Consolas" panose="020B0609020204030204" pitchFamily="49" charset="0"/>
              </a:rPr>
              <a:t>WHO</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abbr</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 was founded in 1948.</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24473611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245A-7293-F931-59E5-7B36832AFCF3}"/>
              </a:ext>
            </a:extLst>
          </p:cNvPr>
          <p:cNvSpPr>
            <a:spLocks noGrp="1"/>
          </p:cNvSpPr>
          <p:nvPr>
            <p:ph type="title"/>
          </p:nvPr>
        </p:nvSpPr>
        <p:spPr/>
        <p:txBody>
          <a:bodyPr/>
          <a:lstStyle/>
          <a:p>
            <a:r>
              <a:rPr lang="en-US" dirty="0"/>
              <a:t>Quotation and Citation: &lt;address&gt; element</a:t>
            </a:r>
            <a:endParaRPr lang="en-GH" dirty="0"/>
          </a:p>
        </p:txBody>
      </p:sp>
      <p:sp>
        <p:nvSpPr>
          <p:cNvPr id="3" name="Content Placeholder 2">
            <a:extLst>
              <a:ext uri="{FF2B5EF4-FFF2-40B4-BE49-F238E27FC236}">
                <a16:creationId xmlns:a16="http://schemas.microsoft.com/office/drawing/2014/main" id="{A168D715-D425-48F9-1BA9-A4DF3F4AB9D9}"/>
              </a:ext>
            </a:extLst>
          </p:cNvPr>
          <p:cNvSpPr>
            <a:spLocks noGrp="1"/>
          </p:cNvSpPr>
          <p:nvPr>
            <p:ph idx="1"/>
          </p:nvPr>
        </p:nvSpPr>
        <p:spPr/>
        <p:txBody>
          <a:bodyPr/>
          <a:lstStyle/>
          <a:p>
            <a:r>
              <a:rPr lang="en-US" dirty="0"/>
              <a:t>Defines the contact information for the author/owner of a document or an article.</a:t>
            </a:r>
          </a:p>
          <a:p>
            <a:r>
              <a:rPr lang="en-US" dirty="0"/>
              <a:t>The contact information can be an email address, URL, physical address, phone number, social media handle, etc.</a:t>
            </a:r>
          </a:p>
          <a:p>
            <a:r>
              <a:rPr lang="en-US" dirty="0"/>
              <a:t>The text in the </a:t>
            </a:r>
            <a:r>
              <a:rPr lang="en-US" dirty="0">
                <a:solidFill>
                  <a:srgbClr val="C00000"/>
                </a:solidFill>
              </a:rPr>
              <a:t>&lt;address&gt; </a:t>
            </a:r>
            <a:r>
              <a:rPr lang="en-US" dirty="0"/>
              <a:t>element usually renders in italics, and browsers will always add a line break before and after the </a:t>
            </a:r>
            <a:r>
              <a:rPr lang="en-US" dirty="0">
                <a:solidFill>
                  <a:srgbClr val="C00000"/>
                </a:solidFill>
              </a:rPr>
              <a:t>&lt;address&gt; </a:t>
            </a:r>
            <a:r>
              <a:rPr lang="en-US" dirty="0"/>
              <a:t>element.</a:t>
            </a:r>
          </a:p>
          <a:p>
            <a:r>
              <a:rPr lang="en-US" dirty="0">
                <a:solidFill>
                  <a:srgbClr val="0070C0"/>
                </a:solidFill>
              </a:rPr>
              <a:t>Example</a:t>
            </a:r>
            <a:r>
              <a:rPr lang="en-US" dirty="0"/>
              <a:t>:</a:t>
            </a:r>
          </a:p>
          <a:p>
            <a:pPr marL="0" indent="0">
              <a:buNone/>
            </a:pP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address</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00"/>
                </a:solidFill>
                <a:effectLst/>
                <a:latin typeface="Consolas" panose="020B0609020204030204" pitchFamily="49" charset="0"/>
              </a:rPr>
              <a:t>Dr Govindha Yeluripati.</a:t>
            </a:r>
            <a:r>
              <a:rPr lang="en-US" sz="2200" b="0" i="0" dirty="0">
                <a:solidFill>
                  <a:srgbClr val="0000CD"/>
                </a:solidFill>
                <a:effectLst/>
                <a:latin typeface="Consolas" panose="020B0609020204030204" pitchFamily="49" charset="0"/>
              </a:rPr>
              <a:t>&lt;</a:t>
            </a:r>
            <a:r>
              <a:rPr lang="en-US" sz="2200" b="0" i="0" dirty="0" err="1">
                <a:solidFill>
                  <a:srgbClr val="A52A2A"/>
                </a:solidFill>
                <a:effectLst/>
                <a:latin typeface="Consolas" panose="020B0609020204030204" pitchFamily="49" charset="0"/>
              </a:rPr>
              <a:t>br</a:t>
            </a:r>
            <a:r>
              <a:rPr lang="en-US" sz="2200" b="0" i="0" dirty="0">
                <a:solidFill>
                  <a:srgbClr val="0000CD"/>
                </a:solidFill>
                <a:effectLst/>
                <a:latin typeface="Consolas" panose="020B0609020204030204" pitchFamily="49" charset="0"/>
              </a:rPr>
              <a:t>&gt;</a:t>
            </a:r>
            <a:br>
              <a:rPr lang="en-US" sz="2200" dirty="0"/>
            </a:br>
            <a:r>
              <a:rPr lang="en-US" sz="2200" b="0" i="0" dirty="0" err="1">
                <a:solidFill>
                  <a:srgbClr val="000000"/>
                </a:solidFill>
                <a:effectLst/>
                <a:latin typeface="Consolas" panose="020B0609020204030204" pitchFamily="49" charset="0"/>
              </a:rPr>
              <a:t>Website:</a:t>
            </a:r>
            <a:r>
              <a:rPr lang="en-US" sz="2200" dirty="0" err="1"/>
              <a:t>www.</a:t>
            </a:r>
            <a:r>
              <a:rPr lang="en-US" sz="2200" b="0" i="0" dirty="0" err="1">
                <a:solidFill>
                  <a:srgbClr val="000000"/>
                </a:solidFill>
                <a:effectLst/>
                <a:latin typeface="Consolas" panose="020B0609020204030204" pitchFamily="49" charset="0"/>
              </a:rPr>
              <a:t>ashesi.edu.gh</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br</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00"/>
                </a:solidFill>
                <a:effectLst/>
                <a:latin typeface="Consolas" panose="020B0609020204030204" pitchFamily="49" charset="0"/>
              </a:rPr>
              <a:t>1, University Avenue, </a:t>
            </a:r>
            <a:r>
              <a:rPr lang="en-US" sz="2200" b="0" i="0" dirty="0" err="1">
                <a:solidFill>
                  <a:srgbClr val="000000"/>
                </a:solidFill>
                <a:effectLst/>
                <a:latin typeface="Consolas" panose="020B0609020204030204" pitchFamily="49" charset="0"/>
              </a:rPr>
              <a:t>Berekuso</a:t>
            </a:r>
            <a:r>
              <a:rPr lang="en-US" sz="2200" b="0" i="0" dirty="0">
                <a:solidFill>
                  <a:srgbClr val="0000CD"/>
                </a:solidFill>
                <a:effectLst/>
                <a:latin typeface="Consolas" panose="020B0609020204030204" pitchFamily="49" charset="0"/>
              </a:rPr>
              <a:t>&lt;</a:t>
            </a:r>
            <a:r>
              <a:rPr lang="en-US" sz="2200" b="0" i="0" dirty="0" err="1">
                <a:solidFill>
                  <a:srgbClr val="A52A2A"/>
                </a:solidFill>
                <a:effectLst/>
                <a:latin typeface="Consolas" panose="020B0609020204030204" pitchFamily="49" charset="0"/>
              </a:rPr>
              <a:t>br</a:t>
            </a:r>
            <a:r>
              <a:rPr lang="en-US" sz="2200" b="0" i="0" dirty="0">
                <a:solidFill>
                  <a:srgbClr val="0000CD"/>
                </a:solidFill>
                <a:effectLst/>
                <a:latin typeface="Consolas" panose="020B0609020204030204" pitchFamily="49" charset="0"/>
              </a:rPr>
              <a:t>&gt;</a:t>
            </a:r>
            <a:br>
              <a:rPr lang="en-US" sz="2200" dirty="0"/>
            </a:br>
            <a:r>
              <a:rPr lang="en-US" sz="2200" dirty="0">
                <a:solidFill>
                  <a:srgbClr val="000000"/>
                </a:solidFill>
                <a:latin typeface="Consolas" panose="020B0609020204030204" pitchFamily="49" charset="0"/>
              </a:rPr>
              <a:t>ER, Ghana</a:t>
            </a:r>
            <a:r>
              <a:rPr lang="en-US" sz="2200" b="0" i="0" dirty="0">
                <a:solidFill>
                  <a:srgbClr val="000000"/>
                </a:solidFill>
                <a:effectLst/>
                <a:latin typeface="Consolas" panose="020B0609020204030204" pitchFamily="49" charset="0"/>
              </a:rPr>
              <a:t> </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/address</a:t>
            </a:r>
            <a:r>
              <a:rPr lang="en-US" sz="2200" b="0" i="0" dirty="0">
                <a:solidFill>
                  <a:srgbClr val="0000CD"/>
                </a:solidFill>
                <a:effectLst/>
                <a:latin typeface="Consolas" panose="020B0609020204030204" pitchFamily="49" charset="0"/>
              </a:rPr>
              <a:t>&gt;</a:t>
            </a:r>
            <a:endParaRPr lang="en-US" sz="2200" dirty="0"/>
          </a:p>
        </p:txBody>
      </p:sp>
    </p:spTree>
    <p:extLst>
      <p:ext uri="{BB962C8B-B14F-4D97-AF65-F5344CB8AC3E}">
        <p14:creationId xmlns:p14="http://schemas.microsoft.com/office/powerpoint/2010/main" val="1805384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245A-7293-F931-59E5-7B36832AFCF3}"/>
              </a:ext>
            </a:extLst>
          </p:cNvPr>
          <p:cNvSpPr>
            <a:spLocks noGrp="1"/>
          </p:cNvSpPr>
          <p:nvPr>
            <p:ph type="title"/>
          </p:nvPr>
        </p:nvSpPr>
        <p:spPr/>
        <p:txBody>
          <a:bodyPr/>
          <a:lstStyle/>
          <a:p>
            <a:r>
              <a:rPr lang="en-US" dirty="0"/>
              <a:t>Quotation and Citation: &lt;</a:t>
            </a:r>
            <a:r>
              <a:rPr lang="en-US" dirty="0" err="1"/>
              <a:t>bdo</a:t>
            </a:r>
            <a:r>
              <a:rPr lang="en-US" dirty="0"/>
              <a:t>&gt; element</a:t>
            </a:r>
            <a:endParaRPr lang="en-GH" dirty="0"/>
          </a:p>
        </p:txBody>
      </p:sp>
      <p:sp>
        <p:nvSpPr>
          <p:cNvPr id="3" name="Content Placeholder 2">
            <a:extLst>
              <a:ext uri="{FF2B5EF4-FFF2-40B4-BE49-F238E27FC236}">
                <a16:creationId xmlns:a16="http://schemas.microsoft.com/office/drawing/2014/main" id="{A168D715-D425-48F9-1BA9-A4DF3F4AB9D9}"/>
              </a:ext>
            </a:extLst>
          </p:cNvPr>
          <p:cNvSpPr>
            <a:spLocks noGrp="1"/>
          </p:cNvSpPr>
          <p:nvPr>
            <p:ph idx="1"/>
          </p:nvPr>
        </p:nvSpPr>
        <p:spPr/>
        <p:txBody>
          <a:bodyPr/>
          <a:lstStyle/>
          <a:p>
            <a:r>
              <a:rPr lang="en-US" dirty="0" err="1"/>
              <a:t>BDO</a:t>
            </a:r>
            <a:r>
              <a:rPr lang="en-US" dirty="0"/>
              <a:t> stands for Bi-Directional Override.</a:t>
            </a:r>
          </a:p>
          <a:p>
            <a:r>
              <a:rPr lang="en-US" dirty="0"/>
              <a:t>The HTML &lt;</a:t>
            </a:r>
            <a:r>
              <a:rPr lang="en-US" dirty="0" err="1"/>
              <a:t>bdo</a:t>
            </a:r>
            <a:r>
              <a:rPr lang="en-US" dirty="0"/>
              <a:t>&gt; tag is used to override the current text direction.</a:t>
            </a:r>
          </a:p>
          <a:p>
            <a:endParaRPr lang="en-US" dirty="0">
              <a:solidFill>
                <a:srgbClr val="0070C0"/>
              </a:solidFill>
            </a:endParaRPr>
          </a:p>
          <a:p>
            <a:r>
              <a:rPr lang="en-US" dirty="0">
                <a:solidFill>
                  <a:srgbClr val="0070C0"/>
                </a:solidFill>
              </a:rPr>
              <a:t>Example:</a:t>
            </a:r>
          </a:p>
          <a:p>
            <a:pPr marL="0" indent="0">
              <a:buNone/>
            </a:pP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bdo</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dir</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rtl</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text will be written from right to left</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bdo</a:t>
            </a:r>
            <a:r>
              <a:rPr lang="en-US" b="0" i="0" dirty="0">
                <a:solidFill>
                  <a:srgbClr val="0000CD"/>
                </a:solidFill>
                <a:effectLst/>
                <a:latin typeface="Consolas" panose="020B0609020204030204" pitchFamily="49" charset="0"/>
              </a:rPr>
              <a:t>&gt;</a:t>
            </a:r>
            <a:endParaRPr lang="en-US" dirty="0">
              <a:solidFill>
                <a:srgbClr val="0070C0"/>
              </a:solidFill>
            </a:endParaRPr>
          </a:p>
        </p:txBody>
      </p:sp>
    </p:spTree>
    <p:extLst>
      <p:ext uri="{BB962C8B-B14F-4D97-AF65-F5344CB8AC3E}">
        <p14:creationId xmlns:p14="http://schemas.microsoft.com/office/powerpoint/2010/main" val="30999178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1DCBD-7233-294F-2377-72EC0243FDE9}"/>
              </a:ext>
            </a:extLst>
          </p:cNvPr>
          <p:cNvSpPr>
            <a:spLocks noGrp="1"/>
          </p:cNvSpPr>
          <p:nvPr>
            <p:ph type="title"/>
          </p:nvPr>
        </p:nvSpPr>
        <p:spPr/>
        <p:txBody>
          <a:bodyPr/>
          <a:lstStyle/>
          <a:p>
            <a:r>
              <a:rPr lang="en-IN" dirty="0"/>
              <a:t>HTML </a:t>
            </a:r>
            <a:r>
              <a:rPr lang="en-IN" dirty="0" err="1"/>
              <a:t>Colors</a:t>
            </a:r>
            <a:endParaRPr lang="en-GH" dirty="0"/>
          </a:p>
        </p:txBody>
      </p:sp>
      <p:sp>
        <p:nvSpPr>
          <p:cNvPr id="3" name="Content Placeholder 2">
            <a:extLst>
              <a:ext uri="{FF2B5EF4-FFF2-40B4-BE49-F238E27FC236}">
                <a16:creationId xmlns:a16="http://schemas.microsoft.com/office/drawing/2014/main" id="{F6CE3D5B-87C6-F135-CB38-BB9382448275}"/>
              </a:ext>
            </a:extLst>
          </p:cNvPr>
          <p:cNvSpPr>
            <a:spLocks noGrp="1"/>
          </p:cNvSpPr>
          <p:nvPr>
            <p:ph idx="1"/>
          </p:nvPr>
        </p:nvSpPr>
        <p:spPr/>
        <p:txBody>
          <a:bodyPr/>
          <a:lstStyle/>
          <a:p>
            <a:r>
              <a:rPr lang="en-US" dirty="0"/>
              <a:t>HTML colors are specified with predefined color names, or with RGB, HEX, </a:t>
            </a:r>
            <a:r>
              <a:rPr lang="en-US" dirty="0" err="1"/>
              <a:t>HSL</a:t>
            </a:r>
            <a:r>
              <a:rPr lang="en-US" dirty="0"/>
              <a:t>, </a:t>
            </a:r>
            <a:r>
              <a:rPr lang="en-US" dirty="0" err="1"/>
              <a:t>RGBA</a:t>
            </a:r>
            <a:r>
              <a:rPr lang="en-US" dirty="0"/>
              <a:t>, or </a:t>
            </a:r>
            <a:r>
              <a:rPr lang="en-US" dirty="0" err="1"/>
              <a:t>HSLA</a:t>
            </a:r>
            <a:r>
              <a:rPr lang="en-US" dirty="0"/>
              <a:t> values.</a:t>
            </a:r>
          </a:p>
          <a:p>
            <a:endParaRPr lang="en-US" dirty="0"/>
          </a:p>
          <a:p>
            <a:r>
              <a:rPr lang="en-US" dirty="0"/>
              <a:t>Please check: </a:t>
            </a:r>
            <a:r>
              <a:rPr lang="en-US" dirty="0">
                <a:hlinkClick r:id="rId2"/>
              </a:rPr>
              <a:t>https://www.w3schools.com/html/html_colors.asp</a:t>
            </a:r>
            <a:r>
              <a:rPr lang="en-US" dirty="0"/>
              <a:t> </a:t>
            </a:r>
            <a:endParaRPr lang="en-GH" dirty="0"/>
          </a:p>
        </p:txBody>
      </p:sp>
    </p:spTree>
    <p:extLst>
      <p:ext uri="{BB962C8B-B14F-4D97-AF65-F5344CB8AC3E}">
        <p14:creationId xmlns:p14="http://schemas.microsoft.com/office/powerpoint/2010/main" val="3437618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E3AB-7AF9-A5BA-017D-DB8878139D9F}"/>
              </a:ext>
            </a:extLst>
          </p:cNvPr>
          <p:cNvSpPr>
            <a:spLocks noGrp="1"/>
          </p:cNvSpPr>
          <p:nvPr>
            <p:ph type="title"/>
          </p:nvPr>
        </p:nvSpPr>
        <p:spPr/>
        <p:txBody>
          <a:bodyPr/>
          <a:lstStyle/>
          <a:p>
            <a:r>
              <a:rPr lang="en-IN" dirty="0"/>
              <a:t>HTML Favicon</a:t>
            </a:r>
            <a:endParaRPr lang="en-GH" dirty="0"/>
          </a:p>
        </p:txBody>
      </p:sp>
      <p:sp>
        <p:nvSpPr>
          <p:cNvPr id="3" name="Content Placeholder 2">
            <a:extLst>
              <a:ext uri="{FF2B5EF4-FFF2-40B4-BE49-F238E27FC236}">
                <a16:creationId xmlns:a16="http://schemas.microsoft.com/office/drawing/2014/main" id="{3D55B18E-B0F7-2E78-A523-EBFEEA859CBA}"/>
              </a:ext>
            </a:extLst>
          </p:cNvPr>
          <p:cNvSpPr>
            <a:spLocks noGrp="1"/>
          </p:cNvSpPr>
          <p:nvPr>
            <p:ph idx="1"/>
          </p:nvPr>
        </p:nvSpPr>
        <p:spPr/>
        <p:txBody>
          <a:bodyPr/>
          <a:lstStyle/>
          <a:p>
            <a:r>
              <a:rPr lang="en-US" dirty="0"/>
              <a:t>A favicon is a small image displayed next to the page title in the browser tab.</a:t>
            </a:r>
          </a:p>
          <a:p>
            <a:r>
              <a:rPr lang="en-US" dirty="0"/>
              <a:t>Any image (simple, high contrast) can be used as a favicon. A common name for a favicon image is "favicon.ico"</a:t>
            </a:r>
          </a:p>
          <a:p>
            <a:r>
              <a:rPr lang="en-US" dirty="0"/>
              <a:t>One can also create their favicon on sites like </a:t>
            </a:r>
            <a:r>
              <a:rPr lang="en-US" dirty="0">
                <a:hlinkClick r:id="rId2"/>
              </a:rPr>
              <a:t>https://www.favicon.cc</a:t>
            </a:r>
            <a:r>
              <a:rPr lang="en-US" dirty="0"/>
              <a:t>. </a:t>
            </a:r>
          </a:p>
          <a:p>
            <a:endParaRPr lang="en-US" dirty="0"/>
          </a:p>
          <a:p>
            <a:endParaRPr lang="en-US" dirty="0"/>
          </a:p>
          <a:p>
            <a:endParaRPr lang="en-US" dirty="0"/>
          </a:p>
          <a:p>
            <a:r>
              <a:rPr lang="en-US" dirty="0"/>
              <a:t>To create, add a </a:t>
            </a:r>
            <a:r>
              <a:rPr lang="en-US" dirty="0">
                <a:solidFill>
                  <a:srgbClr val="C00000"/>
                </a:solidFill>
              </a:rPr>
              <a:t>&lt;link&gt; </a:t>
            </a:r>
            <a:r>
              <a:rPr lang="en-US" dirty="0"/>
              <a:t>element to the "index.html" file, after the </a:t>
            </a:r>
            <a:r>
              <a:rPr lang="en-US" dirty="0">
                <a:solidFill>
                  <a:srgbClr val="C00000"/>
                </a:solidFill>
              </a:rPr>
              <a:t>&lt;title&gt; </a:t>
            </a:r>
            <a:r>
              <a:rPr lang="en-US" dirty="0"/>
              <a:t>element</a:t>
            </a:r>
            <a:endParaRPr lang="en-GH" dirty="0"/>
          </a:p>
        </p:txBody>
      </p:sp>
      <p:pic>
        <p:nvPicPr>
          <p:cNvPr id="4" name="Picture 3">
            <a:extLst>
              <a:ext uri="{FF2B5EF4-FFF2-40B4-BE49-F238E27FC236}">
                <a16:creationId xmlns:a16="http://schemas.microsoft.com/office/drawing/2014/main" id="{91501B70-86B3-1535-9A42-CB805C9F210F}"/>
              </a:ext>
            </a:extLst>
          </p:cNvPr>
          <p:cNvPicPr>
            <a:picLocks noChangeAspect="1"/>
          </p:cNvPicPr>
          <p:nvPr/>
        </p:nvPicPr>
        <p:blipFill>
          <a:blip r:embed="rId3"/>
          <a:stretch>
            <a:fillRect/>
          </a:stretch>
        </p:blipFill>
        <p:spPr>
          <a:xfrm>
            <a:off x="1337154" y="3817958"/>
            <a:ext cx="5722865" cy="967577"/>
          </a:xfrm>
          <a:prstGeom prst="rect">
            <a:avLst/>
          </a:prstGeom>
        </p:spPr>
      </p:pic>
    </p:spTree>
    <p:extLst>
      <p:ext uri="{BB962C8B-B14F-4D97-AF65-F5344CB8AC3E}">
        <p14:creationId xmlns:p14="http://schemas.microsoft.com/office/powerpoint/2010/main" val="3829598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E3AB-7AF9-A5BA-017D-DB8878139D9F}"/>
              </a:ext>
            </a:extLst>
          </p:cNvPr>
          <p:cNvSpPr>
            <a:spLocks noGrp="1"/>
          </p:cNvSpPr>
          <p:nvPr>
            <p:ph type="title"/>
          </p:nvPr>
        </p:nvSpPr>
        <p:spPr/>
        <p:txBody>
          <a:bodyPr/>
          <a:lstStyle/>
          <a:p>
            <a:r>
              <a:rPr lang="en-IN" dirty="0"/>
              <a:t>HTML Favicon: Example</a:t>
            </a:r>
            <a:endParaRPr lang="en-GH" dirty="0"/>
          </a:p>
        </p:txBody>
      </p:sp>
      <p:sp>
        <p:nvSpPr>
          <p:cNvPr id="3" name="Content Placeholder 2">
            <a:extLst>
              <a:ext uri="{FF2B5EF4-FFF2-40B4-BE49-F238E27FC236}">
                <a16:creationId xmlns:a16="http://schemas.microsoft.com/office/drawing/2014/main" id="{3D55B18E-B0F7-2E78-A523-EBFEEA859CBA}"/>
              </a:ext>
            </a:extLst>
          </p:cNvPr>
          <p:cNvSpPr>
            <a:spLocks noGrp="1"/>
          </p:cNvSpPr>
          <p:nvPr>
            <p:ph idx="1"/>
          </p:nvPr>
        </p:nvSpPr>
        <p:spPr/>
        <p:txBody>
          <a:bodyPr/>
          <a:lstStyle/>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Favicon Demo</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highlight>
                  <a:srgbClr val="FFFF00"/>
                </a:highlight>
                <a:latin typeface="Consolas" panose="020B0609020204030204" pitchFamily="49" charset="0"/>
              </a:rPr>
              <a:t>&lt;</a:t>
            </a:r>
            <a:r>
              <a:rPr lang="en-US" b="0" i="0" dirty="0">
                <a:solidFill>
                  <a:srgbClr val="A52A2A"/>
                </a:solidFill>
                <a:effectLst/>
                <a:highlight>
                  <a:srgbClr val="FFFF00"/>
                </a:highlight>
                <a:latin typeface="Consolas" panose="020B0609020204030204" pitchFamily="49" charset="0"/>
              </a:rPr>
              <a:t>link</a:t>
            </a:r>
            <a:r>
              <a:rPr lang="en-US" b="0" i="0" dirty="0">
                <a:solidFill>
                  <a:srgbClr val="FF0000"/>
                </a:solidFill>
                <a:effectLst/>
                <a:highlight>
                  <a:srgbClr val="FFFF00"/>
                </a:highlight>
                <a:latin typeface="Consolas" panose="020B0609020204030204" pitchFamily="49" charset="0"/>
              </a:rPr>
              <a:t> </a:t>
            </a:r>
            <a:r>
              <a:rPr lang="en-US" b="0" i="0" dirty="0" err="1">
                <a:solidFill>
                  <a:srgbClr val="FF0000"/>
                </a:solidFill>
                <a:effectLst/>
                <a:highlight>
                  <a:srgbClr val="FFFF00"/>
                </a:highlight>
                <a:latin typeface="Consolas" panose="020B0609020204030204" pitchFamily="49" charset="0"/>
              </a:rPr>
              <a:t>rel</a:t>
            </a:r>
            <a:r>
              <a:rPr lang="en-US" b="0" i="0" dirty="0">
                <a:solidFill>
                  <a:srgbClr val="0000CD"/>
                </a:solidFill>
                <a:effectLst/>
                <a:highlight>
                  <a:srgbClr val="FFFF00"/>
                </a:highlight>
                <a:latin typeface="Consolas" panose="020B0609020204030204" pitchFamily="49" charset="0"/>
              </a:rPr>
              <a:t>="icon"</a:t>
            </a:r>
            <a:r>
              <a:rPr lang="en-US" b="0" i="0" dirty="0">
                <a:solidFill>
                  <a:srgbClr val="FF0000"/>
                </a:solidFill>
                <a:effectLst/>
                <a:highlight>
                  <a:srgbClr val="FFFF00"/>
                </a:highlight>
                <a:latin typeface="Consolas" panose="020B0609020204030204" pitchFamily="49" charset="0"/>
              </a:rPr>
              <a:t> type</a:t>
            </a:r>
            <a:r>
              <a:rPr lang="en-US" b="0" i="0" dirty="0">
                <a:solidFill>
                  <a:srgbClr val="0000CD"/>
                </a:solidFill>
                <a:effectLst/>
                <a:highlight>
                  <a:srgbClr val="FFFF00"/>
                </a:highlight>
                <a:latin typeface="Consolas" panose="020B0609020204030204" pitchFamily="49" charset="0"/>
              </a:rPr>
              <a:t>="image/x-	icon"</a:t>
            </a:r>
            <a:r>
              <a:rPr lang="en-US" b="0" i="0" dirty="0">
                <a:solidFill>
                  <a:srgbClr val="FF0000"/>
                </a:solidFill>
                <a:effectLst/>
                <a:highlight>
                  <a:srgbClr val="FFFF00"/>
                </a:highlight>
                <a:latin typeface="Consolas" panose="020B0609020204030204" pitchFamily="49" charset="0"/>
              </a:rPr>
              <a:t> </a:t>
            </a:r>
            <a:r>
              <a:rPr lang="en-US" b="0" i="0" dirty="0" err="1">
                <a:solidFill>
                  <a:srgbClr val="FF0000"/>
                </a:solidFill>
                <a:effectLst/>
                <a:highlight>
                  <a:srgbClr val="FFFF00"/>
                </a:highlight>
                <a:latin typeface="Consolas" panose="020B0609020204030204" pitchFamily="49" charset="0"/>
              </a:rPr>
              <a:t>href</a:t>
            </a:r>
            <a:r>
              <a:rPr lang="en-US" b="0" i="0" dirty="0">
                <a:solidFill>
                  <a:srgbClr val="0000CD"/>
                </a:solidFill>
                <a:effectLst/>
                <a:highlight>
                  <a:srgbClr val="FFFF00"/>
                </a:highlight>
                <a:latin typeface="Consolas" panose="020B0609020204030204" pitchFamily="49" charset="0"/>
              </a:rPr>
              <a:t>="/images/favicon.ico"&gt;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endParaRPr lang="en-GH" dirty="0"/>
          </a:p>
        </p:txBody>
      </p:sp>
    </p:spTree>
    <p:extLst>
      <p:ext uri="{BB962C8B-B14F-4D97-AF65-F5344CB8AC3E}">
        <p14:creationId xmlns:p14="http://schemas.microsoft.com/office/powerpoint/2010/main" val="3237393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72E0-6EC0-C2B2-83FB-B5EDF04A5253}"/>
              </a:ext>
            </a:extLst>
          </p:cNvPr>
          <p:cNvSpPr>
            <a:spLocks noGrp="1"/>
          </p:cNvSpPr>
          <p:nvPr>
            <p:ph type="title"/>
          </p:nvPr>
        </p:nvSpPr>
        <p:spPr/>
        <p:txBody>
          <a:bodyPr/>
          <a:lstStyle/>
          <a:p>
            <a:r>
              <a:rPr lang="en-IN" dirty="0"/>
              <a:t>Tables</a:t>
            </a:r>
            <a:endParaRPr lang="en-GH" dirty="0"/>
          </a:p>
        </p:txBody>
      </p:sp>
      <p:sp>
        <p:nvSpPr>
          <p:cNvPr id="3" name="Content Placeholder 2">
            <a:extLst>
              <a:ext uri="{FF2B5EF4-FFF2-40B4-BE49-F238E27FC236}">
                <a16:creationId xmlns:a16="http://schemas.microsoft.com/office/drawing/2014/main" id="{8F6076AD-0352-B4F7-BE65-52CB86E2025B}"/>
              </a:ext>
            </a:extLst>
          </p:cNvPr>
          <p:cNvSpPr>
            <a:spLocks noGrp="1"/>
          </p:cNvSpPr>
          <p:nvPr>
            <p:ph idx="1"/>
          </p:nvPr>
        </p:nvSpPr>
        <p:spPr/>
        <p:txBody>
          <a:bodyPr/>
          <a:lstStyle/>
          <a:p>
            <a:r>
              <a:rPr lang="en-US" dirty="0"/>
              <a:t>Meant for arranging data into rows and columns.</a:t>
            </a:r>
          </a:p>
          <a:p>
            <a:r>
              <a:rPr lang="en-US" dirty="0"/>
              <a:t>A table in HTML consists of table cells inside rows and columns.</a:t>
            </a:r>
          </a:p>
          <a:p>
            <a:r>
              <a:rPr lang="en-US" dirty="0"/>
              <a:t>Each table cell is defined by a </a:t>
            </a:r>
            <a:r>
              <a:rPr lang="en-US" b="1" dirty="0">
                <a:solidFill>
                  <a:srgbClr val="C00000"/>
                </a:solidFill>
              </a:rPr>
              <a:t>&lt;td&gt; </a:t>
            </a:r>
            <a:r>
              <a:rPr lang="en-US" dirty="0"/>
              <a:t>and a </a:t>
            </a:r>
            <a:r>
              <a:rPr lang="en-US" b="1" dirty="0">
                <a:solidFill>
                  <a:srgbClr val="C00000"/>
                </a:solidFill>
              </a:rPr>
              <a:t>&lt;/td&gt; </a:t>
            </a:r>
            <a:r>
              <a:rPr lang="en-US" dirty="0"/>
              <a:t>tag, where </a:t>
            </a:r>
            <a:r>
              <a:rPr lang="en-US" b="1" dirty="0">
                <a:solidFill>
                  <a:srgbClr val="C00000"/>
                </a:solidFill>
              </a:rPr>
              <a:t>td </a:t>
            </a:r>
            <a:r>
              <a:rPr lang="en-US" dirty="0"/>
              <a:t>stands for </a:t>
            </a:r>
            <a:r>
              <a:rPr lang="en-US" b="1" dirty="0"/>
              <a:t>table data</a:t>
            </a:r>
            <a:r>
              <a:rPr lang="en-US" dirty="0"/>
              <a:t>. </a:t>
            </a:r>
          </a:p>
          <a:p>
            <a:r>
              <a:rPr lang="en-US" dirty="0"/>
              <a:t>Everything between &lt;td&gt; and &lt;/td&gt; is the content of the table cell.</a:t>
            </a:r>
          </a:p>
          <a:p>
            <a:r>
              <a:rPr lang="en-US" dirty="0"/>
              <a:t>A table cell can contain all sorts of HTML elements: text, images, lists, links, other tables, etc.</a:t>
            </a:r>
            <a:endParaRPr lang="en-GH" dirty="0"/>
          </a:p>
        </p:txBody>
      </p:sp>
    </p:spTree>
    <p:extLst>
      <p:ext uri="{BB962C8B-B14F-4D97-AF65-F5344CB8AC3E}">
        <p14:creationId xmlns:p14="http://schemas.microsoft.com/office/powerpoint/2010/main" val="11940081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72E0-6EC0-C2B2-83FB-B5EDF04A5253}"/>
              </a:ext>
            </a:extLst>
          </p:cNvPr>
          <p:cNvSpPr>
            <a:spLocks noGrp="1"/>
          </p:cNvSpPr>
          <p:nvPr>
            <p:ph type="title"/>
          </p:nvPr>
        </p:nvSpPr>
        <p:spPr/>
        <p:txBody>
          <a:bodyPr/>
          <a:lstStyle/>
          <a:p>
            <a:r>
              <a:rPr lang="en-IN" dirty="0"/>
              <a:t>Table: Example</a:t>
            </a:r>
            <a:endParaRPr lang="en-GH" dirty="0"/>
          </a:p>
        </p:txBody>
      </p:sp>
      <p:sp>
        <p:nvSpPr>
          <p:cNvPr id="3" name="Content Placeholder 2">
            <a:extLst>
              <a:ext uri="{FF2B5EF4-FFF2-40B4-BE49-F238E27FC236}">
                <a16:creationId xmlns:a16="http://schemas.microsoft.com/office/drawing/2014/main" id="{8F6076AD-0352-B4F7-BE65-52CB86E2025B}"/>
              </a:ext>
            </a:extLst>
          </p:cNvPr>
          <p:cNvSpPr>
            <a:spLocks noGrp="1"/>
          </p:cNvSpPr>
          <p:nvPr>
            <p:ph idx="1"/>
          </p:nvPr>
        </p:nvSpPr>
        <p:spPr>
          <a:xfrm>
            <a:off x="411228" y="1088315"/>
            <a:ext cx="8681519" cy="4943141"/>
          </a:xfrm>
        </p:spPr>
        <p:txBody>
          <a:bodyPr>
            <a:noAutofit/>
          </a:bodyPr>
          <a:lstStyle/>
          <a:p>
            <a:pPr marL="0" indent="0">
              <a:buNone/>
            </a:pP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table</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tr</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err="1">
                <a:solidFill>
                  <a:srgbClr val="A52A2A"/>
                </a:solidFill>
                <a:effectLst/>
                <a:latin typeface="Consolas" panose="020B0609020204030204" pitchFamily="49" charset="0"/>
              </a:rPr>
              <a:t>th</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Company</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a:t>
            </a:r>
            <a:r>
              <a:rPr lang="en-IN" sz="2300" b="0" i="0" dirty="0" err="1">
                <a:solidFill>
                  <a:srgbClr val="A52A2A"/>
                </a:solidFill>
                <a:effectLst/>
                <a:latin typeface="Consolas" panose="020B0609020204030204" pitchFamily="49" charset="0"/>
              </a:rPr>
              <a:t>th</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err="1">
                <a:solidFill>
                  <a:srgbClr val="A52A2A"/>
                </a:solidFill>
                <a:effectLst/>
                <a:latin typeface="Consolas" panose="020B0609020204030204" pitchFamily="49" charset="0"/>
              </a:rPr>
              <a:t>th</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Contact</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a:t>
            </a:r>
            <a:r>
              <a:rPr lang="en-IN" sz="2300" b="0" i="0" dirty="0" err="1">
                <a:solidFill>
                  <a:srgbClr val="A52A2A"/>
                </a:solidFill>
                <a:effectLst/>
                <a:latin typeface="Consolas" panose="020B0609020204030204" pitchFamily="49" charset="0"/>
              </a:rPr>
              <a:t>th</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err="1">
                <a:solidFill>
                  <a:srgbClr val="A52A2A"/>
                </a:solidFill>
                <a:effectLst/>
                <a:latin typeface="Consolas" panose="020B0609020204030204" pitchFamily="49" charset="0"/>
              </a:rPr>
              <a:t>th</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Country</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a:t>
            </a:r>
            <a:r>
              <a:rPr lang="en-IN" sz="2300" b="0" i="0" dirty="0" err="1">
                <a:solidFill>
                  <a:srgbClr val="A52A2A"/>
                </a:solidFill>
                <a:effectLst/>
                <a:latin typeface="Consolas" panose="020B0609020204030204" pitchFamily="49" charset="0"/>
              </a:rPr>
              <a:t>th</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/tr</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tr</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r>
              <a:rPr lang="en-IN" sz="2300" b="0" i="0" dirty="0" err="1">
                <a:solidFill>
                  <a:srgbClr val="000000"/>
                </a:solidFill>
                <a:effectLst/>
                <a:latin typeface="Consolas" panose="020B0609020204030204" pitchFamily="49" charset="0"/>
              </a:rPr>
              <a:t>Alfreds</a:t>
            </a:r>
            <a:r>
              <a:rPr lang="en-IN" sz="2300" b="0" i="0" dirty="0">
                <a:solidFill>
                  <a:srgbClr val="000000"/>
                </a:solidFill>
                <a:effectLst/>
                <a:latin typeface="Consolas" panose="020B0609020204030204" pitchFamily="49" charset="0"/>
              </a:rPr>
              <a:t> </a:t>
            </a:r>
            <a:r>
              <a:rPr lang="en-IN" sz="2300" b="0" i="0" dirty="0" err="1">
                <a:solidFill>
                  <a:srgbClr val="000000"/>
                </a:solidFill>
                <a:effectLst/>
                <a:latin typeface="Consolas" panose="020B0609020204030204" pitchFamily="49" charset="0"/>
              </a:rPr>
              <a:t>Futterkiste</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Maria Anders</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Germany</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/tr</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tr</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Centro </a:t>
            </a:r>
            <a:r>
              <a:rPr lang="en-IN" sz="2300" b="0" i="0" dirty="0" err="1">
                <a:solidFill>
                  <a:srgbClr val="000000"/>
                </a:solidFill>
                <a:effectLst/>
                <a:latin typeface="Consolas" panose="020B0609020204030204" pitchFamily="49" charset="0"/>
              </a:rPr>
              <a:t>comercial</a:t>
            </a:r>
            <a:r>
              <a:rPr lang="en-IN" sz="2300" b="0" i="0" dirty="0">
                <a:solidFill>
                  <a:srgbClr val="000000"/>
                </a:solidFill>
                <a:effectLst/>
                <a:latin typeface="Consolas" panose="020B0609020204030204" pitchFamily="49" charset="0"/>
              </a:rPr>
              <a:t> Moctezuma</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Francisco Chang</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r>
              <a:rPr lang="en-IN" sz="2300" b="0" i="0" dirty="0">
                <a:solidFill>
                  <a:srgbClr val="000000"/>
                </a:solidFill>
                <a:effectLst/>
                <a:latin typeface="Consolas" panose="020B0609020204030204" pitchFamily="49" charset="0"/>
              </a:rPr>
              <a:t>Mexico</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/td</a:t>
            </a:r>
            <a:r>
              <a:rPr lang="en-IN" sz="2300" b="0" i="0" dirty="0">
                <a:solidFill>
                  <a:srgbClr val="0000CD"/>
                </a:solidFill>
                <a:effectLst/>
                <a:latin typeface="Consolas" panose="020B0609020204030204" pitchFamily="49" charset="0"/>
              </a:rPr>
              <a:t>&gt;</a:t>
            </a:r>
            <a:br>
              <a:rPr lang="en-IN" sz="2300" dirty="0"/>
            </a:br>
            <a:r>
              <a:rPr lang="en-IN" sz="2300" b="0" i="0" dirty="0">
                <a:solidFill>
                  <a:srgbClr val="000000"/>
                </a:solidFill>
                <a:effectLst/>
                <a:latin typeface="Consolas" panose="020B0609020204030204" pitchFamily="49" charset="0"/>
              </a:rPr>
              <a:t>  </a:t>
            </a:r>
            <a:r>
              <a:rPr lang="en-IN" sz="2300" b="0" i="0" dirty="0">
                <a:solidFill>
                  <a:srgbClr val="0000CD"/>
                </a:solidFill>
                <a:effectLst/>
                <a:latin typeface="Consolas" panose="020B0609020204030204" pitchFamily="49" charset="0"/>
              </a:rPr>
              <a:t>&lt;</a:t>
            </a:r>
            <a:r>
              <a:rPr lang="en-IN" sz="2300" b="0" i="0" dirty="0">
                <a:solidFill>
                  <a:srgbClr val="A52A2A"/>
                </a:solidFill>
                <a:effectLst/>
                <a:latin typeface="Consolas" panose="020B0609020204030204" pitchFamily="49" charset="0"/>
              </a:rPr>
              <a:t>/tr</a:t>
            </a:r>
            <a:r>
              <a:rPr lang="en-IN" sz="2300" b="0" i="0" dirty="0">
                <a:solidFill>
                  <a:srgbClr val="0000CD"/>
                </a:solidFill>
                <a:effectLst/>
                <a:latin typeface="Consolas" panose="020B0609020204030204" pitchFamily="49" charset="0"/>
              </a:rPr>
              <a:t>&gt;</a:t>
            </a:r>
          </a:p>
          <a:p>
            <a:pPr marL="0" indent="0">
              <a:buNone/>
            </a:pPr>
            <a:r>
              <a:rPr lang="en-IN" sz="2300" dirty="0">
                <a:solidFill>
                  <a:srgbClr val="0000CD"/>
                </a:solidFill>
                <a:latin typeface="Consolas" panose="020B0609020204030204" pitchFamily="49" charset="0"/>
              </a:rPr>
              <a:t>&lt;</a:t>
            </a:r>
            <a:r>
              <a:rPr lang="en-IN" sz="2300" dirty="0">
                <a:solidFill>
                  <a:srgbClr val="C00000"/>
                </a:solidFill>
                <a:latin typeface="Consolas" panose="020B0609020204030204" pitchFamily="49" charset="0"/>
              </a:rPr>
              <a:t>/table</a:t>
            </a:r>
            <a:r>
              <a:rPr lang="en-IN" sz="2300" dirty="0">
                <a:solidFill>
                  <a:srgbClr val="0000CD"/>
                </a:solidFill>
                <a:latin typeface="Consolas" panose="020B0609020204030204" pitchFamily="49" charset="0"/>
              </a:rPr>
              <a:t>&gt;</a:t>
            </a:r>
            <a:endParaRPr lang="en-GH" sz="2300" dirty="0"/>
          </a:p>
        </p:txBody>
      </p:sp>
      <p:sp>
        <p:nvSpPr>
          <p:cNvPr id="4" name="Right Brace 3">
            <a:extLst>
              <a:ext uri="{FF2B5EF4-FFF2-40B4-BE49-F238E27FC236}">
                <a16:creationId xmlns:a16="http://schemas.microsoft.com/office/drawing/2014/main" id="{C0754F09-7BA3-AA9B-06E0-66862E94B934}"/>
              </a:ext>
            </a:extLst>
          </p:cNvPr>
          <p:cNvSpPr/>
          <p:nvPr/>
        </p:nvSpPr>
        <p:spPr>
          <a:xfrm>
            <a:off x="3880891" y="1382220"/>
            <a:ext cx="255181" cy="15736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sp>
        <p:nvSpPr>
          <p:cNvPr id="5" name="TextBox 4">
            <a:extLst>
              <a:ext uri="{FF2B5EF4-FFF2-40B4-BE49-F238E27FC236}">
                <a16:creationId xmlns:a16="http://schemas.microsoft.com/office/drawing/2014/main" id="{D821AF5C-16BA-8D12-3B3B-6EEAD999C06B}"/>
              </a:ext>
            </a:extLst>
          </p:cNvPr>
          <p:cNvSpPr txBox="1"/>
          <p:nvPr/>
        </p:nvSpPr>
        <p:spPr>
          <a:xfrm>
            <a:off x="6071197" y="822945"/>
            <a:ext cx="2785731" cy="400110"/>
          </a:xfrm>
          <a:prstGeom prst="rect">
            <a:avLst/>
          </a:prstGeom>
          <a:noFill/>
        </p:spPr>
        <p:txBody>
          <a:bodyPr wrap="square" rtlCol="0">
            <a:spAutoFit/>
          </a:bodyPr>
          <a:lstStyle/>
          <a:p>
            <a:r>
              <a:rPr lang="en-IN" sz="2000" b="1" dirty="0">
                <a:solidFill>
                  <a:srgbClr val="C00000"/>
                </a:solidFill>
              </a:rPr>
              <a:t>tr </a:t>
            </a:r>
            <a:r>
              <a:rPr lang="en-IN" sz="2000" dirty="0"/>
              <a:t>stands for </a:t>
            </a:r>
            <a:r>
              <a:rPr lang="en-IN" sz="2000" b="1" dirty="0">
                <a:solidFill>
                  <a:srgbClr val="C00000"/>
                </a:solidFill>
              </a:rPr>
              <a:t>table row</a:t>
            </a:r>
            <a:endParaRPr lang="en-GH" sz="2000" b="1" dirty="0">
              <a:solidFill>
                <a:srgbClr val="C00000"/>
              </a:solidFill>
            </a:endParaRPr>
          </a:p>
        </p:txBody>
      </p:sp>
      <p:sp>
        <p:nvSpPr>
          <p:cNvPr id="6" name="Right Brace 5">
            <a:extLst>
              <a:ext uri="{FF2B5EF4-FFF2-40B4-BE49-F238E27FC236}">
                <a16:creationId xmlns:a16="http://schemas.microsoft.com/office/drawing/2014/main" id="{AD920A5A-57A0-5678-2403-C5D42D495710}"/>
              </a:ext>
            </a:extLst>
          </p:cNvPr>
          <p:cNvSpPr/>
          <p:nvPr/>
        </p:nvSpPr>
        <p:spPr>
          <a:xfrm>
            <a:off x="5528937" y="3015708"/>
            <a:ext cx="255181" cy="15736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sp>
        <p:nvSpPr>
          <p:cNvPr id="7" name="Right Brace 6">
            <a:extLst>
              <a:ext uri="{FF2B5EF4-FFF2-40B4-BE49-F238E27FC236}">
                <a16:creationId xmlns:a16="http://schemas.microsoft.com/office/drawing/2014/main" id="{B18598CA-A219-9BAE-5248-74243E8CD000}"/>
              </a:ext>
            </a:extLst>
          </p:cNvPr>
          <p:cNvSpPr/>
          <p:nvPr/>
        </p:nvSpPr>
        <p:spPr>
          <a:xfrm>
            <a:off x="6666622" y="4589327"/>
            <a:ext cx="255181" cy="15736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sp>
        <p:nvSpPr>
          <p:cNvPr id="8" name="TextBox 7">
            <a:extLst>
              <a:ext uri="{FF2B5EF4-FFF2-40B4-BE49-F238E27FC236}">
                <a16:creationId xmlns:a16="http://schemas.microsoft.com/office/drawing/2014/main" id="{219063EF-2DA6-AA84-AEB5-19F93378F1A8}"/>
              </a:ext>
            </a:extLst>
          </p:cNvPr>
          <p:cNvSpPr txBox="1"/>
          <p:nvPr/>
        </p:nvSpPr>
        <p:spPr>
          <a:xfrm>
            <a:off x="5838234" y="3615072"/>
            <a:ext cx="1083570" cy="400110"/>
          </a:xfrm>
          <a:prstGeom prst="rect">
            <a:avLst/>
          </a:prstGeom>
          <a:noFill/>
        </p:spPr>
        <p:txBody>
          <a:bodyPr wrap="square" rtlCol="0">
            <a:spAutoFit/>
          </a:bodyPr>
          <a:lstStyle/>
          <a:p>
            <a:r>
              <a:rPr lang="en-IN" sz="2000" b="1" dirty="0">
                <a:solidFill>
                  <a:srgbClr val="C00000"/>
                </a:solidFill>
              </a:rPr>
              <a:t>Row 2</a:t>
            </a:r>
            <a:endParaRPr lang="en-GH" sz="2000" b="1" dirty="0">
              <a:solidFill>
                <a:srgbClr val="C00000"/>
              </a:solidFill>
            </a:endParaRPr>
          </a:p>
        </p:txBody>
      </p:sp>
      <p:sp>
        <p:nvSpPr>
          <p:cNvPr id="9" name="TextBox 8">
            <a:extLst>
              <a:ext uri="{FF2B5EF4-FFF2-40B4-BE49-F238E27FC236}">
                <a16:creationId xmlns:a16="http://schemas.microsoft.com/office/drawing/2014/main" id="{876D4D73-3969-983C-698A-21EDA1C50F40}"/>
              </a:ext>
            </a:extLst>
          </p:cNvPr>
          <p:cNvSpPr txBox="1"/>
          <p:nvPr/>
        </p:nvSpPr>
        <p:spPr>
          <a:xfrm>
            <a:off x="7011359" y="5174237"/>
            <a:ext cx="1090657" cy="400110"/>
          </a:xfrm>
          <a:prstGeom prst="rect">
            <a:avLst/>
          </a:prstGeom>
          <a:noFill/>
        </p:spPr>
        <p:txBody>
          <a:bodyPr wrap="square" rtlCol="0">
            <a:spAutoFit/>
          </a:bodyPr>
          <a:lstStyle/>
          <a:p>
            <a:r>
              <a:rPr lang="en-IN" sz="2000" b="1" dirty="0">
                <a:solidFill>
                  <a:srgbClr val="C00000"/>
                </a:solidFill>
              </a:rPr>
              <a:t>Row 3</a:t>
            </a:r>
            <a:endParaRPr lang="en-GH" sz="2000" b="1" dirty="0">
              <a:solidFill>
                <a:srgbClr val="C00000"/>
              </a:solidFill>
            </a:endParaRPr>
          </a:p>
        </p:txBody>
      </p:sp>
      <p:sp>
        <p:nvSpPr>
          <p:cNvPr id="10" name="TextBox 9">
            <a:extLst>
              <a:ext uri="{FF2B5EF4-FFF2-40B4-BE49-F238E27FC236}">
                <a16:creationId xmlns:a16="http://schemas.microsoft.com/office/drawing/2014/main" id="{407B7791-7518-4DA9-EFB0-A2079EB23ACB}"/>
              </a:ext>
            </a:extLst>
          </p:cNvPr>
          <p:cNvSpPr txBox="1"/>
          <p:nvPr/>
        </p:nvSpPr>
        <p:spPr>
          <a:xfrm>
            <a:off x="4136072" y="1968974"/>
            <a:ext cx="1934174" cy="400110"/>
          </a:xfrm>
          <a:prstGeom prst="rect">
            <a:avLst/>
          </a:prstGeom>
          <a:noFill/>
        </p:spPr>
        <p:txBody>
          <a:bodyPr wrap="square" rtlCol="0">
            <a:spAutoFit/>
          </a:bodyPr>
          <a:lstStyle/>
          <a:p>
            <a:r>
              <a:rPr lang="en-IN" sz="2000" b="1" dirty="0">
                <a:solidFill>
                  <a:srgbClr val="C00000"/>
                </a:solidFill>
              </a:rPr>
              <a:t>Row 1 (Header)</a:t>
            </a:r>
            <a:endParaRPr lang="en-GH" sz="2000" b="1" dirty="0">
              <a:solidFill>
                <a:srgbClr val="C00000"/>
              </a:solidFill>
            </a:endParaRPr>
          </a:p>
        </p:txBody>
      </p:sp>
      <p:sp>
        <p:nvSpPr>
          <p:cNvPr id="12" name="TextBox 11">
            <a:extLst>
              <a:ext uri="{FF2B5EF4-FFF2-40B4-BE49-F238E27FC236}">
                <a16:creationId xmlns:a16="http://schemas.microsoft.com/office/drawing/2014/main" id="{BC4BEA2A-8142-5016-71D2-93C83265322C}"/>
              </a:ext>
            </a:extLst>
          </p:cNvPr>
          <p:cNvSpPr txBox="1"/>
          <p:nvPr/>
        </p:nvSpPr>
        <p:spPr>
          <a:xfrm>
            <a:off x="6070246" y="1277575"/>
            <a:ext cx="3002782" cy="1538883"/>
          </a:xfrm>
          <a:prstGeom prst="rect">
            <a:avLst/>
          </a:prstGeom>
          <a:noFill/>
        </p:spPr>
        <p:txBody>
          <a:bodyPr wrap="square">
            <a:spAutoFit/>
          </a:bodyPr>
          <a:lstStyle/>
          <a:p>
            <a:r>
              <a:rPr lang="en-US" sz="2000" b="1" dirty="0" err="1">
                <a:solidFill>
                  <a:srgbClr val="C00000"/>
                </a:solidFill>
              </a:rPr>
              <a:t>th</a:t>
            </a:r>
            <a:r>
              <a:rPr lang="en-US" sz="2000" dirty="0"/>
              <a:t> stands for </a:t>
            </a:r>
            <a:r>
              <a:rPr lang="en-US" sz="2000" b="1" dirty="0">
                <a:solidFill>
                  <a:srgbClr val="C00000"/>
                </a:solidFill>
              </a:rPr>
              <a:t>table header</a:t>
            </a:r>
          </a:p>
          <a:p>
            <a:endParaRPr lang="en-US" sz="2000" b="1" dirty="0">
              <a:solidFill>
                <a:srgbClr val="C00000"/>
              </a:solidFill>
            </a:endParaRPr>
          </a:p>
          <a:p>
            <a:r>
              <a:rPr lang="en-US" dirty="0"/>
              <a:t>By default, the text in &lt;</a:t>
            </a:r>
            <a:r>
              <a:rPr lang="en-US" dirty="0" err="1"/>
              <a:t>th</a:t>
            </a:r>
            <a:r>
              <a:rPr lang="en-US" dirty="0"/>
              <a:t>&gt; elements is bold and </a:t>
            </a:r>
            <a:r>
              <a:rPr lang="en-US" dirty="0" err="1"/>
              <a:t>centred</a:t>
            </a:r>
            <a:r>
              <a:rPr lang="en-US" dirty="0"/>
              <a:t> but can be changed with CSS.</a:t>
            </a:r>
            <a:endParaRPr lang="en-GH" dirty="0"/>
          </a:p>
        </p:txBody>
      </p:sp>
    </p:spTree>
    <p:extLst>
      <p:ext uri="{BB962C8B-B14F-4D97-AF65-F5344CB8AC3E}">
        <p14:creationId xmlns:p14="http://schemas.microsoft.com/office/powerpoint/2010/main" val="1763583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A4F7-3136-52B2-B3EA-FD55CC4CB795}"/>
              </a:ext>
            </a:extLst>
          </p:cNvPr>
          <p:cNvSpPr>
            <a:spLocks noGrp="1"/>
          </p:cNvSpPr>
          <p:nvPr>
            <p:ph type="title"/>
          </p:nvPr>
        </p:nvSpPr>
        <p:spPr>
          <a:xfrm>
            <a:off x="240465" y="129540"/>
            <a:ext cx="8681519" cy="1162685"/>
          </a:xfrm>
        </p:spPr>
        <p:txBody>
          <a:bodyPr anchor="t">
            <a:normAutofit/>
          </a:bodyPr>
          <a:lstStyle/>
          <a:p>
            <a:r>
              <a:rPr lang="en-IN" dirty="0"/>
              <a:t>Table: style and border</a:t>
            </a:r>
            <a:endParaRPr lang="en-GH" dirty="0"/>
          </a:p>
        </p:txBody>
      </p:sp>
      <p:pic>
        <p:nvPicPr>
          <p:cNvPr id="5" name="Content Placeholder 4" descr="A screenshot of a computer code&#10;&#10;Description automatically generated">
            <a:extLst>
              <a:ext uri="{FF2B5EF4-FFF2-40B4-BE49-F238E27FC236}">
                <a16:creationId xmlns:a16="http://schemas.microsoft.com/office/drawing/2014/main" id="{167E9633-EBE4-62EC-0B2B-C50DB48A5383}"/>
              </a:ext>
            </a:extLst>
          </p:cNvPr>
          <p:cNvPicPr>
            <a:picLocks noGrp="1" noChangeAspect="1"/>
          </p:cNvPicPr>
          <p:nvPr>
            <p:ph idx="1"/>
          </p:nvPr>
        </p:nvPicPr>
        <p:blipFill>
          <a:blip r:embed="rId2"/>
          <a:stretch>
            <a:fillRect/>
          </a:stretch>
        </p:blipFill>
        <p:spPr>
          <a:xfrm>
            <a:off x="1952529" y="1386039"/>
            <a:ext cx="5258660" cy="4943141"/>
          </a:xfrm>
          <a:noFill/>
        </p:spPr>
      </p:pic>
    </p:spTree>
    <p:extLst>
      <p:ext uri="{BB962C8B-B14F-4D97-AF65-F5344CB8AC3E}">
        <p14:creationId xmlns:p14="http://schemas.microsoft.com/office/powerpoint/2010/main" val="31403022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D916-18B3-BB84-03DB-0A1A1A0D4B4E}"/>
              </a:ext>
            </a:extLst>
          </p:cNvPr>
          <p:cNvSpPr>
            <a:spLocks noGrp="1"/>
          </p:cNvSpPr>
          <p:nvPr>
            <p:ph type="title"/>
          </p:nvPr>
        </p:nvSpPr>
        <p:spPr/>
        <p:txBody>
          <a:bodyPr/>
          <a:lstStyle/>
          <a:p>
            <a:r>
              <a:rPr lang="en-IN" dirty="0"/>
              <a:t>Table</a:t>
            </a:r>
            <a:endParaRPr lang="en-GH" dirty="0"/>
          </a:p>
        </p:txBody>
      </p:sp>
      <p:sp>
        <p:nvSpPr>
          <p:cNvPr id="3" name="Content Placeholder 2">
            <a:extLst>
              <a:ext uri="{FF2B5EF4-FFF2-40B4-BE49-F238E27FC236}">
                <a16:creationId xmlns:a16="http://schemas.microsoft.com/office/drawing/2014/main" id="{D39CF9C3-D90C-F375-33CF-D6B2D3211833}"/>
              </a:ext>
            </a:extLst>
          </p:cNvPr>
          <p:cNvSpPr>
            <a:spLocks noGrp="1"/>
          </p:cNvSpPr>
          <p:nvPr>
            <p:ph idx="1"/>
          </p:nvPr>
        </p:nvSpPr>
        <p:spPr/>
        <p:txBody>
          <a:bodyPr/>
          <a:lstStyle/>
          <a:p>
            <a:r>
              <a:rPr lang="en-IN" dirty="0"/>
              <a:t>Check more about table formatting at:</a:t>
            </a:r>
          </a:p>
          <a:p>
            <a:pPr marL="0" indent="0">
              <a:buNone/>
            </a:pPr>
            <a:r>
              <a:rPr lang="en-IN" dirty="0">
                <a:hlinkClick r:id="rId2"/>
              </a:rPr>
              <a:t>https://www.w3schools.com/html/html_tables.asp</a:t>
            </a:r>
            <a:r>
              <a:rPr lang="en-IN" dirty="0"/>
              <a:t> </a:t>
            </a:r>
            <a:endParaRPr lang="en-GH" dirty="0"/>
          </a:p>
        </p:txBody>
      </p:sp>
    </p:spTree>
    <p:extLst>
      <p:ext uri="{BB962C8B-B14F-4D97-AF65-F5344CB8AC3E}">
        <p14:creationId xmlns:p14="http://schemas.microsoft.com/office/powerpoint/2010/main" val="1286638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84FBD-2540-365B-9E9C-A112F0263B6B}"/>
              </a:ext>
            </a:extLst>
          </p:cNvPr>
          <p:cNvSpPr>
            <a:spLocks noGrp="1"/>
          </p:cNvSpPr>
          <p:nvPr>
            <p:ph type="title"/>
          </p:nvPr>
        </p:nvSpPr>
        <p:spPr/>
        <p:txBody>
          <a:bodyPr/>
          <a:lstStyle/>
          <a:p>
            <a:r>
              <a:rPr lang="en-IN" dirty="0"/>
              <a:t>HTML Lists</a:t>
            </a:r>
            <a:endParaRPr lang="en-GH" dirty="0"/>
          </a:p>
        </p:txBody>
      </p:sp>
      <p:sp>
        <p:nvSpPr>
          <p:cNvPr id="3" name="Content Placeholder 2">
            <a:extLst>
              <a:ext uri="{FF2B5EF4-FFF2-40B4-BE49-F238E27FC236}">
                <a16:creationId xmlns:a16="http://schemas.microsoft.com/office/drawing/2014/main" id="{8E458A9B-42A2-4C36-86D5-4594F4407C42}"/>
              </a:ext>
            </a:extLst>
          </p:cNvPr>
          <p:cNvSpPr>
            <a:spLocks noGrp="1"/>
          </p:cNvSpPr>
          <p:nvPr>
            <p:ph idx="1"/>
          </p:nvPr>
        </p:nvSpPr>
        <p:spPr/>
        <p:txBody>
          <a:bodyPr/>
          <a:lstStyle/>
          <a:p>
            <a:r>
              <a:rPr lang="en-US" dirty="0"/>
              <a:t>Allow to group a set of related items.</a:t>
            </a:r>
          </a:p>
          <a:p>
            <a:r>
              <a:rPr lang="en-IN" dirty="0"/>
              <a:t>Example:</a:t>
            </a:r>
          </a:p>
          <a:p>
            <a:pPr marL="0" indent="0">
              <a:buNone/>
            </a:pPr>
            <a:endParaRPr lang="en-GH" dirty="0"/>
          </a:p>
        </p:txBody>
      </p:sp>
      <p:pic>
        <p:nvPicPr>
          <p:cNvPr id="5" name="Picture 4">
            <a:extLst>
              <a:ext uri="{FF2B5EF4-FFF2-40B4-BE49-F238E27FC236}">
                <a16:creationId xmlns:a16="http://schemas.microsoft.com/office/drawing/2014/main" id="{35C56E26-35A7-F934-4ECA-12B3F4F8DD60}"/>
              </a:ext>
            </a:extLst>
          </p:cNvPr>
          <p:cNvPicPr>
            <a:picLocks noChangeAspect="1"/>
          </p:cNvPicPr>
          <p:nvPr/>
        </p:nvPicPr>
        <p:blipFill>
          <a:blip r:embed="rId2"/>
          <a:stretch>
            <a:fillRect/>
          </a:stretch>
        </p:blipFill>
        <p:spPr>
          <a:xfrm>
            <a:off x="1899864" y="1864504"/>
            <a:ext cx="4753369" cy="4558489"/>
          </a:xfrm>
          <a:prstGeom prst="rect">
            <a:avLst/>
          </a:prstGeom>
        </p:spPr>
      </p:pic>
      <p:cxnSp>
        <p:nvCxnSpPr>
          <p:cNvPr id="7" name="Straight Arrow Connector 6">
            <a:extLst>
              <a:ext uri="{FF2B5EF4-FFF2-40B4-BE49-F238E27FC236}">
                <a16:creationId xmlns:a16="http://schemas.microsoft.com/office/drawing/2014/main" id="{167AE055-3C5E-5C88-E610-7A1B917AE52D}"/>
              </a:ext>
            </a:extLst>
          </p:cNvPr>
          <p:cNvCxnSpPr/>
          <p:nvPr/>
        </p:nvCxnSpPr>
        <p:spPr>
          <a:xfrm>
            <a:off x="2860158" y="3189767"/>
            <a:ext cx="489097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CD3C1B04-2AE5-B81F-7533-7E8A13F8E049}"/>
              </a:ext>
            </a:extLst>
          </p:cNvPr>
          <p:cNvCxnSpPr/>
          <p:nvPr/>
        </p:nvCxnSpPr>
        <p:spPr>
          <a:xfrm>
            <a:off x="2860158" y="4735032"/>
            <a:ext cx="489097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84FE4899-6D3D-FF99-5F11-A4FC93B9AA73}"/>
              </a:ext>
            </a:extLst>
          </p:cNvPr>
          <p:cNvSpPr txBox="1"/>
          <p:nvPr/>
        </p:nvSpPr>
        <p:spPr>
          <a:xfrm>
            <a:off x="6719354" y="2852333"/>
            <a:ext cx="1680367" cy="369332"/>
          </a:xfrm>
          <a:prstGeom prst="rect">
            <a:avLst/>
          </a:prstGeom>
          <a:noFill/>
        </p:spPr>
        <p:txBody>
          <a:bodyPr wrap="square" rtlCol="0">
            <a:spAutoFit/>
          </a:bodyPr>
          <a:lstStyle/>
          <a:p>
            <a:r>
              <a:rPr lang="en-IN" dirty="0"/>
              <a:t>Un-ordered List</a:t>
            </a:r>
            <a:endParaRPr lang="en-GH" dirty="0"/>
          </a:p>
        </p:txBody>
      </p:sp>
      <p:sp>
        <p:nvSpPr>
          <p:cNvPr id="10" name="TextBox 9">
            <a:extLst>
              <a:ext uri="{FF2B5EF4-FFF2-40B4-BE49-F238E27FC236}">
                <a16:creationId xmlns:a16="http://schemas.microsoft.com/office/drawing/2014/main" id="{C08803CB-D6B9-CE1A-9A8B-AEC162823545}"/>
              </a:ext>
            </a:extLst>
          </p:cNvPr>
          <p:cNvSpPr txBox="1"/>
          <p:nvPr/>
        </p:nvSpPr>
        <p:spPr>
          <a:xfrm>
            <a:off x="6719353" y="4369243"/>
            <a:ext cx="1680367" cy="369332"/>
          </a:xfrm>
          <a:prstGeom prst="rect">
            <a:avLst/>
          </a:prstGeom>
          <a:noFill/>
        </p:spPr>
        <p:txBody>
          <a:bodyPr wrap="square" rtlCol="0">
            <a:spAutoFit/>
          </a:bodyPr>
          <a:lstStyle/>
          <a:p>
            <a:r>
              <a:rPr lang="en-IN" dirty="0"/>
              <a:t>Ordered List</a:t>
            </a:r>
            <a:endParaRPr lang="en-GH" dirty="0"/>
          </a:p>
        </p:txBody>
      </p:sp>
    </p:spTree>
    <p:extLst>
      <p:ext uri="{BB962C8B-B14F-4D97-AF65-F5344CB8AC3E}">
        <p14:creationId xmlns:p14="http://schemas.microsoft.com/office/powerpoint/2010/main" val="34315008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95A6-3CDF-D921-52F1-4972A51A2D48}"/>
              </a:ext>
            </a:extLst>
          </p:cNvPr>
          <p:cNvSpPr>
            <a:spLocks noGrp="1"/>
          </p:cNvSpPr>
          <p:nvPr>
            <p:ph type="title"/>
          </p:nvPr>
        </p:nvSpPr>
        <p:spPr/>
        <p:txBody>
          <a:bodyPr/>
          <a:lstStyle/>
          <a:p>
            <a:r>
              <a:rPr lang="en-IN" dirty="0"/>
              <a:t>HTML Forms</a:t>
            </a:r>
            <a:endParaRPr lang="en-GH" dirty="0"/>
          </a:p>
        </p:txBody>
      </p:sp>
      <p:sp>
        <p:nvSpPr>
          <p:cNvPr id="3" name="Content Placeholder 2">
            <a:extLst>
              <a:ext uri="{FF2B5EF4-FFF2-40B4-BE49-F238E27FC236}">
                <a16:creationId xmlns:a16="http://schemas.microsoft.com/office/drawing/2014/main" id="{46BFD675-EDFE-AFDF-E9F7-B7CD89A55F76}"/>
              </a:ext>
            </a:extLst>
          </p:cNvPr>
          <p:cNvSpPr>
            <a:spLocks noGrp="1"/>
          </p:cNvSpPr>
          <p:nvPr>
            <p:ph idx="1"/>
          </p:nvPr>
        </p:nvSpPr>
        <p:spPr/>
        <p:txBody>
          <a:bodyPr/>
          <a:lstStyle/>
          <a:p>
            <a:r>
              <a:rPr lang="en-US" dirty="0"/>
              <a:t>An </a:t>
            </a:r>
            <a:r>
              <a:rPr lang="en-US" b="1" dirty="0">
                <a:solidFill>
                  <a:srgbClr val="0070C0"/>
                </a:solidFill>
              </a:rPr>
              <a:t>HTML form </a:t>
            </a:r>
            <a:r>
              <a:rPr lang="en-US" dirty="0"/>
              <a:t>is used to collect user input. </a:t>
            </a:r>
          </a:p>
          <a:p>
            <a:r>
              <a:rPr lang="en-US" dirty="0"/>
              <a:t>The user input is most often sent to a server for processing.</a:t>
            </a:r>
          </a:p>
          <a:p>
            <a:r>
              <a:rPr lang="en-US" dirty="0"/>
              <a:t>The </a:t>
            </a:r>
            <a:r>
              <a:rPr lang="en-US" b="1" dirty="0">
                <a:solidFill>
                  <a:srgbClr val="C00000"/>
                </a:solidFill>
              </a:rPr>
              <a:t>&lt;form&gt; </a:t>
            </a:r>
            <a:r>
              <a:rPr lang="en-US" dirty="0"/>
              <a:t>element is used to create an HTML form.</a:t>
            </a:r>
          </a:p>
          <a:p>
            <a:pPr marL="0" indent="0">
              <a:buNone/>
            </a:pPr>
            <a:r>
              <a:rPr lang="en-IN" b="0" i="0" dirty="0">
                <a:solidFill>
                  <a:srgbClr val="0000CD"/>
                </a:solidFill>
                <a:effectLst/>
                <a:latin typeface="Consolas" panose="020B0609020204030204" pitchFamily="49" charset="0"/>
              </a:rPr>
              <a:t>	&lt;</a:t>
            </a:r>
            <a:r>
              <a:rPr lang="en-IN" b="0" i="0" dirty="0">
                <a:solidFill>
                  <a:srgbClr val="A52A2A"/>
                </a:solidFill>
                <a:effectLst/>
                <a:latin typeface="Consolas" panose="020B0609020204030204" pitchFamily="49" charset="0"/>
              </a:rPr>
              <a:t>form</a:t>
            </a:r>
            <a:r>
              <a:rPr lang="en-IN" b="0" i="0" dirty="0">
                <a:solidFill>
                  <a:srgbClr val="0000CD"/>
                </a:solidFill>
                <a:effectLst/>
                <a:latin typeface="Consolas" panose="020B0609020204030204" pitchFamily="49" charset="0"/>
              </a:rPr>
              <a:t>&gt;</a:t>
            </a:r>
            <a:br>
              <a:rPr lang="en-IN" dirty="0"/>
            </a:br>
            <a:r>
              <a:rPr lang="en-IN" dirty="0"/>
              <a:t>		</a:t>
            </a:r>
            <a:r>
              <a:rPr lang="en-IN" b="0" i="0" dirty="0">
                <a:solidFill>
                  <a:srgbClr val="000000"/>
                </a:solidFill>
                <a:effectLst/>
                <a:latin typeface="Consolas" panose="020B0609020204030204" pitchFamily="49" charset="0"/>
              </a:rPr>
              <a:t>...</a:t>
            </a:r>
            <a:br>
              <a:rPr lang="en-IN" dirty="0"/>
            </a:br>
            <a:r>
              <a:rPr lang="en-IN" dirty="0"/>
              <a:t>		</a:t>
            </a:r>
            <a:r>
              <a:rPr lang="en-IN" b="0" i="1" dirty="0">
                <a:solidFill>
                  <a:srgbClr val="000000"/>
                </a:solidFill>
                <a:effectLst/>
                <a:latin typeface="Consolas" panose="020B0609020204030204" pitchFamily="49" charset="0"/>
              </a:rPr>
              <a:t>form elements</a:t>
            </a:r>
            <a:br>
              <a:rPr lang="en-IN" dirty="0"/>
            </a:br>
            <a:r>
              <a:rPr lang="en-IN" dirty="0"/>
              <a:t>		</a:t>
            </a:r>
            <a:r>
              <a:rPr lang="en-IN" b="0" i="0" dirty="0">
                <a:solidFill>
                  <a:srgbClr val="000000"/>
                </a:solidFill>
                <a:effectLst/>
                <a:latin typeface="Consolas" panose="020B0609020204030204" pitchFamily="49" charset="0"/>
              </a:rPr>
              <a:t>...</a:t>
            </a:r>
            <a:br>
              <a:rPr lang="en-IN" dirty="0"/>
            </a:br>
            <a:r>
              <a:rPr lang="en-IN" dirty="0"/>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/form</a:t>
            </a:r>
            <a:r>
              <a:rPr lang="en-IN" b="0" i="0" dirty="0">
                <a:solidFill>
                  <a:srgbClr val="0000CD"/>
                </a:solidFill>
                <a:effectLst/>
                <a:latin typeface="Consolas" panose="020B0609020204030204" pitchFamily="49" charset="0"/>
              </a:rPr>
              <a:t>&gt;</a:t>
            </a:r>
          </a:p>
          <a:p>
            <a:r>
              <a:rPr lang="en-US" dirty="0"/>
              <a:t>The </a:t>
            </a:r>
            <a:r>
              <a:rPr lang="en-US" b="1" dirty="0">
                <a:solidFill>
                  <a:srgbClr val="C00000"/>
                </a:solidFill>
              </a:rPr>
              <a:t>&lt;form&gt; </a:t>
            </a:r>
            <a:r>
              <a:rPr lang="en-US" dirty="0"/>
              <a:t>element is a container for different types of input elements, such as text fields, checkboxes, radio buttons, submit buttons, etc.</a:t>
            </a:r>
            <a:endParaRPr lang="en-GH" dirty="0"/>
          </a:p>
        </p:txBody>
      </p:sp>
    </p:spTree>
    <p:extLst>
      <p:ext uri="{BB962C8B-B14F-4D97-AF65-F5344CB8AC3E}">
        <p14:creationId xmlns:p14="http://schemas.microsoft.com/office/powerpoint/2010/main" val="21492596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95A6-3CDF-D921-52F1-4972A51A2D48}"/>
              </a:ext>
            </a:extLst>
          </p:cNvPr>
          <p:cNvSpPr>
            <a:spLocks noGrp="1"/>
          </p:cNvSpPr>
          <p:nvPr>
            <p:ph type="title"/>
          </p:nvPr>
        </p:nvSpPr>
        <p:spPr/>
        <p:txBody>
          <a:bodyPr/>
          <a:lstStyle/>
          <a:p>
            <a:r>
              <a:rPr lang="en-IN" dirty="0"/>
              <a:t>HTML Forms: &lt;input&gt; Element</a:t>
            </a:r>
            <a:endParaRPr lang="en-GH" dirty="0"/>
          </a:p>
        </p:txBody>
      </p:sp>
      <p:sp>
        <p:nvSpPr>
          <p:cNvPr id="3" name="Content Placeholder 2">
            <a:extLst>
              <a:ext uri="{FF2B5EF4-FFF2-40B4-BE49-F238E27FC236}">
                <a16:creationId xmlns:a16="http://schemas.microsoft.com/office/drawing/2014/main" id="{46BFD675-EDFE-AFDF-E9F7-B7CD89A55F76}"/>
              </a:ext>
            </a:extLst>
          </p:cNvPr>
          <p:cNvSpPr>
            <a:spLocks noGrp="1"/>
          </p:cNvSpPr>
          <p:nvPr>
            <p:ph idx="1"/>
          </p:nvPr>
        </p:nvSpPr>
        <p:spPr/>
        <p:txBody>
          <a:bodyPr/>
          <a:lstStyle/>
          <a:p>
            <a:r>
              <a:rPr lang="en-US" dirty="0"/>
              <a:t>Most used </a:t>
            </a:r>
            <a:r>
              <a:rPr lang="en-US" b="1" dirty="0">
                <a:solidFill>
                  <a:srgbClr val="0070C0"/>
                </a:solidFill>
              </a:rPr>
              <a:t>form </a:t>
            </a:r>
            <a:r>
              <a:rPr lang="en-US" dirty="0"/>
              <a:t>element.</a:t>
            </a:r>
          </a:p>
          <a:p>
            <a:r>
              <a:rPr lang="en-US" dirty="0"/>
              <a:t>An </a:t>
            </a:r>
            <a:r>
              <a:rPr lang="en-US" dirty="0">
                <a:solidFill>
                  <a:srgbClr val="C00000"/>
                </a:solidFill>
              </a:rPr>
              <a:t>&lt;input&gt; </a:t>
            </a:r>
            <a:r>
              <a:rPr lang="en-US" dirty="0"/>
              <a:t>element can be displayed in many ways, depending on the </a:t>
            </a:r>
            <a:r>
              <a:rPr lang="en-US" b="1" dirty="0">
                <a:solidFill>
                  <a:srgbClr val="C00000"/>
                </a:solidFill>
              </a:rPr>
              <a:t>type</a:t>
            </a:r>
            <a:r>
              <a:rPr lang="en-US" dirty="0"/>
              <a:t> attribute.</a:t>
            </a:r>
            <a:endParaRPr lang="en-GH" dirty="0"/>
          </a:p>
        </p:txBody>
      </p:sp>
      <p:graphicFrame>
        <p:nvGraphicFramePr>
          <p:cNvPr id="5" name="Table 4">
            <a:extLst>
              <a:ext uri="{FF2B5EF4-FFF2-40B4-BE49-F238E27FC236}">
                <a16:creationId xmlns:a16="http://schemas.microsoft.com/office/drawing/2014/main" id="{03CA79C0-4B08-6EA8-C938-704307D2260F}"/>
              </a:ext>
            </a:extLst>
          </p:cNvPr>
          <p:cNvGraphicFramePr>
            <a:graphicFrameLocks noGrp="1"/>
          </p:cNvGraphicFramePr>
          <p:nvPr>
            <p:extLst>
              <p:ext uri="{D42A27DB-BD31-4B8C-83A1-F6EECF244321}">
                <p14:modId xmlns:p14="http://schemas.microsoft.com/office/powerpoint/2010/main" val="3707417789"/>
              </p:ext>
            </p:extLst>
          </p:nvPr>
        </p:nvGraphicFramePr>
        <p:xfrm>
          <a:off x="562117" y="2636134"/>
          <a:ext cx="8038214" cy="3352800"/>
        </p:xfrm>
        <a:graphic>
          <a:graphicData uri="http://schemas.openxmlformats.org/drawingml/2006/table">
            <a:tbl>
              <a:tblPr/>
              <a:tblGrid>
                <a:gridCol w="4019107">
                  <a:extLst>
                    <a:ext uri="{9D8B030D-6E8A-4147-A177-3AD203B41FA5}">
                      <a16:colId xmlns:a16="http://schemas.microsoft.com/office/drawing/2014/main" val="3750674841"/>
                    </a:ext>
                  </a:extLst>
                </a:gridCol>
                <a:gridCol w="4019107">
                  <a:extLst>
                    <a:ext uri="{9D8B030D-6E8A-4147-A177-3AD203B41FA5}">
                      <a16:colId xmlns:a16="http://schemas.microsoft.com/office/drawing/2014/main" val="291651127"/>
                    </a:ext>
                  </a:extLst>
                </a:gridCol>
              </a:tblGrid>
              <a:tr h="0">
                <a:tc>
                  <a:txBody>
                    <a:bodyPr/>
                    <a:lstStyle/>
                    <a:p>
                      <a:pPr algn="ctr" fontAlgn="t"/>
                      <a:r>
                        <a:rPr lang="en-IN" sz="2000" b="1" dirty="0">
                          <a:effectLst/>
                        </a:rPr>
                        <a:t>Type</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sz="2000" b="1" dirty="0">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164413960"/>
                  </a:ext>
                </a:extLst>
              </a:tr>
              <a:tr h="0">
                <a:tc>
                  <a:txBody>
                    <a:bodyPr/>
                    <a:lstStyle/>
                    <a:p>
                      <a:pPr algn="l" fontAlgn="t"/>
                      <a:r>
                        <a:rPr lang="en-IN" sz="2000">
                          <a:effectLst/>
                        </a:rPr>
                        <a:t>&lt;input type="text"&gt;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effectLst/>
                        </a:rPr>
                        <a:t>Displays a single-line text input field</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667810523"/>
                  </a:ext>
                </a:extLst>
              </a:tr>
              <a:tr h="0">
                <a:tc>
                  <a:txBody>
                    <a:bodyPr/>
                    <a:lstStyle/>
                    <a:p>
                      <a:pPr algn="l" fontAlgn="t"/>
                      <a:r>
                        <a:rPr lang="en-IN" sz="2000">
                          <a:effectLst/>
                        </a:rPr>
                        <a:t>&lt;input type="radio"&gt;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Displays a radio button (for selecting one of many choices)</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712308260"/>
                  </a:ext>
                </a:extLst>
              </a:tr>
              <a:tr h="0">
                <a:tc>
                  <a:txBody>
                    <a:bodyPr/>
                    <a:lstStyle/>
                    <a:p>
                      <a:pPr algn="l" fontAlgn="t"/>
                      <a:r>
                        <a:rPr lang="en-IN" sz="2000">
                          <a:effectLst/>
                        </a:rPr>
                        <a:t>&lt;input type="checkbox"&gt;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effectLst/>
                        </a:rPr>
                        <a:t>Displays a checkbox (for selecting zero or more of many choices)</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105243447"/>
                  </a:ext>
                </a:extLst>
              </a:tr>
              <a:tr h="0">
                <a:tc>
                  <a:txBody>
                    <a:bodyPr/>
                    <a:lstStyle/>
                    <a:p>
                      <a:pPr algn="l" fontAlgn="t"/>
                      <a:r>
                        <a:rPr lang="en-IN" sz="2000">
                          <a:effectLst/>
                        </a:rPr>
                        <a:t>&lt;input type="submit"&gt;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Displays a submit button (for submitting the form)</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850366593"/>
                  </a:ext>
                </a:extLst>
              </a:tr>
              <a:tr h="0">
                <a:tc>
                  <a:txBody>
                    <a:bodyPr/>
                    <a:lstStyle/>
                    <a:p>
                      <a:pPr algn="l" fontAlgn="t"/>
                      <a:r>
                        <a:rPr lang="en-IN" sz="2000">
                          <a:effectLst/>
                        </a:rPr>
                        <a:t>&lt;input type="button"&gt;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tc>
                  <a:txBody>
                    <a:bodyPr/>
                    <a:lstStyle/>
                    <a:p>
                      <a:pPr algn="l" fontAlgn="t"/>
                      <a:r>
                        <a:rPr lang="en-IN" sz="2000" dirty="0">
                          <a:effectLst/>
                        </a:rPr>
                        <a:t>Displays a clickable button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611340189"/>
                  </a:ext>
                </a:extLst>
              </a:tr>
            </a:tbl>
          </a:graphicData>
        </a:graphic>
      </p:graphicFrame>
      <p:sp>
        <p:nvSpPr>
          <p:cNvPr id="7" name="TextBox 6">
            <a:extLst>
              <a:ext uri="{FF2B5EF4-FFF2-40B4-BE49-F238E27FC236}">
                <a16:creationId xmlns:a16="http://schemas.microsoft.com/office/drawing/2014/main" id="{1BF342E6-A367-C2B3-767F-8EB5C97AD175}"/>
              </a:ext>
            </a:extLst>
          </p:cNvPr>
          <p:cNvSpPr txBox="1"/>
          <p:nvPr/>
        </p:nvSpPr>
        <p:spPr>
          <a:xfrm>
            <a:off x="637948" y="6240211"/>
            <a:ext cx="8135174" cy="369332"/>
          </a:xfrm>
          <a:prstGeom prst="rect">
            <a:avLst/>
          </a:prstGeom>
          <a:noFill/>
        </p:spPr>
        <p:txBody>
          <a:bodyPr wrap="square">
            <a:spAutoFit/>
          </a:bodyPr>
          <a:lstStyle/>
          <a:p>
            <a:r>
              <a:rPr lang="en-IN" dirty="0"/>
              <a:t>Check </a:t>
            </a:r>
            <a:r>
              <a:rPr lang="en-IN" dirty="0">
                <a:hlinkClick r:id="rId2"/>
              </a:rPr>
              <a:t>https://www.w3schools.com/html/html_form_input_types.asp</a:t>
            </a:r>
            <a:r>
              <a:rPr lang="en-IN" dirty="0"/>
              <a:t>  for more types</a:t>
            </a:r>
            <a:endParaRPr lang="en-GH" dirty="0"/>
          </a:p>
        </p:txBody>
      </p:sp>
    </p:spTree>
    <p:extLst>
      <p:ext uri="{BB962C8B-B14F-4D97-AF65-F5344CB8AC3E}">
        <p14:creationId xmlns:p14="http://schemas.microsoft.com/office/powerpoint/2010/main" val="24640024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CE26D-F5F7-0296-0A5E-3C767519F2B0}"/>
              </a:ext>
            </a:extLst>
          </p:cNvPr>
          <p:cNvSpPr>
            <a:spLocks noGrp="1"/>
          </p:cNvSpPr>
          <p:nvPr>
            <p:ph type="title"/>
          </p:nvPr>
        </p:nvSpPr>
        <p:spPr/>
        <p:txBody>
          <a:bodyPr/>
          <a:lstStyle/>
          <a:p>
            <a:r>
              <a:rPr lang="en-IN" dirty="0"/>
              <a:t>HTML Forms: Text Fields</a:t>
            </a:r>
            <a:endParaRPr lang="en-GH" dirty="0"/>
          </a:p>
        </p:txBody>
      </p:sp>
      <p:sp>
        <p:nvSpPr>
          <p:cNvPr id="3" name="Content Placeholder 2">
            <a:extLst>
              <a:ext uri="{FF2B5EF4-FFF2-40B4-BE49-F238E27FC236}">
                <a16:creationId xmlns:a16="http://schemas.microsoft.com/office/drawing/2014/main" id="{4828640A-B434-4775-4DCB-A028EB607F8B}"/>
              </a:ext>
            </a:extLst>
          </p:cNvPr>
          <p:cNvSpPr>
            <a:spLocks noGrp="1"/>
          </p:cNvSpPr>
          <p:nvPr>
            <p:ph idx="1"/>
          </p:nvPr>
        </p:nvSpPr>
        <p:spPr/>
        <p:txBody>
          <a:bodyPr/>
          <a:lstStyle/>
          <a:p>
            <a:r>
              <a:rPr lang="en-US" b="1" dirty="0">
                <a:solidFill>
                  <a:srgbClr val="C00000"/>
                </a:solidFill>
              </a:rPr>
              <a:t>&lt;input type="text"&gt; </a:t>
            </a:r>
            <a:r>
              <a:rPr lang="en-US" dirty="0"/>
              <a:t>defines a single-line input field for text input.</a:t>
            </a:r>
            <a:endParaRPr lang="en-GH" dirty="0"/>
          </a:p>
        </p:txBody>
      </p:sp>
      <p:pic>
        <p:nvPicPr>
          <p:cNvPr id="5" name="Picture 4">
            <a:extLst>
              <a:ext uri="{FF2B5EF4-FFF2-40B4-BE49-F238E27FC236}">
                <a16:creationId xmlns:a16="http://schemas.microsoft.com/office/drawing/2014/main" id="{A22C5C6C-CD94-722F-4CA5-DD561F0C666C}"/>
              </a:ext>
            </a:extLst>
          </p:cNvPr>
          <p:cNvPicPr>
            <a:picLocks noChangeAspect="1"/>
          </p:cNvPicPr>
          <p:nvPr/>
        </p:nvPicPr>
        <p:blipFill>
          <a:blip r:embed="rId2"/>
          <a:stretch>
            <a:fillRect/>
          </a:stretch>
        </p:blipFill>
        <p:spPr>
          <a:xfrm>
            <a:off x="565995" y="1842790"/>
            <a:ext cx="8304595" cy="4486390"/>
          </a:xfrm>
          <a:prstGeom prst="rect">
            <a:avLst/>
          </a:prstGeom>
        </p:spPr>
      </p:pic>
    </p:spTree>
    <p:extLst>
      <p:ext uri="{BB962C8B-B14F-4D97-AF65-F5344CB8AC3E}">
        <p14:creationId xmlns:p14="http://schemas.microsoft.com/office/powerpoint/2010/main" val="613956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90223-2B43-C08D-8222-D0E15DF5527E}"/>
              </a:ext>
            </a:extLst>
          </p:cNvPr>
          <p:cNvSpPr>
            <a:spLocks noGrp="1"/>
          </p:cNvSpPr>
          <p:nvPr>
            <p:ph type="title"/>
          </p:nvPr>
        </p:nvSpPr>
        <p:spPr/>
        <p:txBody>
          <a:bodyPr/>
          <a:lstStyle/>
          <a:p>
            <a:r>
              <a:rPr lang="en-IN" dirty="0"/>
              <a:t>The &lt;label&gt; Element</a:t>
            </a:r>
            <a:endParaRPr lang="en-GH" dirty="0"/>
          </a:p>
        </p:txBody>
      </p:sp>
      <p:sp>
        <p:nvSpPr>
          <p:cNvPr id="3" name="Content Placeholder 2">
            <a:extLst>
              <a:ext uri="{FF2B5EF4-FFF2-40B4-BE49-F238E27FC236}">
                <a16:creationId xmlns:a16="http://schemas.microsoft.com/office/drawing/2014/main" id="{C26973ED-4C81-A296-A384-04C06C4EFBFF}"/>
              </a:ext>
            </a:extLst>
          </p:cNvPr>
          <p:cNvSpPr>
            <a:spLocks noGrp="1"/>
          </p:cNvSpPr>
          <p:nvPr>
            <p:ph idx="1"/>
          </p:nvPr>
        </p:nvSpPr>
        <p:spPr/>
        <p:txBody>
          <a:bodyPr/>
          <a:lstStyle/>
          <a:p>
            <a:r>
              <a:rPr lang="en-US" dirty="0"/>
              <a:t>The </a:t>
            </a:r>
            <a:r>
              <a:rPr lang="en-US" b="1" dirty="0">
                <a:solidFill>
                  <a:srgbClr val="C00000"/>
                </a:solidFill>
              </a:rPr>
              <a:t>&lt;label&gt; </a:t>
            </a:r>
            <a:r>
              <a:rPr lang="en-US" dirty="0"/>
              <a:t>tag defines a label for many form elements.</a:t>
            </a:r>
          </a:p>
          <a:p>
            <a:r>
              <a:rPr lang="en-US" dirty="0"/>
              <a:t>The </a:t>
            </a:r>
            <a:r>
              <a:rPr lang="en-US" b="1" dirty="0">
                <a:solidFill>
                  <a:srgbClr val="C00000"/>
                </a:solidFill>
              </a:rPr>
              <a:t>&lt;label&gt; </a:t>
            </a:r>
            <a:r>
              <a:rPr lang="en-US" dirty="0"/>
              <a:t>element is useful for screen-reader users because the screen-reader will read out loud the label when the user focuses on the input element.</a:t>
            </a:r>
          </a:p>
          <a:p>
            <a:r>
              <a:rPr lang="en-US" dirty="0"/>
              <a:t>The </a:t>
            </a:r>
            <a:r>
              <a:rPr lang="en-US" b="1" dirty="0">
                <a:solidFill>
                  <a:srgbClr val="C00000"/>
                </a:solidFill>
              </a:rPr>
              <a:t>&lt;label&gt; </a:t>
            </a:r>
            <a:r>
              <a:rPr lang="en-US" dirty="0"/>
              <a:t>element also helps users who have difficulty clicking on very small regions (such as radio buttons or checkboxes) - because when the user clicks the text within the &lt;label&gt; element, it toggles the radio button/checkbox.</a:t>
            </a:r>
          </a:p>
          <a:p>
            <a:endParaRPr lang="en-US" dirty="0"/>
          </a:p>
          <a:p>
            <a:r>
              <a:rPr lang="en-US" dirty="0"/>
              <a:t>The </a:t>
            </a:r>
            <a:r>
              <a:rPr lang="en-US" b="1" dirty="0">
                <a:solidFill>
                  <a:srgbClr val="FF0000"/>
                </a:solidFill>
              </a:rPr>
              <a:t>for </a:t>
            </a:r>
            <a:r>
              <a:rPr lang="en-US" dirty="0"/>
              <a:t>attribute of the </a:t>
            </a:r>
            <a:r>
              <a:rPr lang="en-US" b="1" dirty="0">
                <a:solidFill>
                  <a:srgbClr val="C00000"/>
                </a:solidFill>
              </a:rPr>
              <a:t>&lt;label&gt; </a:t>
            </a:r>
            <a:r>
              <a:rPr lang="en-US" dirty="0"/>
              <a:t>tag should be equal to the </a:t>
            </a:r>
            <a:r>
              <a:rPr lang="en-US" b="1" dirty="0">
                <a:solidFill>
                  <a:srgbClr val="FF0000"/>
                </a:solidFill>
              </a:rPr>
              <a:t>id </a:t>
            </a:r>
            <a:r>
              <a:rPr lang="en-US" dirty="0"/>
              <a:t>attribute of the </a:t>
            </a:r>
            <a:r>
              <a:rPr lang="en-US" b="1" dirty="0">
                <a:solidFill>
                  <a:srgbClr val="C00000"/>
                </a:solidFill>
              </a:rPr>
              <a:t>&lt;input&gt; </a:t>
            </a:r>
            <a:r>
              <a:rPr lang="en-US" dirty="0"/>
              <a:t>element to bind them together.</a:t>
            </a:r>
            <a:endParaRPr lang="en-GH" dirty="0"/>
          </a:p>
        </p:txBody>
      </p:sp>
    </p:spTree>
    <p:extLst>
      <p:ext uri="{BB962C8B-B14F-4D97-AF65-F5344CB8AC3E}">
        <p14:creationId xmlns:p14="http://schemas.microsoft.com/office/powerpoint/2010/main" val="20151071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12CD8-9A37-B9B4-6EB2-08AAB17B6319}"/>
              </a:ext>
            </a:extLst>
          </p:cNvPr>
          <p:cNvSpPr>
            <a:spLocks noGrp="1"/>
          </p:cNvSpPr>
          <p:nvPr>
            <p:ph type="title"/>
          </p:nvPr>
        </p:nvSpPr>
        <p:spPr/>
        <p:txBody>
          <a:bodyPr/>
          <a:lstStyle/>
          <a:p>
            <a:r>
              <a:rPr lang="en-IN" dirty="0"/>
              <a:t>HTML Forms: Radio Buttons</a:t>
            </a:r>
            <a:endParaRPr lang="en-GH" dirty="0"/>
          </a:p>
        </p:txBody>
      </p:sp>
      <p:pic>
        <p:nvPicPr>
          <p:cNvPr id="5" name="Content Placeholder 4">
            <a:extLst>
              <a:ext uri="{FF2B5EF4-FFF2-40B4-BE49-F238E27FC236}">
                <a16:creationId xmlns:a16="http://schemas.microsoft.com/office/drawing/2014/main" id="{529AB059-0555-A20D-956B-715C6C4E87AF}"/>
              </a:ext>
            </a:extLst>
          </p:cNvPr>
          <p:cNvPicPr>
            <a:picLocks noGrp="1" noChangeAspect="1"/>
          </p:cNvPicPr>
          <p:nvPr>
            <p:ph idx="1"/>
          </p:nvPr>
        </p:nvPicPr>
        <p:blipFill>
          <a:blip r:embed="rId2"/>
          <a:stretch>
            <a:fillRect/>
          </a:stretch>
        </p:blipFill>
        <p:spPr>
          <a:xfrm>
            <a:off x="213394" y="1403498"/>
            <a:ext cx="8708589" cy="4720855"/>
          </a:xfrm>
        </p:spPr>
      </p:pic>
    </p:spTree>
    <p:extLst>
      <p:ext uri="{BB962C8B-B14F-4D97-AF65-F5344CB8AC3E}">
        <p14:creationId xmlns:p14="http://schemas.microsoft.com/office/powerpoint/2010/main" val="17047169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12CD8-9A37-B9B4-6EB2-08AAB17B6319}"/>
              </a:ext>
            </a:extLst>
          </p:cNvPr>
          <p:cNvSpPr>
            <a:spLocks noGrp="1"/>
          </p:cNvSpPr>
          <p:nvPr>
            <p:ph type="title"/>
          </p:nvPr>
        </p:nvSpPr>
        <p:spPr/>
        <p:txBody>
          <a:bodyPr/>
          <a:lstStyle/>
          <a:p>
            <a:r>
              <a:rPr lang="en-IN" dirty="0"/>
              <a:t>HTML Forms: Check Boxes</a:t>
            </a:r>
            <a:endParaRPr lang="en-GH" dirty="0"/>
          </a:p>
        </p:txBody>
      </p:sp>
      <p:sp>
        <p:nvSpPr>
          <p:cNvPr id="4" name="Content Placeholder 3">
            <a:extLst>
              <a:ext uri="{FF2B5EF4-FFF2-40B4-BE49-F238E27FC236}">
                <a16:creationId xmlns:a16="http://schemas.microsoft.com/office/drawing/2014/main" id="{1D953539-4477-501D-0403-78A2FCDF9C3B}"/>
              </a:ext>
            </a:extLst>
          </p:cNvPr>
          <p:cNvSpPr>
            <a:spLocks noGrp="1"/>
          </p:cNvSpPr>
          <p:nvPr>
            <p:ph idx="1"/>
          </p:nvPr>
        </p:nvSpPr>
        <p:spPr/>
        <p:txBody>
          <a:bodyPr/>
          <a:lstStyle/>
          <a:p>
            <a:endParaRPr lang="en-GH"/>
          </a:p>
        </p:txBody>
      </p:sp>
      <p:pic>
        <p:nvPicPr>
          <p:cNvPr id="7" name="Picture 6">
            <a:extLst>
              <a:ext uri="{FF2B5EF4-FFF2-40B4-BE49-F238E27FC236}">
                <a16:creationId xmlns:a16="http://schemas.microsoft.com/office/drawing/2014/main" id="{308FE53D-9F29-639A-37C2-9BB4C2FC943A}"/>
              </a:ext>
            </a:extLst>
          </p:cNvPr>
          <p:cNvPicPr>
            <a:picLocks noChangeAspect="1"/>
          </p:cNvPicPr>
          <p:nvPr/>
        </p:nvPicPr>
        <p:blipFill>
          <a:blip r:embed="rId2"/>
          <a:stretch>
            <a:fillRect/>
          </a:stretch>
        </p:blipFill>
        <p:spPr>
          <a:xfrm>
            <a:off x="243253" y="1054412"/>
            <a:ext cx="8681519" cy="5218805"/>
          </a:xfrm>
          <a:prstGeom prst="rect">
            <a:avLst/>
          </a:prstGeom>
        </p:spPr>
      </p:pic>
    </p:spTree>
    <p:extLst>
      <p:ext uri="{BB962C8B-B14F-4D97-AF65-F5344CB8AC3E}">
        <p14:creationId xmlns:p14="http://schemas.microsoft.com/office/powerpoint/2010/main" val="13793471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12CD8-9A37-B9B4-6EB2-08AAB17B6319}"/>
              </a:ext>
            </a:extLst>
          </p:cNvPr>
          <p:cNvSpPr>
            <a:spLocks noGrp="1"/>
          </p:cNvSpPr>
          <p:nvPr>
            <p:ph type="title"/>
          </p:nvPr>
        </p:nvSpPr>
        <p:spPr/>
        <p:txBody>
          <a:bodyPr/>
          <a:lstStyle/>
          <a:p>
            <a:r>
              <a:rPr lang="en-IN" dirty="0"/>
              <a:t>HTML Forms: Submit Button</a:t>
            </a:r>
            <a:endParaRPr lang="en-GH" dirty="0"/>
          </a:p>
        </p:txBody>
      </p:sp>
      <p:sp>
        <p:nvSpPr>
          <p:cNvPr id="4" name="Content Placeholder 3">
            <a:extLst>
              <a:ext uri="{FF2B5EF4-FFF2-40B4-BE49-F238E27FC236}">
                <a16:creationId xmlns:a16="http://schemas.microsoft.com/office/drawing/2014/main" id="{1D953539-4477-501D-0403-78A2FCDF9C3B}"/>
              </a:ext>
            </a:extLst>
          </p:cNvPr>
          <p:cNvSpPr>
            <a:spLocks noGrp="1"/>
          </p:cNvSpPr>
          <p:nvPr>
            <p:ph idx="1"/>
          </p:nvPr>
        </p:nvSpPr>
        <p:spPr/>
        <p:txBody>
          <a:bodyPr/>
          <a:lstStyle/>
          <a:p>
            <a:r>
              <a:rPr lang="en-US" dirty="0"/>
              <a:t>The </a:t>
            </a:r>
            <a:r>
              <a:rPr lang="en-US" b="1" dirty="0">
                <a:solidFill>
                  <a:srgbClr val="C00000"/>
                </a:solidFill>
              </a:rPr>
              <a:t>&lt;input type="submit"&gt; </a:t>
            </a:r>
            <a:r>
              <a:rPr lang="en-US" dirty="0"/>
              <a:t>defines a button for submitting the form data to a form handler.</a:t>
            </a:r>
          </a:p>
          <a:p>
            <a:r>
              <a:rPr lang="en-US" dirty="0"/>
              <a:t>The form handler is typically a file on the server with a script for processing input data.</a:t>
            </a:r>
          </a:p>
          <a:p>
            <a:r>
              <a:rPr lang="en-US" dirty="0"/>
              <a:t>The form handler is specified in the form's action attribute.</a:t>
            </a:r>
            <a:endParaRPr lang="en-GH" dirty="0"/>
          </a:p>
        </p:txBody>
      </p:sp>
      <p:pic>
        <p:nvPicPr>
          <p:cNvPr id="8" name="Picture 7">
            <a:extLst>
              <a:ext uri="{FF2B5EF4-FFF2-40B4-BE49-F238E27FC236}">
                <a16:creationId xmlns:a16="http://schemas.microsoft.com/office/drawing/2014/main" id="{C32B8A0E-D1ED-F0C0-C0B4-4FE544591602}"/>
              </a:ext>
            </a:extLst>
          </p:cNvPr>
          <p:cNvPicPr>
            <a:picLocks noChangeAspect="1"/>
          </p:cNvPicPr>
          <p:nvPr/>
        </p:nvPicPr>
        <p:blipFill>
          <a:blip r:embed="rId2"/>
          <a:stretch>
            <a:fillRect/>
          </a:stretch>
        </p:blipFill>
        <p:spPr>
          <a:xfrm>
            <a:off x="939030" y="3706375"/>
            <a:ext cx="7284387" cy="2716619"/>
          </a:xfrm>
          <a:prstGeom prst="rect">
            <a:avLst/>
          </a:prstGeom>
        </p:spPr>
      </p:pic>
    </p:spTree>
    <p:extLst>
      <p:ext uri="{BB962C8B-B14F-4D97-AF65-F5344CB8AC3E}">
        <p14:creationId xmlns:p14="http://schemas.microsoft.com/office/powerpoint/2010/main" val="11395374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95A6-3CDF-D921-52F1-4972A51A2D48}"/>
              </a:ext>
            </a:extLst>
          </p:cNvPr>
          <p:cNvSpPr>
            <a:spLocks noGrp="1"/>
          </p:cNvSpPr>
          <p:nvPr>
            <p:ph type="title"/>
          </p:nvPr>
        </p:nvSpPr>
        <p:spPr/>
        <p:txBody>
          <a:bodyPr/>
          <a:lstStyle/>
          <a:p>
            <a:r>
              <a:rPr lang="en-IN" dirty="0"/>
              <a:t>HTML Forms: Text Fields with Submit</a:t>
            </a:r>
            <a:endParaRPr lang="en-GH" dirty="0"/>
          </a:p>
        </p:txBody>
      </p:sp>
      <p:sp>
        <p:nvSpPr>
          <p:cNvPr id="3" name="Content Placeholder 2">
            <a:extLst>
              <a:ext uri="{FF2B5EF4-FFF2-40B4-BE49-F238E27FC236}">
                <a16:creationId xmlns:a16="http://schemas.microsoft.com/office/drawing/2014/main" id="{46BFD675-EDFE-AFDF-E9F7-B7CD89A55F76}"/>
              </a:ext>
            </a:extLst>
          </p:cNvPr>
          <p:cNvSpPr>
            <a:spLocks noGrp="1"/>
          </p:cNvSpPr>
          <p:nvPr>
            <p:ph idx="1"/>
          </p:nvPr>
        </p:nvSpPr>
        <p:spPr/>
        <p:txBody>
          <a:bodyPr/>
          <a:lstStyle/>
          <a:p>
            <a:r>
              <a:rPr lang="en-IN" dirty="0"/>
              <a:t>Text fields example:</a:t>
            </a:r>
          </a:p>
          <a:p>
            <a:pPr marL="0" indent="0">
              <a:buNone/>
            </a:pPr>
            <a:endParaRPr lang="en-GH" dirty="0"/>
          </a:p>
        </p:txBody>
      </p:sp>
      <p:pic>
        <p:nvPicPr>
          <p:cNvPr id="9" name="Picture 8">
            <a:extLst>
              <a:ext uri="{FF2B5EF4-FFF2-40B4-BE49-F238E27FC236}">
                <a16:creationId xmlns:a16="http://schemas.microsoft.com/office/drawing/2014/main" id="{24E27450-1473-F916-A3FC-CD86E5974340}"/>
              </a:ext>
            </a:extLst>
          </p:cNvPr>
          <p:cNvPicPr>
            <a:picLocks noChangeAspect="1"/>
          </p:cNvPicPr>
          <p:nvPr/>
        </p:nvPicPr>
        <p:blipFill>
          <a:blip r:embed="rId2"/>
          <a:stretch>
            <a:fillRect/>
          </a:stretch>
        </p:blipFill>
        <p:spPr>
          <a:xfrm>
            <a:off x="386270" y="1952950"/>
            <a:ext cx="8535714" cy="4308698"/>
          </a:xfrm>
          <a:prstGeom prst="rect">
            <a:avLst/>
          </a:prstGeom>
        </p:spPr>
      </p:pic>
    </p:spTree>
    <p:extLst>
      <p:ext uri="{BB962C8B-B14F-4D97-AF65-F5344CB8AC3E}">
        <p14:creationId xmlns:p14="http://schemas.microsoft.com/office/powerpoint/2010/main" val="9796248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DFC0-4792-A7A5-10DD-95F42E0C41F5}"/>
              </a:ext>
            </a:extLst>
          </p:cNvPr>
          <p:cNvSpPr>
            <a:spLocks noGrp="1"/>
          </p:cNvSpPr>
          <p:nvPr>
            <p:ph type="title"/>
          </p:nvPr>
        </p:nvSpPr>
        <p:spPr/>
        <p:txBody>
          <a:bodyPr/>
          <a:lstStyle/>
          <a:p>
            <a:r>
              <a:rPr lang="en-IN" dirty="0"/>
              <a:t>HTML Input: A note on </a:t>
            </a:r>
            <a:r>
              <a:rPr lang="en-IN" dirty="0">
                <a:solidFill>
                  <a:srgbClr val="0070C0"/>
                </a:solidFill>
              </a:rPr>
              <a:t>name</a:t>
            </a:r>
            <a:r>
              <a:rPr lang="en-IN" dirty="0"/>
              <a:t> attribute</a:t>
            </a:r>
            <a:endParaRPr lang="en-GH" dirty="0"/>
          </a:p>
        </p:txBody>
      </p:sp>
      <p:sp>
        <p:nvSpPr>
          <p:cNvPr id="3" name="Content Placeholder 2">
            <a:extLst>
              <a:ext uri="{FF2B5EF4-FFF2-40B4-BE49-F238E27FC236}">
                <a16:creationId xmlns:a16="http://schemas.microsoft.com/office/drawing/2014/main" id="{A85F1FF6-A8C7-2CBD-2C8D-A52CF96F2C7D}"/>
              </a:ext>
            </a:extLst>
          </p:cNvPr>
          <p:cNvSpPr>
            <a:spLocks noGrp="1"/>
          </p:cNvSpPr>
          <p:nvPr>
            <p:ph idx="1"/>
          </p:nvPr>
        </p:nvSpPr>
        <p:spPr/>
        <p:txBody>
          <a:bodyPr/>
          <a:lstStyle/>
          <a:p>
            <a:r>
              <a:rPr lang="en-US" dirty="0"/>
              <a:t>Each input field must have a </a:t>
            </a:r>
            <a:r>
              <a:rPr lang="en-US" b="1" dirty="0">
                <a:solidFill>
                  <a:srgbClr val="0070C0"/>
                </a:solidFill>
              </a:rPr>
              <a:t>name</a:t>
            </a:r>
            <a:r>
              <a:rPr lang="en-US" dirty="0"/>
              <a:t> attribute to be submitted.</a:t>
            </a:r>
          </a:p>
          <a:p>
            <a:endParaRPr lang="en-US" dirty="0"/>
          </a:p>
          <a:p>
            <a:r>
              <a:rPr lang="en-US" dirty="0"/>
              <a:t>If the name attribute is omitted, the value of the input field </a:t>
            </a:r>
            <a:r>
              <a:rPr lang="en-US" b="1" u="sng" dirty="0"/>
              <a:t>will not be sent </a:t>
            </a:r>
            <a:r>
              <a:rPr lang="en-US" dirty="0"/>
              <a:t>at all.</a:t>
            </a:r>
            <a:endParaRPr lang="en-GH" dirty="0"/>
          </a:p>
        </p:txBody>
      </p:sp>
    </p:spTree>
    <p:extLst>
      <p:ext uri="{BB962C8B-B14F-4D97-AF65-F5344CB8AC3E}">
        <p14:creationId xmlns:p14="http://schemas.microsoft.com/office/powerpoint/2010/main" val="20752936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59C6D-A72E-F76B-DD50-EE0B531027E6}"/>
              </a:ext>
            </a:extLst>
          </p:cNvPr>
          <p:cNvSpPr>
            <a:spLocks noGrp="1"/>
          </p:cNvSpPr>
          <p:nvPr>
            <p:ph type="title"/>
          </p:nvPr>
        </p:nvSpPr>
        <p:spPr/>
        <p:txBody>
          <a:bodyPr/>
          <a:lstStyle/>
          <a:p>
            <a:r>
              <a:rPr lang="en-IN" dirty="0"/>
              <a:t>HTML Metadata</a:t>
            </a:r>
            <a:endParaRPr lang="en-GH" dirty="0"/>
          </a:p>
        </p:txBody>
      </p:sp>
      <p:sp>
        <p:nvSpPr>
          <p:cNvPr id="3" name="Content Placeholder 2">
            <a:extLst>
              <a:ext uri="{FF2B5EF4-FFF2-40B4-BE49-F238E27FC236}">
                <a16:creationId xmlns:a16="http://schemas.microsoft.com/office/drawing/2014/main" id="{38BF51CA-E503-9290-4152-3F549AEE80C4}"/>
              </a:ext>
            </a:extLst>
          </p:cNvPr>
          <p:cNvSpPr>
            <a:spLocks noGrp="1"/>
          </p:cNvSpPr>
          <p:nvPr>
            <p:ph idx="1"/>
          </p:nvPr>
        </p:nvSpPr>
        <p:spPr/>
        <p:txBody>
          <a:bodyPr/>
          <a:lstStyle/>
          <a:p>
            <a:r>
              <a:rPr lang="en-US" dirty="0"/>
              <a:t>Metadata is data that describes other data. </a:t>
            </a:r>
          </a:p>
          <a:p>
            <a:r>
              <a:rPr lang="en-US" dirty="0"/>
              <a:t>In HTML, metadata provides information about the webpage, including its title, author, description, and how search engines or social platforms should display it. </a:t>
            </a:r>
          </a:p>
          <a:p>
            <a:r>
              <a:rPr lang="en-US" dirty="0"/>
              <a:t>It doesn't directly appear on the webpage but is important for SEO, accessibility, and browser behaviour.</a:t>
            </a:r>
          </a:p>
          <a:p>
            <a:pPr marL="0" indent="0">
              <a:buNone/>
            </a:pPr>
            <a:endParaRPr lang="en-US" dirty="0"/>
          </a:p>
        </p:txBody>
      </p:sp>
    </p:spTree>
    <p:extLst>
      <p:ext uri="{BB962C8B-B14F-4D97-AF65-F5344CB8AC3E}">
        <p14:creationId xmlns:p14="http://schemas.microsoft.com/office/powerpoint/2010/main" val="29019284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59C6D-A72E-F76B-DD50-EE0B531027E6}"/>
              </a:ext>
            </a:extLst>
          </p:cNvPr>
          <p:cNvSpPr>
            <a:spLocks noGrp="1"/>
          </p:cNvSpPr>
          <p:nvPr>
            <p:ph type="title"/>
          </p:nvPr>
        </p:nvSpPr>
        <p:spPr/>
        <p:txBody>
          <a:bodyPr/>
          <a:lstStyle/>
          <a:p>
            <a:r>
              <a:rPr lang="en-IN" dirty="0"/>
              <a:t>HTML Metadata</a:t>
            </a:r>
            <a:endParaRPr lang="en-GH" dirty="0"/>
          </a:p>
        </p:txBody>
      </p:sp>
      <p:sp>
        <p:nvSpPr>
          <p:cNvPr id="3" name="Content Placeholder 2">
            <a:extLst>
              <a:ext uri="{FF2B5EF4-FFF2-40B4-BE49-F238E27FC236}">
                <a16:creationId xmlns:a16="http://schemas.microsoft.com/office/drawing/2014/main" id="{38BF51CA-E503-9290-4152-3F549AEE80C4}"/>
              </a:ext>
            </a:extLst>
          </p:cNvPr>
          <p:cNvSpPr>
            <a:spLocks noGrp="1"/>
          </p:cNvSpPr>
          <p:nvPr>
            <p:ph idx="1"/>
          </p:nvPr>
        </p:nvSpPr>
        <p:spPr>
          <a:xfrm>
            <a:off x="241100" y="1386039"/>
            <a:ext cx="8681519" cy="974389"/>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Verdana" panose="020B0604030504040204" pitchFamily="34" charset="0"/>
                <a:cs typeface="+mn-cs"/>
              </a:rPr>
              <a:t>Commonly used metadata elements included in </a:t>
            </a:r>
            <a:r>
              <a:rPr kumimoji="0" lang="en-US" sz="2400" b="1" i="0" u="none" strike="noStrike" kern="1200" cap="none" spc="0" normalizeH="0" baseline="0" noProof="0" dirty="0">
                <a:ln>
                  <a:noFill/>
                </a:ln>
                <a:solidFill>
                  <a:srgbClr val="C00000"/>
                </a:solidFill>
                <a:effectLst/>
                <a:uLnTx/>
                <a:uFillTx/>
                <a:latin typeface="Calibri"/>
                <a:ea typeface="Verdana" panose="020B0604030504040204" pitchFamily="34" charset="0"/>
                <a:cs typeface="+mn-cs"/>
              </a:rPr>
              <a:t>&lt;head&gt;</a:t>
            </a:r>
            <a:r>
              <a:rPr kumimoji="0" lang="en-US" sz="2400" b="0" i="0" u="none" strike="noStrike" kern="1200" cap="none" spc="0" normalizeH="0" baseline="0" noProof="0" dirty="0">
                <a:ln>
                  <a:noFill/>
                </a:ln>
                <a:solidFill>
                  <a:prstClr val="black"/>
                </a:solidFill>
                <a:effectLst/>
                <a:uLnTx/>
                <a:uFillTx/>
                <a:latin typeface="Calibri"/>
                <a:ea typeface="Verdana" panose="020B0604030504040204" pitchFamily="34" charset="0"/>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highlight>
                  <a:srgbClr val="FFFF00"/>
                </a:highlight>
                <a:uLnTx/>
                <a:uFillTx/>
                <a:latin typeface="Calibri"/>
                <a:ea typeface="Verdana" panose="020B0604030504040204" pitchFamily="34" charset="0"/>
                <a:cs typeface="+mn-cs"/>
              </a:rPr>
              <a:t>&lt;title&gt;Page Title&lt;/title&gt;</a:t>
            </a:r>
          </a:p>
          <a:p>
            <a:pPr marL="0" indent="0">
              <a:buNone/>
            </a:pPr>
            <a:endParaRPr lang="en-US" dirty="0"/>
          </a:p>
        </p:txBody>
      </p:sp>
      <p:sp>
        <p:nvSpPr>
          <p:cNvPr id="4" name="Content Placeholder 2">
            <a:extLst>
              <a:ext uri="{FF2B5EF4-FFF2-40B4-BE49-F238E27FC236}">
                <a16:creationId xmlns:a16="http://schemas.microsoft.com/office/drawing/2014/main" id="{D8EEEF83-86CB-78C3-1A73-C45D08CD7CFC}"/>
              </a:ext>
            </a:extLst>
          </p:cNvPr>
          <p:cNvSpPr txBox="1">
            <a:spLocks/>
          </p:cNvSpPr>
          <p:nvPr/>
        </p:nvSpPr>
        <p:spPr>
          <a:xfrm>
            <a:off x="221381" y="2311072"/>
            <a:ext cx="8681519" cy="2356621"/>
          </a:xfrm>
          <a:prstGeom prst="rect">
            <a:avLst/>
          </a:prstGeom>
          <a:solidFill>
            <a:srgbClr val="9966FF"/>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sz="2000" dirty="0">
                <a:solidFill>
                  <a:prstClr val="black"/>
                </a:solidFill>
                <a:latin typeface="Calibri"/>
              </a:rPr>
              <a:t>&lt;meta charset="UTF-8"&gt;</a:t>
            </a:r>
          </a:p>
          <a:p>
            <a:pPr marL="0" indent="0">
              <a:buFont typeface="Arial" panose="020B0604020202020204" pitchFamily="34" charset="0"/>
              <a:buNone/>
              <a:defRPr/>
            </a:pPr>
            <a:r>
              <a:rPr lang="en-US" sz="2000" dirty="0">
                <a:solidFill>
                  <a:prstClr val="black"/>
                </a:solidFill>
                <a:latin typeface="Calibri"/>
              </a:rPr>
              <a:t>&lt;meta name="viewport" content="width=device-width, initial-scale=1.0"&gt;</a:t>
            </a:r>
          </a:p>
          <a:p>
            <a:pPr marL="0" indent="0">
              <a:buFont typeface="Arial" panose="020B0604020202020204" pitchFamily="34" charset="0"/>
              <a:buNone/>
              <a:defRPr/>
            </a:pPr>
            <a:r>
              <a:rPr lang="en-US" sz="2000" dirty="0">
                <a:solidFill>
                  <a:prstClr val="black"/>
                </a:solidFill>
                <a:latin typeface="Calibri"/>
              </a:rPr>
              <a:t>&lt;meta name="description" content="A brief description of the webpage for SEO purposes."&gt;</a:t>
            </a:r>
          </a:p>
          <a:p>
            <a:pPr marL="0" indent="0">
              <a:buFont typeface="Arial" panose="020B0604020202020204" pitchFamily="34" charset="0"/>
              <a:buNone/>
              <a:defRPr/>
            </a:pPr>
            <a:r>
              <a:rPr lang="en-US" sz="2000" dirty="0">
                <a:solidFill>
                  <a:prstClr val="black"/>
                </a:solidFill>
                <a:latin typeface="Calibri"/>
              </a:rPr>
              <a:t>&lt;meta name="keywords" content="HTML, CSS, JavaScript"&gt;</a:t>
            </a:r>
          </a:p>
          <a:p>
            <a:pPr marL="0" indent="0">
              <a:buFont typeface="Arial" panose="020B0604020202020204" pitchFamily="34" charset="0"/>
              <a:buNone/>
              <a:defRPr/>
            </a:pPr>
            <a:r>
              <a:rPr lang="en-US" sz="2000" dirty="0">
                <a:solidFill>
                  <a:prstClr val="black"/>
                </a:solidFill>
                <a:latin typeface="Calibri"/>
              </a:rPr>
              <a:t>&lt;meta name="author" content="Your Name"&gt;</a:t>
            </a:r>
          </a:p>
          <a:p>
            <a:pPr marL="0" indent="0">
              <a:buFont typeface="Arial" panose="020B0604020202020204" pitchFamily="34" charset="0"/>
              <a:buNone/>
            </a:pPr>
            <a:endParaRPr lang="en-US" dirty="0"/>
          </a:p>
        </p:txBody>
      </p:sp>
      <p:sp>
        <p:nvSpPr>
          <p:cNvPr id="5" name="Content Placeholder 2">
            <a:extLst>
              <a:ext uri="{FF2B5EF4-FFF2-40B4-BE49-F238E27FC236}">
                <a16:creationId xmlns:a16="http://schemas.microsoft.com/office/drawing/2014/main" id="{CBC3365A-8321-9DB1-6885-D4F331EF80F3}"/>
              </a:ext>
            </a:extLst>
          </p:cNvPr>
          <p:cNvSpPr txBox="1">
            <a:spLocks/>
          </p:cNvSpPr>
          <p:nvPr/>
        </p:nvSpPr>
        <p:spPr>
          <a:xfrm>
            <a:off x="231240" y="4710226"/>
            <a:ext cx="8681519" cy="1137684"/>
          </a:xfrm>
          <a:prstGeom prst="rect">
            <a:avLst/>
          </a:prstGeom>
          <a:solidFill>
            <a:srgbClr val="FF99FF"/>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sz="2000" dirty="0">
                <a:solidFill>
                  <a:prstClr val="black"/>
                </a:solidFill>
                <a:latin typeface="Calibri"/>
              </a:rPr>
              <a:t>&lt;link </a:t>
            </a:r>
            <a:r>
              <a:rPr lang="en-US" sz="2000" dirty="0" err="1">
                <a:solidFill>
                  <a:prstClr val="black"/>
                </a:solidFill>
                <a:latin typeface="Calibri"/>
              </a:rPr>
              <a:t>rel</a:t>
            </a:r>
            <a:r>
              <a:rPr lang="en-US" sz="2000" dirty="0">
                <a:solidFill>
                  <a:prstClr val="black"/>
                </a:solidFill>
                <a:latin typeface="Calibri"/>
              </a:rPr>
              <a:t>="icon" </a:t>
            </a:r>
            <a:r>
              <a:rPr lang="en-US" sz="2000" dirty="0" err="1">
                <a:solidFill>
                  <a:prstClr val="black"/>
                </a:solidFill>
                <a:latin typeface="Calibri"/>
              </a:rPr>
              <a:t>href</a:t>
            </a:r>
            <a:r>
              <a:rPr lang="en-US" sz="2000" dirty="0">
                <a:solidFill>
                  <a:prstClr val="black"/>
                </a:solidFill>
                <a:latin typeface="Calibri"/>
              </a:rPr>
              <a:t>="/path/to/favicon.ico" type="image/x-icon"&gt;</a:t>
            </a:r>
          </a:p>
          <a:p>
            <a:pPr marL="0" indent="0">
              <a:buFont typeface="Arial" panose="020B0604020202020204" pitchFamily="34" charset="0"/>
              <a:buNone/>
              <a:defRPr/>
            </a:pPr>
            <a:r>
              <a:rPr lang="en-US" sz="2000" dirty="0">
                <a:solidFill>
                  <a:prstClr val="black"/>
                </a:solidFill>
                <a:latin typeface="Calibri"/>
              </a:rPr>
              <a:t>&lt;link </a:t>
            </a:r>
            <a:r>
              <a:rPr lang="en-US" sz="2000" dirty="0" err="1">
                <a:solidFill>
                  <a:prstClr val="black"/>
                </a:solidFill>
                <a:latin typeface="Calibri"/>
              </a:rPr>
              <a:t>rel</a:t>
            </a:r>
            <a:r>
              <a:rPr lang="en-US" sz="2000" dirty="0">
                <a:solidFill>
                  <a:prstClr val="black"/>
                </a:solidFill>
                <a:latin typeface="Calibri"/>
              </a:rPr>
              <a:t>="stylesheet" </a:t>
            </a:r>
            <a:r>
              <a:rPr lang="en-US" sz="2000" dirty="0" err="1">
                <a:solidFill>
                  <a:prstClr val="black"/>
                </a:solidFill>
                <a:latin typeface="Calibri"/>
              </a:rPr>
              <a:t>href</a:t>
            </a:r>
            <a:r>
              <a:rPr lang="en-US" sz="2000" dirty="0">
                <a:solidFill>
                  <a:prstClr val="black"/>
                </a:solidFill>
                <a:latin typeface="Calibri"/>
              </a:rPr>
              <a:t>="styles.css"&gt;</a:t>
            </a:r>
          </a:p>
          <a:p>
            <a:pPr marL="0" indent="0">
              <a:buFont typeface="Arial" panose="020B0604020202020204" pitchFamily="34" charset="0"/>
              <a:buNone/>
              <a:defRPr/>
            </a:pPr>
            <a:r>
              <a:rPr lang="en-US" sz="2000" dirty="0">
                <a:solidFill>
                  <a:prstClr val="black"/>
                </a:solidFill>
                <a:latin typeface="Calibri"/>
              </a:rPr>
              <a:t>&lt;link </a:t>
            </a:r>
            <a:r>
              <a:rPr lang="en-US" sz="2000" dirty="0" err="1">
                <a:solidFill>
                  <a:prstClr val="black"/>
                </a:solidFill>
                <a:latin typeface="Calibri"/>
              </a:rPr>
              <a:t>rel</a:t>
            </a:r>
            <a:r>
              <a:rPr lang="en-US" sz="2000" dirty="0">
                <a:solidFill>
                  <a:prstClr val="black"/>
                </a:solidFill>
                <a:latin typeface="Calibri"/>
              </a:rPr>
              <a:t>="canonical" </a:t>
            </a:r>
            <a:r>
              <a:rPr lang="en-US" sz="2000" dirty="0" err="1">
                <a:solidFill>
                  <a:prstClr val="black"/>
                </a:solidFill>
                <a:latin typeface="Calibri"/>
              </a:rPr>
              <a:t>href</a:t>
            </a:r>
            <a:r>
              <a:rPr lang="en-US" sz="2000" dirty="0">
                <a:solidFill>
                  <a:prstClr val="black"/>
                </a:solidFill>
                <a:latin typeface="Calibri"/>
              </a:rPr>
              <a:t>="https://example.com"&gt;</a:t>
            </a:r>
          </a:p>
          <a:p>
            <a:pPr marL="0" indent="0">
              <a:buFont typeface="Arial" panose="020B0604020202020204" pitchFamily="34" charset="0"/>
              <a:buNone/>
              <a:defRPr/>
            </a:pPr>
            <a:endParaRPr lang="en-US" sz="2000" dirty="0">
              <a:solidFill>
                <a:prstClr val="black"/>
              </a:solidFill>
              <a:latin typeface="Calibri"/>
            </a:endParaRPr>
          </a:p>
          <a:p>
            <a:pPr marL="0" indent="0">
              <a:buFont typeface="Arial" panose="020B0604020202020204" pitchFamily="34" charset="0"/>
              <a:buNone/>
              <a:defRPr/>
            </a:pPr>
            <a:endParaRPr lang="en-US" dirty="0">
              <a:solidFill>
                <a:prstClr val="black"/>
              </a:solidFill>
              <a:latin typeface="Calibri"/>
            </a:endParaRPr>
          </a:p>
          <a:p>
            <a:pPr marL="0" indent="0">
              <a:buFont typeface="Arial" panose="020B0604020202020204" pitchFamily="34" charset="0"/>
              <a:buNone/>
            </a:pPr>
            <a:endParaRPr lang="en-US" dirty="0"/>
          </a:p>
        </p:txBody>
      </p:sp>
      <p:sp>
        <p:nvSpPr>
          <p:cNvPr id="6" name="Content Placeholder 2">
            <a:extLst>
              <a:ext uri="{FF2B5EF4-FFF2-40B4-BE49-F238E27FC236}">
                <a16:creationId xmlns:a16="http://schemas.microsoft.com/office/drawing/2014/main" id="{80EA3F00-993C-10AD-0CF7-49B18EB2147D}"/>
              </a:ext>
            </a:extLst>
          </p:cNvPr>
          <p:cNvSpPr txBox="1">
            <a:spLocks/>
          </p:cNvSpPr>
          <p:nvPr/>
        </p:nvSpPr>
        <p:spPr>
          <a:xfrm>
            <a:off x="231240" y="5963367"/>
            <a:ext cx="8681519" cy="394904"/>
          </a:xfrm>
          <a:prstGeom prst="rect">
            <a:avLst/>
          </a:prstGeom>
          <a:solidFill>
            <a:schemeClr val="accent6">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sz="2000" dirty="0">
                <a:solidFill>
                  <a:prstClr val="black"/>
                </a:solidFill>
                <a:latin typeface="Calibri"/>
              </a:rPr>
              <a:t>&lt;script </a:t>
            </a:r>
            <a:r>
              <a:rPr lang="en-US" sz="2000" dirty="0" err="1">
                <a:solidFill>
                  <a:prstClr val="black"/>
                </a:solidFill>
                <a:latin typeface="Calibri"/>
              </a:rPr>
              <a:t>src</a:t>
            </a:r>
            <a:r>
              <a:rPr lang="en-US" sz="2000" dirty="0">
                <a:solidFill>
                  <a:prstClr val="black"/>
                </a:solidFill>
                <a:latin typeface="Calibri"/>
              </a:rPr>
              <a:t>="script.js" defer&gt;&lt;/script&gt;</a:t>
            </a:r>
          </a:p>
          <a:p>
            <a:pPr marL="0" indent="0">
              <a:buFont typeface="Arial" panose="020B0604020202020204" pitchFamily="34" charset="0"/>
              <a:buNone/>
              <a:defRPr/>
            </a:pPr>
            <a:endParaRPr lang="en-US" sz="2000" dirty="0">
              <a:solidFill>
                <a:prstClr val="black"/>
              </a:solidFill>
              <a:latin typeface="Calibri"/>
            </a:endParaRPr>
          </a:p>
          <a:p>
            <a:pPr marL="0" indent="0">
              <a:buFont typeface="Arial" panose="020B0604020202020204" pitchFamily="34" charset="0"/>
              <a:buNone/>
              <a:defRPr/>
            </a:pPr>
            <a:endParaRPr lang="en-US" dirty="0">
              <a:solidFill>
                <a:prstClr val="black"/>
              </a:solidFill>
              <a:latin typeface="Calibri"/>
            </a:endParaRP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0115541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900E-E77C-DD6A-1FD1-AB692E40043E}"/>
              </a:ext>
            </a:extLst>
          </p:cNvPr>
          <p:cNvSpPr>
            <a:spLocks noGrp="1"/>
          </p:cNvSpPr>
          <p:nvPr>
            <p:ph type="title"/>
          </p:nvPr>
        </p:nvSpPr>
        <p:spPr/>
        <p:txBody>
          <a:bodyPr/>
          <a:lstStyle/>
          <a:p>
            <a:r>
              <a:rPr lang="en-IN" dirty="0"/>
              <a:t>HTML &lt;div&gt;</a:t>
            </a:r>
            <a:endParaRPr lang="en-GH" dirty="0"/>
          </a:p>
        </p:txBody>
      </p:sp>
      <p:sp>
        <p:nvSpPr>
          <p:cNvPr id="3" name="Content Placeholder 2">
            <a:extLst>
              <a:ext uri="{FF2B5EF4-FFF2-40B4-BE49-F238E27FC236}">
                <a16:creationId xmlns:a16="http://schemas.microsoft.com/office/drawing/2014/main" id="{B12751A5-D420-394F-A70D-72CB1D5E685B}"/>
              </a:ext>
            </a:extLst>
          </p:cNvPr>
          <p:cNvSpPr>
            <a:spLocks noGrp="1"/>
          </p:cNvSpPr>
          <p:nvPr>
            <p:ph idx="1"/>
          </p:nvPr>
        </p:nvSpPr>
        <p:spPr/>
        <p:txBody>
          <a:bodyPr/>
          <a:lstStyle/>
          <a:p>
            <a:r>
              <a:rPr lang="en-US" dirty="0"/>
              <a:t>The </a:t>
            </a:r>
            <a:r>
              <a:rPr lang="en-US" b="1" dirty="0">
                <a:solidFill>
                  <a:srgbClr val="C00000"/>
                </a:solidFill>
              </a:rPr>
              <a:t>&lt;div&gt; </a:t>
            </a:r>
            <a:r>
              <a:rPr lang="en-US" dirty="0"/>
              <a:t>element is used as a container for other HTML elements.</a:t>
            </a:r>
          </a:p>
          <a:p>
            <a:r>
              <a:rPr lang="en-US" dirty="0"/>
              <a:t>The </a:t>
            </a:r>
            <a:r>
              <a:rPr lang="en-US" b="1" dirty="0">
                <a:solidFill>
                  <a:srgbClr val="C00000"/>
                </a:solidFill>
              </a:rPr>
              <a:t>&lt;div&gt; </a:t>
            </a:r>
            <a:r>
              <a:rPr lang="en-US" dirty="0"/>
              <a:t>element is by default a block element, meaning that it takes all available width, and comes with line breaks before and after.</a:t>
            </a:r>
          </a:p>
          <a:p>
            <a:r>
              <a:rPr lang="en-US" dirty="0"/>
              <a:t>The </a:t>
            </a:r>
            <a:r>
              <a:rPr lang="en-US" b="1" dirty="0">
                <a:solidFill>
                  <a:srgbClr val="C00000"/>
                </a:solidFill>
              </a:rPr>
              <a:t>&lt;div&gt; </a:t>
            </a:r>
            <a:r>
              <a:rPr lang="en-US" dirty="0"/>
              <a:t>element is often used to group sections of a web page together.</a:t>
            </a:r>
          </a:p>
          <a:p>
            <a:r>
              <a:rPr lang="en-US" dirty="0">
                <a:solidFill>
                  <a:srgbClr val="002060"/>
                </a:solidFill>
              </a:rPr>
              <a:t>Example</a:t>
            </a:r>
            <a:r>
              <a:rPr lang="en-US" dirty="0"/>
              <a:t>:</a:t>
            </a:r>
          </a:p>
          <a:p>
            <a:pPr marL="0" indent="0">
              <a:buNone/>
            </a:pP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div</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00"/>
                </a:solidFill>
                <a:effectLst/>
                <a:latin typeface="Consolas" panose="020B0609020204030204" pitchFamily="49" charset="0"/>
              </a:rPr>
              <a:t>  </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h2</a:t>
            </a:r>
            <a:r>
              <a:rPr lang="en-US" sz="2200" b="0" i="0" dirty="0">
                <a:solidFill>
                  <a:srgbClr val="0000CD"/>
                </a:solidFill>
                <a:effectLst/>
                <a:latin typeface="Consolas" panose="020B0609020204030204" pitchFamily="49" charset="0"/>
              </a:rPr>
              <a:t>&gt;</a:t>
            </a:r>
            <a:r>
              <a:rPr lang="en-US" sz="2200" b="0" i="0" dirty="0">
                <a:solidFill>
                  <a:srgbClr val="000000"/>
                </a:solidFill>
                <a:effectLst/>
                <a:latin typeface="Consolas" panose="020B0609020204030204" pitchFamily="49" charset="0"/>
              </a:rPr>
              <a:t>London</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/h2</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00"/>
                </a:solidFill>
                <a:effectLst/>
                <a:latin typeface="Consolas" panose="020B0609020204030204" pitchFamily="49" charset="0"/>
              </a:rPr>
              <a:t>  </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p</a:t>
            </a:r>
            <a:r>
              <a:rPr lang="en-US" sz="2200" b="0" i="0" dirty="0">
                <a:solidFill>
                  <a:srgbClr val="0000CD"/>
                </a:solidFill>
                <a:effectLst/>
                <a:latin typeface="Consolas" panose="020B0609020204030204" pitchFamily="49" charset="0"/>
              </a:rPr>
              <a:t>&gt;</a:t>
            </a:r>
            <a:r>
              <a:rPr lang="en-US" sz="2200" b="0" i="0" dirty="0">
                <a:solidFill>
                  <a:srgbClr val="000000"/>
                </a:solidFill>
                <a:effectLst/>
                <a:latin typeface="Consolas" panose="020B0609020204030204" pitchFamily="49" charset="0"/>
              </a:rPr>
              <a:t>London is the capital city of England.</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/p</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00"/>
                </a:solidFill>
                <a:effectLst/>
                <a:latin typeface="Consolas" panose="020B0609020204030204" pitchFamily="49" charset="0"/>
              </a:rPr>
              <a:t>  </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p</a:t>
            </a:r>
            <a:r>
              <a:rPr lang="en-US" sz="2200" b="0" i="0" dirty="0">
                <a:solidFill>
                  <a:srgbClr val="0000CD"/>
                </a:solidFill>
                <a:effectLst/>
                <a:latin typeface="Consolas" panose="020B0609020204030204" pitchFamily="49" charset="0"/>
              </a:rPr>
              <a:t>&gt;</a:t>
            </a:r>
            <a:r>
              <a:rPr lang="en-US" sz="2200" b="0" i="0" dirty="0">
                <a:solidFill>
                  <a:srgbClr val="000000"/>
                </a:solidFill>
                <a:effectLst/>
                <a:latin typeface="Consolas" panose="020B0609020204030204" pitchFamily="49" charset="0"/>
              </a:rPr>
              <a:t>London has over 13 million inhabitants.</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/p</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/div</a:t>
            </a:r>
            <a:r>
              <a:rPr lang="en-US" sz="2200" b="0" i="0" dirty="0">
                <a:solidFill>
                  <a:srgbClr val="0000CD"/>
                </a:solidFill>
                <a:effectLst/>
                <a:latin typeface="Consolas" panose="020B0609020204030204" pitchFamily="49" charset="0"/>
              </a:rPr>
              <a:t>&gt;</a:t>
            </a:r>
            <a:endParaRPr lang="en-GH" sz="2200" dirty="0"/>
          </a:p>
        </p:txBody>
      </p:sp>
    </p:spTree>
    <p:extLst>
      <p:ext uri="{BB962C8B-B14F-4D97-AF65-F5344CB8AC3E}">
        <p14:creationId xmlns:p14="http://schemas.microsoft.com/office/powerpoint/2010/main" val="1900825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37485-5837-0D70-AB0A-149E56CEBF0A}"/>
              </a:ext>
            </a:extLst>
          </p:cNvPr>
          <p:cNvSpPr>
            <a:spLocks noGrp="1"/>
          </p:cNvSpPr>
          <p:nvPr>
            <p:ph type="title"/>
          </p:nvPr>
        </p:nvSpPr>
        <p:spPr/>
        <p:txBody>
          <a:bodyPr/>
          <a:lstStyle/>
          <a:p>
            <a:r>
              <a:rPr lang="en-IN" dirty="0"/>
              <a:t>Things to explore further</a:t>
            </a:r>
            <a:endParaRPr lang="en-GH" dirty="0"/>
          </a:p>
        </p:txBody>
      </p:sp>
      <p:sp>
        <p:nvSpPr>
          <p:cNvPr id="3" name="Content Placeholder 2">
            <a:extLst>
              <a:ext uri="{FF2B5EF4-FFF2-40B4-BE49-F238E27FC236}">
                <a16:creationId xmlns:a16="http://schemas.microsoft.com/office/drawing/2014/main" id="{2EEEF90A-0705-BE36-1242-D6D3A9F986CA}"/>
              </a:ext>
            </a:extLst>
          </p:cNvPr>
          <p:cNvSpPr>
            <a:spLocks noGrp="1"/>
          </p:cNvSpPr>
          <p:nvPr>
            <p:ph idx="1"/>
          </p:nvPr>
        </p:nvSpPr>
        <p:spPr/>
        <p:txBody>
          <a:bodyPr/>
          <a:lstStyle/>
          <a:p>
            <a:r>
              <a:rPr lang="en-IN" dirty="0"/>
              <a:t>Canvas</a:t>
            </a:r>
          </a:p>
          <a:p>
            <a:r>
              <a:rPr lang="en-IN" dirty="0"/>
              <a:t>APIs: </a:t>
            </a:r>
            <a:r>
              <a:rPr lang="en-IN" dirty="0" err="1"/>
              <a:t>GeoLocation</a:t>
            </a:r>
            <a:endParaRPr lang="en-IN" dirty="0"/>
          </a:p>
          <a:p>
            <a:r>
              <a:rPr lang="en-IN" dirty="0"/>
              <a:t>Media: Audio, Video, Plug-ins</a:t>
            </a:r>
          </a:p>
          <a:p>
            <a:endParaRPr lang="en-IN" dirty="0"/>
          </a:p>
          <a:p>
            <a:endParaRPr lang="en-IN" dirty="0"/>
          </a:p>
          <a:p>
            <a:pPr marL="0" indent="0">
              <a:buNone/>
            </a:pPr>
            <a:r>
              <a:rPr lang="en-IN" dirty="0"/>
              <a:t>Reference: </a:t>
            </a:r>
            <a:r>
              <a:rPr lang="en-IN" dirty="0">
                <a:hlinkClick r:id="rId2"/>
              </a:rPr>
              <a:t>https://www.w3schools.com/html/default.asp</a:t>
            </a:r>
            <a:r>
              <a:rPr lang="en-IN" dirty="0"/>
              <a:t> </a:t>
            </a:r>
            <a:endParaRPr lang="en-GH" dirty="0"/>
          </a:p>
        </p:txBody>
      </p:sp>
    </p:spTree>
    <p:extLst>
      <p:ext uri="{BB962C8B-B14F-4D97-AF65-F5344CB8AC3E}">
        <p14:creationId xmlns:p14="http://schemas.microsoft.com/office/powerpoint/2010/main" val="42158949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ADBE-0CED-4B5E-AA44-7678FBC8AF24}"/>
              </a:ext>
            </a:extLst>
          </p:cNvPr>
          <p:cNvSpPr>
            <a:spLocks noGrp="1"/>
          </p:cNvSpPr>
          <p:nvPr>
            <p:ph type="title"/>
          </p:nvPr>
        </p:nvSpPr>
        <p:spPr/>
        <p:txBody>
          <a:bodyPr/>
          <a:lstStyle/>
          <a:p>
            <a:r>
              <a:rPr lang="en-IN" dirty="0"/>
              <a:t>Thank you</a:t>
            </a:r>
            <a:endParaRPr lang="en-GH" dirty="0"/>
          </a:p>
        </p:txBody>
      </p:sp>
      <p:sp>
        <p:nvSpPr>
          <p:cNvPr id="3" name="Content Placeholder 2">
            <a:extLst>
              <a:ext uri="{FF2B5EF4-FFF2-40B4-BE49-F238E27FC236}">
                <a16:creationId xmlns:a16="http://schemas.microsoft.com/office/drawing/2014/main" id="{5D162F7F-A8FA-2635-91C2-8FBD1A40C35E}"/>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dirty="0"/>
              <a:t>Questions???</a:t>
            </a:r>
            <a:endParaRPr lang="en-GH" dirty="0"/>
          </a:p>
        </p:txBody>
      </p:sp>
      <p:sp>
        <p:nvSpPr>
          <p:cNvPr id="4" name="Text Placeholder 3">
            <a:extLst>
              <a:ext uri="{FF2B5EF4-FFF2-40B4-BE49-F238E27FC236}">
                <a16:creationId xmlns:a16="http://schemas.microsoft.com/office/drawing/2014/main" id="{44ED5CE5-C9D7-1978-5960-AF2C70FD652E}"/>
              </a:ext>
            </a:extLst>
          </p:cNvPr>
          <p:cNvSpPr>
            <a:spLocks noGrp="1"/>
          </p:cNvSpPr>
          <p:nvPr>
            <p:ph type="body" sz="half" idx="2"/>
          </p:nvPr>
        </p:nvSpPr>
        <p:spPr/>
        <p:txBody>
          <a:bodyPr/>
          <a:lstStyle/>
          <a:p>
            <a:pPr algn="ctr"/>
            <a:r>
              <a:rPr lang="en-IN" dirty="0"/>
              <a:t>Govindha Yeluripati</a:t>
            </a:r>
            <a:endParaRPr lang="en-GH" dirty="0"/>
          </a:p>
        </p:txBody>
      </p:sp>
    </p:spTree>
    <p:extLst>
      <p:ext uri="{BB962C8B-B14F-4D97-AF65-F5344CB8AC3E}">
        <p14:creationId xmlns:p14="http://schemas.microsoft.com/office/powerpoint/2010/main" val="4277503702"/>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F9229A-DD42-46FB-AC7D-2F23A646FBDE}" vid="{29738491-4758-454F-8D61-01C0E3071440}"/>
    </a:ext>
  </a:extLst>
</a:theme>
</file>

<file path=docProps/app.xml><?xml version="1.0" encoding="utf-8"?>
<Properties xmlns="http://schemas.openxmlformats.org/officeDocument/2006/extended-properties" xmlns:vt="http://schemas.openxmlformats.org/officeDocument/2006/docPropsVTypes">
  <Template>Govindha-Ashesi-3-4-Five</Template>
  <TotalTime>1400</TotalTime>
  <Words>4208</Words>
  <Application>Microsoft Office PowerPoint</Application>
  <PresentationFormat>On-screen Show (4:3)</PresentationFormat>
  <Paragraphs>358</Paragraphs>
  <Slides>59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Arial</vt:lpstr>
      <vt:lpstr>Calibri</vt:lpstr>
      <vt:lpstr>Calibri Light</vt:lpstr>
      <vt:lpstr>Consolas</vt:lpstr>
      <vt:lpstr>Wingdings</vt:lpstr>
      <vt:lpstr>1_Office Theme</vt:lpstr>
      <vt:lpstr>HTML</vt:lpstr>
      <vt:lpstr>Introduction to HTML</vt:lpstr>
      <vt:lpstr>Introduction to HTML</vt:lpstr>
      <vt:lpstr>HTML Elements</vt:lpstr>
      <vt:lpstr>Web Browsers</vt:lpstr>
      <vt:lpstr>HTML Page Structure</vt:lpstr>
      <vt:lpstr>A simple HTML Document</vt:lpstr>
      <vt:lpstr>HTML Editors</vt:lpstr>
      <vt:lpstr>The &lt;!DOCTYPE&gt; Declaration</vt:lpstr>
      <vt:lpstr>HTML Headings</vt:lpstr>
      <vt:lpstr>HTML Paragraphs</vt:lpstr>
      <vt:lpstr>HTML Links</vt:lpstr>
      <vt:lpstr>HTML Images</vt:lpstr>
      <vt:lpstr>HTML Videos</vt:lpstr>
      <vt:lpstr>HTML Videos: Note on the Example</vt:lpstr>
      <vt:lpstr>HTML Videos: Note on the Example</vt:lpstr>
      <vt:lpstr>HTML Comments</vt:lpstr>
      <vt:lpstr>Nested HTML Elements</vt:lpstr>
      <vt:lpstr>HTML is Not Case Sensitive</vt:lpstr>
      <vt:lpstr>HTML Attributes</vt:lpstr>
      <vt:lpstr>Some HTML Attributes</vt:lpstr>
      <vt:lpstr>Absolute Vs Relative URLs</vt:lpstr>
      <vt:lpstr>Some HTML Attributes</vt:lpstr>
      <vt:lpstr>Some HTML Attributes</vt:lpstr>
      <vt:lpstr>Bigger Headings</vt:lpstr>
      <vt:lpstr>HTML Display</vt:lpstr>
      <vt:lpstr>More Styles: Background Color</vt:lpstr>
      <vt:lpstr>More Styles: Fonts</vt:lpstr>
      <vt:lpstr>More Styles: Text Alignment</vt:lpstr>
      <vt:lpstr>HTML Formatting Elements</vt:lpstr>
      <vt:lpstr>HTML Quotation and Citation Elements</vt:lpstr>
      <vt:lpstr>Quotation and Citation: &lt;blockquote&gt; element</vt:lpstr>
      <vt:lpstr>Quotation and Citation: &lt;q&gt; element</vt:lpstr>
      <vt:lpstr>Quotation and Citation: &lt;cite&gt; element</vt:lpstr>
      <vt:lpstr>Quotation and Citation: &lt;abbr&gt; element</vt:lpstr>
      <vt:lpstr>Quotation and Citation: &lt;address&gt; element</vt:lpstr>
      <vt:lpstr>Quotation and Citation: &lt;bdo&gt; element</vt:lpstr>
      <vt:lpstr>HTML Colors</vt:lpstr>
      <vt:lpstr>HTML Favicon</vt:lpstr>
      <vt:lpstr>HTML Favicon: Example</vt:lpstr>
      <vt:lpstr>Tables</vt:lpstr>
      <vt:lpstr>Table: Example</vt:lpstr>
      <vt:lpstr>Table: style and border</vt:lpstr>
      <vt:lpstr>Table</vt:lpstr>
      <vt:lpstr>HTML Lists</vt:lpstr>
      <vt:lpstr>HTML Forms</vt:lpstr>
      <vt:lpstr>HTML Forms: &lt;input&gt; Element</vt:lpstr>
      <vt:lpstr>HTML Forms: Text Fields</vt:lpstr>
      <vt:lpstr>The &lt;label&gt; Element</vt:lpstr>
      <vt:lpstr>HTML Forms: Radio Buttons</vt:lpstr>
      <vt:lpstr>HTML Forms: Check Boxes</vt:lpstr>
      <vt:lpstr>HTML Forms: Submit Button</vt:lpstr>
      <vt:lpstr>HTML Forms: Text Fields with Submit</vt:lpstr>
      <vt:lpstr>HTML Input: A note on name attribute</vt:lpstr>
      <vt:lpstr>HTML Metadata</vt:lpstr>
      <vt:lpstr>HTML Metadata</vt:lpstr>
      <vt:lpstr>HTML &lt;div&gt;</vt:lpstr>
      <vt:lpstr>Things to explore further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Govindha R Yeluripati</dc:creator>
  <cp:lastModifiedBy>Govindha  Ramaiah Yeluripati</cp:lastModifiedBy>
  <cp:revision>83</cp:revision>
  <dcterms:created xsi:type="dcterms:W3CDTF">2024-09-11T05:06:52Z</dcterms:created>
  <dcterms:modified xsi:type="dcterms:W3CDTF">2024-09-18T07:31:00Z</dcterms:modified>
</cp:coreProperties>
</file>